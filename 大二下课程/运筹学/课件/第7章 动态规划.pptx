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12"/>
  </p:notesMasterIdLst>
  <p:sldIdLst>
    <p:sldId id="289" r:id="rId2"/>
    <p:sldId id="256" r:id="rId3"/>
    <p:sldId id="293" r:id="rId4"/>
    <p:sldId id="257" r:id="rId5"/>
    <p:sldId id="263" r:id="rId6"/>
    <p:sldId id="433" r:id="rId7"/>
    <p:sldId id="276" r:id="rId8"/>
    <p:sldId id="277" r:id="rId9"/>
    <p:sldId id="278" r:id="rId10"/>
    <p:sldId id="279" r:id="rId11"/>
    <p:sldId id="441" r:id="rId12"/>
    <p:sldId id="262" r:id="rId13"/>
    <p:sldId id="434" r:id="rId14"/>
    <p:sldId id="258" r:id="rId15"/>
    <p:sldId id="264" r:id="rId16"/>
    <p:sldId id="265" r:id="rId17"/>
    <p:sldId id="271" r:id="rId18"/>
    <p:sldId id="266" r:id="rId19"/>
    <p:sldId id="480" r:id="rId20"/>
    <p:sldId id="481" r:id="rId21"/>
    <p:sldId id="482" r:id="rId22"/>
    <p:sldId id="267" r:id="rId23"/>
    <p:sldId id="483" r:id="rId24"/>
    <p:sldId id="485" r:id="rId25"/>
    <p:sldId id="484" r:id="rId26"/>
    <p:sldId id="486" r:id="rId27"/>
    <p:sldId id="487" r:id="rId28"/>
    <p:sldId id="488" r:id="rId29"/>
    <p:sldId id="268" r:id="rId30"/>
    <p:sldId id="294" r:id="rId31"/>
    <p:sldId id="259" r:id="rId32"/>
    <p:sldId id="269" r:id="rId33"/>
    <p:sldId id="270" r:id="rId34"/>
    <p:sldId id="298" r:id="rId35"/>
    <p:sldId id="300" r:id="rId36"/>
    <p:sldId id="295" r:id="rId37"/>
    <p:sldId id="260" r:id="rId38"/>
    <p:sldId id="296" r:id="rId39"/>
    <p:sldId id="281" r:id="rId40"/>
    <p:sldId id="301" r:id="rId41"/>
    <p:sldId id="437" r:id="rId42"/>
    <p:sldId id="302" r:id="rId43"/>
    <p:sldId id="440" r:id="rId44"/>
    <p:sldId id="282" r:id="rId45"/>
    <p:sldId id="303" r:id="rId46"/>
    <p:sldId id="439" r:id="rId47"/>
    <p:sldId id="261" r:id="rId48"/>
    <p:sldId id="401" r:id="rId49"/>
    <p:sldId id="376" r:id="rId50"/>
    <p:sldId id="365" r:id="rId51"/>
    <p:sldId id="366" r:id="rId52"/>
    <p:sldId id="490" r:id="rId53"/>
    <p:sldId id="367" r:id="rId54"/>
    <p:sldId id="368" r:id="rId55"/>
    <p:sldId id="491" r:id="rId56"/>
    <p:sldId id="369" r:id="rId57"/>
    <p:sldId id="463" r:id="rId58"/>
    <p:sldId id="474" r:id="rId59"/>
    <p:sldId id="405" r:id="rId60"/>
    <p:sldId id="325" r:id="rId61"/>
    <p:sldId id="326" r:id="rId62"/>
    <p:sldId id="327" r:id="rId63"/>
    <p:sldId id="328" r:id="rId64"/>
    <p:sldId id="329" r:id="rId65"/>
    <p:sldId id="420" r:id="rId66"/>
    <p:sldId id="331" r:id="rId67"/>
    <p:sldId id="461" r:id="rId68"/>
    <p:sldId id="462" r:id="rId69"/>
    <p:sldId id="406" r:id="rId70"/>
    <p:sldId id="347" r:id="rId71"/>
    <p:sldId id="348" r:id="rId72"/>
    <p:sldId id="349" r:id="rId73"/>
    <p:sldId id="350" r:id="rId74"/>
    <p:sldId id="430" r:id="rId75"/>
    <p:sldId id="431" r:id="rId76"/>
    <p:sldId id="432" r:id="rId77"/>
    <p:sldId id="360" r:id="rId78"/>
    <p:sldId id="361" r:id="rId79"/>
    <p:sldId id="362" r:id="rId80"/>
    <p:sldId id="363" r:id="rId81"/>
    <p:sldId id="290" r:id="rId82"/>
    <p:sldId id="306" r:id="rId83"/>
    <p:sldId id="292" r:id="rId84"/>
    <p:sldId id="435" r:id="rId85"/>
    <p:sldId id="464" r:id="rId86"/>
    <p:sldId id="450" r:id="rId87"/>
    <p:sldId id="451" r:id="rId88"/>
    <p:sldId id="452" r:id="rId89"/>
    <p:sldId id="453" r:id="rId90"/>
    <p:sldId id="454" r:id="rId91"/>
    <p:sldId id="455" r:id="rId92"/>
    <p:sldId id="456" r:id="rId93"/>
    <p:sldId id="458" r:id="rId94"/>
    <p:sldId id="457" r:id="rId95"/>
    <p:sldId id="465" r:id="rId96"/>
    <p:sldId id="459" r:id="rId97"/>
    <p:sldId id="460" r:id="rId98"/>
    <p:sldId id="467" r:id="rId99"/>
    <p:sldId id="466" r:id="rId100"/>
    <p:sldId id="470" r:id="rId101"/>
    <p:sldId id="471" r:id="rId102"/>
    <p:sldId id="468" r:id="rId103"/>
    <p:sldId id="469" r:id="rId104"/>
    <p:sldId id="478" r:id="rId105"/>
    <p:sldId id="479" r:id="rId106"/>
    <p:sldId id="475" r:id="rId107"/>
    <p:sldId id="476" r:id="rId108"/>
    <p:sldId id="477" r:id="rId109"/>
    <p:sldId id="472" r:id="rId110"/>
    <p:sldId id="473" r:id="rId11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FF0000"/>
    <a:srgbClr val="7446B2"/>
    <a:srgbClr val="5F65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152" autoAdjust="0"/>
  </p:normalViewPr>
  <p:slideViewPr>
    <p:cSldViewPr>
      <p:cViewPr varScale="1">
        <p:scale>
          <a:sx n="70" d="100"/>
          <a:sy n="70" d="100"/>
        </p:scale>
        <p:origin x="2784"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37.wmf"/><Relationship Id="rId1" Type="http://schemas.openxmlformats.org/officeDocument/2006/relationships/image" Target="../media/image43.wmf"/><Relationship Id="rId6" Type="http://schemas.openxmlformats.org/officeDocument/2006/relationships/image" Target="../media/image46.wmf"/><Relationship Id="rId5" Type="http://schemas.openxmlformats.org/officeDocument/2006/relationships/image" Target="../media/image40.wmf"/><Relationship Id="rId4" Type="http://schemas.openxmlformats.org/officeDocument/2006/relationships/image" Target="../media/image45.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image" Target="../media/image49.wmf"/><Relationship Id="rId7" Type="http://schemas.openxmlformats.org/officeDocument/2006/relationships/image" Target="../media/image53.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5" Type="http://schemas.openxmlformats.org/officeDocument/2006/relationships/image" Target="../media/image51.wmf"/><Relationship Id="rId10" Type="http://schemas.openxmlformats.org/officeDocument/2006/relationships/image" Target="../media/image56.wmf"/><Relationship Id="rId4" Type="http://schemas.openxmlformats.org/officeDocument/2006/relationships/image" Target="../media/image50.wmf"/><Relationship Id="rId9" Type="http://schemas.openxmlformats.org/officeDocument/2006/relationships/image" Target="../media/image5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 Id="rId4" Type="http://schemas.openxmlformats.org/officeDocument/2006/relationships/image" Target="../media/image6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1.wmf"/><Relationship Id="rId5" Type="http://schemas.openxmlformats.org/officeDocument/2006/relationships/image" Target="../media/image68.wmf"/><Relationship Id="rId4" Type="http://schemas.openxmlformats.org/officeDocument/2006/relationships/image" Target="../media/image67.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image" Target="../media/image71.wmf"/><Relationship Id="rId7" Type="http://schemas.openxmlformats.org/officeDocument/2006/relationships/image" Target="../media/image75.wmf"/><Relationship Id="rId2" Type="http://schemas.openxmlformats.org/officeDocument/2006/relationships/image" Target="../media/image70.wmf"/><Relationship Id="rId1" Type="http://schemas.openxmlformats.org/officeDocument/2006/relationships/image" Target="../media/image69.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 Id="rId9" Type="http://schemas.openxmlformats.org/officeDocument/2006/relationships/image" Target="../media/image77.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5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 Id="rId6" Type="http://schemas.openxmlformats.org/officeDocument/2006/relationships/image" Target="../media/image85.wmf"/><Relationship Id="rId5" Type="http://schemas.openxmlformats.org/officeDocument/2006/relationships/image" Target="../media/image84.wmf"/><Relationship Id="rId4" Type="http://schemas.openxmlformats.org/officeDocument/2006/relationships/image" Target="../media/image8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9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image" Target="../media/image1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940E684-3EAB-4074-8465-99B1B431BB2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zh-CN" altLang="en-US"/>
          </a:p>
        </p:txBody>
      </p:sp>
      <p:sp>
        <p:nvSpPr>
          <p:cNvPr id="3" name="日期占位符 2">
            <a:extLst>
              <a:ext uri="{FF2B5EF4-FFF2-40B4-BE49-F238E27FC236}">
                <a16:creationId xmlns:a16="http://schemas.microsoft.com/office/drawing/2014/main" id="{68CA35B5-8622-4F3A-8AD9-7F8C986A549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6D47243A-A2F8-4049-A8D9-60046A0700AB}" type="datetimeFigureOut">
              <a:rPr lang="zh-CN" altLang="en-US"/>
              <a:pPr>
                <a:defRPr/>
              </a:pPr>
              <a:t>2023/7/7</a:t>
            </a:fld>
            <a:endParaRPr lang="zh-CN" altLang="en-US"/>
          </a:p>
        </p:txBody>
      </p:sp>
      <p:sp>
        <p:nvSpPr>
          <p:cNvPr id="4" name="幻灯片图像占位符 3">
            <a:extLst>
              <a:ext uri="{FF2B5EF4-FFF2-40B4-BE49-F238E27FC236}">
                <a16:creationId xmlns:a16="http://schemas.microsoft.com/office/drawing/2014/main" id="{D18E26BB-BC88-451F-9C9A-B3561667FBA8}"/>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C8BFBAEB-F08C-4EF0-8577-A429E4F75C6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57978D19-4A8E-4557-AB52-7E6C1B3FC190}"/>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zh-CN" altLang="en-US"/>
          </a:p>
        </p:txBody>
      </p:sp>
      <p:sp>
        <p:nvSpPr>
          <p:cNvPr id="7" name="灯片编号占位符 6">
            <a:extLst>
              <a:ext uri="{FF2B5EF4-FFF2-40B4-BE49-F238E27FC236}">
                <a16:creationId xmlns:a16="http://schemas.microsoft.com/office/drawing/2014/main" id="{60916136-9095-4DCC-A05E-5E108CE8D6B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BA2CE4D-70A7-4293-A281-05CD96B860B3}"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57100F93-01D5-4FED-8533-CA2F3F5A8AE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CB0C5AB3-3F0F-4534-8EE7-3260645FDD0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C1 </a:t>
            </a:r>
            <a:r>
              <a:rPr lang="zh-CN" altLang="en-US"/>
              <a:t>到</a:t>
            </a:r>
            <a:r>
              <a:rPr lang="en-US" altLang="zh-CN"/>
              <a:t>E</a:t>
            </a:r>
            <a:r>
              <a:rPr lang="zh-CN" altLang="en-US"/>
              <a:t>最短路线是 </a:t>
            </a:r>
            <a:r>
              <a:rPr lang="en-US" altLang="zh-CN"/>
              <a:t>C1 D1 E</a:t>
            </a:r>
            <a:r>
              <a:rPr lang="zh-CN" altLang="en-US"/>
              <a:t>，不用再考虑</a:t>
            </a:r>
            <a:r>
              <a:rPr lang="en-US" altLang="zh-CN"/>
              <a:t>C1 D2 E</a:t>
            </a:r>
            <a:endParaRPr lang="zh-CN" altLang="en-US"/>
          </a:p>
        </p:txBody>
      </p:sp>
      <p:sp>
        <p:nvSpPr>
          <p:cNvPr id="12292" name="灯片编号占位符 3">
            <a:extLst>
              <a:ext uri="{FF2B5EF4-FFF2-40B4-BE49-F238E27FC236}">
                <a16:creationId xmlns:a16="http://schemas.microsoft.com/office/drawing/2014/main" id="{013583E3-AB0B-4A66-B09E-EBA7258EF50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C84EDC3-BF5A-48D5-94C7-372DD84DFA27}" type="slidenum">
              <a:rPr lang="zh-CN" altLang="en-US" smtClean="0"/>
              <a:pPr/>
              <a:t>8</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BB740B22-2346-4A1B-8B85-06707FB05C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38981EE0-9F05-45D9-910A-095A3C594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i="1"/>
              <a:t>D</a:t>
            </a:r>
            <a:r>
              <a:rPr lang="en-US" altLang="zh-CN" i="1" baseline="-25000"/>
              <a:t>k</a:t>
            </a:r>
            <a:r>
              <a:rPr lang="en-US" altLang="zh-CN"/>
              <a:t>(</a:t>
            </a:r>
            <a:r>
              <a:rPr lang="en-US" altLang="zh-CN" i="1"/>
              <a:t>s</a:t>
            </a:r>
            <a:r>
              <a:rPr lang="en-US" altLang="zh-CN" i="1" baseline="-25000"/>
              <a:t>k</a:t>
            </a:r>
            <a:r>
              <a:rPr lang="en-US" altLang="zh-CN"/>
              <a:t>)</a:t>
            </a:r>
            <a:r>
              <a:rPr lang="zh-CN" altLang="en-US"/>
              <a:t>是允许的决策几何，不一定是 所有的</a:t>
            </a:r>
            <a:r>
              <a:rPr lang="en-US" altLang="zh-CN"/>
              <a:t>sk+1</a:t>
            </a:r>
            <a:r>
              <a:rPr lang="zh-CN" altLang="en-US"/>
              <a:t>，因为不是所有</a:t>
            </a:r>
            <a:r>
              <a:rPr lang="en-US" altLang="zh-CN"/>
              <a:t>sk</a:t>
            </a:r>
            <a:r>
              <a:rPr lang="zh-CN" altLang="en-US"/>
              <a:t>到</a:t>
            </a:r>
            <a:r>
              <a:rPr lang="en-US" altLang="zh-CN"/>
              <a:t>sk+1</a:t>
            </a:r>
            <a:r>
              <a:rPr lang="zh-CN" altLang="en-US"/>
              <a:t>都可以</a:t>
            </a:r>
            <a:endParaRPr lang="en-US" altLang="zh-CN" i="1"/>
          </a:p>
          <a:p>
            <a:endParaRPr lang="zh-CN" altLang="en-US"/>
          </a:p>
        </p:txBody>
      </p:sp>
      <p:sp>
        <p:nvSpPr>
          <p:cNvPr id="21508" name="灯片编号占位符 3">
            <a:extLst>
              <a:ext uri="{FF2B5EF4-FFF2-40B4-BE49-F238E27FC236}">
                <a16:creationId xmlns:a16="http://schemas.microsoft.com/office/drawing/2014/main" id="{7C9A9FA7-5D09-4820-81B3-86165D48C91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2D4C78C-D246-478D-9040-24EC99A0F679}" type="slidenum">
              <a:rPr lang="zh-CN" altLang="en-US" smtClean="0"/>
              <a:pPr/>
              <a:t>16</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E89FFCA6-666A-461F-8798-F2B63406027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备注占位符 2">
            <a:extLst>
              <a:ext uri="{FF2B5EF4-FFF2-40B4-BE49-F238E27FC236}">
                <a16:creationId xmlns:a16="http://schemas.microsoft.com/office/drawing/2014/main" id="{A96D644A-85A1-4B9D-8384-2B010E83B4E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0964" name="灯片编号占位符 3">
            <a:extLst>
              <a:ext uri="{FF2B5EF4-FFF2-40B4-BE49-F238E27FC236}">
                <a16:creationId xmlns:a16="http://schemas.microsoft.com/office/drawing/2014/main" id="{0705C563-D40D-45EB-AC93-98B67C49288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87BF818-744B-4262-B999-5A76C3719851}" type="slidenum">
              <a:rPr lang="zh-CN" altLang="en-US" smtClean="0"/>
              <a:pPr/>
              <a:t>40</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Fk</a:t>
            </a:r>
            <a:r>
              <a:rPr lang="en-US" altLang="zh-CN" dirty="0"/>
              <a:t>(</a:t>
            </a:r>
            <a:r>
              <a:rPr lang="en-US" altLang="zh-CN" dirty="0" err="1"/>
              <a:t>sk</a:t>
            </a:r>
            <a:r>
              <a:rPr lang="en-US" altLang="zh-CN" dirty="0"/>
              <a:t>) </a:t>
            </a:r>
            <a:r>
              <a:rPr lang="zh-CN" altLang="en-US" dirty="0"/>
              <a:t>意思是 空间为</a:t>
            </a:r>
            <a:r>
              <a:rPr lang="en-US" altLang="zh-CN" dirty="0" err="1"/>
              <a:t>sk</a:t>
            </a:r>
            <a:r>
              <a:rPr lang="zh-CN" altLang="en-US" dirty="0"/>
              <a:t>，装了</a:t>
            </a:r>
            <a:r>
              <a:rPr lang="en-US" altLang="zh-CN" dirty="0"/>
              <a:t>k</a:t>
            </a:r>
            <a:r>
              <a:rPr lang="zh-CN" altLang="en-US" dirty="0"/>
              <a:t>种物品时的最大价值。我们对每个</a:t>
            </a:r>
            <a:r>
              <a:rPr lang="en-US" altLang="zh-CN" dirty="0"/>
              <a:t>k</a:t>
            </a:r>
            <a:r>
              <a:rPr lang="zh-CN" altLang="en-US" dirty="0"/>
              <a:t>和</a:t>
            </a:r>
            <a:r>
              <a:rPr lang="en-US" altLang="zh-CN" dirty="0" err="1"/>
              <a:t>sk</a:t>
            </a:r>
            <a:r>
              <a:rPr lang="zh-CN" altLang="en-US" dirty="0"/>
              <a:t>都要计算。</a:t>
            </a:r>
          </a:p>
        </p:txBody>
      </p:sp>
      <p:sp>
        <p:nvSpPr>
          <p:cNvPr id="4" name="灯片编号占位符 3"/>
          <p:cNvSpPr>
            <a:spLocks noGrp="1"/>
          </p:cNvSpPr>
          <p:nvPr>
            <p:ph type="sldNum" sz="quarter" idx="5"/>
          </p:nvPr>
        </p:nvSpPr>
        <p:spPr/>
        <p:txBody>
          <a:bodyPr/>
          <a:lstStyle/>
          <a:p>
            <a:pPr>
              <a:defRPr/>
            </a:pPr>
            <a:fld id="{EBA2CE4D-70A7-4293-A281-05CD96B860B3}" type="slidenum">
              <a:rPr lang="zh-CN" altLang="en-US" smtClean="0"/>
              <a:pPr>
                <a:defRPr/>
              </a:pPr>
              <a:t>71</a:t>
            </a:fld>
            <a:endParaRPr lang="zh-CN" altLang="en-US"/>
          </a:p>
        </p:txBody>
      </p:sp>
    </p:spTree>
    <p:extLst>
      <p:ext uri="{BB962C8B-B14F-4D97-AF65-F5344CB8AC3E}">
        <p14:creationId xmlns:p14="http://schemas.microsoft.com/office/powerpoint/2010/main" val="1080359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a:extLst>
              <a:ext uri="{FF2B5EF4-FFF2-40B4-BE49-F238E27FC236}">
                <a16:creationId xmlns:a16="http://schemas.microsoft.com/office/drawing/2014/main" id="{2EC78A10-CBE5-4D8B-9713-ED1E61871C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备注占位符 2">
            <a:extLst>
              <a:ext uri="{FF2B5EF4-FFF2-40B4-BE49-F238E27FC236}">
                <a16:creationId xmlns:a16="http://schemas.microsoft.com/office/drawing/2014/main" id="{61670A3F-1B93-403A-A135-240499A742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3972" name="灯片编号占位符 3">
            <a:extLst>
              <a:ext uri="{FF2B5EF4-FFF2-40B4-BE49-F238E27FC236}">
                <a16:creationId xmlns:a16="http://schemas.microsoft.com/office/drawing/2014/main" id="{288E266C-2DDE-4146-836B-32CEDEEA54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9E61018-ABCE-4F32-9353-0132F83F23C4}" type="slidenum">
              <a:rPr lang="zh-CN" altLang="en-US" smtClean="0"/>
              <a:pPr/>
              <a:t>83</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a:extLst>
              <a:ext uri="{FF2B5EF4-FFF2-40B4-BE49-F238E27FC236}">
                <a16:creationId xmlns:a16="http://schemas.microsoft.com/office/drawing/2014/main" id="{A9489D19-71F8-4B07-9ED7-B97B86089F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备注占位符 2">
            <a:extLst>
              <a:ext uri="{FF2B5EF4-FFF2-40B4-BE49-F238E27FC236}">
                <a16:creationId xmlns:a16="http://schemas.microsoft.com/office/drawing/2014/main" id="{9BC09328-8458-4123-9F08-ADF1BBCC4E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6020" name="灯片编号占位符 3">
            <a:extLst>
              <a:ext uri="{FF2B5EF4-FFF2-40B4-BE49-F238E27FC236}">
                <a16:creationId xmlns:a16="http://schemas.microsoft.com/office/drawing/2014/main" id="{21DA70B6-D5ED-4940-BAFD-9D99F2566C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AB89F0F-8199-4048-A27F-55C6361B129B}" type="slidenum">
              <a:rPr lang="zh-CN" altLang="en-US" smtClean="0"/>
              <a:pPr/>
              <a:t>84</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a:extLst>
              <a:ext uri="{FF2B5EF4-FFF2-40B4-BE49-F238E27FC236}">
                <a16:creationId xmlns:a16="http://schemas.microsoft.com/office/drawing/2014/main" id="{1FA32677-C4D5-44B2-95F0-86B7395C6E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备注占位符 2">
            <a:extLst>
              <a:ext uri="{FF2B5EF4-FFF2-40B4-BE49-F238E27FC236}">
                <a16:creationId xmlns:a16="http://schemas.microsoft.com/office/drawing/2014/main" id="{A151870B-5A17-40B1-B253-8FEBFE0E97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96260" name="灯片编号占位符 3">
            <a:extLst>
              <a:ext uri="{FF2B5EF4-FFF2-40B4-BE49-F238E27FC236}">
                <a16:creationId xmlns:a16="http://schemas.microsoft.com/office/drawing/2014/main" id="{3DAF476C-8BE9-4CE0-99FC-7E118B4AD5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A77B0B7-34A6-4F0A-969D-1FB40AAC4197}" type="slidenum">
              <a:rPr lang="zh-CN" altLang="en-US" smtClean="0"/>
              <a:pPr/>
              <a:t>93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86D00485-7E6F-40A2-8542-D90E7E79BCD4}"/>
              </a:ext>
            </a:extLst>
          </p:cNvPr>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a:extLst>
              <a:ext uri="{FF2B5EF4-FFF2-40B4-BE49-F238E27FC236}">
                <a16:creationId xmlns:a16="http://schemas.microsoft.com/office/drawing/2014/main" id="{69CAC9B7-06D7-4853-8550-8EF64692CE3A}"/>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 name="Picture 9" descr="校徽">
            <a:extLst>
              <a:ext uri="{FF2B5EF4-FFF2-40B4-BE49-F238E27FC236}">
                <a16:creationId xmlns:a16="http://schemas.microsoft.com/office/drawing/2014/main" id="{E77BE05C-C4C3-45BA-8463-06B4462D95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152400"/>
            <a:ext cx="990600" cy="966788"/>
          </a:xfrm>
          <a:prstGeom prst="rect">
            <a:avLst/>
          </a:prstGeom>
          <a:solidFill>
            <a:schemeClr val="bg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914400" y="1524000"/>
            <a:ext cx="7623175" cy="1752600"/>
          </a:xfrm>
        </p:spPr>
        <p:txBody>
          <a:bodyPr/>
          <a:lstStyle>
            <a:lvl1pPr>
              <a:defRPr sz="3600"/>
            </a:lvl1pPr>
          </a:lstStyle>
          <a:p>
            <a:r>
              <a:rPr lang="zh-CN" altLang="en-US"/>
              <a:t>单击此处编辑母版标题样式</a:t>
            </a:r>
          </a:p>
        </p:txBody>
      </p:sp>
      <p:sp>
        <p:nvSpPr>
          <p:cNvPr id="33795" name="Rectangle 3"/>
          <p:cNvSpPr>
            <a:spLocks noGrp="1" noChangeArrowheads="1"/>
          </p:cNvSpPr>
          <p:nvPr>
            <p:ph type="subTitle" idx="1"/>
          </p:nvPr>
        </p:nvSpPr>
        <p:spPr>
          <a:xfrm>
            <a:off x="1981200" y="2997200"/>
            <a:ext cx="6553200" cy="1752600"/>
          </a:xfrm>
        </p:spPr>
        <p:txBody>
          <a:bodyPr/>
          <a:lstStyle>
            <a:lvl1pPr marL="0" indent="0" algn="ctr">
              <a:buFont typeface="Wingdings" pitchFamily="2" charset="2"/>
              <a:buNone/>
              <a:defRPr sz="6000">
                <a:solidFill>
                  <a:schemeClr val="tx2"/>
                </a:solidFill>
              </a:defRPr>
            </a:lvl1pPr>
          </a:lstStyle>
          <a:p>
            <a:r>
              <a:rPr lang="zh-CN" altLang="en-US"/>
              <a:t>单击此处编辑母版副标题样式</a:t>
            </a:r>
          </a:p>
        </p:txBody>
      </p:sp>
      <p:sp>
        <p:nvSpPr>
          <p:cNvPr id="7" name="Rectangle 4">
            <a:extLst>
              <a:ext uri="{FF2B5EF4-FFF2-40B4-BE49-F238E27FC236}">
                <a16:creationId xmlns:a16="http://schemas.microsoft.com/office/drawing/2014/main" id="{94E2402A-4706-4C21-B1AE-D047DBDA45FF}"/>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D3D4200B-8FD0-42D5-AF4A-BDB198FB95A8}"/>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C35C12DB-9CE2-4FE6-8EB8-2C89436F7B28}"/>
              </a:ext>
            </a:extLst>
          </p:cNvPr>
          <p:cNvSpPr>
            <a:spLocks noGrp="1" noChangeArrowheads="1"/>
          </p:cNvSpPr>
          <p:nvPr>
            <p:ph type="sldNum" sz="quarter" idx="12"/>
          </p:nvPr>
        </p:nvSpPr>
        <p:spPr/>
        <p:txBody>
          <a:bodyPr/>
          <a:lstStyle>
            <a:lvl1pPr>
              <a:defRPr/>
            </a:lvl1pPr>
          </a:lstStyle>
          <a:p>
            <a:pPr>
              <a:defRPr/>
            </a:pPr>
            <a:fld id="{9C3E916E-4DBB-4D20-B166-4E8DBA261BB8}" type="slidenum">
              <a:rPr lang="en-US" altLang="zh-CN"/>
              <a:pPr>
                <a:defRPr/>
              </a:pPr>
              <a:t>‹#›</a:t>
            </a:fld>
            <a:endParaRPr lang="en-US" altLang="zh-CN"/>
          </a:p>
        </p:txBody>
      </p:sp>
    </p:spTree>
    <p:extLst>
      <p:ext uri="{BB962C8B-B14F-4D97-AF65-F5344CB8AC3E}">
        <p14:creationId xmlns:p14="http://schemas.microsoft.com/office/powerpoint/2010/main" val="2407105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57FC7BF-D9CE-4420-AFFC-15E8C5DDB9E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74228AC-C022-4AA4-952D-7C5A7FF2874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8C3815B-2226-4C5B-937E-B3C03D9244C5}"/>
              </a:ext>
            </a:extLst>
          </p:cNvPr>
          <p:cNvSpPr>
            <a:spLocks noGrp="1" noChangeArrowheads="1"/>
          </p:cNvSpPr>
          <p:nvPr>
            <p:ph type="sldNum" sz="quarter" idx="12"/>
          </p:nvPr>
        </p:nvSpPr>
        <p:spPr>
          <a:ln/>
        </p:spPr>
        <p:txBody>
          <a:bodyPr/>
          <a:lstStyle>
            <a:lvl1pPr>
              <a:defRPr/>
            </a:lvl1pPr>
          </a:lstStyle>
          <a:p>
            <a:pPr>
              <a:defRPr/>
            </a:pPr>
            <a:fld id="{7A867A9A-90AF-4CC9-A38C-C4FA4DBE2F53}" type="slidenum">
              <a:rPr lang="en-US" altLang="zh-CN"/>
              <a:pPr>
                <a:defRPr/>
              </a:pPr>
              <a:t>‹#›</a:t>
            </a:fld>
            <a:endParaRPr lang="en-US" altLang="zh-CN"/>
          </a:p>
        </p:txBody>
      </p:sp>
    </p:spTree>
    <p:extLst>
      <p:ext uri="{BB962C8B-B14F-4D97-AF65-F5344CB8AC3E}">
        <p14:creationId xmlns:p14="http://schemas.microsoft.com/office/powerpoint/2010/main" val="961944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95D60757-CE35-465D-B29A-0233F13E50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F1C9893-7D05-48A1-8D95-1305FE2C69F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DB427FA-A5BB-4B08-A721-8533EEEFE127}"/>
              </a:ext>
            </a:extLst>
          </p:cNvPr>
          <p:cNvSpPr>
            <a:spLocks noGrp="1" noChangeArrowheads="1"/>
          </p:cNvSpPr>
          <p:nvPr>
            <p:ph type="sldNum" sz="quarter" idx="12"/>
          </p:nvPr>
        </p:nvSpPr>
        <p:spPr>
          <a:ln/>
        </p:spPr>
        <p:txBody>
          <a:bodyPr/>
          <a:lstStyle>
            <a:lvl1pPr>
              <a:defRPr/>
            </a:lvl1pPr>
          </a:lstStyle>
          <a:p>
            <a:pPr>
              <a:defRPr/>
            </a:pPr>
            <a:fld id="{EAA0FA87-BF23-4143-8AB5-50C084CD7ADB}" type="slidenum">
              <a:rPr lang="en-US" altLang="zh-CN"/>
              <a:pPr>
                <a:defRPr/>
              </a:pPr>
              <a:t>‹#›</a:t>
            </a:fld>
            <a:endParaRPr lang="en-US" altLang="zh-CN"/>
          </a:p>
        </p:txBody>
      </p:sp>
    </p:spTree>
    <p:extLst>
      <p:ext uri="{BB962C8B-B14F-4D97-AF65-F5344CB8AC3E}">
        <p14:creationId xmlns:p14="http://schemas.microsoft.com/office/powerpoint/2010/main" val="2725638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3B94B33-5371-460B-BCF8-596F707737A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DFB0470-B885-4F3E-8228-F52B6F50A7F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ADC93E8-22FD-4D2C-BFFE-63B10B512916}"/>
              </a:ext>
            </a:extLst>
          </p:cNvPr>
          <p:cNvSpPr>
            <a:spLocks noGrp="1" noChangeArrowheads="1"/>
          </p:cNvSpPr>
          <p:nvPr>
            <p:ph type="sldNum" sz="quarter" idx="12"/>
          </p:nvPr>
        </p:nvSpPr>
        <p:spPr>
          <a:ln/>
        </p:spPr>
        <p:txBody>
          <a:bodyPr/>
          <a:lstStyle>
            <a:lvl1pPr>
              <a:defRPr/>
            </a:lvl1pPr>
          </a:lstStyle>
          <a:p>
            <a:pPr>
              <a:defRPr/>
            </a:pPr>
            <a:fld id="{4BB93D84-77BF-43C1-94AA-20A4F6F940EB}" type="slidenum">
              <a:rPr lang="en-US" altLang="zh-CN"/>
              <a:pPr>
                <a:defRPr/>
              </a:pPr>
              <a:t>‹#›</a:t>
            </a:fld>
            <a:endParaRPr lang="en-US" altLang="zh-CN"/>
          </a:p>
        </p:txBody>
      </p:sp>
    </p:spTree>
    <p:extLst>
      <p:ext uri="{BB962C8B-B14F-4D97-AF65-F5344CB8AC3E}">
        <p14:creationId xmlns:p14="http://schemas.microsoft.com/office/powerpoint/2010/main" val="1645064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780049D-DE4F-41EE-8F48-35FDB4025CA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C2CDFBA7-92B3-43B3-BE47-3177E2EE0B0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B0EF6C1-9D57-459B-98D8-BAA7FB864056}"/>
              </a:ext>
            </a:extLst>
          </p:cNvPr>
          <p:cNvSpPr>
            <a:spLocks noGrp="1" noChangeArrowheads="1"/>
          </p:cNvSpPr>
          <p:nvPr>
            <p:ph type="sldNum" sz="quarter" idx="12"/>
          </p:nvPr>
        </p:nvSpPr>
        <p:spPr>
          <a:ln/>
        </p:spPr>
        <p:txBody>
          <a:bodyPr/>
          <a:lstStyle>
            <a:lvl1pPr>
              <a:defRPr/>
            </a:lvl1pPr>
          </a:lstStyle>
          <a:p>
            <a:pPr>
              <a:defRPr/>
            </a:pPr>
            <a:fld id="{686ACB29-A96C-4F05-BE2E-3082EC379575}" type="slidenum">
              <a:rPr lang="en-US" altLang="zh-CN"/>
              <a:pPr>
                <a:defRPr/>
              </a:pPr>
              <a:t>‹#›</a:t>
            </a:fld>
            <a:endParaRPr lang="en-US" altLang="zh-CN"/>
          </a:p>
        </p:txBody>
      </p:sp>
    </p:spTree>
    <p:extLst>
      <p:ext uri="{BB962C8B-B14F-4D97-AF65-F5344CB8AC3E}">
        <p14:creationId xmlns:p14="http://schemas.microsoft.com/office/powerpoint/2010/main" val="3818254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1AA1FA29-ABFB-4FA5-8DB8-9771B197A13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763BDE62-FBD7-49A6-8A9C-76B53D4A9DF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9A87042-263C-4439-BE6F-76AD76C65CA0}"/>
              </a:ext>
            </a:extLst>
          </p:cNvPr>
          <p:cNvSpPr>
            <a:spLocks noGrp="1" noChangeArrowheads="1"/>
          </p:cNvSpPr>
          <p:nvPr>
            <p:ph type="sldNum" sz="quarter" idx="12"/>
          </p:nvPr>
        </p:nvSpPr>
        <p:spPr>
          <a:ln/>
        </p:spPr>
        <p:txBody>
          <a:bodyPr/>
          <a:lstStyle>
            <a:lvl1pPr>
              <a:defRPr/>
            </a:lvl1pPr>
          </a:lstStyle>
          <a:p>
            <a:pPr>
              <a:defRPr/>
            </a:pPr>
            <a:fld id="{562EB0EE-CEDE-432A-9795-6BA3F1D7B514}" type="slidenum">
              <a:rPr lang="en-US" altLang="zh-CN"/>
              <a:pPr>
                <a:defRPr/>
              </a:pPr>
              <a:t>‹#›</a:t>
            </a:fld>
            <a:endParaRPr lang="en-US" altLang="zh-CN"/>
          </a:p>
        </p:txBody>
      </p:sp>
    </p:spTree>
    <p:extLst>
      <p:ext uri="{BB962C8B-B14F-4D97-AF65-F5344CB8AC3E}">
        <p14:creationId xmlns:p14="http://schemas.microsoft.com/office/powerpoint/2010/main" val="107095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F647135-89E8-491D-8A06-7DF9E80ABE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144AA482-8071-4A9C-8E8B-3CC0798B8E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003AB18-07B6-4979-B8FA-E25B2728BFCE}"/>
              </a:ext>
            </a:extLst>
          </p:cNvPr>
          <p:cNvSpPr>
            <a:spLocks noGrp="1" noChangeArrowheads="1"/>
          </p:cNvSpPr>
          <p:nvPr>
            <p:ph type="sldNum" sz="quarter" idx="12"/>
          </p:nvPr>
        </p:nvSpPr>
        <p:spPr>
          <a:ln/>
        </p:spPr>
        <p:txBody>
          <a:bodyPr/>
          <a:lstStyle>
            <a:lvl1pPr>
              <a:defRPr/>
            </a:lvl1pPr>
          </a:lstStyle>
          <a:p>
            <a:pPr>
              <a:defRPr/>
            </a:pPr>
            <a:fld id="{C3CB4425-E50E-472C-BBAE-7B3625A8370A}" type="slidenum">
              <a:rPr lang="en-US" altLang="zh-CN"/>
              <a:pPr>
                <a:defRPr/>
              </a:pPr>
              <a:t>‹#›</a:t>
            </a:fld>
            <a:endParaRPr lang="en-US" altLang="zh-CN"/>
          </a:p>
        </p:txBody>
      </p:sp>
    </p:spTree>
    <p:extLst>
      <p:ext uri="{BB962C8B-B14F-4D97-AF65-F5344CB8AC3E}">
        <p14:creationId xmlns:p14="http://schemas.microsoft.com/office/powerpoint/2010/main" val="3574094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A948443-5C40-480F-B0F2-D4C07BA0CC5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08EC242-19E2-4763-B1CB-478E28040F2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9644774-2A5D-4274-BDDB-BD5F42A66494}"/>
              </a:ext>
            </a:extLst>
          </p:cNvPr>
          <p:cNvSpPr>
            <a:spLocks noGrp="1" noChangeArrowheads="1"/>
          </p:cNvSpPr>
          <p:nvPr>
            <p:ph type="sldNum" sz="quarter" idx="12"/>
          </p:nvPr>
        </p:nvSpPr>
        <p:spPr>
          <a:ln/>
        </p:spPr>
        <p:txBody>
          <a:bodyPr/>
          <a:lstStyle>
            <a:lvl1pPr>
              <a:defRPr/>
            </a:lvl1pPr>
          </a:lstStyle>
          <a:p>
            <a:pPr>
              <a:defRPr/>
            </a:pPr>
            <a:fld id="{08B3EABB-307E-431E-97F7-0EAA067F7C80}" type="slidenum">
              <a:rPr lang="en-US" altLang="zh-CN"/>
              <a:pPr>
                <a:defRPr/>
              </a:pPr>
              <a:t>‹#›</a:t>
            </a:fld>
            <a:endParaRPr lang="en-US" altLang="zh-CN"/>
          </a:p>
        </p:txBody>
      </p:sp>
    </p:spTree>
    <p:extLst>
      <p:ext uri="{BB962C8B-B14F-4D97-AF65-F5344CB8AC3E}">
        <p14:creationId xmlns:p14="http://schemas.microsoft.com/office/powerpoint/2010/main" val="3020073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1F1E1244-D5F9-404A-8C7F-89D32704239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FEE31D6-961F-4E28-9006-49CFFAF4135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37A4B21-A894-40FD-87E9-E816623CF8C8}"/>
              </a:ext>
            </a:extLst>
          </p:cNvPr>
          <p:cNvSpPr>
            <a:spLocks noGrp="1" noChangeArrowheads="1"/>
          </p:cNvSpPr>
          <p:nvPr>
            <p:ph type="sldNum" sz="quarter" idx="12"/>
          </p:nvPr>
        </p:nvSpPr>
        <p:spPr>
          <a:ln/>
        </p:spPr>
        <p:txBody>
          <a:bodyPr/>
          <a:lstStyle>
            <a:lvl1pPr>
              <a:defRPr/>
            </a:lvl1pPr>
          </a:lstStyle>
          <a:p>
            <a:pPr>
              <a:defRPr/>
            </a:pPr>
            <a:fld id="{9E0EE96A-0402-4988-81B9-05206AEEDEB6}" type="slidenum">
              <a:rPr lang="en-US" altLang="zh-CN"/>
              <a:pPr>
                <a:defRPr/>
              </a:pPr>
              <a:t>‹#›</a:t>
            </a:fld>
            <a:endParaRPr lang="en-US" altLang="zh-CN"/>
          </a:p>
        </p:txBody>
      </p:sp>
    </p:spTree>
    <p:extLst>
      <p:ext uri="{BB962C8B-B14F-4D97-AF65-F5344CB8AC3E}">
        <p14:creationId xmlns:p14="http://schemas.microsoft.com/office/powerpoint/2010/main" val="2608002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520550B-FE94-49AD-AD95-24A7A447101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4709EF0-3299-4250-BDBA-93CA88B238D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D14CD2C-162E-408A-B358-954B520A359A}"/>
              </a:ext>
            </a:extLst>
          </p:cNvPr>
          <p:cNvSpPr>
            <a:spLocks noGrp="1" noChangeArrowheads="1"/>
          </p:cNvSpPr>
          <p:nvPr>
            <p:ph type="sldNum" sz="quarter" idx="12"/>
          </p:nvPr>
        </p:nvSpPr>
        <p:spPr>
          <a:ln/>
        </p:spPr>
        <p:txBody>
          <a:bodyPr/>
          <a:lstStyle>
            <a:lvl1pPr>
              <a:defRPr/>
            </a:lvl1pPr>
          </a:lstStyle>
          <a:p>
            <a:pPr>
              <a:defRPr/>
            </a:pPr>
            <a:fld id="{79190A27-A9C8-49C7-B8D3-213C952ABB7A}" type="slidenum">
              <a:rPr lang="en-US" altLang="zh-CN"/>
              <a:pPr>
                <a:defRPr/>
              </a:pPr>
              <a:t>‹#›</a:t>
            </a:fld>
            <a:endParaRPr lang="en-US" altLang="zh-CN"/>
          </a:p>
        </p:txBody>
      </p:sp>
    </p:spTree>
    <p:extLst>
      <p:ext uri="{BB962C8B-B14F-4D97-AF65-F5344CB8AC3E}">
        <p14:creationId xmlns:p14="http://schemas.microsoft.com/office/powerpoint/2010/main" val="853871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5575"/>
            <a:ext cx="2057400" cy="59753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5575"/>
            <a:ext cx="6019800" cy="59753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9714827-FCEF-43D4-84FE-CBF57884F8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1186BB1-96C8-44CF-9C1C-32A17909D86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6FAA952-FCCA-48C2-8109-6185FE03257D}"/>
              </a:ext>
            </a:extLst>
          </p:cNvPr>
          <p:cNvSpPr>
            <a:spLocks noGrp="1" noChangeArrowheads="1"/>
          </p:cNvSpPr>
          <p:nvPr>
            <p:ph type="sldNum" sz="quarter" idx="12"/>
          </p:nvPr>
        </p:nvSpPr>
        <p:spPr>
          <a:ln/>
        </p:spPr>
        <p:txBody>
          <a:bodyPr/>
          <a:lstStyle>
            <a:lvl1pPr>
              <a:defRPr/>
            </a:lvl1pPr>
          </a:lstStyle>
          <a:p>
            <a:pPr>
              <a:defRPr/>
            </a:pPr>
            <a:fld id="{5CF8A02A-57B5-42C8-9204-C047465569E0}" type="slidenum">
              <a:rPr lang="en-US" altLang="zh-CN"/>
              <a:pPr>
                <a:defRPr/>
              </a:pPr>
              <a:t>‹#›</a:t>
            </a:fld>
            <a:endParaRPr lang="en-US" altLang="zh-CN"/>
          </a:p>
        </p:txBody>
      </p:sp>
    </p:spTree>
    <p:extLst>
      <p:ext uri="{BB962C8B-B14F-4D97-AF65-F5344CB8AC3E}">
        <p14:creationId xmlns:p14="http://schemas.microsoft.com/office/powerpoint/2010/main" val="2695178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55575"/>
            <a:ext cx="8229600" cy="9112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143000"/>
            <a:ext cx="4038600" cy="4987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4987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5C3C00F-9960-4499-B95B-B6785A97542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781CCBA-25CD-4AE7-BC99-0EA19338E50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553D8FC-0272-47EA-86FE-A0A4C7B9A84D}"/>
              </a:ext>
            </a:extLst>
          </p:cNvPr>
          <p:cNvSpPr>
            <a:spLocks noGrp="1" noChangeArrowheads="1"/>
          </p:cNvSpPr>
          <p:nvPr>
            <p:ph type="sldNum" sz="quarter" idx="12"/>
          </p:nvPr>
        </p:nvSpPr>
        <p:spPr>
          <a:ln/>
        </p:spPr>
        <p:txBody>
          <a:bodyPr/>
          <a:lstStyle>
            <a:lvl1pPr>
              <a:defRPr/>
            </a:lvl1pPr>
          </a:lstStyle>
          <a:p>
            <a:pPr>
              <a:defRPr/>
            </a:pPr>
            <a:fld id="{2C7A3012-D60C-4AE1-B58A-0BF38F574785}" type="slidenum">
              <a:rPr lang="en-US" altLang="zh-CN"/>
              <a:pPr>
                <a:defRPr/>
              </a:pPr>
              <a:t>‹#›</a:t>
            </a:fld>
            <a:endParaRPr lang="en-US" altLang="zh-CN"/>
          </a:p>
        </p:txBody>
      </p:sp>
    </p:spTree>
    <p:extLst>
      <p:ext uri="{BB962C8B-B14F-4D97-AF65-F5344CB8AC3E}">
        <p14:creationId xmlns:p14="http://schemas.microsoft.com/office/powerpoint/2010/main" val="223905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55575"/>
            <a:ext cx="8229600" cy="9112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143000"/>
            <a:ext cx="4038600" cy="4987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143000"/>
            <a:ext cx="4038600" cy="24177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13163"/>
            <a:ext cx="4038600" cy="2417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AB18F5BA-B168-426A-AE19-16D1EB6EA05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83BD03DB-64EF-489F-A4A8-3EE376C3019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F62C3918-4773-435A-9B89-466FFDA4B6A7}"/>
              </a:ext>
            </a:extLst>
          </p:cNvPr>
          <p:cNvSpPr>
            <a:spLocks noGrp="1" noChangeArrowheads="1"/>
          </p:cNvSpPr>
          <p:nvPr>
            <p:ph type="sldNum" sz="quarter" idx="12"/>
          </p:nvPr>
        </p:nvSpPr>
        <p:spPr>
          <a:ln/>
        </p:spPr>
        <p:txBody>
          <a:bodyPr/>
          <a:lstStyle>
            <a:lvl1pPr>
              <a:defRPr/>
            </a:lvl1pPr>
          </a:lstStyle>
          <a:p>
            <a:pPr>
              <a:defRPr/>
            </a:pPr>
            <a:fld id="{3CE4D4D9-1BB3-4988-A2F1-29266B198678}" type="slidenum">
              <a:rPr lang="en-US" altLang="zh-CN"/>
              <a:pPr>
                <a:defRPr/>
              </a:pPr>
              <a:t>‹#›</a:t>
            </a:fld>
            <a:endParaRPr lang="en-US" altLang="zh-CN"/>
          </a:p>
        </p:txBody>
      </p:sp>
    </p:spTree>
    <p:extLst>
      <p:ext uri="{BB962C8B-B14F-4D97-AF65-F5344CB8AC3E}">
        <p14:creationId xmlns:p14="http://schemas.microsoft.com/office/powerpoint/2010/main" val="604139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55575"/>
            <a:ext cx="8229600" cy="911225"/>
          </a:xfrm>
        </p:spPr>
        <p:txBody>
          <a:bodyPr/>
          <a:lstStyle/>
          <a:p>
            <a:r>
              <a:rPr lang="zh-CN" altLang="en-US"/>
              <a:t>单击此处编辑母版标题样式</a:t>
            </a:r>
          </a:p>
        </p:txBody>
      </p:sp>
      <p:sp>
        <p:nvSpPr>
          <p:cNvPr id="3" name="表格占位符 2"/>
          <p:cNvSpPr>
            <a:spLocks noGrp="1"/>
          </p:cNvSpPr>
          <p:nvPr>
            <p:ph type="tbl" idx="1"/>
          </p:nvPr>
        </p:nvSpPr>
        <p:spPr>
          <a:xfrm>
            <a:off x="457200" y="1143000"/>
            <a:ext cx="8229600" cy="4987925"/>
          </a:xfrm>
        </p:spPr>
        <p:txBody>
          <a:bodyPr/>
          <a:lstStyle/>
          <a:p>
            <a:pPr lvl="0"/>
            <a:endParaRPr lang="zh-CN" altLang="en-US" noProof="0"/>
          </a:p>
        </p:txBody>
      </p:sp>
      <p:sp>
        <p:nvSpPr>
          <p:cNvPr id="4" name="Rectangle 4">
            <a:extLst>
              <a:ext uri="{FF2B5EF4-FFF2-40B4-BE49-F238E27FC236}">
                <a16:creationId xmlns:a16="http://schemas.microsoft.com/office/drawing/2014/main" id="{BB02D5F0-602F-4A21-8984-EAA109AC316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83465F2-23D3-4AB0-A40A-78B6A3B6DBF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1DFDD72-343A-4E10-8679-1FDD788A766B}"/>
              </a:ext>
            </a:extLst>
          </p:cNvPr>
          <p:cNvSpPr>
            <a:spLocks noGrp="1" noChangeArrowheads="1"/>
          </p:cNvSpPr>
          <p:nvPr>
            <p:ph type="sldNum" sz="quarter" idx="12"/>
          </p:nvPr>
        </p:nvSpPr>
        <p:spPr>
          <a:ln/>
        </p:spPr>
        <p:txBody>
          <a:bodyPr/>
          <a:lstStyle>
            <a:lvl1pPr>
              <a:defRPr/>
            </a:lvl1pPr>
          </a:lstStyle>
          <a:p>
            <a:pPr>
              <a:defRPr/>
            </a:pPr>
            <a:fld id="{64866ACE-2117-4C09-BA7C-C85EBF1D0FC3}" type="slidenum">
              <a:rPr lang="en-US" altLang="zh-CN"/>
              <a:pPr>
                <a:defRPr/>
              </a:pPr>
              <a:t>‹#›</a:t>
            </a:fld>
            <a:endParaRPr lang="en-US" altLang="zh-CN"/>
          </a:p>
        </p:txBody>
      </p:sp>
    </p:spTree>
    <p:extLst>
      <p:ext uri="{BB962C8B-B14F-4D97-AF65-F5344CB8AC3E}">
        <p14:creationId xmlns:p14="http://schemas.microsoft.com/office/powerpoint/2010/main" val="963551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669684-A350-4801-814A-5D704AC8DB75}"/>
              </a:ext>
            </a:extLst>
          </p:cNvPr>
          <p:cNvSpPr>
            <a:spLocks noGrp="1" noChangeArrowheads="1"/>
          </p:cNvSpPr>
          <p:nvPr>
            <p:ph type="title"/>
          </p:nvPr>
        </p:nvSpPr>
        <p:spPr bwMode="auto">
          <a:xfrm>
            <a:off x="457200" y="155575"/>
            <a:ext cx="8229600"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F9AEC606-7861-488C-B436-8EA69947B5D2}"/>
              </a:ext>
            </a:extLst>
          </p:cNvPr>
          <p:cNvSpPr>
            <a:spLocks noGrp="1" noChangeArrowheads="1"/>
          </p:cNvSpPr>
          <p:nvPr>
            <p:ph type="body" idx="1"/>
          </p:nvPr>
        </p:nvSpPr>
        <p:spPr bwMode="auto">
          <a:xfrm>
            <a:off x="457200" y="1143000"/>
            <a:ext cx="8229600"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2772" name="Rectangle 4">
            <a:extLst>
              <a:ext uri="{FF2B5EF4-FFF2-40B4-BE49-F238E27FC236}">
                <a16:creationId xmlns:a16="http://schemas.microsoft.com/office/drawing/2014/main" id="{3CE8BB29-86A4-4690-8093-555B6373422B}"/>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mj-lt"/>
              </a:defRPr>
            </a:lvl1pPr>
          </a:lstStyle>
          <a:p>
            <a:pPr>
              <a:defRPr/>
            </a:pPr>
            <a:endParaRPr lang="en-US" altLang="zh-CN"/>
          </a:p>
        </p:txBody>
      </p:sp>
      <p:sp>
        <p:nvSpPr>
          <p:cNvPr id="32773" name="Rectangle 5">
            <a:extLst>
              <a:ext uri="{FF2B5EF4-FFF2-40B4-BE49-F238E27FC236}">
                <a16:creationId xmlns:a16="http://schemas.microsoft.com/office/drawing/2014/main" id="{7D91FC40-B162-46D5-A3C4-611B358A2AFC}"/>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mj-lt"/>
              </a:defRPr>
            </a:lvl1pPr>
          </a:lstStyle>
          <a:p>
            <a:pPr>
              <a:defRPr/>
            </a:pPr>
            <a:endParaRPr lang="en-US" altLang="zh-CN"/>
          </a:p>
        </p:txBody>
      </p:sp>
      <p:sp>
        <p:nvSpPr>
          <p:cNvPr id="32774" name="Rectangle 6">
            <a:extLst>
              <a:ext uri="{FF2B5EF4-FFF2-40B4-BE49-F238E27FC236}">
                <a16:creationId xmlns:a16="http://schemas.microsoft.com/office/drawing/2014/main" id="{1747FDBD-EDF6-457B-883E-D85EA0B17448}"/>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Garamond" panose="02020404030301010803" pitchFamily="18" charset="0"/>
              </a:defRPr>
            </a:lvl1pPr>
          </a:lstStyle>
          <a:p>
            <a:pPr>
              <a:defRPr/>
            </a:pPr>
            <a:fld id="{D673348D-16D7-4235-BA29-CF61E4E7B215}" type="slidenum">
              <a:rPr lang="en-US" altLang="zh-CN"/>
              <a:pPr>
                <a:defRPr/>
              </a:pPr>
              <a:t>‹#›</a:t>
            </a:fld>
            <a:endParaRPr lang="en-US" altLang="zh-CN"/>
          </a:p>
        </p:txBody>
      </p:sp>
      <p:sp>
        <p:nvSpPr>
          <p:cNvPr id="1031" name="Freeform 7">
            <a:extLst>
              <a:ext uri="{FF2B5EF4-FFF2-40B4-BE49-F238E27FC236}">
                <a16:creationId xmlns:a16="http://schemas.microsoft.com/office/drawing/2014/main" id="{191A1B16-027F-4BB3-8966-E6FB2D8D56B5}"/>
              </a:ext>
            </a:extLst>
          </p:cNvPr>
          <p:cNvSpPr>
            <a:spLocks noChangeArrowheads="1"/>
          </p:cNvSpPr>
          <p:nvPr/>
        </p:nvSpPr>
        <p:spPr bwMode="auto">
          <a:xfrm>
            <a:off x="457200" y="1524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a:extLst>
              <a:ext uri="{FF2B5EF4-FFF2-40B4-BE49-F238E27FC236}">
                <a16:creationId xmlns:a16="http://schemas.microsoft.com/office/drawing/2014/main" id="{563333E0-DFB1-4D93-A96D-252572D0D81C}"/>
              </a:ext>
            </a:extLst>
          </p:cNvPr>
          <p:cNvSpPr>
            <a:spLocks noChangeShapeType="1"/>
          </p:cNvSpPr>
          <p:nvPr/>
        </p:nvSpPr>
        <p:spPr bwMode="auto">
          <a:xfrm>
            <a:off x="457200" y="66294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33" name="Picture 9" descr="校徽">
            <a:extLst>
              <a:ext uri="{FF2B5EF4-FFF2-40B4-BE49-F238E27FC236}">
                <a16:creationId xmlns:a16="http://schemas.microsoft.com/office/drawing/2014/main" id="{5A715CD2-9DBB-412A-89F7-F8C96B357AF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72400" y="225425"/>
            <a:ext cx="785813" cy="765175"/>
          </a:xfrm>
          <a:prstGeom prst="rect">
            <a:avLst/>
          </a:prstGeom>
          <a:solidFill>
            <a:schemeClr val="bg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7" r:id="rId1"/>
    <p:sldLayoutId id="2147484084" r:id="rId2"/>
    <p:sldLayoutId id="2147484085" r:id="rId3"/>
    <p:sldLayoutId id="2147484086" r:id="rId4"/>
    <p:sldLayoutId id="2147484087" r:id="rId5"/>
    <p:sldLayoutId id="2147484088" r:id="rId6"/>
    <p:sldLayoutId id="2147484089" r:id="rId7"/>
    <p:sldLayoutId id="2147484090" r:id="rId8"/>
    <p:sldLayoutId id="2147484091" r:id="rId9"/>
    <p:sldLayoutId id="2147484092" r:id="rId10"/>
    <p:sldLayoutId id="2147484093" r:id="rId11"/>
    <p:sldLayoutId id="2147484094" r:id="rId12"/>
    <p:sldLayoutId id="2147484095" r:id="rId13"/>
    <p:sldLayoutId id="2147484096" r:id="rId14"/>
  </p:sldLayoutIdLst>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Garamond" pitchFamily="18" charset="0"/>
          <a:ea typeface="宋体" pitchFamily="2" charset="-122"/>
        </a:defRPr>
      </a:lvl2pPr>
      <a:lvl3pPr algn="l" rtl="0" eaLnBrk="0" fontAlgn="base" hangingPunct="0">
        <a:spcBef>
          <a:spcPct val="0"/>
        </a:spcBef>
        <a:spcAft>
          <a:spcPct val="0"/>
        </a:spcAft>
        <a:defRPr sz="4200" b="1">
          <a:solidFill>
            <a:schemeClr val="tx2"/>
          </a:solidFill>
          <a:latin typeface="Garamond" pitchFamily="18" charset="0"/>
          <a:ea typeface="宋体" pitchFamily="2" charset="-122"/>
        </a:defRPr>
      </a:lvl3pPr>
      <a:lvl4pPr algn="l" rtl="0" eaLnBrk="0" fontAlgn="base" hangingPunct="0">
        <a:spcBef>
          <a:spcPct val="0"/>
        </a:spcBef>
        <a:spcAft>
          <a:spcPct val="0"/>
        </a:spcAft>
        <a:defRPr sz="4200" b="1">
          <a:solidFill>
            <a:schemeClr val="tx2"/>
          </a:solidFill>
          <a:latin typeface="Garamond" pitchFamily="18" charset="0"/>
          <a:ea typeface="宋体" pitchFamily="2" charset="-122"/>
        </a:defRPr>
      </a:lvl4pPr>
      <a:lvl5pPr algn="l" rtl="0" eaLnBrk="0" fontAlgn="base" hangingPunct="0">
        <a:spcBef>
          <a:spcPct val="0"/>
        </a:spcBef>
        <a:spcAft>
          <a:spcPct val="0"/>
        </a:spcAft>
        <a:defRPr sz="4200" b="1">
          <a:solidFill>
            <a:schemeClr val="tx2"/>
          </a:solidFill>
          <a:latin typeface="Garamond" pitchFamily="18" charset="0"/>
          <a:ea typeface="宋体" pitchFamily="2" charset="-122"/>
        </a:defRPr>
      </a:lvl5pPr>
      <a:lvl6pPr marL="457200" algn="l" rtl="0" fontAlgn="base">
        <a:spcBef>
          <a:spcPct val="0"/>
        </a:spcBef>
        <a:spcAft>
          <a:spcPct val="0"/>
        </a:spcAft>
        <a:defRPr sz="4200" b="1">
          <a:solidFill>
            <a:schemeClr val="tx2"/>
          </a:solidFill>
          <a:latin typeface="Garamond" pitchFamily="18" charset="0"/>
          <a:ea typeface="宋体" pitchFamily="2" charset="-122"/>
        </a:defRPr>
      </a:lvl6pPr>
      <a:lvl7pPr marL="914400" algn="l" rtl="0" fontAlgn="base">
        <a:spcBef>
          <a:spcPct val="0"/>
        </a:spcBef>
        <a:spcAft>
          <a:spcPct val="0"/>
        </a:spcAft>
        <a:defRPr sz="4200" b="1">
          <a:solidFill>
            <a:schemeClr val="tx2"/>
          </a:solidFill>
          <a:latin typeface="Garamond" pitchFamily="18" charset="0"/>
          <a:ea typeface="宋体" pitchFamily="2" charset="-122"/>
        </a:defRPr>
      </a:lvl7pPr>
      <a:lvl8pPr marL="1371600" algn="l" rtl="0" fontAlgn="base">
        <a:spcBef>
          <a:spcPct val="0"/>
        </a:spcBef>
        <a:spcAft>
          <a:spcPct val="0"/>
        </a:spcAft>
        <a:defRPr sz="4200" b="1">
          <a:solidFill>
            <a:schemeClr val="tx2"/>
          </a:solidFill>
          <a:latin typeface="Garamond" pitchFamily="18" charset="0"/>
          <a:ea typeface="宋体" pitchFamily="2" charset="-122"/>
        </a:defRPr>
      </a:lvl8pPr>
      <a:lvl9pPr marL="1828800" algn="l" rtl="0" fontAlgn="base">
        <a:spcBef>
          <a:spcPct val="0"/>
        </a:spcBef>
        <a:spcAft>
          <a:spcPct val="0"/>
        </a:spcAft>
        <a:defRPr sz="42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2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8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png"/><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image" Target="../media/image33.wmf"/><Relationship Id="rId5" Type="http://schemas.openxmlformats.org/officeDocument/2006/relationships/oleObject" Target="../embeddings/oleObject3.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5.bin"/></Relationships>
</file>

<file path=ppt/slides/_rels/slide34.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11.bin"/><Relationship Id="rId18" Type="http://schemas.openxmlformats.org/officeDocument/2006/relationships/oleObject" Target="../embeddings/oleObject14.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40.wmf"/><Relationship Id="rId17" Type="http://schemas.openxmlformats.org/officeDocument/2006/relationships/oleObject" Target="../embeddings/oleObject13.bin"/><Relationship Id="rId2" Type="http://schemas.openxmlformats.org/officeDocument/2006/relationships/slideLayout" Target="../slideLayouts/slideLayout13.xml"/><Relationship Id="rId16" Type="http://schemas.openxmlformats.org/officeDocument/2006/relationships/image" Target="../media/image42.wmf"/><Relationship Id="rId1" Type="http://schemas.openxmlformats.org/officeDocument/2006/relationships/vmlDrawing" Target="../drawings/vmlDrawing3.vml"/><Relationship Id="rId6" Type="http://schemas.openxmlformats.org/officeDocument/2006/relationships/image" Target="../media/image37.wmf"/><Relationship Id="rId11" Type="http://schemas.openxmlformats.org/officeDocument/2006/relationships/oleObject" Target="../embeddings/oleObject10.bin"/><Relationship Id="rId5" Type="http://schemas.openxmlformats.org/officeDocument/2006/relationships/oleObject" Target="../embeddings/oleObject7.bin"/><Relationship Id="rId15" Type="http://schemas.openxmlformats.org/officeDocument/2006/relationships/oleObject" Target="../embeddings/oleObject12.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9.bin"/><Relationship Id="rId14" Type="http://schemas.openxmlformats.org/officeDocument/2006/relationships/image" Target="../media/image41.wmf"/></Relationships>
</file>

<file path=ppt/slides/_rels/slide35.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20.bin"/><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40.wmf"/><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image" Target="../media/image37.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45.wmf"/><Relationship Id="rId4" Type="http://schemas.openxmlformats.org/officeDocument/2006/relationships/image" Target="../media/image43.wmf"/><Relationship Id="rId9" Type="http://schemas.openxmlformats.org/officeDocument/2006/relationships/oleObject" Target="../embeddings/oleObject18.bin"/><Relationship Id="rId14" Type="http://schemas.openxmlformats.org/officeDocument/2006/relationships/image" Target="../media/image46.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26.bin"/><Relationship Id="rId18" Type="http://schemas.openxmlformats.org/officeDocument/2006/relationships/image" Target="../media/image54.wmf"/><Relationship Id="rId3" Type="http://schemas.openxmlformats.org/officeDocument/2006/relationships/oleObject" Target="../embeddings/oleObject21.bin"/><Relationship Id="rId21" Type="http://schemas.openxmlformats.org/officeDocument/2006/relationships/oleObject" Target="../embeddings/oleObject30.bin"/><Relationship Id="rId7" Type="http://schemas.openxmlformats.org/officeDocument/2006/relationships/oleObject" Target="../embeddings/oleObject23.bin"/><Relationship Id="rId12" Type="http://schemas.openxmlformats.org/officeDocument/2006/relationships/image" Target="../media/image51.wmf"/><Relationship Id="rId17" Type="http://schemas.openxmlformats.org/officeDocument/2006/relationships/oleObject" Target="../embeddings/oleObject28.bin"/><Relationship Id="rId2" Type="http://schemas.openxmlformats.org/officeDocument/2006/relationships/slideLayout" Target="../slideLayouts/slideLayout13.xml"/><Relationship Id="rId16" Type="http://schemas.openxmlformats.org/officeDocument/2006/relationships/image" Target="../media/image53.wmf"/><Relationship Id="rId20" Type="http://schemas.openxmlformats.org/officeDocument/2006/relationships/image" Target="../media/image55.wmf"/><Relationship Id="rId1" Type="http://schemas.openxmlformats.org/officeDocument/2006/relationships/vmlDrawing" Target="../drawings/vmlDrawing5.vml"/><Relationship Id="rId6" Type="http://schemas.openxmlformats.org/officeDocument/2006/relationships/image" Target="../media/image48.wmf"/><Relationship Id="rId11" Type="http://schemas.openxmlformats.org/officeDocument/2006/relationships/oleObject" Target="../embeddings/oleObject25.bin"/><Relationship Id="rId5" Type="http://schemas.openxmlformats.org/officeDocument/2006/relationships/oleObject" Target="../embeddings/oleObject22.bin"/><Relationship Id="rId15" Type="http://schemas.openxmlformats.org/officeDocument/2006/relationships/oleObject" Target="../embeddings/oleObject27.bin"/><Relationship Id="rId23" Type="http://schemas.openxmlformats.org/officeDocument/2006/relationships/image" Target="../media/image57.png"/><Relationship Id="rId10" Type="http://schemas.openxmlformats.org/officeDocument/2006/relationships/image" Target="../media/image50.wmf"/><Relationship Id="rId19" Type="http://schemas.openxmlformats.org/officeDocument/2006/relationships/oleObject" Target="../embeddings/oleObject29.bin"/><Relationship Id="rId4" Type="http://schemas.openxmlformats.org/officeDocument/2006/relationships/image" Target="../media/image47.wmf"/><Relationship Id="rId9" Type="http://schemas.openxmlformats.org/officeDocument/2006/relationships/oleObject" Target="../embeddings/oleObject24.bin"/><Relationship Id="rId14" Type="http://schemas.openxmlformats.org/officeDocument/2006/relationships/image" Target="../media/image52.wmf"/><Relationship Id="rId22" Type="http://schemas.openxmlformats.org/officeDocument/2006/relationships/image" Target="../media/image56.wmf"/></Relationships>
</file>

<file path=ppt/slides/_rels/slide40.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notesSlide" Target="../notesSlides/notesSlide3.xml"/><Relationship Id="rId7" Type="http://schemas.openxmlformats.org/officeDocument/2006/relationships/oleObject" Target="../embeddings/oleObject32.bin"/><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image" Target="../media/image58.wmf"/><Relationship Id="rId5" Type="http://schemas.openxmlformats.org/officeDocument/2006/relationships/oleObject" Target="../embeddings/oleObject31.bin"/><Relationship Id="rId4" Type="http://schemas.openxmlformats.org/officeDocument/2006/relationships/image" Target="../media/image60.png"/></Relationships>
</file>

<file path=ppt/slides/_rels/slide41.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image" Target="../media/image67.png"/><Relationship Id="rId3" Type="http://schemas.openxmlformats.org/officeDocument/2006/relationships/oleObject" Target="../embeddings/oleObject33.bin"/><Relationship Id="rId7" Type="http://schemas.openxmlformats.org/officeDocument/2006/relationships/oleObject" Target="../embeddings/oleObject34.bin"/><Relationship Id="rId12" Type="http://schemas.openxmlformats.org/officeDocument/2006/relationships/image" Target="../media/image64.wmf"/><Relationship Id="rId2" Type="http://schemas.openxmlformats.org/officeDocument/2006/relationships/slideLayout" Target="../slideLayouts/slideLayout13.xml"/><Relationship Id="rId1" Type="http://schemas.openxmlformats.org/officeDocument/2006/relationships/vmlDrawing" Target="../drawings/vmlDrawing7.vml"/><Relationship Id="rId6" Type="http://schemas.openxmlformats.org/officeDocument/2006/relationships/image" Target="../media/image66.png"/><Relationship Id="rId11" Type="http://schemas.openxmlformats.org/officeDocument/2006/relationships/oleObject" Target="../embeddings/oleObject36.bin"/><Relationship Id="rId5" Type="http://schemas.openxmlformats.org/officeDocument/2006/relationships/image" Target="../media/image65.png"/><Relationship Id="rId10" Type="http://schemas.openxmlformats.org/officeDocument/2006/relationships/image" Target="../media/image63.wmf"/><Relationship Id="rId4" Type="http://schemas.openxmlformats.org/officeDocument/2006/relationships/image" Target="../media/image61.wmf"/><Relationship Id="rId9" Type="http://schemas.openxmlformats.org/officeDocument/2006/relationships/oleObject" Target="../embeddings/oleObject35.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68.wmf"/><Relationship Id="rId3" Type="http://schemas.openxmlformats.org/officeDocument/2006/relationships/image" Target="../media/image72.png"/><Relationship Id="rId7" Type="http://schemas.openxmlformats.org/officeDocument/2006/relationships/image" Target="../media/image65.wmf"/><Relationship Id="rId12" Type="http://schemas.openxmlformats.org/officeDocument/2006/relationships/oleObject" Target="../embeddings/oleObject41.bin"/><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oleObject" Target="../embeddings/oleObject38.bin"/><Relationship Id="rId11" Type="http://schemas.openxmlformats.org/officeDocument/2006/relationships/image" Target="../media/image67.wmf"/><Relationship Id="rId5" Type="http://schemas.openxmlformats.org/officeDocument/2006/relationships/image" Target="../media/image61.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66.wmf"/><Relationship Id="rId14" Type="http://schemas.openxmlformats.org/officeDocument/2006/relationships/image" Target="../media/image7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oleObject" Target="../embeddings/oleObject47.bin"/><Relationship Id="rId18" Type="http://schemas.openxmlformats.org/officeDocument/2006/relationships/image" Target="../media/image76.wmf"/><Relationship Id="rId3" Type="http://schemas.openxmlformats.org/officeDocument/2006/relationships/oleObject" Target="../embeddings/oleObject42.bin"/><Relationship Id="rId21" Type="http://schemas.openxmlformats.org/officeDocument/2006/relationships/image" Target="../media/image78.png"/><Relationship Id="rId7" Type="http://schemas.openxmlformats.org/officeDocument/2006/relationships/oleObject" Target="../embeddings/oleObject44.bin"/><Relationship Id="rId12" Type="http://schemas.openxmlformats.org/officeDocument/2006/relationships/image" Target="../media/image73.wmf"/><Relationship Id="rId17" Type="http://schemas.openxmlformats.org/officeDocument/2006/relationships/oleObject" Target="../embeddings/oleObject49.bin"/><Relationship Id="rId2" Type="http://schemas.openxmlformats.org/officeDocument/2006/relationships/slideLayout" Target="../slideLayouts/slideLayout13.xml"/><Relationship Id="rId16" Type="http://schemas.openxmlformats.org/officeDocument/2006/relationships/image" Target="../media/image75.wmf"/><Relationship Id="rId20" Type="http://schemas.openxmlformats.org/officeDocument/2006/relationships/image" Target="../media/image77.wmf"/><Relationship Id="rId1" Type="http://schemas.openxmlformats.org/officeDocument/2006/relationships/vmlDrawing" Target="../drawings/vmlDrawing9.vml"/><Relationship Id="rId6" Type="http://schemas.openxmlformats.org/officeDocument/2006/relationships/image" Target="../media/image70.wmf"/><Relationship Id="rId11" Type="http://schemas.openxmlformats.org/officeDocument/2006/relationships/oleObject" Target="../embeddings/oleObject46.bin"/><Relationship Id="rId5" Type="http://schemas.openxmlformats.org/officeDocument/2006/relationships/oleObject" Target="../embeddings/oleObject43.bin"/><Relationship Id="rId15" Type="http://schemas.openxmlformats.org/officeDocument/2006/relationships/oleObject" Target="../embeddings/oleObject48.bin"/><Relationship Id="rId10" Type="http://schemas.openxmlformats.org/officeDocument/2006/relationships/image" Target="../media/image72.wmf"/><Relationship Id="rId19" Type="http://schemas.openxmlformats.org/officeDocument/2006/relationships/oleObject" Target="../embeddings/oleObject50.bin"/><Relationship Id="rId4" Type="http://schemas.openxmlformats.org/officeDocument/2006/relationships/image" Target="../media/image69.wmf"/><Relationship Id="rId9" Type="http://schemas.openxmlformats.org/officeDocument/2006/relationships/oleObject" Target="../embeddings/oleObject45.bin"/><Relationship Id="rId14" Type="http://schemas.openxmlformats.org/officeDocument/2006/relationships/image" Target="../media/image74.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1.bin"/><Relationship Id="rId7" Type="http://schemas.openxmlformats.org/officeDocument/2006/relationships/image" Target="../media/image60.png"/><Relationship Id="rId2" Type="http://schemas.openxmlformats.org/officeDocument/2006/relationships/slideLayout" Target="../slideLayouts/slideLayout13.xml"/><Relationship Id="rId1" Type="http://schemas.openxmlformats.org/officeDocument/2006/relationships/vmlDrawing" Target="../drawings/vmlDrawing10.vml"/><Relationship Id="rId6" Type="http://schemas.openxmlformats.org/officeDocument/2006/relationships/image" Target="../media/image79.wmf"/><Relationship Id="rId5" Type="http://schemas.openxmlformats.org/officeDocument/2006/relationships/oleObject" Target="../embeddings/oleObject52.bin"/><Relationship Id="rId4" Type="http://schemas.openxmlformats.org/officeDocument/2006/relationships/image" Target="../media/image59.wmf"/></Relationships>
</file>

<file path=ppt/slides/_rels/slide46.xml.rels><?xml version="1.0" encoding="UTF-8" standalone="yes"?>
<Relationships xmlns="http://schemas.openxmlformats.org/package/2006/relationships"><Relationship Id="rId8" Type="http://schemas.openxmlformats.org/officeDocument/2006/relationships/image" Target="../media/image82.wmf"/><Relationship Id="rId13" Type="http://schemas.openxmlformats.org/officeDocument/2006/relationships/oleObject" Target="../embeddings/oleObject58.bin"/><Relationship Id="rId3" Type="http://schemas.openxmlformats.org/officeDocument/2006/relationships/oleObject" Target="../embeddings/oleObject53.bin"/><Relationship Id="rId7" Type="http://schemas.openxmlformats.org/officeDocument/2006/relationships/oleObject" Target="../embeddings/oleObject55.bin"/><Relationship Id="rId12" Type="http://schemas.openxmlformats.org/officeDocument/2006/relationships/image" Target="../media/image84.wmf"/><Relationship Id="rId2" Type="http://schemas.openxmlformats.org/officeDocument/2006/relationships/slideLayout" Target="../slideLayouts/slideLayout13.xml"/><Relationship Id="rId1" Type="http://schemas.openxmlformats.org/officeDocument/2006/relationships/vmlDrawing" Target="../drawings/vmlDrawing11.vml"/><Relationship Id="rId6" Type="http://schemas.openxmlformats.org/officeDocument/2006/relationships/image" Target="../media/image81.wmf"/><Relationship Id="rId11" Type="http://schemas.openxmlformats.org/officeDocument/2006/relationships/oleObject" Target="../embeddings/oleObject57.bin"/><Relationship Id="rId5" Type="http://schemas.openxmlformats.org/officeDocument/2006/relationships/oleObject" Target="../embeddings/oleObject54.bin"/><Relationship Id="rId10" Type="http://schemas.openxmlformats.org/officeDocument/2006/relationships/image" Target="../media/image83.wmf"/><Relationship Id="rId4" Type="http://schemas.openxmlformats.org/officeDocument/2006/relationships/image" Target="../media/image80.wmf"/><Relationship Id="rId9" Type="http://schemas.openxmlformats.org/officeDocument/2006/relationships/oleObject" Target="../embeddings/oleObject56.bin"/><Relationship Id="rId14" Type="http://schemas.openxmlformats.org/officeDocument/2006/relationships/image" Target="../media/image85.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93.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57.png"/><Relationship Id="rId4" Type="http://schemas.openxmlformats.org/officeDocument/2006/relationships/image" Target="../media/image94.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96.wmf"/><Relationship Id="rId5" Type="http://schemas.openxmlformats.org/officeDocument/2006/relationships/oleObject" Target="../embeddings/oleObject62.bin"/><Relationship Id="rId4" Type="http://schemas.openxmlformats.org/officeDocument/2006/relationships/image" Target="../media/image95.wmf"/></Relationships>
</file>

<file path=ppt/slides/_rels/slide63.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98.wmf"/><Relationship Id="rId5" Type="http://schemas.openxmlformats.org/officeDocument/2006/relationships/oleObject" Target="../embeddings/oleObject64.bin"/><Relationship Id="rId4" Type="http://schemas.openxmlformats.org/officeDocument/2006/relationships/image" Target="../media/image97.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101.wmf"/><Relationship Id="rId5" Type="http://schemas.openxmlformats.org/officeDocument/2006/relationships/oleObject" Target="../embeddings/oleObject67.bin"/><Relationship Id="rId4" Type="http://schemas.openxmlformats.org/officeDocument/2006/relationships/image" Target="../media/image100.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03.wmf"/><Relationship Id="rId5" Type="http://schemas.openxmlformats.org/officeDocument/2006/relationships/oleObject" Target="../embeddings/oleObject69.bin"/><Relationship Id="rId4" Type="http://schemas.openxmlformats.org/officeDocument/2006/relationships/image" Target="../media/image102.w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104.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106.wmf"/></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107.wmf"/><Relationship Id="rId4" Type="http://schemas.openxmlformats.org/officeDocument/2006/relationships/oleObject" Target="../embeddings/oleObject72.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108.wmf"/><Relationship Id="rId4" Type="http://schemas.openxmlformats.org/officeDocument/2006/relationships/oleObject" Target="../embeddings/oleObject73.bin"/></Relationships>
</file>

<file path=ppt/slides/_rels/slide7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108.wmf"/><Relationship Id="rId4" Type="http://schemas.openxmlformats.org/officeDocument/2006/relationships/oleObject" Target="../embeddings/oleObject74.bin"/></Relationships>
</file>

<file path=ppt/slides/_rels/slide76.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13.emf"/><Relationship Id="rId5" Type="http://schemas.openxmlformats.org/officeDocument/2006/relationships/oleObject" Target="../embeddings/oleObject76.bin"/><Relationship Id="rId4" Type="http://schemas.openxmlformats.org/officeDocument/2006/relationships/image" Target="../media/image112.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32.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 Id="rId5" Type="http://schemas.openxmlformats.org/officeDocument/2006/relationships/image" Target="../media/image138.png"/><Relationship Id="rId4" Type="http://schemas.openxmlformats.org/officeDocument/2006/relationships/image" Target="../media/image137.png"/></Relationships>
</file>

<file path=ppt/slides/_rels/slide107.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7C7DA4D-9736-44FF-8DCC-6408C4087DAA}"/>
              </a:ext>
            </a:extLst>
          </p:cNvPr>
          <p:cNvSpPr>
            <a:spLocks noGrp="1" noChangeArrowheads="1"/>
          </p:cNvSpPr>
          <p:nvPr>
            <p:ph type="ctrTitle"/>
          </p:nvPr>
        </p:nvSpPr>
        <p:spPr>
          <a:xfrm>
            <a:off x="914400" y="1524000"/>
            <a:ext cx="7623175" cy="2133600"/>
          </a:xfrm>
        </p:spPr>
        <p:txBody>
          <a:bodyPr/>
          <a:lstStyle/>
          <a:p>
            <a:pPr algn="ctr" eaLnBrk="1" hangingPunct="1"/>
            <a:br>
              <a:rPr lang="en-US" altLang="zh-CN" b="0"/>
            </a:br>
            <a:r>
              <a:rPr lang="zh-CN" altLang="en-US" sz="6000"/>
              <a:t>运 筹 学</a:t>
            </a:r>
          </a:p>
        </p:txBody>
      </p:sp>
      <p:sp>
        <p:nvSpPr>
          <p:cNvPr id="4099" name="Rectangle 3">
            <a:extLst>
              <a:ext uri="{FF2B5EF4-FFF2-40B4-BE49-F238E27FC236}">
                <a16:creationId xmlns:a16="http://schemas.microsoft.com/office/drawing/2014/main" id="{41B485D3-C86C-42E1-B82A-7FCB1A511C53}"/>
              </a:ext>
            </a:extLst>
          </p:cNvPr>
          <p:cNvSpPr>
            <a:spLocks noGrp="1" noChangeArrowheads="1"/>
          </p:cNvSpPr>
          <p:nvPr>
            <p:ph type="subTitle" idx="1"/>
          </p:nvPr>
        </p:nvSpPr>
        <p:spPr>
          <a:xfrm>
            <a:off x="2362200" y="3962400"/>
            <a:ext cx="6553200" cy="1981200"/>
          </a:xfrm>
        </p:spPr>
        <p:txBody>
          <a:bodyPr/>
          <a:lstStyle/>
          <a:p>
            <a:pPr eaLnBrk="1" hangingPunct="1">
              <a:lnSpc>
                <a:spcPct val="80000"/>
              </a:lnSpc>
            </a:pPr>
            <a:r>
              <a:rPr lang="zh-CN" altLang="en-US" sz="2800" b="0" dirty="0">
                <a:latin typeface="楷体_GB2312" pitchFamily="49" charset="-122"/>
                <a:ea typeface="楷体_GB2312" pitchFamily="49" charset="-122"/>
              </a:rPr>
              <a:t>季续</a:t>
            </a:r>
            <a:endParaRPr lang="en-US" altLang="zh-CN" b="0" dirty="0">
              <a:latin typeface="楷体_GB2312" pitchFamily="49" charset="-122"/>
              <a:ea typeface="楷体_GB2312" pitchFamily="49" charset="-122"/>
            </a:endParaRPr>
          </a:p>
          <a:p>
            <a:pPr eaLnBrk="1" hangingPunct="1">
              <a:lnSpc>
                <a:spcPct val="80000"/>
              </a:lnSpc>
            </a:pPr>
            <a:r>
              <a:rPr lang="zh-CN" altLang="en-US" sz="2400" b="0" dirty="0">
                <a:ea typeface="楷体_GB2312" pitchFamily="49" charset="-122"/>
              </a:rPr>
              <a:t>影像科学与技术实验室</a:t>
            </a:r>
          </a:p>
          <a:p>
            <a:pPr eaLnBrk="1" hangingPunct="1">
              <a:lnSpc>
                <a:spcPct val="80000"/>
              </a:lnSpc>
            </a:pPr>
            <a:r>
              <a:rPr lang="zh-CN" altLang="en-US" sz="2400" b="0" dirty="0">
                <a:ea typeface="楷体_GB2312" pitchFamily="49" charset="-122"/>
              </a:rPr>
              <a:t>东南大学计算机学院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46F2B38-7D9E-42E0-9A39-A2B73A69FECB}"/>
              </a:ext>
            </a:extLst>
          </p:cNvPr>
          <p:cNvSpPr>
            <a:spLocks noGrp="1" noChangeArrowheads="1"/>
          </p:cNvSpPr>
          <p:nvPr>
            <p:ph type="ctrTitle"/>
          </p:nvPr>
        </p:nvSpPr>
        <p:spPr/>
        <p:txBody>
          <a:bodyPr/>
          <a:lstStyle/>
          <a:p>
            <a:pPr eaLnBrk="1" hangingPunct="1"/>
            <a:r>
              <a:rPr lang="zh-CN" altLang="en-US"/>
              <a:t>第九章</a:t>
            </a:r>
          </a:p>
        </p:txBody>
      </p:sp>
      <p:sp>
        <p:nvSpPr>
          <p:cNvPr id="5123" name="Rectangle 3">
            <a:extLst>
              <a:ext uri="{FF2B5EF4-FFF2-40B4-BE49-F238E27FC236}">
                <a16:creationId xmlns:a16="http://schemas.microsoft.com/office/drawing/2014/main" id="{7396878D-55CF-4316-A2E9-4A4A5E55556B}"/>
              </a:ext>
            </a:extLst>
          </p:cNvPr>
          <p:cNvSpPr>
            <a:spLocks noGrp="1" noChangeArrowheads="1"/>
          </p:cNvSpPr>
          <p:nvPr>
            <p:ph type="subTitle" idx="1"/>
          </p:nvPr>
        </p:nvSpPr>
        <p:spPr>
          <a:xfrm>
            <a:off x="1979613" y="2924175"/>
            <a:ext cx="6553200" cy="1752600"/>
          </a:xfrm>
        </p:spPr>
        <p:txBody>
          <a:bodyPr/>
          <a:lstStyle/>
          <a:p>
            <a:pPr eaLnBrk="1" hangingPunct="1"/>
            <a:r>
              <a:rPr lang="zh-CN" altLang="en-US"/>
              <a:t>动 态 规 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CA26C85-2521-462A-BCF3-32B965D04821}"/>
              </a:ext>
            </a:extLst>
          </p:cNvPr>
          <p:cNvSpPr>
            <a:spLocks noGrp="1" noChangeArrowheads="1"/>
          </p:cNvSpPr>
          <p:nvPr>
            <p:ph type="title"/>
          </p:nvPr>
        </p:nvSpPr>
        <p:spPr/>
        <p:txBody>
          <a:bodyPr/>
          <a:lstStyle/>
          <a:p>
            <a:pPr eaLnBrk="1" hangingPunct="1"/>
            <a:r>
              <a:rPr lang="zh-CN" altLang="en-US"/>
              <a:t>本章基本要求</a:t>
            </a:r>
          </a:p>
        </p:txBody>
      </p:sp>
      <p:sp>
        <p:nvSpPr>
          <p:cNvPr id="175107" name="Rectangle 3">
            <a:extLst>
              <a:ext uri="{FF2B5EF4-FFF2-40B4-BE49-F238E27FC236}">
                <a16:creationId xmlns:a16="http://schemas.microsoft.com/office/drawing/2014/main" id="{FF5FD2D7-F251-4A04-B7B7-EB95DA865EA6}"/>
              </a:ext>
            </a:extLst>
          </p:cNvPr>
          <p:cNvSpPr>
            <a:spLocks noGrp="1" noChangeArrowheads="1"/>
          </p:cNvSpPr>
          <p:nvPr>
            <p:ph type="body" idx="1"/>
          </p:nvPr>
        </p:nvSpPr>
        <p:spPr>
          <a:xfrm>
            <a:off x="457200" y="990600"/>
            <a:ext cx="8229600" cy="4987925"/>
          </a:xfrm>
        </p:spPr>
        <p:txBody>
          <a:bodyPr/>
          <a:lstStyle/>
          <a:p>
            <a:pPr eaLnBrk="1" hangingPunct="1"/>
            <a:endParaRPr lang="en-US" altLang="zh-CN">
              <a:solidFill>
                <a:srgbClr val="FF0000"/>
              </a:solidFill>
            </a:endParaRPr>
          </a:p>
          <a:p>
            <a:pPr eaLnBrk="1" hangingPunct="1"/>
            <a:r>
              <a:rPr lang="zh-CN" altLang="en-US">
                <a:cs typeface="Times New Roman" panose="02020603050405020304" pitchFamily="18" charset="0"/>
              </a:rPr>
              <a:t>掌握动态规划数学模型的建立</a:t>
            </a:r>
            <a:endParaRPr lang="en-US" altLang="zh-CN">
              <a:cs typeface="Times New Roman" panose="02020603050405020304" pitchFamily="18" charset="0"/>
            </a:endParaRPr>
          </a:p>
          <a:p>
            <a:pPr eaLnBrk="1" hangingPunct="1"/>
            <a:endParaRPr lang="en-US" altLang="zh-CN">
              <a:solidFill>
                <a:srgbClr val="FF0000"/>
              </a:solidFill>
            </a:endParaRPr>
          </a:p>
          <a:p>
            <a:pPr lvl="1" eaLnBrk="1" hangingPunct="1"/>
            <a:endParaRPr lang="en-US" altLang="zh-CN" sz="1000">
              <a:solidFill>
                <a:srgbClr val="FF0000"/>
              </a:solidFill>
            </a:endParaRPr>
          </a:p>
          <a:p>
            <a:pPr eaLnBrk="1" hangingPunct="1"/>
            <a:r>
              <a:rPr lang="zh-CN" altLang="en-US">
                <a:cs typeface="Times New Roman" panose="02020603050405020304" pitchFamily="18" charset="0"/>
              </a:rPr>
              <a:t>掌握几种典型问题的动态规划求解方法</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5107">
                                            <p:txEl>
                                              <p:pRg st="1" end="1"/>
                                            </p:txEl>
                                          </p:spTgt>
                                        </p:tgtEl>
                                        <p:attrNameLst>
                                          <p:attrName>style.visibility</p:attrName>
                                        </p:attrNameLst>
                                      </p:cBhvr>
                                      <p:to>
                                        <p:strVal val="visible"/>
                                      </p:to>
                                    </p:set>
                                    <p:animEffect transition="in" filter="blinds(horizontal)">
                                      <p:cBhvr>
                                        <p:cTn id="7" dur="500"/>
                                        <p:tgtEl>
                                          <p:spTgt spid="1751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5107">
                                            <p:txEl>
                                              <p:pRg st="4" end="4"/>
                                            </p:txEl>
                                          </p:spTgt>
                                        </p:tgtEl>
                                        <p:attrNameLst>
                                          <p:attrName>style.visibility</p:attrName>
                                        </p:attrNameLst>
                                      </p:cBhvr>
                                      <p:to>
                                        <p:strVal val="visible"/>
                                      </p:to>
                                    </p:set>
                                    <p:animEffect transition="in" filter="blinds(horizontal)">
                                      <p:cBhvr>
                                        <p:cTn id="12" dur="500"/>
                                        <p:tgtEl>
                                          <p:spTgt spid="1751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16BC08D9-4F1B-4CED-8E07-E6720C14A85F}"/>
              </a:ext>
            </a:extLst>
          </p:cNvPr>
          <p:cNvSpPr>
            <a:spLocks noGrp="1" noChangeArrowheads="1"/>
          </p:cNvSpPr>
          <p:nvPr>
            <p:ph type="ctrTitle"/>
          </p:nvPr>
        </p:nvSpPr>
        <p:spPr/>
        <p:txBody>
          <a:bodyPr/>
          <a:lstStyle/>
          <a:p>
            <a:pPr eaLnBrk="1" hangingPunct="1"/>
            <a:r>
              <a:rPr lang="zh-CN" altLang="en-US"/>
              <a:t>第九章之第一节</a:t>
            </a:r>
          </a:p>
        </p:txBody>
      </p:sp>
      <p:sp>
        <p:nvSpPr>
          <p:cNvPr id="7171" name="Rectangle 5">
            <a:extLst>
              <a:ext uri="{FF2B5EF4-FFF2-40B4-BE49-F238E27FC236}">
                <a16:creationId xmlns:a16="http://schemas.microsoft.com/office/drawing/2014/main" id="{6CE75D73-15C5-4251-90B9-762CAB0E7C44}"/>
              </a:ext>
            </a:extLst>
          </p:cNvPr>
          <p:cNvSpPr>
            <a:spLocks noGrp="1" noChangeArrowheads="1"/>
          </p:cNvSpPr>
          <p:nvPr>
            <p:ph type="subTitle" idx="1"/>
          </p:nvPr>
        </p:nvSpPr>
        <p:spPr/>
        <p:txBody>
          <a:bodyPr/>
          <a:lstStyle/>
          <a:p>
            <a:pPr eaLnBrk="1" hangingPunct="1"/>
            <a:r>
              <a:rPr lang="zh-CN" altLang="en-US"/>
              <a:t>多阶段决策过程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5A74957-82AD-4550-AF70-5C613E48F065}"/>
              </a:ext>
            </a:extLst>
          </p:cNvPr>
          <p:cNvSpPr>
            <a:spLocks noGrp="1" noChangeArrowheads="1"/>
          </p:cNvSpPr>
          <p:nvPr>
            <p:ph type="title"/>
          </p:nvPr>
        </p:nvSpPr>
        <p:spPr/>
        <p:txBody>
          <a:bodyPr/>
          <a:lstStyle/>
          <a:p>
            <a:pPr eaLnBrk="1" hangingPunct="1"/>
            <a:r>
              <a:rPr lang="zh-CN" altLang="en-US"/>
              <a:t>最短路线问题</a:t>
            </a:r>
          </a:p>
        </p:txBody>
      </p:sp>
      <p:sp>
        <p:nvSpPr>
          <p:cNvPr id="8195" name="Rectangle 3">
            <a:extLst>
              <a:ext uri="{FF2B5EF4-FFF2-40B4-BE49-F238E27FC236}">
                <a16:creationId xmlns:a16="http://schemas.microsoft.com/office/drawing/2014/main" id="{79CF04BD-0670-4827-8B53-7FD41F0F4385}"/>
              </a:ext>
            </a:extLst>
          </p:cNvPr>
          <p:cNvSpPr>
            <a:spLocks noGrp="1" noChangeArrowheads="1"/>
          </p:cNvSpPr>
          <p:nvPr>
            <p:ph type="body" idx="1"/>
          </p:nvPr>
        </p:nvSpPr>
        <p:spPr>
          <a:xfrm>
            <a:off x="457200" y="908050"/>
            <a:ext cx="8578850" cy="5310188"/>
          </a:xfrm>
        </p:spPr>
        <p:txBody>
          <a:bodyPr/>
          <a:lstStyle/>
          <a:p>
            <a:pPr eaLnBrk="1" hangingPunct="1"/>
            <a:r>
              <a:rPr lang="zh-CN" altLang="en-US" dirty="0"/>
              <a:t>求 </a:t>
            </a:r>
            <a:r>
              <a:rPr lang="en-US" altLang="zh-CN" dirty="0"/>
              <a:t>A </a:t>
            </a:r>
            <a:r>
              <a:rPr lang="zh-CN" altLang="en-US" dirty="0"/>
              <a:t>到 </a:t>
            </a:r>
            <a:r>
              <a:rPr lang="en-US" altLang="zh-CN" dirty="0"/>
              <a:t>E </a:t>
            </a:r>
            <a:r>
              <a:rPr lang="zh-CN" altLang="en-US" dirty="0"/>
              <a:t>的铺管线路，使得总距离为最短</a:t>
            </a:r>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r>
              <a:rPr lang="zh-CN" altLang="en-US" dirty="0"/>
              <a:t>穷举法</a:t>
            </a:r>
          </a:p>
          <a:p>
            <a:pPr lvl="1" eaLnBrk="1" hangingPunct="1"/>
            <a:r>
              <a:rPr lang="zh-CN" altLang="en-US" dirty="0"/>
              <a:t>加法：</a:t>
            </a:r>
            <a:r>
              <a:rPr lang="en-US" altLang="zh-CN" dirty="0"/>
              <a:t>3×18 </a:t>
            </a:r>
            <a:r>
              <a:rPr lang="zh-CN" altLang="en-US" dirty="0"/>
              <a:t>（条路线）</a:t>
            </a:r>
            <a:r>
              <a:rPr lang="en-US" altLang="zh-CN" dirty="0"/>
              <a:t>=</a:t>
            </a:r>
            <a:r>
              <a:rPr lang="en-US" altLang="zh-CN" dirty="0">
                <a:solidFill>
                  <a:srgbClr val="FF0000"/>
                </a:solidFill>
              </a:rPr>
              <a:t>54</a:t>
            </a:r>
            <a:r>
              <a:rPr lang="en-US" altLang="zh-CN" dirty="0"/>
              <a:t> </a:t>
            </a:r>
            <a:r>
              <a:rPr lang="zh-CN" altLang="en-US" dirty="0"/>
              <a:t>次  比较：</a:t>
            </a:r>
            <a:r>
              <a:rPr lang="en-US" altLang="zh-CN" dirty="0">
                <a:solidFill>
                  <a:srgbClr val="FF0000"/>
                </a:solidFill>
              </a:rPr>
              <a:t>17</a:t>
            </a:r>
            <a:r>
              <a:rPr lang="en-US" altLang="zh-CN" dirty="0"/>
              <a:t> </a:t>
            </a:r>
            <a:r>
              <a:rPr lang="zh-CN" altLang="en-US" dirty="0"/>
              <a:t>次</a:t>
            </a:r>
          </a:p>
        </p:txBody>
      </p:sp>
      <p:grpSp>
        <p:nvGrpSpPr>
          <p:cNvPr id="8196" name="组合 1">
            <a:extLst>
              <a:ext uri="{FF2B5EF4-FFF2-40B4-BE49-F238E27FC236}">
                <a16:creationId xmlns:a16="http://schemas.microsoft.com/office/drawing/2014/main" id="{C382891B-19FD-4548-B6A5-F0EE5C06C336}"/>
              </a:ext>
            </a:extLst>
          </p:cNvPr>
          <p:cNvGrpSpPr>
            <a:grpSpLocks/>
          </p:cNvGrpSpPr>
          <p:nvPr/>
        </p:nvGrpSpPr>
        <p:grpSpPr bwMode="auto">
          <a:xfrm>
            <a:off x="1187450" y="1898650"/>
            <a:ext cx="6696075" cy="3222625"/>
            <a:chOff x="1187450" y="1898650"/>
            <a:chExt cx="6696075" cy="3222625"/>
          </a:xfrm>
        </p:grpSpPr>
        <p:sp>
          <p:nvSpPr>
            <p:cNvPr id="8197" name="Oval 5">
              <a:extLst>
                <a:ext uri="{FF2B5EF4-FFF2-40B4-BE49-F238E27FC236}">
                  <a16:creationId xmlns:a16="http://schemas.microsoft.com/office/drawing/2014/main" id="{0B106A21-0C1D-4F8C-9B80-76098D1C5472}"/>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1</a:t>
              </a:r>
            </a:p>
          </p:txBody>
        </p:sp>
        <p:sp>
          <p:nvSpPr>
            <p:cNvPr id="8198" name="Oval 6">
              <a:extLst>
                <a:ext uri="{FF2B5EF4-FFF2-40B4-BE49-F238E27FC236}">
                  <a16:creationId xmlns:a16="http://schemas.microsoft.com/office/drawing/2014/main" id="{EBEB6EB6-BEEC-4C64-B06F-02DEB678978B}"/>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3</a:t>
              </a:r>
              <a:endParaRPr lang="en-US" altLang="zh-CN"/>
            </a:p>
          </p:txBody>
        </p:sp>
        <p:sp>
          <p:nvSpPr>
            <p:cNvPr id="8199" name="Oval 7">
              <a:extLst>
                <a:ext uri="{FF2B5EF4-FFF2-40B4-BE49-F238E27FC236}">
                  <a16:creationId xmlns:a16="http://schemas.microsoft.com/office/drawing/2014/main" id="{F07F1EEE-DC88-4DE4-BCEB-2959A4D1DF68}"/>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1</a:t>
              </a:r>
            </a:p>
          </p:txBody>
        </p:sp>
        <p:sp>
          <p:nvSpPr>
            <p:cNvPr id="8200" name="Oval 8">
              <a:extLst>
                <a:ext uri="{FF2B5EF4-FFF2-40B4-BE49-F238E27FC236}">
                  <a16:creationId xmlns:a16="http://schemas.microsoft.com/office/drawing/2014/main" id="{2B334ACF-9840-44C7-BA7D-8EB6EBB359EC}"/>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A</a:t>
              </a:r>
            </a:p>
          </p:txBody>
        </p:sp>
        <p:sp>
          <p:nvSpPr>
            <p:cNvPr id="8201" name="Oval 9">
              <a:extLst>
                <a:ext uri="{FF2B5EF4-FFF2-40B4-BE49-F238E27FC236}">
                  <a16:creationId xmlns:a16="http://schemas.microsoft.com/office/drawing/2014/main" id="{2B533FB9-270C-4201-888A-28172854AF7C}"/>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1</a:t>
              </a:r>
              <a:endParaRPr lang="en-US" altLang="zh-CN"/>
            </a:p>
          </p:txBody>
        </p:sp>
        <p:sp>
          <p:nvSpPr>
            <p:cNvPr id="8202" name="Oval 10">
              <a:extLst>
                <a:ext uri="{FF2B5EF4-FFF2-40B4-BE49-F238E27FC236}">
                  <a16:creationId xmlns:a16="http://schemas.microsoft.com/office/drawing/2014/main" id="{CB9AAEE0-8BAA-4D67-971D-62B9C4B57619}"/>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3</a:t>
              </a:r>
              <a:endParaRPr lang="en-US" altLang="zh-CN"/>
            </a:p>
          </p:txBody>
        </p:sp>
        <p:sp>
          <p:nvSpPr>
            <p:cNvPr id="8203" name="Oval 11">
              <a:extLst>
                <a:ext uri="{FF2B5EF4-FFF2-40B4-BE49-F238E27FC236}">
                  <a16:creationId xmlns:a16="http://schemas.microsoft.com/office/drawing/2014/main" id="{710B624D-D9A7-444F-8359-A3D29D256125}"/>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2</a:t>
              </a:r>
              <a:endParaRPr lang="en-US" altLang="zh-CN"/>
            </a:p>
          </p:txBody>
        </p:sp>
        <p:sp>
          <p:nvSpPr>
            <p:cNvPr id="8204" name="Oval 12">
              <a:extLst>
                <a:ext uri="{FF2B5EF4-FFF2-40B4-BE49-F238E27FC236}">
                  <a16:creationId xmlns:a16="http://schemas.microsoft.com/office/drawing/2014/main" id="{DDE84F9F-281C-4B8E-8D5C-D4002256DFC5}"/>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2</a:t>
              </a:r>
              <a:endParaRPr lang="en-US" altLang="zh-CN"/>
            </a:p>
          </p:txBody>
        </p:sp>
        <p:sp>
          <p:nvSpPr>
            <p:cNvPr id="8205" name="Oval 13">
              <a:extLst>
                <a:ext uri="{FF2B5EF4-FFF2-40B4-BE49-F238E27FC236}">
                  <a16:creationId xmlns:a16="http://schemas.microsoft.com/office/drawing/2014/main" id="{5E0B6411-15AC-43AC-883C-BFE98994E671}"/>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E</a:t>
              </a:r>
              <a:endParaRPr lang="en-US" altLang="zh-CN"/>
            </a:p>
          </p:txBody>
        </p:sp>
        <p:sp>
          <p:nvSpPr>
            <p:cNvPr id="8206" name="Oval 14">
              <a:extLst>
                <a:ext uri="{FF2B5EF4-FFF2-40B4-BE49-F238E27FC236}">
                  <a16:creationId xmlns:a16="http://schemas.microsoft.com/office/drawing/2014/main" id="{F46EB2EF-90AC-48D0-8D25-CF1472D63797}"/>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2</a:t>
              </a:r>
              <a:endParaRPr lang="en-US" altLang="zh-CN"/>
            </a:p>
          </p:txBody>
        </p:sp>
        <p:sp>
          <p:nvSpPr>
            <p:cNvPr id="8207" name="Line 15">
              <a:extLst>
                <a:ext uri="{FF2B5EF4-FFF2-40B4-BE49-F238E27FC236}">
                  <a16:creationId xmlns:a16="http://schemas.microsoft.com/office/drawing/2014/main" id="{9319F90A-B6EA-4C51-823B-21C5D71CA6E3}"/>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8" name="Line 16">
              <a:extLst>
                <a:ext uri="{FF2B5EF4-FFF2-40B4-BE49-F238E27FC236}">
                  <a16:creationId xmlns:a16="http://schemas.microsoft.com/office/drawing/2014/main" id="{E52D3D18-F91F-4B24-A54F-D90AC3378FD8}"/>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9" name="Line 17">
              <a:extLst>
                <a:ext uri="{FF2B5EF4-FFF2-40B4-BE49-F238E27FC236}">
                  <a16:creationId xmlns:a16="http://schemas.microsoft.com/office/drawing/2014/main" id="{E83F2949-BC33-4318-A250-BC2E341CF7F0}"/>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0" name="Line 18">
              <a:extLst>
                <a:ext uri="{FF2B5EF4-FFF2-40B4-BE49-F238E27FC236}">
                  <a16:creationId xmlns:a16="http://schemas.microsoft.com/office/drawing/2014/main" id="{835724E6-2EE0-46DF-96EA-A4ED3BD6343F}"/>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1" name="Line 19">
              <a:extLst>
                <a:ext uri="{FF2B5EF4-FFF2-40B4-BE49-F238E27FC236}">
                  <a16:creationId xmlns:a16="http://schemas.microsoft.com/office/drawing/2014/main" id="{7C6F518E-B89F-47FD-AEB6-451844FBF9D8}"/>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2" name="Line 20">
              <a:extLst>
                <a:ext uri="{FF2B5EF4-FFF2-40B4-BE49-F238E27FC236}">
                  <a16:creationId xmlns:a16="http://schemas.microsoft.com/office/drawing/2014/main" id="{C657002D-9C7D-43E5-841A-C78E8F6FBB3F}"/>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3" name="Line 21">
              <a:extLst>
                <a:ext uri="{FF2B5EF4-FFF2-40B4-BE49-F238E27FC236}">
                  <a16:creationId xmlns:a16="http://schemas.microsoft.com/office/drawing/2014/main" id="{4EF05439-0D7A-468F-BE46-7957DBD9837E}"/>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4" name="Line 22">
              <a:extLst>
                <a:ext uri="{FF2B5EF4-FFF2-40B4-BE49-F238E27FC236}">
                  <a16:creationId xmlns:a16="http://schemas.microsoft.com/office/drawing/2014/main" id="{15B7933E-BA63-4EB8-8862-11F483B9F1DA}"/>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 name="Line 23">
              <a:extLst>
                <a:ext uri="{FF2B5EF4-FFF2-40B4-BE49-F238E27FC236}">
                  <a16:creationId xmlns:a16="http://schemas.microsoft.com/office/drawing/2014/main" id="{CCF9949B-E287-4CA7-82B0-7B35C5E0BFE7}"/>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 name="Line 24">
              <a:extLst>
                <a:ext uri="{FF2B5EF4-FFF2-40B4-BE49-F238E27FC236}">
                  <a16:creationId xmlns:a16="http://schemas.microsoft.com/office/drawing/2014/main" id="{449B16EB-87EC-438F-BF09-E16BA989E30B}"/>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 name="Line 25">
              <a:extLst>
                <a:ext uri="{FF2B5EF4-FFF2-40B4-BE49-F238E27FC236}">
                  <a16:creationId xmlns:a16="http://schemas.microsoft.com/office/drawing/2014/main" id="{18909AAB-011D-4DC9-B32C-660A2570F0C3}"/>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 name="Line 26">
              <a:extLst>
                <a:ext uri="{FF2B5EF4-FFF2-40B4-BE49-F238E27FC236}">
                  <a16:creationId xmlns:a16="http://schemas.microsoft.com/office/drawing/2014/main" id="{8A72DD26-7787-454E-B10A-3DF3AD674948}"/>
                </a:ext>
              </a:extLst>
            </p:cNvPr>
            <p:cNvSpPr>
              <a:spLocks noChangeShapeType="1"/>
            </p:cNvSpPr>
            <p:nvPr/>
          </p:nvSpPr>
          <p:spPr bwMode="auto">
            <a:xfrm>
              <a:off x="4867275" y="359886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 name="Line 27">
              <a:extLst>
                <a:ext uri="{FF2B5EF4-FFF2-40B4-BE49-F238E27FC236}">
                  <a16:creationId xmlns:a16="http://schemas.microsoft.com/office/drawing/2014/main" id="{BA129477-2988-454E-A971-1865A227AD4E}"/>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 name="Line 28">
              <a:extLst>
                <a:ext uri="{FF2B5EF4-FFF2-40B4-BE49-F238E27FC236}">
                  <a16:creationId xmlns:a16="http://schemas.microsoft.com/office/drawing/2014/main" id="{2F65996D-3530-4BAA-9192-CBEA3A09FD7E}"/>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 name="Line 29">
              <a:extLst>
                <a:ext uri="{FF2B5EF4-FFF2-40B4-BE49-F238E27FC236}">
                  <a16:creationId xmlns:a16="http://schemas.microsoft.com/office/drawing/2014/main" id="{942EEDE1-5D65-4CCC-AAF6-FD735D924495}"/>
                </a:ext>
              </a:extLst>
            </p:cNvPr>
            <p:cNvSpPr>
              <a:spLocks noChangeShapeType="1"/>
            </p:cNvSpPr>
            <p:nvPr/>
          </p:nvSpPr>
          <p:spPr bwMode="auto">
            <a:xfrm flipV="1">
              <a:off x="3074988" y="234950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 name="Line 30">
              <a:extLst>
                <a:ext uri="{FF2B5EF4-FFF2-40B4-BE49-F238E27FC236}">
                  <a16:creationId xmlns:a16="http://schemas.microsoft.com/office/drawing/2014/main" id="{D363FAB2-55A6-4CC3-A952-3830A0952D33}"/>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 name="Line 31">
              <a:extLst>
                <a:ext uri="{FF2B5EF4-FFF2-40B4-BE49-F238E27FC236}">
                  <a16:creationId xmlns:a16="http://schemas.microsoft.com/office/drawing/2014/main" id="{B67AF5BD-C28F-456D-B1FB-74A04CDA1DC8}"/>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 name="Line 32">
              <a:extLst>
                <a:ext uri="{FF2B5EF4-FFF2-40B4-BE49-F238E27FC236}">
                  <a16:creationId xmlns:a16="http://schemas.microsoft.com/office/drawing/2014/main" id="{9E4F6706-C155-46BB-AE02-CD49382F9221}"/>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 name="Line 33">
              <a:extLst>
                <a:ext uri="{FF2B5EF4-FFF2-40B4-BE49-F238E27FC236}">
                  <a16:creationId xmlns:a16="http://schemas.microsoft.com/office/drawing/2014/main" id="{F60BE4A8-35BC-4532-A4C4-EF9832F6B877}"/>
                </a:ext>
              </a:extLst>
            </p:cNvPr>
            <p:cNvSpPr>
              <a:spLocks noChangeShapeType="1"/>
            </p:cNvSpPr>
            <p:nvPr/>
          </p:nvSpPr>
          <p:spPr bwMode="auto">
            <a:xfrm>
              <a:off x="4843463" y="240347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 name="Line 34">
              <a:extLst>
                <a:ext uri="{FF2B5EF4-FFF2-40B4-BE49-F238E27FC236}">
                  <a16:creationId xmlns:a16="http://schemas.microsoft.com/office/drawing/2014/main" id="{1FD505D3-6EF9-485E-BFE0-29D4A1ABC780}"/>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 name="Text Box 35">
              <a:extLst>
                <a:ext uri="{FF2B5EF4-FFF2-40B4-BE49-F238E27FC236}">
                  <a16:creationId xmlns:a16="http://schemas.microsoft.com/office/drawing/2014/main" id="{90A12B87-ECA6-452D-B1C6-44EAB9EFD64B}"/>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2</a:t>
              </a:r>
            </a:p>
          </p:txBody>
        </p:sp>
        <p:sp>
          <p:nvSpPr>
            <p:cNvPr id="8228" name="Text Box 36">
              <a:extLst>
                <a:ext uri="{FF2B5EF4-FFF2-40B4-BE49-F238E27FC236}">
                  <a16:creationId xmlns:a16="http://schemas.microsoft.com/office/drawing/2014/main" id="{5BB5CB56-989D-434F-9958-A2C0BF8B5C54}"/>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5</a:t>
              </a:r>
            </a:p>
          </p:txBody>
        </p:sp>
        <p:sp>
          <p:nvSpPr>
            <p:cNvPr id="8229" name="Text Box 37">
              <a:extLst>
                <a:ext uri="{FF2B5EF4-FFF2-40B4-BE49-F238E27FC236}">
                  <a16:creationId xmlns:a16="http://schemas.microsoft.com/office/drawing/2014/main" id="{4612CDEC-0B83-4B8E-93BC-5BC4AA5F6507}"/>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a:t>
              </a:r>
            </a:p>
          </p:txBody>
        </p:sp>
        <p:sp>
          <p:nvSpPr>
            <p:cNvPr id="8230" name="Text Box 38">
              <a:extLst>
                <a:ext uri="{FF2B5EF4-FFF2-40B4-BE49-F238E27FC236}">
                  <a16:creationId xmlns:a16="http://schemas.microsoft.com/office/drawing/2014/main" id="{07671C15-F12A-453D-968B-025E173DC314}"/>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12</a:t>
              </a:r>
              <a:endParaRPr lang="en-US" altLang="zh-CN"/>
            </a:p>
          </p:txBody>
        </p:sp>
        <p:sp>
          <p:nvSpPr>
            <p:cNvPr id="8231" name="Text Box 39">
              <a:extLst>
                <a:ext uri="{FF2B5EF4-FFF2-40B4-BE49-F238E27FC236}">
                  <a16:creationId xmlns:a16="http://schemas.microsoft.com/office/drawing/2014/main" id="{84F47BE3-0236-4D54-9929-858BD075124A}"/>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14</a:t>
              </a:r>
            </a:p>
          </p:txBody>
        </p:sp>
        <p:sp>
          <p:nvSpPr>
            <p:cNvPr id="8232" name="Text Box 40">
              <a:extLst>
                <a:ext uri="{FF2B5EF4-FFF2-40B4-BE49-F238E27FC236}">
                  <a16:creationId xmlns:a16="http://schemas.microsoft.com/office/drawing/2014/main" id="{8904828B-D5BA-4CBE-8F73-CDD35A8FCF4C}"/>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10</a:t>
              </a:r>
            </a:p>
          </p:txBody>
        </p:sp>
        <p:sp>
          <p:nvSpPr>
            <p:cNvPr id="8233" name="Text Box 41">
              <a:extLst>
                <a:ext uri="{FF2B5EF4-FFF2-40B4-BE49-F238E27FC236}">
                  <a16:creationId xmlns:a16="http://schemas.microsoft.com/office/drawing/2014/main" id="{32BF6FE4-7736-4072-8FF6-89F41350A668}"/>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6</a:t>
              </a:r>
            </a:p>
          </p:txBody>
        </p:sp>
        <p:sp>
          <p:nvSpPr>
            <p:cNvPr id="8234" name="Text Box 42">
              <a:extLst>
                <a:ext uri="{FF2B5EF4-FFF2-40B4-BE49-F238E27FC236}">
                  <a16:creationId xmlns:a16="http://schemas.microsoft.com/office/drawing/2014/main" id="{FDDFA20E-6578-4DB3-8045-6CDF0D46DC0D}"/>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8235" name="Text Box 43">
              <a:extLst>
                <a:ext uri="{FF2B5EF4-FFF2-40B4-BE49-F238E27FC236}">
                  <a16:creationId xmlns:a16="http://schemas.microsoft.com/office/drawing/2014/main" id="{F5124F58-B536-4273-BCA1-CBE91343E74B}"/>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4</a:t>
              </a:r>
            </a:p>
          </p:txBody>
        </p:sp>
        <p:sp>
          <p:nvSpPr>
            <p:cNvPr id="8236" name="Text Box 44">
              <a:extLst>
                <a:ext uri="{FF2B5EF4-FFF2-40B4-BE49-F238E27FC236}">
                  <a16:creationId xmlns:a16="http://schemas.microsoft.com/office/drawing/2014/main" id="{902EFD3B-F2C0-436F-B46E-FA822CB8FC2C}"/>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13</a:t>
              </a:r>
            </a:p>
          </p:txBody>
        </p:sp>
        <p:sp>
          <p:nvSpPr>
            <p:cNvPr id="8237" name="Text Box 45">
              <a:extLst>
                <a:ext uri="{FF2B5EF4-FFF2-40B4-BE49-F238E27FC236}">
                  <a16:creationId xmlns:a16="http://schemas.microsoft.com/office/drawing/2014/main" id="{3ACCF92F-DE10-4292-919F-92EBEDD41A04}"/>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11</a:t>
              </a:r>
            </a:p>
          </p:txBody>
        </p:sp>
        <p:sp>
          <p:nvSpPr>
            <p:cNvPr id="8238" name="Text Box 46">
              <a:extLst>
                <a:ext uri="{FF2B5EF4-FFF2-40B4-BE49-F238E27FC236}">
                  <a16:creationId xmlns:a16="http://schemas.microsoft.com/office/drawing/2014/main" id="{1E0FB265-D41A-490A-94B2-1418DF5207FB}"/>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12</a:t>
              </a:r>
            </a:p>
          </p:txBody>
        </p:sp>
        <p:sp>
          <p:nvSpPr>
            <p:cNvPr id="8239" name="Text Box 47">
              <a:extLst>
                <a:ext uri="{FF2B5EF4-FFF2-40B4-BE49-F238E27FC236}">
                  <a16:creationId xmlns:a16="http://schemas.microsoft.com/office/drawing/2014/main" id="{774892D8-3BE2-4E0D-BE9A-55CF8A6A407E}"/>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3</a:t>
              </a:r>
            </a:p>
          </p:txBody>
        </p:sp>
        <p:sp>
          <p:nvSpPr>
            <p:cNvPr id="8240" name="Text Box 48">
              <a:extLst>
                <a:ext uri="{FF2B5EF4-FFF2-40B4-BE49-F238E27FC236}">
                  <a16:creationId xmlns:a16="http://schemas.microsoft.com/office/drawing/2014/main" id="{4B0327ED-C24A-4977-8AC5-3D6DF4A59185}"/>
                </a:ext>
              </a:extLst>
            </p:cNvPr>
            <p:cNvSpPr txBox="1">
              <a:spLocks noChangeArrowheads="1"/>
            </p:cNvSpPr>
            <p:nvPr/>
          </p:nvSpPr>
          <p:spPr bwMode="auto">
            <a:xfrm>
              <a:off x="4867275" y="25622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9</a:t>
              </a:r>
            </a:p>
          </p:txBody>
        </p:sp>
        <p:sp>
          <p:nvSpPr>
            <p:cNvPr id="8241" name="Text Box 49">
              <a:extLst>
                <a:ext uri="{FF2B5EF4-FFF2-40B4-BE49-F238E27FC236}">
                  <a16:creationId xmlns:a16="http://schemas.microsoft.com/office/drawing/2014/main" id="{5F8BEF42-3F00-4890-84C7-6F2471648FF0}"/>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6</a:t>
              </a:r>
            </a:p>
          </p:txBody>
        </p:sp>
        <p:sp>
          <p:nvSpPr>
            <p:cNvPr id="8242" name="Text Box 50">
              <a:extLst>
                <a:ext uri="{FF2B5EF4-FFF2-40B4-BE49-F238E27FC236}">
                  <a16:creationId xmlns:a16="http://schemas.microsoft.com/office/drawing/2014/main" id="{B5A0B77D-EB5D-4BB6-B820-72F33A736B5B}"/>
                </a:ext>
              </a:extLst>
            </p:cNvPr>
            <p:cNvSpPr txBox="1">
              <a:spLocks noChangeArrowheads="1"/>
            </p:cNvSpPr>
            <p:nvPr/>
          </p:nvSpPr>
          <p:spPr bwMode="auto">
            <a:xfrm>
              <a:off x="5011738" y="36512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5</a:t>
              </a:r>
            </a:p>
          </p:txBody>
        </p:sp>
        <p:sp>
          <p:nvSpPr>
            <p:cNvPr id="8243" name="Text Box 51">
              <a:extLst>
                <a:ext uri="{FF2B5EF4-FFF2-40B4-BE49-F238E27FC236}">
                  <a16:creationId xmlns:a16="http://schemas.microsoft.com/office/drawing/2014/main" id="{50C32D14-147A-44EA-89BA-3294795EF141}"/>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8</a:t>
              </a:r>
            </a:p>
          </p:txBody>
        </p:sp>
        <p:sp>
          <p:nvSpPr>
            <p:cNvPr id="8244" name="Text Box 52">
              <a:extLst>
                <a:ext uri="{FF2B5EF4-FFF2-40B4-BE49-F238E27FC236}">
                  <a16:creationId xmlns:a16="http://schemas.microsoft.com/office/drawing/2014/main" id="{38CE35B9-391E-4141-96D4-F7F146F8A16E}"/>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8245" name="Text Box 53">
              <a:extLst>
                <a:ext uri="{FF2B5EF4-FFF2-40B4-BE49-F238E27FC236}">
                  <a16:creationId xmlns:a16="http://schemas.microsoft.com/office/drawing/2014/main" id="{7D704831-031C-4551-9092-27243734A5B1}"/>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5</a:t>
              </a:r>
            </a:p>
          </p:txBody>
        </p:sp>
        <p:sp>
          <p:nvSpPr>
            <p:cNvPr id="8246" name="Text Box 54">
              <a:extLst>
                <a:ext uri="{FF2B5EF4-FFF2-40B4-BE49-F238E27FC236}">
                  <a16:creationId xmlns:a16="http://schemas.microsoft.com/office/drawing/2014/main" id="{BB25B28F-8015-4FB5-BC2A-901E71C7F59F}"/>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2</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D864EAC-CD57-4122-9E57-58577650C936}"/>
              </a:ext>
            </a:extLst>
          </p:cNvPr>
          <p:cNvSpPr>
            <a:spLocks noGrp="1" noChangeArrowheads="1"/>
          </p:cNvSpPr>
          <p:nvPr>
            <p:ph type="title"/>
          </p:nvPr>
        </p:nvSpPr>
        <p:spPr/>
        <p:txBody>
          <a:bodyPr/>
          <a:lstStyle/>
          <a:p>
            <a:pPr eaLnBrk="1" hangingPunct="1"/>
            <a:r>
              <a:rPr lang="zh-CN" altLang="en-US"/>
              <a:t>最短路线问题</a:t>
            </a:r>
            <a:r>
              <a:rPr lang="en-US" altLang="zh-CN"/>
              <a:t>-</a:t>
            </a:r>
            <a:r>
              <a:rPr lang="zh-CN" altLang="en-US"/>
              <a:t>穷举法</a:t>
            </a:r>
          </a:p>
        </p:txBody>
      </p:sp>
      <p:sp>
        <p:nvSpPr>
          <p:cNvPr id="9219" name="Rectangle 3">
            <a:extLst>
              <a:ext uri="{FF2B5EF4-FFF2-40B4-BE49-F238E27FC236}">
                <a16:creationId xmlns:a16="http://schemas.microsoft.com/office/drawing/2014/main" id="{5496ABDC-D229-4FF2-AC43-E610B8B57209}"/>
              </a:ext>
            </a:extLst>
          </p:cNvPr>
          <p:cNvSpPr>
            <a:spLocks noGrp="1" noChangeArrowheads="1"/>
          </p:cNvSpPr>
          <p:nvPr>
            <p:ph type="body" idx="1"/>
          </p:nvPr>
        </p:nvSpPr>
        <p:spPr>
          <a:xfrm>
            <a:off x="461963" y="1484313"/>
            <a:ext cx="8229600" cy="3798887"/>
          </a:xfrm>
        </p:spPr>
        <p:txBody>
          <a:bodyPr/>
          <a:lstStyle/>
          <a:p>
            <a:pPr marL="0" indent="0" eaLnBrk="1" hangingPunct="1">
              <a:buFont typeface="Wingdings" panose="05000000000000000000" pitchFamily="2" charset="2"/>
              <a:buNone/>
            </a:pPr>
            <a:r>
              <a:rPr lang="en-US" altLang="zh-CN"/>
              <a:t>A-B</a:t>
            </a:r>
            <a:r>
              <a:rPr lang="en-US" altLang="zh-CN" baseline="-25000"/>
              <a:t>1</a:t>
            </a:r>
            <a:r>
              <a:rPr lang="en-US" altLang="zh-CN"/>
              <a:t>-C</a:t>
            </a:r>
            <a:r>
              <a:rPr lang="en-US" altLang="zh-CN" baseline="-25000"/>
              <a:t>1</a:t>
            </a:r>
            <a:r>
              <a:rPr lang="en-US" altLang="zh-CN"/>
              <a:t>-D</a:t>
            </a:r>
            <a:r>
              <a:rPr lang="en-US" altLang="zh-CN" baseline="-25000"/>
              <a:t>1</a:t>
            </a:r>
            <a:r>
              <a:rPr lang="en-US" altLang="zh-CN"/>
              <a:t>-E    A-B</a:t>
            </a:r>
            <a:r>
              <a:rPr lang="en-US" altLang="zh-CN" baseline="-25000"/>
              <a:t>2</a:t>
            </a:r>
            <a:r>
              <a:rPr lang="en-US" altLang="zh-CN"/>
              <a:t>-C</a:t>
            </a:r>
            <a:r>
              <a:rPr lang="en-US" altLang="zh-CN" baseline="-25000"/>
              <a:t>1</a:t>
            </a:r>
            <a:r>
              <a:rPr lang="en-US" altLang="zh-CN"/>
              <a:t>-D</a:t>
            </a:r>
            <a:r>
              <a:rPr lang="en-US" altLang="zh-CN" baseline="-25000"/>
              <a:t>1</a:t>
            </a:r>
            <a:r>
              <a:rPr lang="en-US" altLang="zh-CN"/>
              <a:t>-E   A-B</a:t>
            </a:r>
            <a:r>
              <a:rPr lang="en-US" altLang="zh-CN" baseline="-25000"/>
              <a:t>3</a:t>
            </a:r>
            <a:r>
              <a:rPr lang="en-US" altLang="zh-CN"/>
              <a:t>-C</a:t>
            </a:r>
            <a:r>
              <a:rPr lang="en-US" altLang="zh-CN" baseline="-25000"/>
              <a:t>1</a:t>
            </a:r>
            <a:r>
              <a:rPr lang="en-US" altLang="zh-CN"/>
              <a:t>-D</a:t>
            </a:r>
            <a:r>
              <a:rPr lang="en-US" altLang="zh-CN" baseline="-25000"/>
              <a:t>1</a:t>
            </a:r>
            <a:r>
              <a:rPr lang="en-US" altLang="zh-CN"/>
              <a:t>-E</a:t>
            </a:r>
          </a:p>
          <a:p>
            <a:pPr marL="0" indent="0" eaLnBrk="1" hangingPunct="1">
              <a:buFont typeface="Wingdings" panose="05000000000000000000" pitchFamily="2" charset="2"/>
              <a:buNone/>
            </a:pPr>
            <a:r>
              <a:rPr lang="en-US" altLang="zh-CN"/>
              <a:t>A-B</a:t>
            </a:r>
            <a:r>
              <a:rPr lang="en-US" altLang="zh-CN" baseline="-25000"/>
              <a:t>1</a:t>
            </a:r>
            <a:r>
              <a:rPr lang="en-US" altLang="zh-CN"/>
              <a:t>-C</a:t>
            </a:r>
            <a:r>
              <a:rPr lang="en-US" altLang="zh-CN" baseline="-25000"/>
              <a:t>1</a:t>
            </a:r>
            <a:r>
              <a:rPr lang="en-US" altLang="zh-CN"/>
              <a:t>-D</a:t>
            </a:r>
            <a:r>
              <a:rPr lang="en-US" altLang="zh-CN" baseline="-25000"/>
              <a:t>2</a:t>
            </a:r>
            <a:r>
              <a:rPr lang="en-US" altLang="zh-CN"/>
              <a:t>-E    A-B</a:t>
            </a:r>
            <a:r>
              <a:rPr lang="en-US" altLang="zh-CN" baseline="-25000"/>
              <a:t>2</a:t>
            </a:r>
            <a:r>
              <a:rPr lang="en-US" altLang="zh-CN"/>
              <a:t>-C</a:t>
            </a:r>
            <a:r>
              <a:rPr lang="en-US" altLang="zh-CN" baseline="-25000"/>
              <a:t>1</a:t>
            </a:r>
            <a:r>
              <a:rPr lang="en-US" altLang="zh-CN"/>
              <a:t>-D</a:t>
            </a:r>
            <a:r>
              <a:rPr lang="en-US" altLang="zh-CN" baseline="-25000"/>
              <a:t>2</a:t>
            </a:r>
            <a:r>
              <a:rPr lang="en-US" altLang="zh-CN"/>
              <a:t>-E   A-B</a:t>
            </a:r>
            <a:r>
              <a:rPr lang="en-US" altLang="zh-CN" baseline="-25000"/>
              <a:t>3</a:t>
            </a:r>
            <a:r>
              <a:rPr lang="en-US" altLang="zh-CN"/>
              <a:t>-C</a:t>
            </a:r>
            <a:r>
              <a:rPr lang="en-US" altLang="zh-CN" baseline="-25000"/>
              <a:t>1</a:t>
            </a:r>
            <a:r>
              <a:rPr lang="en-US" altLang="zh-CN"/>
              <a:t>-D</a:t>
            </a:r>
            <a:r>
              <a:rPr lang="en-US" altLang="zh-CN" baseline="-25000"/>
              <a:t>2</a:t>
            </a:r>
            <a:r>
              <a:rPr lang="en-US" altLang="zh-CN"/>
              <a:t>-E</a:t>
            </a:r>
            <a:endParaRPr lang="zh-CN" altLang="en-US"/>
          </a:p>
          <a:p>
            <a:pPr marL="0" indent="0" eaLnBrk="1" hangingPunct="1">
              <a:buFont typeface="Wingdings" panose="05000000000000000000" pitchFamily="2" charset="2"/>
              <a:buNone/>
            </a:pPr>
            <a:r>
              <a:rPr lang="en-US" altLang="zh-CN"/>
              <a:t>A-B</a:t>
            </a:r>
            <a:r>
              <a:rPr lang="en-US" altLang="zh-CN" baseline="-25000"/>
              <a:t>1</a:t>
            </a:r>
            <a:r>
              <a:rPr lang="en-US" altLang="zh-CN"/>
              <a:t>-C</a:t>
            </a:r>
            <a:r>
              <a:rPr lang="en-US" altLang="zh-CN" baseline="-25000"/>
              <a:t>2</a:t>
            </a:r>
            <a:r>
              <a:rPr lang="en-US" altLang="zh-CN"/>
              <a:t>-D</a:t>
            </a:r>
            <a:r>
              <a:rPr lang="en-US" altLang="zh-CN" baseline="-25000"/>
              <a:t>1</a:t>
            </a:r>
            <a:r>
              <a:rPr lang="en-US" altLang="zh-CN"/>
              <a:t>-E    A-B</a:t>
            </a:r>
            <a:r>
              <a:rPr lang="en-US" altLang="zh-CN" baseline="-25000"/>
              <a:t>2</a:t>
            </a:r>
            <a:r>
              <a:rPr lang="en-US" altLang="zh-CN"/>
              <a:t>-C</a:t>
            </a:r>
            <a:r>
              <a:rPr lang="en-US" altLang="zh-CN" baseline="-25000"/>
              <a:t>2</a:t>
            </a:r>
            <a:r>
              <a:rPr lang="en-US" altLang="zh-CN"/>
              <a:t>-D</a:t>
            </a:r>
            <a:r>
              <a:rPr lang="en-US" altLang="zh-CN" baseline="-25000"/>
              <a:t>1</a:t>
            </a:r>
            <a:r>
              <a:rPr lang="en-US" altLang="zh-CN"/>
              <a:t>-E   A-B</a:t>
            </a:r>
            <a:r>
              <a:rPr lang="en-US" altLang="zh-CN" baseline="-25000"/>
              <a:t>3</a:t>
            </a:r>
            <a:r>
              <a:rPr lang="en-US" altLang="zh-CN"/>
              <a:t>-C</a:t>
            </a:r>
            <a:r>
              <a:rPr lang="en-US" altLang="zh-CN" baseline="-25000"/>
              <a:t>2</a:t>
            </a:r>
            <a:r>
              <a:rPr lang="en-US" altLang="zh-CN"/>
              <a:t>-D</a:t>
            </a:r>
            <a:r>
              <a:rPr lang="en-US" altLang="zh-CN" baseline="-25000"/>
              <a:t>1</a:t>
            </a:r>
            <a:r>
              <a:rPr lang="en-US" altLang="zh-CN"/>
              <a:t>-E</a:t>
            </a:r>
            <a:endParaRPr lang="zh-CN" altLang="en-US"/>
          </a:p>
          <a:p>
            <a:pPr marL="0" indent="0" eaLnBrk="1" hangingPunct="1">
              <a:buFont typeface="Wingdings" panose="05000000000000000000" pitchFamily="2" charset="2"/>
              <a:buNone/>
            </a:pPr>
            <a:r>
              <a:rPr lang="en-US" altLang="zh-CN"/>
              <a:t>A-B</a:t>
            </a:r>
            <a:r>
              <a:rPr lang="en-US" altLang="zh-CN" baseline="-25000"/>
              <a:t>1</a:t>
            </a:r>
            <a:r>
              <a:rPr lang="en-US" altLang="zh-CN"/>
              <a:t>-C</a:t>
            </a:r>
            <a:r>
              <a:rPr lang="en-US" altLang="zh-CN" baseline="-25000"/>
              <a:t>2</a:t>
            </a:r>
            <a:r>
              <a:rPr lang="en-US" altLang="zh-CN"/>
              <a:t>-D</a:t>
            </a:r>
            <a:r>
              <a:rPr lang="en-US" altLang="zh-CN" baseline="-25000"/>
              <a:t>2</a:t>
            </a:r>
            <a:r>
              <a:rPr lang="en-US" altLang="zh-CN"/>
              <a:t>-E    A-B</a:t>
            </a:r>
            <a:r>
              <a:rPr lang="en-US" altLang="zh-CN" baseline="-25000"/>
              <a:t>2</a:t>
            </a:r>
            <a:r>
              <a:rPr lang="en-US" altLang="zh-CN"/>
              <a:t>-C</a:t>
            </a:r>
            <a:r>
              <a:rPr lang="en-US" altLang="zh-CN" baseline="-25000"/>
              <a:t>2</a:t>
            </a:r>
            <a:r>
              <a:rPr lang="en-US" altLang="zh-CN"/>
              <a:t>-D</a:t>
            </a:r>
            <a:r>
              <a:rPr lang="en-US" altLang="zh-CN" baseline="-25000"/>
              <a:t>2</a:t>
            </a:r>
            <a:r>
              <a:rPr lang="en-US" altLang="zh-CN"/>
              <a:t>-E   A-B</a:t>
            </a:r>
            <a:r>
              <a:rPr lang="en-US" altLang="zh-CN" baseline="-25000"/>
              <a:t>3</a:t>
            </a:r>
            <a:r>
              <a:rPr lang="en-US" altLang="zh-CN"/>
              <a:t>-C</a:t>
            </a:r>
            <a:r>
              <a:rPr lang="en-US" altLang="zh-CN" baseline="-25000"/>
              <a:t>2</a:t>
            </a:r>
            <a:r>
              <a:rPr lang="en-US" altLang="zh-CN"/>
              <a:t>-D</a:t>
            </a:r>
            <a:r>
              <a:rPr lang="en-US" altLang="zh-CN" baseline="-25000"/>
              <a:t>2</a:t>
            </a:r>
            <a:r>
              <a:rPr lang="en-US" altLang="zh-CN"/>
              <a:t>-E</a:t>
            </a:r>
            <a:endParaRPr lang="zh-CN" altLang="en-US"/>
          </a:p>
          <a:p>
            <a:pPr marL="0" indent="0" eaLnBrk="1" hangingPunct="1">
              <a:buFont typeface="Wingdings" panose="05000000000000000000" pitchFamily="2" charset="2"/>
              <a:buNone/>
            </a:pPr>
            <a:r>
              <a:rPr lang="en-US" altLang="zh-CN"/>
              <a:t>A-B</a:t>
            </a:r>
            <a:r>
              <a:rPr lang="en-US" altLang="zh-CN" baseline="-25000"/>
              <a:t>1</a:t>
            </a:r>
            <a:r>
              <a:rPr lang="en-US" altLang="zh-CN"/>
              <a:t>-C</a:t>
            </a:r>
            <a:r>
              <a:rPr lang="en-US" altLang="zh-CN" baseline="-25000"/>
              <a:t>3</a:t>
            </a:r>
            <a:r>
              <a:rPr lang="en-US" altLang="zh-CN"/>
              <a:t>-D</a:t>
            </a:r>
            <a:r>
              <a:rPr lang="en-US" altLang="zh-CN" baseline="-25000"/>
              <a:t>1</a:t>
            </a:r>
            <a:r>
              <a:rPr lang="en-US" altLang="zh-CN"/>
              <a:t>-E    A-B</a:t>
            </a:r>
            <a:r>
              <a:rPr lang="en-US" altLang="zh-CN" baseline="-25000"/>
              <a:t>2</a:t>
            </a:r>
            <a:r>
              <a:rPr lang="en-US" altLang="zh-CN"/>
              <a:t>-C</a:t>
            </a:r>
            <a:r>
              <a:rPr lang="en-US" altLang="zh-CN" baseline="-25000"/>
              <a:t>3</a:t>
            </a:r>
            <a:r>
              <a:rPr lang="en-US" altLang="zh-CN"/>
              <a:t>-D</a:t>
            </a:r>
            <a:r>
              <a:rPr lang="en-US" altLang="zh-CN" baseline="-25000"/>
              <a:t>1</a:t>
            </a:r>
            <a:r>
              <a:rPr lang="en-US" altLang="zh-CN"/>
              <a:t>-E   A-B</a:t>
            </a:r>
            <a:r>
              <a:rPr lang="en-US" altLang="zh-CN" baseline="-25000"/>
              <a:t>3</a:t>
            </a:r>
            <a:r>
              <a:rPr lang="en-US" altLang="zh-CN"/>
              <a:t>-C</a:t>
            </a:r>
            <a:r>
              <a:rPr lang="en-US" altLang="zh-CN" baseline="-25000"/>
              <a:t>3</a:t>
            </a:r>
            <a:r>
              <a:rPr lang="en-US" altLang="zh-CN"/>
              <a:t>-D</a:t>
            </a:r>
            <a:r>
              <a:rPr lang="en-US" altLang="zh-CN" baseline="-25000"/>
              <a:t>1</a:t>
            </a:r>
            <a:r>
              <a:rPr lang="en-US" altLang="zh-CN"/>
              <a:t>-E</a:t>
            </a:r>
            <a:endParaRPr lang="zh-CN" altLang="en-US"/>
          </a:p>
          <a:p>
            <a:pPr marL="0" indent="0" eaLnBrk="1" hangingPunct="1">
              <a:buFont typeface="Wingdings" panose="05000000000000000000" pitchFamily="2" charset="2"/>
              <a:buNone/>
            </a:pPr>
            <a:r>
              <a:rPr lang="en-US" altLang="zh-CN"/>
              <a:t>A-B</a:t>
            </a:r>
            <a:r>
              <a:rPr lang="en-US" altLang="zh-CN" baseline="-25000"/>
              <a:t>1</a:t>
            </a:r>
            <a:r>
              <a:rPr lang="en-US" altLang="zh-CN"/>
              <a:t>-C</a:t>
            </a:r>
            <a:r>
              <a:rPr lang="en-US" altLang="zh-CN" baseline="-25000"/>
              <a:t>3</a:t>
            </a:r>
            <a:r>
              <a:rPr lang="en-US" altLang="zh-CN"/>
              <a:t>-D</a:t>
            </a:r>
            <a:r>
              <a:rPr lang="en-US" altLang="zh-CN" baseline="-25000"/>
              <a:t>2</a:t>
            </a:r>
            <a:r>
              <a:rPr lang="en-US" altLang="zh-CN"/>
              <a:t>-E    A-B</a:t>
            </a:r>
            <a:r>
              <a:rPr lang="en-US" altLang="zh-CN" baseline="-25000"/>
              <a:t>2</a:t>
            </a:r>
            <a:r>
              <a:rPr lang="en-US" altLang="zh-CN"/>
              <a:t>-C</a:t>
            </a:r>
            <a:r>
              <a:rPr lang="en-US" altLang="zh-CN" baseline="-25000"/>
              <a:t>3</a:t>
            </a:r>
            <a:r>
              <a:rPr lang="en-US" altLang="zh-CN"/>
              <a:t>-D</a:t>
            </a:r>
            <a:r>
              <a:rPr lang="en-US" altLang="zh-CN" baseline="-25000"/>
              <a:t>2</a:t>
            </a:r>
            <a:r>
              <a:rPr lang="en-US" altLang="zh-CN"/>
              <a:t>-E   A-B</a:t>
            </a:r>
            <a:r>
              <a:rPr lang="en-US" altLang="zh-CN" baseline="-25000"/>
              <a:t>3</a:t>
            </a:r>
            <a:r>
              <a:rPr lang="en-US" altLang="zh-CN"/>
              <a:t>-C</a:t>
            </a:r>
            <a:r>
              <a:rPr lang="en-US" altLang="zh-CN" baseline="-25000"/>
              <a:t>3</a:t>
            </a:r>
            <a:r>
              <a:rPr lang="en-US" altLang="zh-CN"/>
              <a:t>-D</a:t>
            </a:r>
            <a:r>
              <a:rPr lang="en-US" altLang="zh-CN" baseline="-25000"/>
              <a:t>2</a:t>
            </a:r>
            <a:r>
              <a:rPr lang="en-US" altLang="zh-CN"/>
              <a:t>-E</a:t>
            </a:r>
            <a:endParaRPr lang="zh-CN" altLang="en-US"/>
          </a:p>
        </p:txBody>
      </p:sp>
      <p:sp>
        <p:nvSpPr>
          <p:cNvPr id="9220" name="矩形 2">
            <a:extLst>
              <a:ext uri="{FF2B5EF4-FFF2-40B4-BE49-F238E27FC236}">
                <a16:creationId xmlns:a16="http://schemas.microsoft.com/office/drawing/2014/main" id="{DF24286F-9A4A-4CD3-9DC5-F6F7E615474D}"/>
              </a:ext>
            </a:extLst>
          </p:cNvPr>
          <p:cNvSpPr>
            <a:spLocks noChangeArrowheads="1"/>
          </p:cNvSpPr>
          <p:nvPr/>
        </p:nvSpPr>
        <p:spPr bwMode="auto">
          <a:xfrm>
            <a:off x="3276600" y="5470525"/>
            <a:ext cx="20653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a:t>穷举</a:t>
            </a:r>
            <a:r>
              <a:rPr lang="en-US" altLang="zh-CN" sz="2400"/>
              <a:t>18</a:t>
            </a:r>
            <a:r>
              <a:rPr lang="zh-CN" altLang="en-US" sz="2400"/>
              <a:t>条路线</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47FB7513-650B-449E-B0C6-BA92F1CF4FE0}"/>
              </a:ext>
            </a:extLst>
          </p:cNvPr>
          <p:cNvSpPr>
            <a:spLocks noGrp="1" noChangeArrowheads="1"/>
          </p:cNvSpPr>
          <p:nvPr>
            <p:ph type="body" idx="1"/>
          </p:nvPr>
        </p:nvSpPr>
        <p:spPr>
          <a:xfrm>
            <a:off x="457200" y="1143000"/>
            <a:ext cx="8229600" cy="5310188"/>
          </a:xfrm>
        </p:spPr>
        <p:txBody>
          <a:bodyPr/>
          <a:lstStyle/>
          <a:p>
            <a:pPr eaLnBrk="1" hangingPunct="1"/>
            <a:r>
              <a:rPr lang="en-US" altLang="zh-CN"/>
              <a:t>D</a:t>
            </a:r>
            <a:r>
              <a:rPr lang="en-US" altLang="zh-CN" baseline="-25000"/>
              <a:t>1</a:t>
            </a:r>
            <a:r>
              <a:rPr lang="zh-CN" altLang="en-US"/>
              <a:t>、</a:t>
            </a:r>
            <a:r>
              <a:rPr lang="en-US" altLang="zh-CN"/>
              <a:t>D</a:t>
            </a:r>
            <a:r>
              <a:rPr lang="en-US" altLang="zh-CN" baseline="-25000"/>
              <a:t>2 </a:t>
            </a:r>
            <a:r>
              <a:rPr lang="zh-CN" altLang="en-US"/>
              <a:t>到 </a:t>
            </a:r>
            <a:r>
              <a:rPr lang="en-US" altLang="zh-CN"/>
              <a:t>E </a:t>
            </a:r>
            <a:r>
              <a:rPr lang="zh-CN" altLang="en-US"/>
              <a:t>的最短线路</a:t>
            </a:r>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lvl="1" eaLnBrk="1" hangingPunct="1"/>
            <a:r>
              <a:rPr lang="zh-CN" altLang="en-US"/>
              <a:t>加法：</a:t>
            </a:r>
            <a:r>
              <a:rPr lang="en-US" altLang="zh-CN">
                <a:solidFill>
                  <a:srgbClr val="FF0000"/>
                </a:solidFill>
              </a:rPr>
              <a:t>0</a:t>
            </a:r>
            <a:r>
              <a:rPr lang="en-US" altLang="zh-CN"/>
              <a:t> </a:t>
            </a:r>
            <a:r>
              <a:rPr lang="zh-CN" altLang="en-US"/>
              <a:t>次                  比较：</a:t>
            </a:r>
            <a:r>
              <a:rPr lang="en-US" altLang="zh-CN">
                <a:solidFill>
                  <a:srgbClr val="FF0000"/>
                </a:solidFill>
              </a:rPr>
              <a:t>0</a:t>
            </a:r>
            <a:r>
              <a:rPr lang="zh-CN" altLang="en-US"/>
              <a:t>次</a:t>
            </a:r>
          </a:p>
        </p:txBody>
      </p:sp>
      <p:sp>
        <p:nvSpPr>
          <p:cNvPr id="10243" name="Rectangle 5">
            <a:extLst>
              <a:ext uri="{FF2B5EF4-FFF2-40B4-BE49-F238E27FC236}">
                <a16:creationId xmlns:a16="http://schemas.microsoft.com/office/drawing/2014/main" id="{2469152E-153D-424B-B926-41C25E611829}"/>
              </a:ext>
            </a:extLst>
          </p:cNvPr>
          <p:cNvSpPr>
            <a:spLocks noGrp="1" noChangeArrowheads="1"/>
          </p:cNvSpPr>
          <p:nvPr>
            <p:ph type="title"/>
          </p:nvPr>
        </p:nvSpPr>
        <p:spPr/>
        <p:txBody>
          <a:bodyPr/>
          <a:lstStyle/>
          <a:p>
            <a:pPr eaLnBrk="1" hangingPunct="1"/>
            <a:r>
              <a:rPr lang="zh-CN" altLang="en-US"/>
              <a:t>最短路线问题</a:t>
            </a:r>
            <a:r>
              <a:rPr lang="en-US" altLang="zh-CN"/>
              <a:t>-</a:t>
            </a:r>
            <a:r>
              <a:rPr lang="zh-CN" altLang="en-US"/>
              <a:t>多阶段决策</a:t>
            </a:r>
          </a:p>
        </p:txBody>
      </p:sp>
      <p:sp>
        <p:nvSpPr>
          <p:cNvPr id="10244" name="Oval 7">
            <a:extLst>
              <a:ext uri="{FF2B5EF4-FFF2-40B4-BE49-F238E27FC236}">
                <a16:creationId xmlns:a16="http://schemas.microsoft.com/office/drawing/2014/main" id="{2030D897-9F18-428A-BF42-F7F06A25A928}"/>
              </a:ext>
            </a:extLst>
          </p:cNvPr>
          <p:cNvSpPr>
            <a:spLocks noChangeArrowheads="1"/>
          </p:cNvSpPr>
          <p:nvPr/>
        </p:nvSpPr>
        <p:spPr bwMode="auto">
          <a:xfrm>
            <a:off x="4406900" y="2166938"/>
            <a:ext cx="508000" cy="557212"/>
          </a:xfrm>
          <a:prstGeom prst="ellipse">
            <a:avLst/>
          </a:prstGeom>
          <a:solidFill>
            <a:schemeClr val="folHlink"/>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1</a:t>
            </a:r>
          </a:p>
        </p:txBody>
      </p:sp>
      <p:sp>
        <p:nvSpPr>
          <p:cNvPr id="10245" name="Oval 8">
            <a:extLst>
              <a:ext uri="{FF2B5EF4-FFF2-40B4-BE49-F238E27FC236}">
                <a16:creationId xmlns:a16="http://schemas.microsoft.com/office/drawing/2014/main" id="{78AE8FE5-70FE-4AF4-BC7F-845D621C9029}"/>
              </a:ext>
            </a:extLst>
          </p:cNvPr>
          <p:cNvSpPr>
            <a:spLocks noChangeArrowheads="1"/>
          </p:cNvSpPr>
          <p:nvPr/>
        </p:nvSpPr>
        <p:spPr bwMode="auto">
          <a:xfrm>
            <a:off x="4430713" y="468471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3</a:t>
            </a:r>
            <a:endParaRPr lang="en-US" altLang="zh-CN"/>
          </a:p>
        </p:txBody>
      </p:sp>
      <p:sp>
        <p:nvSpPr>
          <p:cNvPr id="45065" name="Oval 9">
            <a:extLst>
              <a:ext uri="{FF2B5EF4-FFF2-40B4-BE49-F238E27FC236}">
                <a16:creationId xmlns:a16="http://schemas.microsoft.com/office/drawing/2014/main" id="{8C9CF8A4-1F9E-4FC7-9DCE-A52F47575ADE}"/>
              </a:ext>
            </a:extLst>
          </p:cNvPr>
          <p:cNvSpPr>
            <a:spLocks noChangeArrowheads="1"/>
          </p:cNvSpPr>
          <p:nvPr/>
        </p:nvSpPr>
        <p:spPr bwMode="auto">
          <a:xfrm>
            <a:off x="6016625" y="2803525"/>
            <a:ext cx="509588" cy="558800"/>
          </a:xfrm>
          <a:prstGeom prst="ellipse">
            <a:avLst/>
          </a:prstGeom>
          <a:solidFill>
            <a:schemeClr val="folHlink"/>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1</a:t>
            </a:r>
          </a:p>
        </p:txBody>
      </p:sp>
      <p:sp>
        <p:nvSpPr>
          <p:cNvPr id="10247" name="Oval 10">
            <a:extLst>
              <a:ext uri="{FF2B5EF4-FFF2-40B4-BE49-F238E27FC236}">
                <a16:creationId xmlns:a16="http://schemas.microsoft.com/office/drawing/2014/main" id="{E846D6AC-3014-4A63-8ACF-45C49FA2E292}"/>
              </a:ext>
            </a:extLst>
          </p:cNvPr>
          <p:cNvSpPr>
            <a:spLocks noChangeArrowheads="1"/>
          </p:cNvSpPr>
          <p:nvPr/>
        </p:nvSpPr>
        <p:spPr bwMode="auto">
          <a:xfrm>
            <a:off x="1187450" y="34305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A</a:t>
            </a:r>
          </a:p>
        </p:txBody>
      </p:sp>
      <p:sp>
        <p:nvSpPr>
          <p:cNvPr id="10248" name="Oval 11">
            <a:extLst>
              <a:ext uri="{FF2B5EF4-FFF2-40B4-BE49-F238E27FC236}">
                <a16:creationId xmlns:a16="http://schemas.microsoft.com/office/drawing/2014/main" id="{1F0D2A7B-573C-42DF-A3DB-BA3B8E6FA6C2}"/>
              </a:ext>
            </a:extLst>
          </p:cNvPr>
          <p:cNvSpPr>
            <a:spLocks noChangeArrowheads="1"/>
          </p:cNvSpPr>
          <p:nvPr/>
        </p:nvSpPr>
        <p:spPr bwMode="auto">
          <a:xfrm>
            <a:off x="2611438" y="22066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1</a:t>
            </a:r>
            <a:endParaRPr lang="en-US" altLang="zh-CN"/>
          </a:p>
        </p:txBody>
      </p:sp>
      <p:sp>
        <p:nvSpPr>
          <p:cNvPr id="10249" name="Oval 12">
            <a:extLst>
              <a:ext uri="{FF2B5EF4-FFF2-40B4-BE49-F238E27FC236}">
                <a16:creationId xmlns:a16="http://schemas.microsoft.com/office/drawing/2014/main" id="{C2FD1CD9-DFCC-4DCE-9FB9-A3D1B17221D0}"/>
              </a:ext>
            </a:extLst>
          </p:cNvPr>
          <p:cNvSpPr>
            <a:spLocks noChangeArrowheads="1"/>
          </p:cNvSpPr>
          <p:nvPr/>
        </p:nvSpPr>
        <p:spPr bwMode="auto">
          <a:xfrm>
            <a:off x="2628900" y="46767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3</a:t>
            </a:r>
            <a:endParaRPr lang="en-US" altLang="zh-CN"/>
          </a:p>
        </p:txBody>
      </p:sp>
      <p:sp>
        <p:nvSpPr>
          <p:cNvPr id="10250" name="Oval 13">
            <a:extLst>
              <a:ext uri="{FF2B5EF4-FFF2-40B4-BE49-F238E27FC236}">
                <a16:creationId xmlns:a16="http://schemas.microsoft.com/office/drawing/2014/main" id="{6D52E2FE-E09B-460A-827C-5BC864647838}"/>
              </a:ext>
            </a:extLst>
          </p:cNvPr>
          <p:cNvSpPr>
            <a:spLocks noChangeArrowheads="1"/>
          </p:cNvSpPr>
          <p:nvPr/>
        </p:nvSpPr>
        <p:spPr bwMode="auto">
          <a:xfrm>
            <a:off x="2628900" y="344170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2</a:t>
            </a:r>
            <a:endParaRPr lang="en-US" altLang="zh-CN"/>
          </a:p>
        </p:txBody>
      </p:sp>
      <p:sp>
        <p:nvSpPr>
          <p:cNvPr id="45070" name="Oval 14">
            <a:extLst>
              <a:ext uri="{FF2B5EF4-FFF2-40B4-BE49-F238E27FC236}">
                <a16:creationId xmlns:a16="http://schemas.microsoft.com/office/drawing/2014/main" id="{BBEB6F79-E434-4063-9A13-15DB723D8A7E}"/>
              </a:ext>
            </a:extLst>
          </p:cNvPr>
          <p:cNvSpPr>
            <a:spLocks noChangeArrowheads="1"/>
          </p:cNvSpPr>
          <p:nvPr/>
        </p:nvSpPr>
        <p:spPr bwMode="auto">
          <a:xfrm>
            <a:off x="6029325" y="407193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2</a:t>
            </a:r>
            <a:endParaRPr lang="en-US" altLang="zh-CN"/>
          </a:p>
        </p:txBody>
      </p:sp>
      <p:sp>
        <p:nvSpPr>
          <p:cNvPr id="10252" name="Oval 15">
            <a:extLst>
              <a:ext uri="{FF2B5EF4-FFF2-40B4-BE49-F238E27FC236}">
                <a16:creationId xmlns:a16="http://schemas.microsoft.com/office/drawing/2014/main" id="{71453485-E801-4F52-B425-06ED02FB8737}"/>
              </a:ext>
            </a:extLst>
          </p:cNvPr>
          <p:cNvSpPr>
            <a:spLocks noChangeArrowheads="1"/>
          </p:cNvSpPr>
          <p:nvPr/>
        </p:nvSpPr>
        <p:spPr bwMode="auto">
          <a:xfrm>
            <a:off x="7375525" y="343376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E</a:t>
            </a:r>
            <a:endParaRPr lang="en-US" altLang="zh-CN"/>
          </a:p>
        </p:txBody>
      </p:sp>
      <p:sp>
        <p:nvSpPr>
          <p:cNvPr id="10253" name="Oval 16">
            <a:extLst>
              <a:ext uri="{FF2B5EF4-FFF2-40B4-BE49-F238E27FC236}">
                <a16:creationId xmlns:a16="http://schemas.microsoft.com/office/drawing/2014/main" id="{D43CDE7C-2573-466F-B414-9DA6CFFD43F1}"/>
              </a:ext>
            </a:extLst>
          </p:cNvPr>
          <p:cNvSpPr>
            <a:spLocks noChangeArrowheads="1"/>
          </p:cNvSpPr>
          <p:nvPr/>
        </p:nvSpPr>
        <p:spPr bwMode="auto">
          <a:xfrm>
            <a:off x="4406900" y="340836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2</a:t>
            </a:r>
            <a:endParaRPr lang="en-US" altLang="zh-CN"/>
          </a:p>
        </p:txBody>
      </p:sp>
      <p:sp>
        <p:nvSpPr>
          <p:cNvPr id="10254" name="Line 17">
            <a:extLst>
              <a:ext uri="{FF2B5EF4-FFF2-40B4-BE49-F238E27FC236}">
                <a16:creationId xmlns:a16="http://schemas.microsoft.com/office/drawing/2014/main" id="{E76BB310-8B77-49B6-86F3-55ED29DAFE31}"/>
              </a:ext>
            </a:extLst>
          </p:cNvPr>
          <p:cNvSpPr>
            <a:spLocks noChangeShapeType="1"/>
          </p:cNvSpPr>
          <p:nvPr/>
        </p:nvSpPr>
        <p:spPr bwMode="auto">
          <a:xfrm flipV="1">
            <a:off x="1622425" y="260508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 name="Line 18">
            <a:extLst>
              <a:ext uri="{FF2B5EF4-FFF2-40B4-BE49-F238E27FC236}">
                <a16:creationId xmlns:a16="http://schemas.microsoft.com/office/drawing/2014/main" id="{8002B95B-A8B1-4EC5-827A-D199682C4CFB}"/>
              </a:ext>
            </a:extLst>
          </p:cNvPr>
          <p:cNvSpPr>
            <a:spLocks noChangeShapeType="1"/>
          </p:cNvSpPr>
          <p:nvPr/>
        </p:nvSpPr>
        <p:spPr bwMode="auto">
          <a:xfrm flipV="1">
            <a:off x="1695450" y="372110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 name="Line 19">
            <a:extLst>
              <a:ext uri="{FF2B5EF4-FFF2-40B4-BE49-F238E27FC236}">
                <a16:creationId xmlns:a16="http://schemas.microsoft.com/office/drawing/2014/main" id="{9595305C-E14A-49F7-B1EA-7D87C5E32238}"/>
              </a:ext>
            </a:extLst>
          </p:cNvPr>
          <p:cNvSpPr>
            <a:spLocks noChangeShapeType="1"/>
          </p:cNvSpPr>
          <p:nvPr/>
        </p:nvSpPr>
        <p:spPr bwMode="auto">
          <a:xfrm>
            <a:off x="3148013" y="372110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 name="Line 20">
            <a:extLst>
              <a:ext uri="{FF2B5EF4-FFF2-40B4-BE49-F238E27FC236}">
                <a16:creationId xmlns:a16="http://schemas.microsoft.com/office/drawing/2014/main" id="{073BFC23-2BC8-4403-AC3A-A877AFEBA1AE}"/>
              </a:ext>
            </a:extLst>
          </p:cNvPr>
          <p:cNvSpPr>
            <a:spLocks noChangeShapeType="1"/>
          </p:cNvSpPr>
          <p:nvPr/>
        </p:nvSpPr>
        <p:spPr bwMode="auto">
          <a:xfrm>
            <a:off x="1622425" y="391477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 name="Line 21">
            <a:extLst>
              <a:ext uri="{FF2B5EF4-FFF2-40B4-BE49-F238E27FC236}">
                <a16:creationId xmlns:a16="http://schemas.microsoft.com/office/drawing/2014/main" id="{E504537A-A550-425D-8EF6-8380536C888E}"/>
              </a:ext>
            </a:extLst>
          </p:cNvPr>
          <p:cNvSpPr>
            <a:spLocks noChangeShapeType="1"/>
          </p:cNvSpPr>
          <p:nvPr/>
        </p:nvSpPr>
        <p:spPr bwMode="auto">
          <a:xfrm flipV="1">
            <a:off x="3148013" y="242570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 name="Line 22">
            <a:extLst>
              <a:ext uri="{FF2B5EF4-FFF2-40B4-BE49-F238E27FC236}">
                <a16:creationId xmlns:a16="http://schemas.microsoft.com/office/drawing/2014/main" id="{D2759121-09FA-46A6-8DD7-0C520C7362F7}"/>
              </a:ext>
            </a:extLst>
          </p:cNvPr>
          <p:cNvSpPr>
            <a:spLocks noChangeShapeType="1"/>
          </p:cNvSpPr>
          <p:nvPr/>
        </p:nvSpPr>
        <p:spPr bwMode="auto">
          <a:xfrm>
            <a:off x="3148013" y="499586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0" name="Line 23">
            <a:extLst>
              <a:ext uri="{FF2B5EF4-FFF2-40B4-BE49-F238E27FC236}">
                <a16:creationId xmlns:a16="http://schemas.microsoft.com/office/drawing/2014/main" id="{AF8EDA05-4154-48FF-B1BC-F85F605920EB}"/>
              </a:ext>
            </a:extLst>
          </p:cNvPr>
          <p:cNvSpPr>
            <a:spLocks noChangeShapeType="1"/>
          </p:cNvSpPr>
          <p:nvPr/>
        </p:nvSpPr>
        <p:spPr bwMode="auto">
          <a:xfrm>
            <a:off x="4914900" y="245268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1" name="Line 24">
            <a:extLst>
              <a:ext uri="{FF2B5EF4-FFF2-40B4-BE49-F238E27FC236}">
                <a16:creationId xmlns:a16="http://schemas.microsoft.com/office/drawing/2014/main" id="{8BD083DA-AFFE-4783-8887-08CDC38BE9E4}"/>
              </a:ext>
            </a:extLst>
          </p:cNvPr>
          <p:cNvSpPr>
            <a:spLocks noChangeShapeType="1"/>
          </p:cNvSpPr>
          <p:nvPr/>
        </p:nvSpPr>
        <p:spPr bwMode="auto">
          <a:xfrm>
            <a:off x="6513513" y="319563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2" name="Line 25">
            <a:extLst>
              <a:ext uri="{FF2B5EF4-FFF2-40B4-BE49-F238E27FC236}">
                <a16:creationId xmlns:a16="http://schemas.microsoft.com/office/drawing/2014/main" id="{06972A1B-091F-45DC-B716-D76644929DEB}"/>
              </a:ext>
            </a:extLst>
          </p:cNvPr>
          <p:cNvSpPr>
            <a:spLocks noChangeShapeType="1"/>
          </p:cNvSpPr>
          <p:nvPr/>
        </p:nvSpPr>
        <p:spPr bwMode="auto">
          <a:xfrm flipV="1">
            <a:off x="4914900" y="447040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3" name="Line 26">
            <a:extLst>
              <a:ext uri="{FF2B5EF4-FFF2-40B4-BE49-F238E27FC236}">
                <a16:creationId xmlns:a16="http://schemas.microsoft.com/office/drawing/2014/main" id="{E5E9CF98-129A-4C23-BFE2-FAAFCBA96680}"/>
              </a:ext>
            </a:extLst>
          </p:cNvPr>
          <p:cNvSpPr>
            <a:spLocks noChangeShapeType="1"/>
          </p:cNvSpPr>
          <p:nvPr/>
        </p:nvSpPr>
        <p:spPr bwMode="auto">
          <a:xfrm flipV="1">
            <a:off x="6513513" y="385921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4" name="Line 27">
            <a:extLst>
              <a:ext uri="{FF2B5EF4-FFF2-40B4-BE49-F238E27FC236}">
                <a16:creationId xmlns:a16="http://schemas.microsoft.com/office/drawing/2014/main" id="{95DD2724-5343-40A5-84B9-CC15288E279E}"/>
              </a:ext>
            </a:extLst>
          </p:cNvPr>
          <p:cNvSpPr>
            <a:spLocks noChangeShapeType="1"/>
          </p:cNvSpPr>
          <p:nvPr/>
        </p:nvSpPr>
        <p:spPr bwMode="auto">
          <a:xfrm flipV="1">
            <a:off x="4891088" y="314325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5" name="Line 28">
            <a:extLst>
              <a:ext uri="{FF2B5EF4-FFF2-40B4-BE49-F238E27FC236}">
                <a16:creationId xmlns:a16="http://schemas.microsoft.com/office/drawing/2014/main" id="{369FA9FF-54D1-4CD0-AC6A-788F49504408}"/>
              </a:ext>
            </a:extLst>
          </p:cNvPr>
          <p:cNvSpPr>
            <a:spLocks noChangeShapeType="1"/>
          </p:cNvSpPr>
          <p:nvPr/>
        </p:nvSpPr>
        <p:spPr bwMode="auto">
          <a:xfrm>
            <a:off x="4867275" y="383381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6" name="Line 29">
            <a:extLst>
              <a:ext uri="{FF2B5EF4-FFF2-40B4-BE49-F238E27FC236}">
                <a16:creationId xmlns:a16="http://schemas.microsoft.com/office/drawing/2014/main" id="{D0EECC50-CBA0-4B26-8521-487B89FC8D34}"/>
              </a:ext>
            </a:extLst>
          </p:cNvPr>
          <p:cNvSpPr>
            <a:spLocks noChangeShapeType="1"/>
          </p:cNvSpPr>
          <p:nvPr/>
        </p:nvSpPr>
        <p:spPr bwMode="auto">
          <a:xfrm>
            <a:off x="3074988" y="258445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7" name="Line 30">
            <a:extLst>
              <a:ext uri="{FF2B5EF4-FFF2-40B4-BE49-F238E27FC236}">
                <a16:creationId xmlns:a16="http://schemas.microsoft.com/office/drawing/2014/main" id="{58BE84F6-908B-4E11-A6BF-500FFE7D5163}"/>
              </a:ext>
            </a:extLst>
          </p:cNvPr>
          <p:cNvSpPr>
            <a:spLocks noChangeShapeType="1"/>
          </p:cNvSpPr>
          <p:nvPr/>
        </p:nvSpPr>
        <p:spPr bwMode="auto">
          <a:xfrm>
            <a:off x="3027363" y="271780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8" name="Line 31">
            <a:extLst>
              <a:ext uri="{FF2B5EF4-FFF2-40B4-BE49-F238E27FC236}">
                <a16:creationId xmlns:a16="http://schemas.microsoft.com/office/drawing/2014/main" id="{F939C7A1-3B42-4B6C-AFF6-8C2AB2289359}"/>
              </a:ext>
            </a:extLst>
          </p:cNvPr>
          <p:cNvSpPr>
            <a:spLocks noChangeShapeType="1"/>
          </p:cNvSpPr>
          <p:nvPr/>
        </p:nvSpPr>
        <p:spPr bwMode="auto">
          <a:xfrm flipV="1">
            <a:off x="3074988" y="258445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9" name="Line 32">
            <a:extLst>
              <a:ext uri="{FF2B5EF4-FFF2-40B4-BE49-F238E27FC236}">
                <a16:creationId xmlns:a16="http://schemas.microsoft.com/office/drawing/2014/main" id="{AD72409C-944E-4D81-BBAB-A3A8B289069B}"/>
              </a:ext>
            </a:extLst>
          </p:cNvPr>
          <p:cNvSpPr>
            <a:spLocks noChangeShapeType="1"/>
          </p:cNvSpPr>
          <p:nvPr/>
        </p:nvSpPr>
        <p:spPr bwMode="auto">
          <a:xfrm>
            <a:off x="3100388" y="388620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0" name="Line 33">
            <a:extLst>
              <a:ext uri="{FF2B5EF4-FFF2-40B4-BE49-F238E27FC236}">
                <a16:creationId xmlns:a16="http://schemas.microsoft.com/office/drawing/2014/main" id="{EC599470-BFE8-4A09-977E-873D76020346}"/>
              </a:ext>
            </a:extLst>
          </p:cNvPr>
          <p:cNvSpPr>
            <a:spLocks noChangeShapeType="1"/>
          </p:cNvSpPr>
          <p:nvPr/>
        </p:nvSpPr>
        <p:spPr bwMode="auto">
          <a:xfrm flipV="1">
            <a:off x="3051175" y="268446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1" name="Line 34">
            <a:extLst>
              <a:ext uri="{FF2B5EF4-FFF2-40B4-BE49-F238E27FC236}">
                <a16:creationId xmlns:a16="http://schemas.microsoft.com/office/drawing/2014/main" id="{7511884C-696E-4919-B685-B87BD96565FB}"/>
              </a:ext>
            </a:extLst>
          </p:cNvPr>
          <p:cNvSpPr>
            <a:spLocks noChangeShapeType="1"/>
          </p:cNvSpPr>
          <p:nvPr/>
        </p:nvSpPr>
        <p:spPr bwMode="auto">
          <a:xfrm flipV="1">
            <a:off x="3148013" y="380682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2" name="Line 35">
            <a:extLst>
              <a:ext uri="{FF2B5EF4-FFF2-40B4-BE49-F238E27FC236}">
                <a16:creationId xmlns:a16="http://schemas.microsoft.com/office/drawing/2014/main" id="{6CF509AC-55BF-460E-A616-F515C30CCC59}"/>
              </a:ext>
            </a:extLst>
          </p:cNvPr>
          <p:cNvSpPr>
            <a:spLocks noChangeShapeType="1"/>
          </p:cNvSpPr>
          <p:nvPr/>
        </p:nvSpPr>
        <p:spPr bwMode="auto">
          <a:xfrm>
            <a:off x="4843463" y="263842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3" name="Line 36">
            <a:extLst>
              <a:ext uri="{FF2B5EF4-FFF2-40B4-BE49-F238E27FC236}">
                <a16:creationId xmlns:a16="http://schemas.microsoft.com/office/drawing/2014/main" id="{2071D519-E1AA-40F2-9A3B-3FA35184EEEC}"/>
              </a:ext>
            </a:extLst>
          </p:cNvPr>
          <p:cNvSpPr>
            <a:spLocks noChangeShapeType="1"/>
          </p:cNvSpPr>
          <p:nvPr/>
        </p:nvSpPr>
        <p:spPr bwMode="auto">
          <a:xfrm flipV="1">
            <a:off x="4867275" y="330200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4" name="Text Box 37">
            <a:extLst>
              <a:ext uri="{FF2B5EF4-FFF2-40B4-BE49-F238E27FC236}">
                <a16:creationId xmlns:a16="http://schemas.microsoft.com/office/drawing/2014/main" id="{998BB012-1023-488B-98A3-0531DEEC19BE}"/>
              </a:ext>
            </a:extLst>
          </p:cNvPr>
          <p:cNvSpPr txBox="1">
            <a:spLocks noChangeArrowheads="1"/>
          </p:cNvSpPr>
          <p:nvPr/>
        </p:nvSpPr>
        <p:spPr bwMode="auto">
          <a:xfrm>
            <a:off x="1849438" y="29130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a:t>
            </a:r>
          </a:p>
        </p:txBody>
      </p:sp>
      <p:sp>
        <p:nvSpPr>
          <p:cNvPr id="10275" name="Text Box 38">
            <a:extLst>
              <a:ext uri="{FF2B5EF4-FFF2-40B4-BE49-F238E27FC236}">
                <a16:creationId xmlns:a16="http://schemas.microsoft.com/office/drawing/2014/main" id="{033FA249-F3F8-4945-9563-D063B40C2A84}"/>
              </a:ext>
            </a:extLst>
          </p:cNvPr>
          <p:cNvSpPr txBox="1">
            <a:spLocks noChangeArrowheads="1"/>
          </p:cNvSpPr>
          <p:nvPr/>
        </p:nvSpPr>
        <p:spPr bwMode="auto">
          <a:xfrm>
            <a:off x="1835150" y="3489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5</a:t>
            </a:r>
          </a:p>
        </p:txBody>
      </p:sp>
      <p:sp>
        <p:nvSpPr>
          <p:cNvPr id="10276" name="Text Box 39">
            <a:extLst>
              <a:ext uri="{FF2B5EF4-FFF2-40B4-BE49-F238E27FC236}">
                <a16:creationId xmlns:a16="http://schemas.microsoft.com/office/drawing/2014/main" id="{183A172D-A258-4291-BA37-09488199F4D8}"/>
              </a:ext>
            </a:extLst>
          </p:cNvPr>
          <p:cNvSpPr txBox="1">
            <a:spLocks noChangeArrowheads="1"/>
          </p:cNvSpPr>
          <p:nvPr/>
        </p:nvSpPr>
        <p:spPr bwMode="auto">
          <a:xfrm>
            <a:off x="1768475" y="42322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a:t>
            </a:r>
          </a:p>
        </p:txBody>
      </p:sp>
      <p:sp>
        <p:nvSpPr>
          <p:cNvPr id="10277" name="Text Box 40">
            <a:extLst>
              <a:ext uri="{FF2B5EF4-FFF2-40B4-BE49-F238E27FC236}">
                <a16:creationId xmlns:a16="http://schemas.microsoft.com/office/drawing/2014/main" id="{0A902F81-1251-4C5E-A424-9C60810439AD}"/>
              </a:ext>
            </a:extLst>
          </p:cNvPr>
          <p:cNvSpPr txBox="1">
            <a:spLocks noChangeArrowheads="1"/>
          </p:cNvSpPr>
          <p:nvPr/>
        </p:nvSpPr>
        <p:spPr bwMode="auto">
          <a:xfrm>
            <a:off x="3360738" y="213360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12</a:t>
            </a:r>
            <a:endParaRPr lang="en-US" altLang="zh-CN" b="1"/>
          </a:p>
        </p:txBody>
      </p:sp>
      <p:sp>
        <p:nvSpPr>
          <p:cNvPr id="10278" name="Text Box 41">
            <a:extLst>
              <a:ext uri="{FF2B5EF4-FFF2-40B4-BE49-F238E27FC236}">
                <a16:creationId xmlns:a16="http://schemas.microsoft.com/office/drawing/2014/main" id="{A0233447-7920-4C31-A496-DF4371C4B145}"/>
              </a:ext>
            </a:extLst>
          </p:cNvPr>
          <p:cNvSpPr txBox="1">
            <a:spLocks noChangeArrowheads="1"/>
          </p:cNvSpPr>
          <p:nvPr/>
        </p:nvSpPr>
        <p:spPr bwMode="auto">
          <a:xfrm>
            <a:off x="3294063" y="25320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14</a:t>
            </a:r>
          </a:p>
        </p:txBody>
      </p:sp>
      <p:sp>
        <p:nvSpPr>
          <p:cNvPr id="10279" name="Text Box 42">
            <a:extLst>
              <a:ext uri="{FF2B5EF4-FFF2-40B4-BE49-F238E27FC236}">
                <a16:creationId xmlns:a16="http://schemas.microsoft.com/office/drawing/2014/main" id="{09AC9D82-4CF6-42F9-A7A9-25BDFC7A42B9}"/>
              </a:ext>
            </a:extLst>
          </p:cNvPr>
          <p:cNvSpPr txBox="1">
            <a:spLocks noChangeArrowheads="1"/>
          </p:cNvSpPr>
          <p:nvPr/>
        </p:nvSpPr>
        <p:spPr bwMode="auto">
          <a:xfrm>
            <a:off x="3073400" y="287655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10</a:t>
            </a:r>
          </a:p>
        </p:txBody>
      </p:sp>
      <p:sp>
        <p:nvSpPr>
          <p:cNvPr id="10280" name="Text Box 43">
            <a:extLst>
              <a:ext uri="{FF2B5EF4-FFF2-40B4-BE49-F238E27FC236}">
                <a16:creationId xmlns:a16="http://schemas.microsoft.com/office/drawing/2014/main" id="{E488E704-7D7B-4EFE-9B8B-596DF92FC75B}"/>
              </a:ext>
            </a:extLst>
          </p:cNvPr>
          <p:cNvSpPr txBox="1">
            <a:spLocks noChangeArrowheads="1"/>
          </p:cNvSpPr>
          <p:nvPr/>
        </p:nvSpPr>
        <p:spPr bwMode="auto">
          <a:xfrm>
            <a:off x="3100388" y="31956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6</a:t>
            </a:r>
          </a:p>
        </p:txBody>
      </p:sp>
      <p:sp>
        <p:nvSpPr>
          <p:cNvPr id="10281" name="Text Box 44">
            <a:extLst>
              <a:ext uri="{FF2B5EF4-FFF2-40B4-BE49-F238E27FC236}">
                <a16:creationId xmlns:a16="http://schemas.microsoft.com/office/drawing/2014/main" id="{C104F0AB-8C0F-43EE-8E91-FABCA6BEAD28}"/>
              </a:ext>
            </a:extLst>
          </p:cNvPr>
          <p:cNvSpPr txBox="1">
            <a:spLocks noChangeArrowheads="1"/>
          </p:cNvSpPr>
          <p:nvPr/>
        </p:nvSpPr>
        <p:spPr bwMode="auto">
          <a:xfrm>
            <a:off x="3221038" y="36210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10</a:t>
            </a:r>
          </a:p>
        </p:txBody>
      </p:sp>
      <p:sp>
        <p:nvSpPr>
          <p:cNvPr id="10282" name="Text Box 45">
            <a:extLst>
              <a:ext uri="{FF2B5EF4-FFF2-40B4-BE49-F238E27FC236}">
                <a16:creationId xmlns:a16="http://schemas.microsoft.com/office/drawing/2014/main" id="{37178722-7370-498F-8E5B-3FDF55A4199A}"/>
              </a:ext>
            </a:extLst>
          </p:cNvPr>
          <p:cNvSpPr txBox="1">
            <a:spLocks noChangeArrowheads="1"/>
          </p:cNvSpPr>
          <p:nvPr/>
        </p:nvSpPr>
        <p:spPr bwMode="auto">
          <a:xfrm>
            <a:off x="3074988" y="399256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4</a:t>
            </a:r>
          </a:p>
        </p:txBody>
      </p:sp>
      <p:sp>
        <p:nvSpPr>
          <p:cNvPr id="10283" name="Text Box 46">
            <a:extLst>
              <a:ext uri="{FF2B5EF4-FFF2-40B4-BE49-F238E27FC236}">
                <a16:creationId xmlns:a16="http://schemas.microsoft.com/office/drawing/2014/main" id="{476EC846-51C9-42DA-878D-8485345E2EDA}"/>
              </a:ext>
            </a:extLst>
          </p:cNvPr>
          <p:cNvSpPr txBox="1">
            <a:spLocks noChangeArrowheads="1"/>
          </p:cNvSpPr>
          <p:nvPr/>
        </p:nvSpPr>
        <p:spPr bwMode="auto">
          <a:xfrm>
            <a:off x="3001963" y="43386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13</a:t>
            </a:r>
          </a:p>
        </p:txBody>
      </p:sp>
      <p:sp>
        <p:nvSpPr>
          <p:cNvPr id="10284" name="Text Box 47">
            <a:extLst>
              <a:ext uri="{FF2B5EF4-FFF2-40B4-BE49-F238E27FC236}">
                <a16:creationId xmlns:a16="http://schemas.microsoft.com/office/drawing/2014/main" id="{6F6531B3-48FC-459C-B4C2-55CFD08B29E7}"/>
              </a:ext>
            </a:extLst>
          </p:cNvPr>
          <p:cNvSpPr txBox="1">
            <a:spLocks noChangeArrowheads="1"/>
          </p:cNvSpPr>
          <p:nvPr/>
        </p:nvSpPr>
        <p:spPr bwMode="auto">
          <a:xfrm>
            <a:off x="3221038" y="505460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11</a:t>
            </a:r>
          </a:p>
        </p:txBody>
      </p:sp>
      <p:sp>
        <p:nvSpPr>
          <p:cNvPr id="10285" name="Text Box 48">
            <a:extLst>
              <a:ext uri="{FF2B5EF4-FFF2-40B4-BE49-F238E27FC236}">
                <a16:creationId xmlns:a16="http://schemas.microsoft.com/office/drawing/2014/main" id="{4E26395B-B1BD-4A39-A746-0FB62E3D3DE3}"/>
              </a:ext>
            </a:extLst>
          </p:cNvPr>
          <p:cNvSpPr txBox="1">
            <a:spLocks noChangeArrowheads="1"/>
          </p:cNvSpPr>
          <p:nvPr/>
        </p:nvSpPr>
        <p:spPr bwMode="auto">
          <a:xfrm>
            <a:off x="3268663" y="460375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12</a:t>
            </a:r>
          </a:p>
        </p:txBody>
      </p:sp>
      <p:sp>
        <p:nvSpPr>
          <p:cNvPr id="10286" name="Text Box 49">
            <a:extLst>
              <a:ext uri="{FF2B5EF4-FFF2-40B4-BE49-F238E27FC236}">
                <a16:creationId xmlns:a16="http://schemas.microsoft.com/office/drawing/2014/main" id="{FD37B9A9-C0B9-4ED8-8B5E-7C145CBA5FE1}"/>
              </a:ext>
            </a:extLst>
          </p:cNvPr>
          <p:cNvSpPr txBox="1">
            <a:spLocks noChangeArrowheads="1"/>
          </p:cNvSpPr>
          <p:nvPr/>
        </p:nvSpPr>
        <p:spPr bwMode="auto">
          <a:xfrm>
            <a:off x="5084763" y="221297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3</a:t>
            </a:r>
          </a:p>
        </p:txBody>
      </p:sp>
      <p:sp>
        <p:nvSpPr>
          <p:cNvPr id="10287" name="Text Box 50">
            <a:extLst>
              <a:ext uri="{FF2B5EF4-FFF2-40B4-BE49-F238E27FC236}">
                <a16:creationId xmlns:a16="http://schemas.microsoft.com/office/drawing/2014/main" id="{031E35D3-20E1-49AD-9BFD-28DACE747646}"/>
              </a:ext>
            </a:extLst>
          </p:cNvPr>
          <p:cNvSpPr txBox="1">
            <a:spLocks noChangeArrowheads="1"/>
          </p:cNvSpPr>
          <p:nvPr/>
        </p:nvSpPr>
        <p:spPr bwMode="auto">
          <a:xfrm>
            <a:off x="4867275" y="27971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9</a:t>
            </a:r>
          </a:p>
        </p:txBody>
      </p:sp>
      <p:sp>
        <p:nvSpPr>
          <p:cNvPr id="10288" name="Text Box 51">
            <a:extLst>
              <a:ext uri="{FF2B5EF4-FFF2-40B4-BE49-F238E27FC236}">
                <a16:creationId xmlns:a16="http://schemas.microsoft.com/office/drawing/2014/main" id="{50197015-B490-4032-B6B5-D5696F80BFB1}"/>
              </a:ext>
            </a:extLst>
          </p:cNvPr>
          <p:cNvSpPr txBox="1">
            <a:spLocks noChangeArrowheads="1"/>
          </p:cNvSpPr>
          <p:nvPr/>
        </p:nvSpPr>
        <p:spPr bwMode="auto">
          <a:xfrm>
            <a:off x="5011738" y="31956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6</a:t>
            </a:r>
          </a:p>
        </p:txBody>
      </p:sp>
      <p:sp>
        <p:nvSpPr>
          <p:cNvPr id="10289" name="Text Box 52">
            <a:extLst>
              <a:ext uri="{FF2B5EF4-FFF2-40B4-BE49-F238E27FC236}">
                <a16:creationId xmlns:a16="http://schemas.microsoft.com/office/drawing/2014/main" id="{282022A4-4123-43E1-B104-9BBE1B92496D}"/>
              </a:ext>
            </a:extLst>
          </p:cNvPr>
          <p:cNvSpPr txBox="1">
            <a:spLocks noChangeArrowheads="1"/>
          </p:cNvSpPr>
          <p:nvPr/>
        </p:nvSpPr>
        <p:spPr bwMode="auto">
          <a:xfrm>
            <a:off x="5011738" y="388620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5</a:t>
            </a:r>
          </a:p>
        </p:txBody>
      </p:sp>
      <p:sp>
        <p:nvSpPr>
          <p:cNvPr id="10290" name="Text Box 53">
            <a:extLst>
              <a:ext uri="{FF2B5EF4-FFF2-40B4-BE49-F238E27FC236}">
                <a16:creationId xmlns:a16="http://schemas.microsoft.com/office/drawing/2014/main" id="{5DC2996B-2837-4005-89A4-6631D2E34F51}"/>
              </a:ext>
            </a:extLst>
          </p:cNvPr>
          <p:cNvSpPr txBox="1">
            <a:spLocks noChangeArrowheads="1"/>
          </p:cNvSpPr>
          <p:nvPr/>
        </p:nvSpPr>
        <p:spPr bwMode="auto">
          <a:xfrm>
            <a:off x="4943475" y="436562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8</a:t>
            </a:r>
          </a:p>
        </p:txBody>
      </p:sp>
      <p:sp>
        <p:nvSpPr>
          <p:cNvPr id="10291" name="Text Box 54">
            <a:extLst>
              <a:ext uri="{FF2B5EF4-FFF2-40B4-BE49-F238E27FC236}">
                <a16:creationId xmlns:a16="http://schemas.microsoft.com/office/drawing/2014/main" id="{6F705062-8603-4108-B387-544C40A657F2}"/>
              </a:ext>
            </a:extLst>
          </p:cNvPr>
          <p:cNvSpPr txBox="1">
            <a:spLocks noChangeArrowheads="1"/>
          </p:cNvSpPr>
          <p:nvPr/>
        </p:nvSpPr>
        <p:spPr bwMode="auto">
          <a:xfrm>
            <a:off x="5018088" y="47259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10</a:t>
            </a:r>
          </a:p>
        </p:txBody>
      </p:sp>
      <p:sp>
        <p:nvSpPr>
          <p:cNvPr id="45111" name="Text Box 55">
            <a:extLst>
              <a:ext uri="{FF2B5EF4-FFF2-40B4-BE49-F238E27FC236}">
                <a16:creationId xmlns:a16="http://schemas.microsoft.com/office/drawing/2014/main" id="{F29FFEB3-7AD3-492D-B7AC-7363E8E35544}"/>
              </a:ext>
            </a:extLst>
          </p:cNvPr>
          <p:cNvSpPr txBox="1">
            <a:spLocks noChangeArrowheads="1"/>
          </p:cNvSpPr>
          <p:nvPr/>
        </p:nvSpPr>
        <p:spPr bwMode="auto">
          <a:xfrm>
            <a:off x="6659563" y="29987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5</a:t>
            </a:r>
          </a:p>
        </p:txBody>
      </p:sp>
      <p:sp>
        <p:nvSpPr>
          <p:cNvPr id="45112" name="Text Box 56">
            <a:extLst>
              <a:ext uri="{FF2B5EF4-FFF2-40B4-BE49-F238E27FC236}">
                <a16:creationId xmlns:a16="http://schemas.microsoft.com/office/drawing/2014/main" id="{368B6976-6759-43ED-882B-02D561A0A575}"/>
              </a:ext>
            </a:extLst>
          </p:cNvPr>
          <p:cNvSpPr txBox="1">
            <a:spLocks noChangeArrowheads="1"/>
          </p:cNvSpPr>
          <p:nvPr/>
        </p:nvSpPr>
        <p:spPr bwMode="auto">
          <a:xfrm>
            <a:off x="6659563" y="41259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2</a:t>
            </a:r>
          </a:p>
        </p:txBody>
      </p:sp>
      <p:sp>
        <p:nvSpPr>
          <p:cNvPr id="45117" name="Line 61">
            <a:extLst>
              <a:ext uri="{FF2B5EF4-FFF2-40B4-BE49-F238E27FC236}">
                <a16:creationId xmlns:a16="http://schemas.microsoft.com/office/drawing/2014/main" id="{3BBEB473-5EAD-40C2-B438-A440E7C8A326}"/>
              </a:ext>
            </a:extLst>
          </p:cNvPr>
          <p:cNvSpPr>
            <a:spLocks noChangeShapeType="1"/>
          </p:cNvSpPr>
          <p:nvPr/>
        </p:nvSpPr>
        <p:spPr bwMode="auto">
          <a:xfrm>
            <a:off x="6516688" y="3194050"/>
            <a:ext cx="895350" cy="4524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18" name="Text Box 62">
            <a:extLst>
              <a:ext uri="{FF2B5EF4-FFF2-40B4-BE49-F238E27FC236}">
                <a16:creationId xmlns:a16="http://schemas.microsoft.com/office/drawing/2014/main" id="{8AE66169-0203-43BE-800C-91790DDD29B5}"/>
              </a:ext>
            </a:extLst>
          </p:cNvPr>
          <p:cNvSpPr txBox="1">
            <a:spLocks noChangeArrowheads="1"/>
          </p:cNvSpPr>
          <p:nvPr/>
        </p:nvSpPr>
        <p:spPr bwMode="auto">
          <a:xfrm>
            <a:off x="6156325" y="24225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5</a:t>
            </a:r>
          </a:p>
        </p:txBody>
      </p:sp>
      <p:sp>
        <p:nvSpPr>
          <p:cNvPr id="45119" name="Line 63">
            <a:extLst>
              <a:ext uri="{FF2B5EF4-FFF2-40B4-BE49-F238E27FC236}">
                <a16:creationId xmlns:a16="http://schemas.microsoft.com/office/drawing/2014/main" id="{3B4B7D8F-DB84-46A1-A94D-897D436CBBE6}"/>
              </a:ext>
            </a:extLst>
          </p:cNvPr>
          <p:cNvSpPr>
            <a:spLocks noChangeShapeType="1"/>
          </p:cNvSpPr>
          <p:nvPr/>
        </p:nvSpPr>
        <p:spPr bwMode="auto">
          <a:xfrm flipV="1">
            <a:off x="6516688" y="3862388"/>
            <a:ext cx="919162" cy="3984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21" name="Text Box 65">
            <a:extLst>
              <a:ext uri="{FF2B5EF4-FFF2-40B4-BE49-F238E27FC236}">
                <a16:creationId xmlns:a16="http://schemas.microsoft.com/office/drawing/2014/main" id="{7ED0CA29-CE07-44E1-B37A-5C0B4703C2EF}"/>
              </a:ext>
            </a:extLst>
          </p:cNvPr>
          <p:cNvSpPr txBox="1">
            <a:spLocks noChangeArrowheads="1"/>
          </p:cNvSpPr>
          <p:nvPr/>
        </p:nvSpPr>
        <p:spPr bwMode="auto">
          <a:xfrm>
            <a:off x="6156325" y="37179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mph" presetSubtype="2" fill="hold" nodeType="clickEffect">
                                  <p:stCondLst>
                                    <p:cond delay="0"/>
                                  </p:stCondLst>
                                  <p:childTnLst>
                                    <p:animClr clrSpc="rgb" dir="cw">
                                      <p:cBhvr>
                                        <p:cTn id="6" dur="500" fill="hold"/>
                                        <p:tgtEl>
                                          <p:spTgt spid="45065"/>
                                        </p:tgtEl>
                                        <p:attrNameLst>
                                          <p:attrName>fillcolor</p:attrName>
                                        </p:attrNameLst>
                                      </p:cBhvr>
                                      <p:to>
                                        <a:srgbClr val="7446B2"/>
                                      </p:to>
                                    </p:animClr>
                                    <p:set>
                                      <p:cBhvr>
                                        <p:cTn id="7" dur="500" fill="hold"/>
                                        <p:tgtEl>
                                          <p:spTgt spid="45065"/>
                                        </p:tgtEl>
                                        <p:attrNameLst>
                                          <p:attrName>fill.type</p:attrName>
                                        </p:attrNameLst>
                                      </p:cBhvr>
                                      <p:to>
                                        <p:strVal val="solid"/>
                                      </p:to>
                                    </p:set>
                                    <p:set>
                                      <p:cBhvr>
                                        <p:cTn id="8" dur="500" fill="hold"/>
                                        <p:tgtEl>
                                          <p:spTgt spid="45065"/>
                                        </p:tgtEl>
                                        <p:attrNameLst>
                                          <p:attrName>fill.on</p:attrName>
                                        </p:attrNameLst>
                                      </p:cBhvr>
                                      <p:to>
                                        <p:strVal val="tru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511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118"/>
                                        </p:tgtEl>
                                        <p:attrNameLst>
                                          <p:attrName>style.visibility</p:attrName>
                                        </p:attrNameLst>
                                      </p:cBhvr>
                                      <p:to>
                                        <p:strVal val="visible"/>
                                      </p:to>
                                    </p:set>
                                  </p:childTnLst>
                                </p:cTn>
                              </p:par>
                              <p:par>
                                <p:cTn id="17" presetID="1" presetClass="exit" presetSubtype="0" fill="hold" grpId="0" nodeType="withEffect">
                                  <p:stCondLst>
                                    <p:cond delay="0"/>
                                  </p:stCondLst>
                                  <p:childTnLst>
                                    <p:set>
                                      <p:cBhvr>
                                        <p:cTn id="18" dur="1" fill="hold">
                                          <p:stCondLst>
                                            <p:cond delay="0"/>
                                          </p:stCondLst>
                                        </p:cTn>
                                        <p:tgtEl>
                                          <p:spTgt spid="45111"/>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mph" presetSubtype="2" fill="hold" nodeType="clickEffect">
                                  <p:stCondLst>
                                    <p:cond delay="0"/>
                                  </p:stCondLst>
                                  <p:childTnLst>
                                    <p:animClr clrSpc="rgb" dir="cw">
                                      <p:cBhvr>
                                        <p:cTn id="22" dur="500" fill="hold"/>
                                        <p:tgtEl>
                                          <p:spTgt spid="45070"/>
                                        </p:tgtEl>
                                        <p:attrNameLst>
                                          <p:attrName>fillcolor</p:attrName>
                                        </p:attrNameLst>
                                      </p:cBhvr>
                                      <p:to>
                                        <a:srgbClr val="7446B2"/>
                                      </p:to>
                                    </p:animClr>
                                    <p:set>
                                      <p:cBhvr>
                                        <p:cTn id="23" dur="500" fill="hold"/>
                                        <p:tgtEl>
                                          <p:spTgt spid="45070"/>
                                        </p:tgtEl>
                                        <p:attrNameLst>
                                          <p:attrName>fill.type</p:attrName>
                                        </p:attrNameLst>
                                      </p:cBhvr>
                                      <p:to>
                                        <p:strVal val="solid"/>
                                      </p:to>
                                    </p:set>
                                    <p:set>
                                      <p:cBhvr>
                                        <p:cTn id="24" dur="500" fill="hold"/>
                                        <p:tgtEl>
                                          <p:spTgt spid="45070"/>
                                        </p:tgtEl>
                                        <p:attrNameLst>
                                          <p:attrName>fill.on</p:attrName>
                                        </p:attrNameLst>
                                      </p:cBhvr>
                                      <p:to>
                                        <p:strVal val="tru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45119"/>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5121"/>
                                        </p:tgtEl>
                                        <p:attrNameLst>
                                          <p:attrName>style.visibility</p:attrName>
                                        </p:attrNameLst>
                                      </p:cBhvr>
                                      <p:to>
                                        <p:strVal val="visible"/>
                                      </p:to>
                                    </p:set>
                                  </p:childTnLst>
                                </p:cTn>
                              </p:par>
                              <p:par>
                                <p:cTn id="33" presetID="1" presetClass="exit" presetSubtype="0" fill="hold" grpId="0" nodeType="withEffect">
                                  <p:stCondLst>
                                    <p:cond delay="0"/>
                                  </p:stCondLst>
                                  <p:childTnLst>
                                    <p:set>
                                      <p:cBhvr>
                                        <p:cTn id="34" dur="1" fill="hold">
                                          <p:stCondLst>
                                            <p:cond delay="0"/>
                                          </p:stCondLst>
                                        </p:cTn>
                                        <p:tgtEl>
                                          <p:spTgt spid="451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11" grpId="0"/>
      <p:bldP spid="45112" grpId="0"/>
      <p:bldP spid="45118" grpId="0" animBg="1"/>
      <p:bldP spid="451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6E7B897-E31D-47F4-A24F-4B50DAC3C285}"/>
              </a:ext>
            </a:extLst>
          </p:cNvPr>
          <p:cNvSpPr>
            <a:spLocks noGrp="1" noChangeArrowheads="1"/>
          </p:cNvSpPr>
          <p:nvPr>
            <p:ph type="title"/>
          </p:nvPr>
        </p:nvSpPr>
        <p:spPr/>
        <p:txBody>
          <a:bodyPr/>
          <a:lstStyle/>
          <a:p>
            <a:pPr eaLnBrk="1" hangingPunct="1"/>
            <a:r>
              <a:rPr lang="zh-CN" altLang="en-US"/>
              <a:t>最短路线问题</a:t>
            </a:r>
            <a:r>
              <a:rPr lang="en-US" altLang="zh-CN"/>
              <a:t>-</a:t>
            </a:r>
            <a:r>
              <a:rPr lang="zh-CN" altLang="en-US"/>
              <a:t>多阶段决策</a:t>
            </a:r>
          </a:p>
        </p:txBody>
      </p:sp>
      <p:sp>
        <p:nvSpPr>
          <p:cNvPr id="11267" name="Rectangle 3">
            <a:extLst>
              <a:ext uri="{FF2B5EF4-FFF2-40B4-BE49-F238E27FC236}">
                <a16:creationId xmlns:a16="http://schemas.microsoft.com/office/drawing/2014/main" id="{453C4E5C-E96E-447A-B799-340D3352D2F6}"/>
              </a:ext>
            </a:extLst>
          </p:cNvPr>
          <p:cNvSpPr>
            <a:spLocks noGrp="1" noChangeArrowheads="1"/>
          </p:cNvSpPr>
          <p:nvPr>
            <p:ph type="body" idx="1"/>
          </p:nvPr>
        </p:nvSpPr>
        <p:spPr>
          <a:xfrm>
            <a:off x="457200" y="1143000"/>
            <a:ext cx="8229600" cy="5454650"/>
          </a:xfrm>
        </p:spPr>
        <p:txBody>
          <a:bodyPr/>
          <a:lstStyle/>
          <a:p>
            <a:pPr eaLnBrk="1" hangingPunct="1"/>
            <a:r>
              <a:rPr lang="en-US" altLang="zh-CN"/>
              <a:t>C</a:t>
            </a:r>
            <a:r>
              <a:rPr lang="en-US" altLang="zh-CN" baseline="-25000"/>
              <a:t>1</a:t>
            </a:r>
            <a:r>
              <a:rPr lang="zh-CN" altLang="en-US"/>
              <a:t>、</a:t>
            </a:r>
            <a:r>
              <a:rPr lang="en-US" altLang="zh-CN"/>
              <a:t>C</a:t>
            </a:r>
            <a:r>
              <a:rPr lang="en-US" altLang="zh-CN" baseline="-25000"/>
              <a:t>2 </a:t>
            </a:r>
            <a:r>
              <a:rPr lang="zh-CN" altLang="en-US"/>
              <a:t>、</a:t>
            </a:r>
            <a:r>
              <a:rPr lang="en-US" altLang="zh-CN"/>
              <a:t>C</a:t>
            </a:r>
            <a:r>
              <a:rPr lang="en-US" altLang="zh-CN" baseline="-25000"/>
              <a:t>3 </a:t>
            </a:r>
            <a:r>
              <a:rPr lang="zh-CN" altLang="en-US"/>
              <a:t>到 </a:t>
            </a:r>
            <a:r>
              <a:rPr lang="en-US" altLang="zh-CN"/>
              <a:t>E </a:t>
            </a:r>
            <a:r>
              <a:rPr lang="zh-CN" altLang="en-US"/>
              <a:t>的最短线路</a:t>
            </a:r>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lvl="1" eaLnBrk="1" hangingPunct="1"/>
            <a:r>
              <a:rPr lang="zh-CN" altLang="en-US"/>
              <a:t>加法：</a:t>
            </a:r>
            <a:r>
              <a:rPr lang="en-US" altLang="zh-CN"/>
              <a:t>0+</a:t>
            </a:r>
            <a:r>
              <a:rPr lang="en-US" altLang="zh-CN">
                <a:solidFill>
                  <a:srgbClr val="FF0000"/>
                </a:solidFill>
              </a:rPr>
              <a:t>6 </a:t>
            </a:r>
            <a:r>
              <a:rPr lang="zh-CN" altLang="en-US"/>
              <a:t>次                   比较：</a:t>
            </a:r>
            <a:r>
              <a:rPr lang="en-US" altLang="zh-CN"/>
              <a:t>0+</a:t>
            </a:r>
            <a:r>
              <a:rPr lang="en-US" altLang="zh-CN">
                <a:solidFill>
                  <a:srgbClr val="FF0000"/>
                </a:solidFill>
              </a:rPr>
              <a:t>3</a:t>
            </a:r>
            <a:r>
              <a:rPr lang="en-US" altLang="zh-CN"/>
              <a:t> </a:t>
            </a:r>
            <a:r>
              <a:rPr lang="zh-CN" altLang="en-US"/>
              <a:t>次</a:t>
            </a:r>
          </a:p>
        </p:txBody>
      </p:sp>
      <p:sp>
        <p:nvSpPr>
          <p:cNvPr id="46084" name="Oval 4">
            <a:extLst>
              <a:ext uri="{FF2B5EF4-FFF2-40B4-BE49-F238E27FC236}">
                <a16:creationId xmlns:a16="http://schemas.microsoft.com/office/drawing/2014/main" id="{C6ABB1EB-180E-4585-82DA-40C95D52FC34}"/>
              </a:ext>
            </a:extLst>
          </p:cNvPr>
          <p:cNvSpPr>
            <a:spLocks noChangeArrowheads="1"/>
          </p:cNvSpPr>
          <p:nvPr/>
        </p:nvSpPr>
        <p:spPr bwMode="auto">
          <a:xfrm>
            <a:off x="4406900" y="2166938"/>
            <a:ext cx="508000" cy="557212"/>
          </a:xfrm>
          <a:prstGeom prst="ellipse">
            <a:avLst/>
          </a:prstGeom>
          <a:solidFill>
            <a:schemeClr val="folHlink"/>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1</a:t>
            </a:r>
          </a:p>
        </p:txBody>
      </p:sp>
      <p:sp>
        <p:nvSpPr>
          <p:cNvPr id="46085" name="Oval 5">
            <a:extLst>
              <a:ext uri="{FF2B5EF4-FFF2-40B4-BE49-F238E27FC236}">
                <a16:creationId xmlns:a16="http://schemas.microsoft.com/office/drawing/2014/main" id="{AD0ACD37-DF33-4381-94E9-859D46BA72F7}"/>
              </a:ext>
            </a:extLst>
          </p:cNvPr>
          <p:cNvSpPr>
            <a:spLocks noChangeArrowheads="1"/>
          </p:cNvSpPr>
          <p:nvPr/>
        </p:nvSpPr>
        <p:spPr bwMode="auto">
          <a:xfrm>
            <a:off x="4430713" y="468471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3</a:t>
            </a:r>
            <a:endParaRPr lang="en-US" altLang="zh-CN"/>
          </a:p>
        </p:txBody>
      </p:sp>
      <p:sp>
        <p:nvSpPr>
          <p:cNvPr id="11270" name="Oval 6">
            <a:extLst>
              <a:ext uri="{FF2B5EF4-FFF2-40B4-BE49-F238E27FC236}">
                <a16:creationId xmlns:a16="http://schemas.microsoft.com/office/drawing/2014/main" id="{B24F16A1-C8B4-4372-856D-C5CCD9315C9C}"/>
              </a:ext>
            </a:extLst>
          </p:cNvPr>
          <p:cNvSpPr>
            <a:spLocks noChangeArrowheads="1"/>
          </p:cNvSpPr>
          <p:nvPr/>
        </p:nvSpPr>
        <p:spPr bwMode="auto">
          <a:xfrm>
            <a:off x="6016625" y="2803525"/>
            <a:ext cx="509588" cy="558800"/>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1</a:t>
            </a:r>
          </a:p>
        </p:txBody>
      </p:sp>
      <p:sp>
        <p:nvSpPr>
          <p:cNvPr id="11271" name="Oval 7">
            <a:extLst>
              <a:ext uri="{FF2B5EF4-FFF2-40B4-BE49-F238E27FC236}">
                <a16:creationId xmlns:a16="http://schemas.microsoft.com/office/drawing/2014/main" id="{3D70031D-125E-4A41-ADB4-72D44AF8F571}"/>
              </a:ext>
            </a:extLst>
          </p:cNvPr>
          <p:cNvSpPr>
            <a:spLocks noChangeArrowheads="1"/>
          </p:cNvSpPr>
          <p:nvPr/>
        </p:nvSpPr>
        <p:spPr bwMode="auto">
          <a:xfrm>
            <a:off x="1187450" y="34305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A</a:t>
            </a:r>
          </a:p>
        </p:txBody>
      </p:sp>
      <p:sp>
        <p:nvSpPr>
          <p:cNvPr id="11272" name="Oval 8">
            <a:extLst>
              <a:ext uri="{FF2B5EF4-FFF2-40B4-BE49-F238E27FC236}">
                <a16:creationId xmlns:a16="http://schemas.microsoft.com/office/drawing/2014/main" id="{A4A50AB5-B061-4916-8F7A-64CC2F037267}"/>
              </a:ext>
            </a:extLst>
          </p:cNvPr>
          <p:cNvSpPr>
            <a:spLocks noChangeArrowheads="1"/>
          </p:cNvSpPr>
          <p:nvPr/>
        </p:nvSpPr>
        <p:spPr bwMode="auto">
          <a:xfrm>
            <a:off x="2611438" y="22066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1</a:t>
            </a:r>
            <a:endParaRPr lang="en-US" altLang="zh-CN"/>
          </a:p>
        </p:txBody>
      </p:sp>
      <p:sp>
        <p:nvSpPr>
          <p:cNvPr id="11273" name="Oval 9">
            <a:extLst>
              <a:ext uri="{FF2B5EF4-FFF2-40B4-BE49-F238E27FC236}">
                <a16:creationId xmlns:a16="http://schemas.microsoft.com/office/drawing/2014/main" id="{232E275C-F3B1-45BB-BEEA-2ABFAF3662C0}"/>
              </a:ext>
            </a:extLst>
          </p:cNvPr>
          <p:cNvSpPr>
            <a:spLocks noChangeArrowheads="1"/>
          </p:cNvSpPr>
          <p:nvPr/>
        </p:nvSpPr>
        <p:spPr bwMode="auto">
          <a:xfrm>
            <a:off x="2628900" y="46767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3</a:t>
            </a:r>
            <a:endParaRPr lang="en-US" altLang="zh-CN"/>
          </a:p>
        </p:txBody>
      </p:sp>
      <p:sp>
        <p:nvSpPr>
          <p:cNvPr id="11274" name="Oval 10">
            <a:extLst>
              <a:ext uri="{FF2B5EF4-FFF2-40B4-BE49-F238E27FC236}">
                <a16:creationId xmlns:a16="http://schemas.microsoft.com/office/drawing/2014/main" id="{6BE611E0-34BA-4807-B64A-E6355CFA8D0D}"/>
              </a:ext>
            </a:extLst>
          </p:cNvPr>
          <p:cNvSpPr>
            <a:spLocks noChangeArrowheads="1"/>
          </p:cNvSpPr>
          <p:nvPr/>
        </p:nvSpPr>
        <p:spPr bwMode="auto">
          <a:xfrm>
            <a:off x="2628900" y="344170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2</a:t>
            </a:r>
            <a:endParaRPr lang="en-US" altLang="zh-CN"/>
          </a:p>
        </p:txBody>
      </p:sp>
      <p:sp>
        <p:nvSpPr>
          <p:cNvPr id="11275" name="Oval 11">
            <a:extLst>
              <a:ext uri="{FF2B5EF4-FFF2-40B4-BE49-F238E27FC236}">
                <a16:creationId xmlns:a16="http://schemas.microsoft.com/office/drawing/2014/main" id="{D3F57D92-C729-4EA6-B375-BFA8FA421356}"/>
              </a:ext>
            </a:extLst>
          </p:cNvPr>
          <p:cNvSpPr>
            <a:spLocks noChangeArrowheads="1"/>
          </p:cNvSpPr>
          <p:nvPr/>
        </p:nvSpPr>
        <p:spPr bwMode="auto">
          <a:xfrm>
            <a:off x="6029325" y="4071938"/>
            <a:ext cx="508000" cy="558800"/>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2</a:t>
            </a:r>
            <a:endParaRPr lang="en-US" altLang="zh-CN"/>
          </a:p>
        </p:txBody>
      </p:sp>
      <p:sp>
        <p:nvSpPr>
          <p:cNvPr id="11276" name="Oval 12">
            <a:extLst>
              <a:ext uri="{FF2B5EF4-FFF2-40B4-BE49-F238E27FC236}">
                <a16:creationId xmlns:a16="http://schemas.microsoft.com/office/drawing/2014/main" id="{8ADBBFD5-9AB6-47EF-905B-ACB044CADCB8}"/>
              </a:ext>
            </a:extLst>
          </p:cNvPr>
          <p:cNvSpPr>
            <a:spLocks noChangeArrowheads="1"/>
          </p:cNvSpPr>
          <p:nvPr/>
        </p:nvSpPr>
        <p:spPr bwMode="auto">
          <a:xfrm>
            <a:off x="7375525" y="343376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E</a:t>
            </a:r>
            <a:endParaRPr lang="en-US" altLang="zh-CN"/>
          </a:p>
        </p:txBody>
      </p:sp>
      <p:sp>
        <p:nvSpPr>
          <p:cNvPr id="46093" name="Oval 13">
            <a:extLst>
              <a:ext uri="{FF2B5EF4-FFF2-40B4-BE49-F238E27FC236}">
                <a16:creationId xmlns:a16="http://schemas.microsoft.com/office/drawing/2014/main" id="{55B31016-F6F6-446C-8EE9-F7745D144B71}"/>
              </a:ext>
            </a:extLst>
          </p:cNvPr>
          <p:cNvSpPr>
            <a:spLocks noChangeArrowheads="1"/>
          </p:cNvSpPr>
          <p:nvPr/>
        </p:nvSpPr>
        <p:spPr bwMode="auto">
          <a:xfrm>
            <a:off x="4406900" y="340836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2</a:t>
            </a:r>
            <a:endParaRPr lang="en-US" altLang="zh-CN"/>
          </a:p>
        </p:txBody>
      </p:sp>
      <p:sp>
        <p:nvSpPr>
          <p:cNvPr id="11278" name="Line 14">
            <a:extLst>
              <a:ext uri="{FF2B5EF4-FFF2-40B4-BE49-F238E27FC236}">
                <a16:creationId xmlns:a16="http://schemas.microsoft.com/office/drawing/2014/main" id="{9AFE562C-4FF6-45B4-BCBC-E280C02DA1DB}"/>
              </a:ext>
            </a:extLst>
          </p:cNvPr>
          <p:cNvSpPr>
            <a:spLocks noChangeShapeType="1"/>
          </p:cNvSpPr>
          <p:nvPr/>
        </p:nvSpPr>
        <p:spPr bwMode="auto">
          <a:xfrm flipV="1">
            <a:off x="1622425" y="260508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9" name="Line 15">
            <a:extLst>
              <a:ext uri="{FF2B5EF4-FFF2-40B4-BE49-F238E27FC236}">
                <a16:creationId xmlns:a16="http://schemas.microsoft.com/office/drawing/2014/main" id="{18438AC9-9388-4DF3-A8FB-6F3185F9E3A7}"/>
              </a:ext>
            </a:extLst>
          </p:cNvPr>
          <p:cNvSpPr>
            <a:spLocks noChangeShapeType="1"/>
          </p:cNvSpPr>
          <p:nvPr/>
        </p:nvSpPr>
        <p:spPr bwMode="auto">
          <a:xfrm flipV="1">
            <a:off x="1695450" y="372110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0" name="Line 16">
            <a:extLst>
              <a:ext uri="{FF2B5EF4-FFF2-40B4-BE49-F238E27FC236}">
                <a16:creationId xmlns:a16="http://schemas.microsoft.com/office/drawing/2014/main" id="{670939C7-C456-4E7D-95B8-50D341A1F194}"/>
              </a:ext>
            </a:extLst>
          </p:cNvPr>
          <p:cNvSpPr>
            <a:spLocks noChangeShapeType="1"/>
          </p:cNvSpPr>
          <p:nvPr/>
        </p:nvSpPr>
        <p:spPr bwMode="auto">
          <a:xfrm>
            <a:off x="3148013" y="372110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1" name="Line 17">
            <a:extLst>
              <a:ext uri="{FF2B5EF4-FFF2-40B4-BE49-F238E27FC236}">
                <a16:creationId xmlns:a16="http://schemas.microsoft.com/office/drawing/2014/main" id="{FE401979-6C62-4621-8CD8-FC46F65993B3}"/>
              </a:ext>
            </a:extLst>
          </p:cNvPr>
          <p:cNvSpPr>
            <a:spLocks noChangeShapeType="1"/>
          </p:cNvSpPr>
          <p:nvPr/>
        </p:nvSpPr>
        <p:spPr bwMode="auto">
          <a:xfrm>
            <a:off x="1622425" y="391477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2" name="Line 18">
            <a:extLst>
              <a:ext uri="{FF2B5EF4-FFF2-40B4-BE49-F238E27FC236}">
                <a16:creationId xmlns:a16="http://schemas.microsoft.com/office/drawing/2014/main" id="{6112CA39-0065-4BEB-A95A-2E89773F15F0}"/>
              </a:ext>
            </a:extLst>
          </p:cNvPr>
          <p:cNvSpPr>
            <a:spLocks noChangeShapeType="1"/>
          </p:cNvSpPr>
          <p:nvPr/>
        </p:nvSpPr>
        <p:spPr bwMode="auto">
          <a:xfrm flipV="1">
            <a:off x="3148013" y="242570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3" name="Line 19">
            <a:extLst>
              <a:ext uri="{FF2B5EF4-FFF2-40B4-BE49-F238E27FC236}">
                <a16:creationId xmlns:a16="http://schemas.microsoft.com/office/drawing/2014/main" id="{EA5DFC98-3429-4B30-A6C1-3CBDA242FFE3}"/>
              </a:ext>
            </a:extLst>
          </p:cNvPr>
          <p:cNvSpPr>
            <a:spLocks noChangeShapeType="1"/>
          </p:cNvSpPr>
          <p:nvPr/>
        </p:nvSpPr>
        <p:spPr bwMode="auto">
          <a:xfrm>
            <a:off x="3148013" y="499586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4" name="Line 20">
            <a:extLst>
              <a:ext uri="{FF2B5EF4-FFF2-40B4-BE49-F238E27FC236}">
                <a16:creationId xmlns:a16="http://schemas.microsoft.com/office/drawing/2014/main" id="{D327A234-4F7E-4C71-A5C3-E2B6059E7B3A}"/>
              </a:ext>
            </a:extLst>
          </p:cNvPr>
          <p:cNvSpPr>
            <a:spLocks noChangeShapeType="1"/>
          </p:cNvSpPr>
          <p:nvPr/>
        </p:nvSpPr>
        <p:spPr bwMode="auto">
          <a:xfrm>
            <a:off x="4914900" y="245268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5" name="Line 21">
            <a:extLst>
              <a:ext uri="{FF2B5EF4-FFF2-40B4-BE49-F238E27FC236}">
                <a16:creationId xmlns:a16="http://schemas.microsoft.com/office/drawing/2014/main" id="{7C432A5E-4AE4-4F0F-99C4-66C6EB0DB024}"/>
              </a:ext>
            </a:extLst>
          </p:cNvPr>
          <p:cNvSpPr>
            <a:spLocks noChangeShapeType="1"/>
          </p:cNvSpPr>
          <p:nvPr/>
        </p:nvSpPr>
        <p:spPr bwMode="auto">
          <a:xfrm>
            <a:off x="6513513" y="319563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6" name="Line 22">
            <a:extLst>
              <a:ext uri="{FF2B5EF4-FFF2-40B4-BE49-F238E27FC236}">
                <a16:creationId xmlns:a16="http://schemas.microsoft.com/office/drawing/2014/main" id="{2133C6BC-62E5-4EA7-A32E-20BEFB626D71}"/>
              </a:ext>
            </a:extLst>
          </p:cNvPr>
          <p:cNvSpPr>
            <a:spLocks noChangeShapeType="1"/>
          </p:cNvSpPr>
          <p:nvPr/>
        </p:nvSpPr>
        <p:spPr bwMode="auto">
          <a:xfrm flipV="1">
            <a:off x="4914900" y="447040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7" name="Line 23">
            <a:extLst>
              <a:ext uri="{FF2B5EF4-FFF2-40B4-BE49-F238E27FC236}">
                <a16:creationId xmlns:a16="http://schemas.microsoft.com/office/drawing/2014/main" id="{85530F27-9109-4DEA-A172-9CFC03700777}"/>
              </a:ext>
            </a:extLst>
          </p:cNvPr>
          <p:cNvSpPr>
            <a:spLocks noChangeShapeType="1"/>
          </p:cNvSpPr>
          <p:nvPr/>
        </p:nvSpPr>
        <p:spPr bwMode="auto">
          <a:xfrm flipV="1">
            <a:off x="6513513" y="385921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8" name="Line 24">
            <a:extLst>
              <a:ext uri="{FF2B5EF4-FFF2-40B4-BE49-F238E27FC236}">
                <a16:creationId xmlns:a16="http://schemas.microsoft.com/office/drawing/2014/main" id="{15456E8C-F78C-47B1-A12F-3141C9B62956}"/>
              </a:ext>
            </a:extLst>
          </p:cNvPr>
          <p:cNvSpPr>
            <a:spLocks noChangeShapeType="1"/>
          </p:cNvSpPr>
          <p:nvPr/>
        </p:nvSpPr>
        <p:spPr bwMode="auto">
          <a:xfrm flipV="1">
            <a:off x="4891088" y="314325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 name="Line 25">
            <a:extLst>
              <a:ext uri="{FF2B5EF4-FFF2-40B4-BE49-F238E27FC236}">
                <a16:creationId xmlns:a16="http://schemas.microsoft.com/office/drawing/2014/main" id="{499B6E34-E621-43E4-A700-99B444FA9260}"/>
              </a:ext>
            </a:extLst>
          </p:cNvPr>
          <p:cNvSpPr>
            <a:spLocks noChangeShapeType="1"/>
          </p:cNvSpPr>
          <p:nvPr/>
        </p:nvSpPr>
        <p:spPr bwMode="auto">
          <a:xfrm>
            <a:off x="4867275" y="383381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 name="Line 26">
            <a:extLst>
              <a:ext uri="{FF2B5EF4-FFF2-40B4-BE49-F238E27FC236}">
                <a16:creationId xmlns:a16="http://schemas.microsoft.com/office/drawing/2014/main" id="{263E67A5-DA84-46D1-8285-35E00B7EF03A}"/>
              </a:ext>
            </a:extLst>
          </p:cNvPr>
          <p:cNvSpPr>
            <a:spLocks noChangeShapeType="1"/>
          </p:cNvSpPr>
          <p:nvPr/>
        </p:nvSpPr>
        <p:spPr bwMode="auto">
          <a:xfrm>
            <a:off x="3074988" y="258445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 name="Line 27">
            <a:extLst>
              <a:ext uri="{FF2B5EF4-FFF2-40B4-BE49-F238E27FC236}">
                <a16:creationId xmlns:a16="http://schemas.microsoft.com/office/drawing/2014/main" id="{0678C55C-8C12-4244-AE82-75B49A2CEEB3}"/>
              </a:ext>
            </a:extLst>
          </p:cNvPr>
          <p:cNvSpPr>
            <a:spLocks noChangeShapeType="1"/>
          </p:cNvSpPr>
          <p:nvPr/>
        </p:nvSpPr>
        <p:spPr bwMode="auto">
          <a:xfrm>
            <a:off x="3027363" y="271780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2" name="Line 28">
            <a:extLst>
              <a:ext uri="{FF2B5EF4-FFF2-40B4-BE49-F238E27FC236}">
                <a16:creationId xmlns:a16="http://schemas.microsoft.com/office/drawing/2014/main" id="{53023F46-227F-48BF-BD4D-BD14660D345A}"/>
              </a:ext>
            </a:extLst>
          </p:cNvPr>
          <p:cNvSpPr>
            <a:spLocks noChangeShapeType="1"/>
          </p:cNvSpPr>
          <p:nvPr/>
        </p:nvSpPr>
        <p:spPr bwMode="auto">
          <a:xfrm flipV="1">
            <a:off x="3074988" y="258445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3" name="Line 29">
            <a:extLst>
              <a:ext uri="{FF2B5EF4-FFF2-40B4-BE49-F238E27FC236}">
                <a16:creationId xmlns:a16="http://schemas.microsoft.com/office/drawing/2014/main" id="{437CB2CB-1616-4773-AC04-2EECAF7B4EE6}"/>
              </a:ext>
            </a:extLst>
          </p:cNvPr>
          <p:cNvSpPr>
            <a:spLocks noChangeShapeType="1"/>
          </p:cNvSpPr>
          <p:nvPr/>
        </p:nvSpPr>
        <p:spPr bwMode="auto">
          <a:xfrm>
            <a:off x="3100388" y="388620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4" name="Line 30">
            <a:extLst>
              <a:ext uri="{FF2B5EF4-FFF2-40B4-BE49-F238E27FC236}">
                <a16:creationId xmlns:a16="http://schemas.microsoft.com/office/drawing/2014/main" id="{AAA9C900-A204-45F8-90AA-C492D7289275}"/>
              </a:ext>
            </a:extLst>
          </p:cNvPr>
          <p:cNvSpPr>
            <a:spLocks noChangeShapeType="1"/>
          </p:cNvSpPr>
          <p:nvPr/>
        </p:nvSpPr>
        <p:spPr bwMode="auto">
          <a:xfrm flipV="1">
            <a:off x="3051175" y="268446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5" name="Line 31">
            <a:extLst>
              <a:ext uri="{FF2B5EF4-FFF2-40B4-BE49-F238E27FC236}">
                <a16:creationId xmlns:a16="http://schemas.microsoft.com/office/drawing/2014/main" id="{B44263CB-3418-4649-8F88-9B58FFA47EE3}"/>
              </a:ext>
            </a:extLst>
          </p:cNvPr>
          <p:cNvSpPr>
            <a:spLocks noChangeShapeType="1"/>
          </p:cNvSpPr>
          <p:nvPr/>
        </p:nvSpPr>
        <p:spPr bwMode="auto">
          <a:xfrm flipV="1">
            <a:off x="3148013" y="380682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6" name="Line 32">
            <a:extLst>
              <a:ext uri="{FF2B5EF4-FFF2-40B4-BE49-F238E27FC236}">
                <a16:creationId xmlns:a16="http://schemas.microsoft.com/office/drawing/2014/main" id="{C232DED4-DA02-498E-A129-4AA839FCC3A5}"/>
              </a:ext>
            </a:extLst>
          </p:cNvPr>
          <p:cNvSpPr>
            <a:spLocks noChangeShapeType="1"/>
          </p:cNvSpPr>
          <p:nvPr/>
        </p:nvSpPr>
        <p:spPr bwMode="auto">
          <a:xfrm>
            <a:off x="4843463" y="263842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 name="Line 33">
            <a:extLst>
              <a:ext uri="{FF2B5EF4-FFF2-40B4-BE49-F238E27FC236}">
                <a16:creationId xmlns:a16="http://schemas.microsoft.com/office/drawing/2014/main" id="{72822943-F875-46DA-9E33-C5A226A248F5}"/>
              </a:ext>
            </a:extLst>
          </p:cNvPr>
          <p:cNvSpPr>
            <a:spLocks noChangeShapeType="1"/>
          </p:cNvSpPr>
          <p:nvPr/>
        </p:nvSpPr>
        <p:spPr bwMode="auto">
          <a:xfrm flipV="1">
            <a:off x="4867275" y="330200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8" name="Text Box 34">
            <a:extLst>
              <a:ext uri="{FF2B5EF4-FFF2-40B4-BE49-F238E27FC236}">
                <a16:creationId xmlns:a16="http://schemas.microsoft.com/office/drawing/2014/main" id="{49507729-A5A0-4162-B844-C85980C9674D}"/>
              </a:ext>
            </a:extLst>
          </p:cNvPr>
          <p:cNvSpPr txBox="1">
            <a:spLocks noChangeArrowheads="1"/>
          </p:cNvSpPr>
          <p:nvPr/>
        </p:nvSpPr>
        <p:spPr bwMode="auto">
          <a:xfrm>
            <a:off x="1849438" y="29130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a:t>
            </a:r>
          </a:p>
        </p:txBody>
      </p:sp>
      <p:sp>
        <p:nvSpPr>
          <p:cNvPr id="11299" name="Text Box 35">
            <a:extLst>
              <a:ext uri="{FF2B5EF4-FFF2-40B4-BE49-F238E27FC236}">
                <a16:creationId xmlns:a16="http://schemas.microsoft.com/office/drawing/2014/main" id="{DA6F0900-C840-4263-8EDA-D346F5CACBDC}"/>
              </a:ext>
            </a:extLst>
          </p:cNvPr>
          <p:cNvSpPr txBox="1">
            <a:spLocks noChangeArrowheads="1"/>
          </p:cNvSpPr>
          <p:nvPr/>
        </p:nvSpPr>
        <p:spPr bwMode="auto">
          <a:xfrm>
            <a:off x="1835150" y="3489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5</a:t>
            </a:r>
          </a:p>
        </p:txBody>
      </p:sp>
      <p:sp>
        <p:nvSpPr>
          <p:cNvPr id="11300" name="Text Box 36">
            <a:extLst>
              <a:ext uri="{FF2B5EF4-FFF2-40B4-BE49-F238E27FC236}">
                <a16:creationId xmlns:a16="http://schemas.microsoft.com/office/drawing/2014/main" id="{E34FEC51-D733-4AAF-A586-B3FE43336906}"/>
              </a:ext>
            </a:extLst>
          </p:cNvPr>
          <p:cNvSpPr txBox="1">
            <a:spLocks noChangeArrowheads="1"/>
          </p:cNvSpPr>
          <p:nvPr/>
        </p:nvSpPr>
        <p:spPr bwMode="auto">
          <a:xfrm>
            <a:off x="1768475" y="42322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a:t>
            </a:r>
          </a:p>
        </p:txBody>
      </p:sp>
      <p:sp>
        <p:nvSpPr>
          <p:cNvPr id="11301" name="Text Box 37">
            <a:extLst>
              <a:ext uri="{FF2B5EF4-FFF2-40B4-BE49-F238E27FC236}">
                <a16:creationId xmlns:a16="http://schemas.microsoft.com/office/drawing/2014/main" id="{C48D7165-E98C-4623-857F-0A3131329C06}"/>
              </a:ext>
            </a:extLst>
          </p:cNvPr>
          <p:cNvSpPr txBox="1">
            <a:spLocks noChangeArrowheads="1"/>
          </p:cNvSpPr>
          <p:nvPr/>
        </p:nvSpPr>
        <p:spPr bwMode="auto">
          <a:xfrm>
            <a:off x="3360738" y="213360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12</a:t>
            </a:r>
            <a:endParaRPr lang="en-US" altLang="zh-CN" b="1"/>
          </a:p>
        </p:txBody>
      </p:sp>
      <p:sp>
        <p:nvSpPr>
          <p:cNvPr id="11302" name="Text Box 38">
            <a:extLst>
              <a:ext uri="{FF2B5EF4-FFF2-40B4-BE49-F238E27FC236}">
                <a16:creationId xmlns:a16="http://schemas.microsoft.com/office/drawing/2014/main" id="{D3D975A0-6C5A-44B6-A499-355DA34E7D06}"/>
              </a:ext>
            </a:extLst>
          </p:cNvPr>
          <p:cNvSpPr txBox="1">
            <a:spLocks noChangeArrowheads="1"/>
          </p:cNvSpPr>
          <p:nvPr/>
        </p:nvSpPr>
        <p:spPr bwMode="auto">
          <a:xfrm>
            <a:off x="3294063" y="25320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14</a:t>
            </a:r>
          </a:p>
        </p:txBody>
      </p:sp>
      <p:sp>
        <p:nvSpPr>
          <p:cNvPr id="11303" name="Text Box 39">
            <a:extLst>
              <a:ext uri="{FF2B5EF4-FFF2-40B4-BE49-F238E27FC236}">
                <a16:creationId xmlns:a16="http://schemas.microsoft.com/office/drawing/2014/main" id="{CACA966D-D9F4-4528-BF1E-1AE46972E08D}"/>
              </a:ext>
            </a:extLst>
          </p:cNvPr>
          <p:cNvSpPr txBox="1">
            <a:spLocks noChangeArrowheads="1"/>
          </p:cNvSpPr>
          <p:nvPr/>
        </p:nvSpPr>
        <p:spPr bwMode="auto">
          <a:xfrm>
            <a:off x="3073400" y="287655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10</a:t>
            </a:r>
          </a:p>
        </p:txBody>
      </p:sp>
      <p:sp>
        <p:nvSpPr>
          <p:cNvPr id="11304" name="Text Box 40">
            <a:extLst>
              <a:ext uri="{FF2B5EF4-FFF2-40B4-BE49-F238E27FC236}">
                <a16:creationId xmlns:a16="http://schemas.microsoft.com/office/drawing/2014/main" id="{4B16E7B7-1660-4EE1-868E-11D3CC6B7BC4}"/>
              </a:ext>
            </a:extLst>
          </p:cNvPr>
          <p:cNvSpPr txBox="1">
            <a:spLocks noChangeArrowheads="1"/>
          </p:cNvSpPr>
          <p:nvPr/>
        </p:nvSpPr>
        <p:spPr bwMode="auto">
          <a:xfrm>
            <a:off x="3100388" y="31956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6</a:t>
            </a:r>
          </a:p>
        </p:txBody>
      </p:sp>
      <p:sp>
        <p:nvSpPr>
          <p:cNvPr id="11305" name="Text Box 41">
            <a:extLst>
              <a:ext uri="{FF2B5EF4-FFF2-40B4-BE49-F238E27FC236}">
                <a16:creationId xmlns:a16="http://schemas.microsoft.com/office/drawing/2014/main" id="{207056D0-40DE-4F45-88BE-396779037750}"/>
              </a:ext>
            </a:extLst>
          </p:cNvPr>
          <p:cNvSpPr txBox="1">
            <a:spLocks noChangeArrowheads="1"/>
          </p:cNvSpPr>
          <p:nvPr/>
        </p:nvSpPr>
        <p:spPr bwMode="auto">
          <a:xfrm>
            <a:off x="3221038" y="36210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10</a:t>
            </a:r>
          </a:p>
        </p:txBody>
      </p:sp>
      <p:sp>
        <p:nvSpPr>
          <p:cNvPr id="11306" name="Text Box 42">
            <a:extLst>
              <a:ext uri="{FF2B5EF4-FFF2-40B4-BE49-F238E27FC236}">
                <a16:creationId xmlns:a16="http://schemas.microsoft.com/office/drawing/2014/main" id="{F292CF3B-18E5-4455-9B7A-33DB52C85088}"/>
              </a:ext>
            </a:extLst>
          </p:cNvPr>
          <p:cNvSpPr txBox="1">
            <a:spLocks noChangeArrowheads="1"/>
          </p:cNvSpPr>
          <p:nvPr/>
        </p:nvSpPr>
        <p:spPr bwMode="auto">
          <a:xfrm>
            <a:off x="3074988" y="399256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4</a:t>
            </a:r>
          </a:p>
        </p:txBody>
      </p:sp>
      <p:sp>
        <p:nvSpPr>
          <p:cNvPr id="11307" name="Text Box 43">
            <a:extLst>
              <a:ext uri="{FF2B5EF4-FFF2-40B4-BE49-F238E27FC236}">
                <a16:creationId xmlns:a16="http://schemas.microsoft.com/office/drawing/2014/main" id="{E0FF28F7-4FA2-48D9-A443-0BC48D4258AE}"/>
              </a:ext>
            </a:extLst>
          </p:cNvPr>
          <p:cNvSpPr txBox="1">
            <a:spLocks noChangeArrowheads="1"/>
          </p:cNvSpPr>
          <p:nvPr/>
        </p:nvSpPr>
        <p:spPr bwMode="auto">
          <a:xfrm>
            <a:off x="3001963" y="43386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13</a:t>
            </a:r>
          </a:p>
        </p:txBody>
      </p:sp>
      <p:sp>
        <p:nvSpPr>
          <p:cNvPr id="11308" name="Text Box 44">
            <a:extLst>
              <a:ext uri="{FF2B5EF4-FFF2-40B4-BE49-F238E27FC236}">
                <a16:creationId xmlns:a16="http://schemas.microsoft.com/office/drawing/2014/main" id="{39FB8496-611F-413F-AD2F-4118B6D25195}"/>
              </a:ext>
            </a:extLst>
          </p:cNvPr>
          <p:cNvSpPr txBox="1">
            <a:spLocks noChangeArrowheads="1"/>
          </p:cNvSpPr>
          <p:nvPr/>
        </p:nvSpPr>
        <p:spPr bwMode="auto">
          <a:xfrm>
            <a:off x="3221038" y="505460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11</a:t>
            </a:r>
          </a:p>
        </p:txBody>
      </p:sp>
      <p:sp>
        <p:nvSpPr>
          <p:cNvPr id="11309" name="Text Box 45">
            <a:extLst>
              <a:ext uri="{FF2B5EF4-FFF2-40B4-BE49-F238E27FC236}">
                <a16:creationId xmlns:a16="http://schemas.microsoft.com/office/drawing/2014/main" id="{3C200146-7520-42A8-AF0C-9F1ABA4F008F}"/>
              </a:ext>
            </a:extLst>
          </p:cNvPr>
          <p:cNvSpPr txBox="1">
            <a:spLocks noChangeArrowheads="1"/>
          </p:cNvSpPr>
          <p:nvPr/>
        </p:nvSpPr>
        <p:spPr bwMode="auto">
          <a:xfrm>
            <a:off x="3268663" y="460375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12</a:t>
            </a:r>
          </a:p>
        </p:txBody>
      </p:sp>
      <p:sp>
        <p:nvSpPr>
          <p:cNvPr id="46126" name="Text Box 46">
            <a:extLst>
              <a:ext uri="{FF2B5EF4-FFF2-40B4-BE49-F238E27FC236}">
                <a16:creationId xmlns:a16="http://schemas.microsoft.com/office/drawing/2014/main" id="{65AD23F0-92B3-4C64-8294-E7D3762FB077}"/>
              </a:ext>
            </a:extLst>
          </p:cNvPr>
          <p:cNvSpPr txBox="1">
            <a:spLocks noChangeArrowheads="1"/>
          </p:cNvSpPr>
          <p:nvPr/>
        </p:nvSpPr>
        <p:spPr bwMode="auto">
          <a:xfrm>
            <a:off x="5084763" y="221297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3</a:t>
            </a:r>
          </a:p>
        </p:txBody>
      </p:sp>
      <p:sp>
        <p:nvSpPr>
          <p:cNvPr id="46127" name="Text Box 47">
            <a:extLst>
              <a:ext uri="{FF2B5EF4-FFF2-40B4-BE49-F238E27FC236}">
                <a16:creationId xmlns:a16="http://schemas.microsoft.com/office/drawing/2014/main" id="{8E6085A8-E813-4E1E-8F65-2766D3985D82}"/>
              </a:ext>
            </a:extLst>
          </p:cNvPr>
          <p:cNvSpPr txBox="1">
            <a:spLocks noChangeArrowheads="1"/>
          </p:cNvSpPr>
          <p:nvPr/>
        </p:nvSpPr>
        <p:spPr bwMode="auto">
          <a:xfrm>
            <a:off x="4867275" y="27971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9</a:t>
            </a:r>
          </a:p>
        </p:txBody>
      </p:sp>
      <p:sp>
        <p:nvSpPr>
          <p:cNvPr id="46128" name="Text Box 48">
            <a:extLst>
              <a:ext uri="{FF2B5EF4-FFF2-40B4-BE49-F238E27FC236}">
                <a16:creationId xmlns:a16="http://schemas.microsoft.com/office/drawing/2014/main" id="{F5B37798-745E-4795-9DF0-E1F91C576806}"/>
              </a:ext>
            </a:extLst>
          </p:cNvPr>
          <p:cNvSpPr txBox="1">
            <a:spLocks noChangeArrowheads="1"/>
          </p:cNvSpPr>
          <p:nvPr/>
        </p:nvSpPr>
        <p:spPr bwMode="auto">
          <a:xfrm>
            <a:off x="5011738" y="31956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6</a:t>
            </a:r>
          </a:p>
        </p:txBody>
      </p:sp>
      <p:sp>
        <p:nvSpPr>
          <p:cNvPr id="46129" name="Text Box 49">
            <a:extLst>
              <a:ext uri="{FF2B5EF4-FFF2-40B4-BE49-F238E27FC236}">
                <a16:creationId xmlns:a16="http://schemas.microsoft.com/office/drawing/2014/main" id="{2CAD99DF-5765-4E24-AE14-1F86208EBBCA}"/>
              </a:ext>
            </a:extLst>
          </p:cNvPr>
          <p:cNvSpPr txBox="1">
            <a:spLocks noChangeArrowheads="1"/>
          </p:cNvSpPr>
          <p:nvPr/>
        </p:nvSpPr>
        <p:spPr bwMode="auto">
          <a:xfrm>
            <a:off x="5011738" y="388620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5</a:t>
            </a:r>
          </a:p>
        </p:txBody>
      </p:sp>
      <p:sp>
        <p:nvSpPr>
          <p:cNvPr id="46130" name="Text Box 50">
            <a:extLst>
              <a:ext uri="{FF2B5EF4-FFF2-40B4-BE49-F238E27FC236}">
                <a16:creationId xmlns:a16="http://schemas.microsoft.com/office/drawing/2014/main" id="{10B9C10D-C447-4E76-A7FC-901E609E8A33}"/>
              </a:ext>
            </a:extLst>
          </p:cNvPr>
          <p:cNvSpPr txBox="1">
            <a:spLocks noChangeArrowheads="1"/>
          </p:cNvSpPr>
          <p:nvPr/>
        </p:nvSpPr>
        <p:spPr bwMode="auto">
          <a:xfrm>
            <a:off x="4943475" y="436562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8</a:t>
            </a:r>
          </a:p>
        </p:txBody>
      </p:sp>
      <p:sp>
        <p:nvSpPr>
          <p:cNvPr id="46131" name="Text Box 51">
            <a:extLst>
              <a:ext uri="{FF2B5EF4-FFF2-40B4-BE49-F238E27FC236}">
                <a16:creationId xmlns:a16="http://schemas.microsoft.com/office/drawing/2014/main" id="{C825C6A6-AF1C-4755-92CA-314B68240752}"/>
              </a:ext>
            </a:extLst>
          </p:cNvPr>
          <p:cNvSpPr txBox="1">
            <a:spLocks noChangeArrowheads="1"/>
          </p:cNvSpPr>
          <p:nvPr/>
        </p:nvSpPr>
        <p:spPr bwMode="auto">
          <a:xfrm>
            <a:off x="5018088" y="47259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10</a:t>
            </a:r>
          </a:p>
        </p:txBody>
      </p:sp>
      <p:sp>
        <p:nvSpPr>
          <p:cNvPr id="11316" name="Line 54">
            <a:extLst>
              <a:ext uri="{FF2B5EF4-FFF2-40B4-BE49-F238E27FC236}">
                <a16:creationId xmlns:a16="http://schemas.microsoft.com/office/drawing/2014/main" id="{FB6EEF86-C64A-4F8E-B87A-0D7CB9761BBF}"/>
              </a:ext>
            </a:extLst>
          </p:cNvPr>
          <p:cNvSpPr>
            <a:spLocks noChangeShapeType="1"/>
          </p:cNvSpPr>
          <p:nvPr/>
        </p:nvSpPr>
        <p:spPr bwMode="auto">
          <a:xfrm>
            <a:off x="6516688" y="3194050"/>
            <a:ext cx="895350" cy="4524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7" name="Text Box 55">
            <a:extLst>
              <a:ext uri="{FF2B5EF4-FFF2-40B4-BE49-F238E27FC236}">
                <a16:creationId xmlns:a16="http://schemas.microsoft.com/office/drawing/2014/main" id="{F4D05C33-A072-45CD-BB9E-387AAA72FBE8}"/>
              </a:ext>
            </a:extLst>
          </p:cNvPr>
          <p:cNvSpPr txBox="1">
            <a:spLocks noChangeArrowheads="1"/>
          </p:cNvSpPr>
          <p:nvPr/>
        </p:nvSpPr>
        <p:spPr bwMode="auto">
          <a:xfrm>
            <a:off x="6156325" y="24225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5</a:t>
            </a:r>
          </a:p>
        </p:txBody>
      </p:sp>
      <p:sp>
        <p:nvSpPr>
          <p:cNvPr id="11318" name="Line 56">
            <a:extLst>
              <a:ext uri="{FF2B5EF4-FFF2-40B4-BE49-F238E27FC236}">
                <a16:creationId xmlns:a16="http://schemas.microsoft.com/office/drawing/2014/main" id="{C2F93F55-7006-4095-B5F0-C9B36F20C5D5}"/>
              </a:ext>
            </a:extLst>
          </p:cNvPr>
          <p:cNvSpPr>
            <a:spLocks noChangeShapeType="1"/>
          </p:cNvSpPr>
          <p:nvPr/>
        </p:nvSpPr>
        <p:spPr bwMode="auto">
          <a:xfrm flipV="1">
            <a:off x="6516688" y="3862388"/>
            <a:ext cx="919162" cy="3984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9" name="Text Box 57">
            <a:extLst>
              <a:ext uri="{FF2B5EF4-FFF2-40B4-BE49-F238E27FC236}">
                <a16:creationId xmlns:a16="http://schemas.microsoft.com/office/drawing/2014/main" id="{B9A467CC-6CE1-4FDB-9643-B1665423FA59}"/>
              </a:ext>
            </a:extLst>
          </p:cNvPr>
          <p:cNvSpPr txBox="1">
            <a:spLocks noChangeArrowheads="1"/>
          </p:cNvSpPr>
          <p:nvPr/>
        </p:nvSpPr>
        <p:spPr bwMode="auto">
          <a:xfrm>
            <a:off x="6156325" y="37179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a:t>
            </a:r>
          </a:p>
        </p:txBody>
      </p:sp>
      <p:sp>
        <p:nvSpPr>
          <p:cNvPr id="46138" name="Line 58">
            <a:extLst>
              <a:ext uri="{FF2B5EF4-FFF2-40B4-BE49-F238E27FC236}">
                <a16:creationId xmlns:a16="http://schemas.microsoft.com/office/drawing/2014/main" id="{A299E95F-2D21-4B9F-86A2-41A4F8E29F49}"/>
              </a:ext>
            </a:extLst>
          </p:cNvPr>
          <p:cNvSpPr>
            <a:spLocks noChangeShapeType="1"/>
          </p:cNvSpPr>
          <p:nvPr/>
        </p:nvSpPr>
        <p:spPr bwMode="auto">
          <a:xfrm>
            <a:off x="4932363" y="2468563"/>
            <a:ext cx="1114425" cy="5302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9" name="Text Box 59">
            <a:extLst>
              <a:ext uri="{FF2B5EF4-FFF2-40B4-BE49-F238E27FC236}">
                <a16:creationId xmlns:a16="http://schemas.microsoft.com/office/drawing/2014/main" id="{A395763F-7A8F-48CC-9CC3-7D8C027A11C2}"/>
              </a:ext>
            </a:extLst>
          </p:cNvPr>
          <p:cNvSpPr txBox="1">
            <a:spLocks noChangeArrowheads="1"/>
          </p:cNvSpPr>
          <p:nvPr/>
        </p:nvSpPr>
        <p:spPr bwMode="auto">
          <a:xfrm>
            <a:off x="4500563" y="1773238"/>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8</a:t>
            </a:r>
          </a:p>
        </p:txBody>
      </p:sp>
      <p:sp>
        <p:nvSpPr>
          <p:cNvPr id="46140" name="Line 60">
            <a:extLst>
              <a:ext uri="{FF2B5EF4-FFF2-40B4-BE49-F238E27FC236}">
                <a16:creationId xmlns:a16="http://schemas.microsoft.com/office/drawing/2014/main" id="{57E93B3F-C664-4373-9873-5FD1FD4F0CC0}"/>
              </a:ext>
            </a:extLst>
          </p:cNvPr>
          <p:cNvSpPr>
            <a:spLocks noChangeShapeType="1"/>
          </p:cNvSpPr>
          <p:nvPr/>
        </p:nvSpPr>
        <p:spPr bwMode="auto">
          <a:xfrm>
            <a:off x="4859338" y="3816350"/>
            <a:ext cx="1112837" cy="4778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1" name="Text Box 61">
            <a:extLst>
              <a:ext uri="{FF2B5EF4-FFF2-40B4-BE49-F238E27FC236}">
                <a16:creationId xmlns:a16="http://schemas.microsoft.com/office/drawing/2014/main" id="{1D106F71-66FC-493C-B0ED-918B19B7D535}"/>
              </a:ext>
            </a:extLst>
          </p:cNvPr>
          <p:cNvSpPr txBox="1">
            <a:spLocks noChangeArrowheads="1"/>
          </p:cNvSpPr>
          <p:nvPr/>
        </p:nvSpPr>
        <p:spPr bwMode="auto">
          <a:xfrm>
            <a:off x="4500563" y="3055938"/>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7</a:t>
            </a:r>
          </a:p>
        </p:txBody>
      </p:sp>
      <p:sp>
        <p:nvSpPr>
          <p:cNvPr id="46142" name="Line 62">
            <a:extLst>
              <a:ext uri="{FF2B5EF4-FFF2-40B4-BE49-F238E27FC236}">
                <a16:creationId xmlns:a16="http://schemas.microsoft.com/office/drawing/2014/main" id="{6B752D41-ED9D-43A1-BE43-45E593C27EAF}"/>
              </a:ext>
            </a:extLst>
          </p:cNvPr>
          <p:cNvSpPr>
            <a:spLocks noChangeShapeType="1"/>
          </p:cNvSpPr>
          <p:nvPr/>
        </p:nvSpPr>
        <p:spPr bwMode="auto">
          <a:xfrm flipV="1">
            <a:off x="4932363" y="4445000"/>
            <a:ext cx="1138237" cy="42545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3" name="Text Box 63">
            <a:extLst>
              <a:ext uri="{FF2B5EF4-FFF2-40B4-BE49-F238E27FC236}">
                <a16:creationId xmlns:a16="http://schemas.microsoft.com/office/drawing/2014/main" id="{DC6FC6C9-FC92-473A-952F-B5D84471EEB5}"/>
              </a:ext>
            </a:extLst>
          </p:cNvPr>
          <p:cNvSpPr txBox="1">
            <a:spLocks noChangeArrowheads="1"/>
          </p:cNvSpPr>
          <p:nvPr/>
        </p:nvSpPr>
        <p:spPr bwMode="auto">
          <a:xfrm>
            <a:off x="4584700" y="4294188"/>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mph" presetSubtype="2" fill="hold" nodeType="clickEffect">
                                  <p:stCondLst>
                                    <p:cond delay="0"/>
                                  </p:stCondLst>
                                  <p:childTnLst>
                                    <p:animClr clrSpc="rgb" dir="cw">
                                      <p:cBhvr>
                                        <p:cTn id="6" dur="500" fill="hold"/>
                                        <p:tgtEl>
                                          <p:spTgt spid="46084"/>
                                        </p:tgtEl>
                                        <p:attrNameLst>
                                          <p:attrName>fillcolor</p:attrName>
                                        </p:attrNameLst>
                                      </p:cBhvr>
                                      <p:to>
                                        <a:srgbClr val="7446B2"/>
                                      </p:to>
                                    </p:animClr>
                                    <p:set>
                                      <p:cBhvr>
                                        <p:cTn id="7" dur="500" fill="hold"/>
                                        <p:tgtEl>
                                          <p:spTgt spid="46084"/>
                                        </p:tgtEl>
                                        <p:attrNameLst>
                                          <p:attrName>fill.type</p:attrName>
                                        </p:attrNameLst>
                                      </p:cBhvr>
                                      <p:to>
                                        <p:strVal val="solid"/>
                                      </p:to>
                                    </p:set>
                                    <p:set>
                                      <p:cBhvr>
                                        <p:cTn id="8" dur="500" fill="hold"/>
                                        <p:tgtEl>
                                          <p:spTgt spid="46084"/>
                                        </p:tgtEl>
                                        <p:attrNameLst>
                                          <p:attrName>fill.on</p:attrName>
                                        </p:attrNameLst>
                                      </p:cBhvr>
                                      <p:to>
                                        <p:strVal val="tru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61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139"/>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46126"/>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46127"/>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mph" presetSubtype="2" fill="hold" nodeType="clickEffect">
                                  <p:stCondLst>
                                    <p:cond delay="0"/>
                                  </p:stCondLst>
                                  <p:childTnLst>
                                    <p:animClr clrSpc="rgb" dir="cw">
                                      <p:cBhvr>
                                        <p:cTn id="22" dur="500" fill="hold"/>
                                        <p:tgtEl>
                                          <p:spTgt spid="46093"/>
                                        </p:tgtEl>
                                        <p:attrNameLst>
                                          <p:attrName>fillcolor</p:attrName>
                                        </p:attrNameLst>
                                      </p:cBhvr>
                                      <p:to>
                                        <a:srgbClr val="7446B2"/>
                                      </p:to>
                                    </p:animClr>
                                    <p:set>
                                      <p:cBhvr>
                                        <p:cTn id="23" dur="500" fill="hold"/>
                                        <p:tgtEl>
                                          <p:spTgt spid="46093"/>
                                        </p:tgtEl>
                                        <p:attrNameLst>
                                          <p:attrName>fill.type</p:attrName>
                                        </p:attrNameLst>
                                      </p:cBhvr>
                                      <p:to>
                                        <p:strVal val="solid"/>
                                      </p:to>
                                    </p:set>
                                    <p:set>
                                      <p:cBhvr>
                                        <p:cTn id="24" dur="500" fill="hold"/>
                                        <p:tgtEl>
                                          <p:spTgt spid="46093"/>
                                        </p:tgtEl>
                                        <p:attrNameLst>
                                          <p:attrName>fill.on</p:attrName>
                                        </p:attrNameLst>
                                      </p:cBhvr>
                                      <p:to>
                                        <p:strVal val="tru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461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141"/>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46128"/>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46129"/>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mph" presetSubtype="2" fill="hold" nodeType="clickEffect">
                                  <p:stCondLst>
                                    <p:cond delay="0"/>
                                  </p:stCondLst>
                                  <p:childTnLst>
                                    <p:animClr clrSpc="rgb" dir="cw">
                                      <p:cBhvr>
                                        <p:cTn id="38" dur="500" fill="hold"/>
                                        <p:tgtEl>
                                          <p:spTgt spid="46085"/>
                                        </p:tgtEl>
                                        <p:attrNameLst>
                                          <p:attrName>fillcolor</p:attrName>
                                        </p:attrNameLst>
                                      </p:cBhvr>
                                      <p:to>
                                        <a:srgbClr val="7446B2"/>
                                      </p:to>
                                    </p:animClr>
                                    <p:set>
                                      <p:cBhvr>
                                        <p:cTn id="39" dur="500" fill="hold"/>
                                        <p:tgtEl>
                                          <p:spTgt spid="46085"/>
                                        </p:tgtEl>
                                        <p:attrNameLst>
                                          <p:attrName>fill.type</p:attrName>
                                        </p:attrNameLst>
                                      </p:cBhvr>
                                      <p:to>
                                        <p:strVal val="solid"/>
                                      </p:to>
                                    </p:set>
                                    <p:set>
                                      <p:cBhvr>
                                        <p:cTn id="40" dur="500" fill="hold"/>
                                        <p:tgtEl>
                                          <p:spTgt spid="46085"/>
                                        </p:tgtEl>
                                        <p:attrNameLst>
                                          <p:attrName>fill.on</p:attrName>
                                        </p:attrNameLst>
                                      </p:cBhvr>
                                      <p:to>
                                        <p:strVal val="tru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461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6143"/>
                                        </p:tgtEl>
                                        <p:attrNameLst>
                                          <p:attrName>style.visibility</p:attrName>
                                        </p:attrNameLst>
                                      </p:cBhvr>
                                      <p:to>
                                        <p:strVal val="visible"/>
                                      </p:to>
                                    </p:set>
                                  </p:childTnLst>
                                </p:cTn>
                              </p:par>
                              <p:par>
                                <p:cTn id="47" presetID="1" presetClass="exit" presetSubtype="0" fill="hold" grpId="0" nodeType="withEffect">
                                  <p:stCondLst>
                                    <p:cond delay="0"/>
                                  </p:stCondLst>
                                  <p:childTnLst>
                                    <p:set>
                                      <p:cBhvr>
                                        <p:cTn id="48" dur="1" fill="hold">
                                          <p:stCondLst>
                                            <p:cond delay="0"/>
                                          </p:stCondLst>
                                        </p:cTn>
                                        <p:tgtEl>
                                          <p:spTgt spid="46131"/>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461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26" grpId="0"/>
      <p:bldP spid="46127" grpId="0"/>
      <p:bldP spid="46128" grpId="0"/>
      <p:bldP spid="46129" grpId="0"/>
      <p:bldP spid="46130" grpId="0"/>
      <p:bldP spid="46131" grpId="0"/>
      <p:bldP spid="46139" grpId="0" animBg="1"/>
      <p:bldP spid="46141" grpId="0" animBg="1"/>
      <p:bldP spid="461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6ADF025-5F4F-4E42-B702-79FDB8BD1A26}"/>
              </a:ext>
            </a:extLst>
          </p:cNvPr>
          <p:cNvSpPr>
            <a:spLocks noGrp="1" noChangeArrowheads="1"/>
          </p:cNvSpPr>
          <p:nvPr>
            <p:ph type="title"/>
          </p:nvPr>
        </p:nvSpPr>
        <p:spPr/>
        <p:txBody>
          <a:bodyPr/>
          <a:lstStyle/>
          <a:p>
            <a:pPr eaLnBrk="1" hangingPunct="1"/>
            <a:r>
              <a:rPr lang="zh-CN" altLang="en-US"/>
              <a:t>最短路线问题</a:t>
            </a:r>
            <a:r>
              <a:rPr lang="en-US" altLang="zh-CN"/>
              <a:t>-</a:t>
            </a:r>
            <a:r>
              <a:rPr lang="zh-CN" altLang="en-US"/>
              <a:t>多阶段决策</a:t>
            </a:r>
          </a:p>
        </p:txBody>
      </p:sp>
      <p:sp>
        <p:nvSpPr>
          <p:cNvPr id="13315" name="Rectangle 3">
            <a:extLst>
              <a:ext uri="{FF2B5EF4-FFF2-40B4-BE49-F238E27FC236}">
                <a16:creationId xmlns:a16="http://schemas.microsoft.com/office/drawing/2014/main" id="{0B1A30A3-5C7B-4EBC-B063-4D76A2A0633A}"/>
              </a:ext>
            </a:extLst>
          </p:cNvPr>
          <p:cNvSpPr>
            <a:spLocks noGrp="1" noChangeArrowheads="1"/>
          </p:cNvSpPr>
          <p:nvPr>
            <p:ph type="body" idx="1"/>
          </p:nvPr>
        </p:nvSpPr>
        <p:spPr>
          <a:xfrm>
            <a:off x="457200" y="1143000"/>
            <a:ext cx="8229600" cy="5381625"/>
          </a:xfrm>
        </p:spPr>
        <p:txBody>
          <a:bodyPr/>
          <a:lstStyle/>
          <a:p>
            <a:pPr eaLnBrk="1" hangingPunct="1"/>
            <a:r>
              <a:rPr lang="en-US" altLang="zh-CN"/>
              <a:t>B</a:t>
            </a:r>
            <a:r>
              <a:rPr lang="en-US" altLang="zh-CN" baseline="-25000"/>
              <a:t>1</a:t>
            </a:r>
            <a:r>
              <a:rPr lang="zh-CN" altLang="en-US"/>
              <a:t>、</a:t>
            </a:r>
            <a:r>
              <a:rPr lang="en-US" altLang="zh-CN"/>
              <a:t>B</a:t>
            </a:r>
            <a:r>
              <a:rPr lang="en-US" altLang="zh-CN" baseline="-25000"/>
              <a:t>2 </a:t>
            </a:r>
            <a:r>
              <a:rPr lang="zh-CN" altLang="en-US"/>
              <a:t>、</a:t>
            </a:r>
            <a:r>
              <a:rPr lang="en-US" altLang="zh-CN"/>
              <a:t>B</a:t>
            </a:r>
            <a:r>
              <a:rPr lang="en-US" altLang="zh-CN" baseline="-25000"/>
              <a:t>3 </a:t>
            </a:r>
            <a:r>
              <a:rPr lang="zh-CN" altLang="en-US"/>
              <a:t>到 </a:t>
            </a:r>
            <a:r>
              <a:rPr lang="en-US" altLang="zh-CN"/>
              <a:t>E </a:t>
            </a:r>
            <a:r>
              <a:rPr lang="zh-CN" altLang="en-US"/>
              <a:t>的最短线路</a:t>
            </a:r>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lvl="1" eaLnBrk="1" hangingPunct="1"/>
            <a:r>
              <a:rPr lang="zh-CN" altLang="en-US"/>
              <a:t>加法：</a:t>
            </a:r>
            <a:r>
              <a:rPr lang="en-US" altLang="zh-CN"/>
              <a:t>0+6+</a:t>
            </a:r>
            <a:r>
              <a:rPr lang="en-US" altLang="zh-CN">
                <a:solidFill>
                  <a:srgbClr val="FF0000"/>
                </a:solidFill>
              </a:rPr>
              <a:t>9</a:t>
            </a:r>
            <a:r>
              <a:rPr lang="en-US" altLang="zh-CN"/>
              <a:t> </a:t>
            </a:r>
            <a:r>
              <a:rPr lang="zh-CN" altLang="en-US"/>
              <a:t>次          比较：</a:t>
            </a:r>
            <a:r>
              <a:rPr lang="en-US" altLang="zh-CN"/>
              <a:t>0+3+</a:t>
            </a:r>
            <a:r>
              <a:rPr lang="en-US" altLang="zh-CN">
                <a:solidFill>
                  <a:srgbClr val="FF0000"/>
                </a:solidFill>
              </a:rPr>
              <a:t>6</a:t>
            </a:r>
            <a:r>
              <a:rPr lang="en-US" altLang="zh-CN"/>
              <a:t> </a:t>
            </a:r>
            <a:r>
              <a:rPr lang="zh-CN" altLang="en-US"/>
              <a:t>次</a:t>
            </a:r>
          </a:p>
        </p:txBody>
      </p:sp>
      <p:sp>
        <p:nvSpPr>
          <p:cNvPr id="13316" name="Oval 4">
            <a:extLst>
              <a:ext uri="{FF2B5EF4-FFF2-40B4-BE49-F238E27FC236}">
                <a16:creationId xmlns:a16="http://schemas.microsoft.com/office/drawing/2014/main" id="{2CAB9743-D6E0-4B7D-9BA8-CB824A477A1D}"/>
              </a:ext>
            </a:extLst>
          </p:cNvPr>
          <p:cNvSpPr>
            <a:spLocks noChangeArrowheads="1"/>
          </p:cNvSpPr>
          <p:nvPr/>
        </p:nvSpPr>
        <p:spPr bwMode="auto">
          <a:xfrm>
            <a:off x="4406900" y="2166938"/>
            <a:ext cx="508000" cy="557212"/>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1</a:t>
            </a:r>
          </a:p>
        </p:txBody>
      </p:sp>
      <p:sp>
        <p:nvSpPr>
          <p:cNvPr id="13317" name="Oval 5">
            <a:extLst>
              <a:ext uri="{FF2B5EF4-FFF2-40B4-BE49-F238E27FC236}">
                <a16:creationId xmlns:a16="http://schemas.microsoft.com/office/drawing/2014/main" id="{E6843F91-4217-4733-B31E-F0D06F0C6303}"/>
              </a:ext>
            </a:extLst>
          </p:cNvPr>
          <p:cNvSpPr>
            <a:spLocks noChangeArrowheads="1"/>
          </p:cNvSpPr>
          <p:nvPr/>
        </p:nvSpPr>
        <p:spPr bwMode="auto">
          <a:xfrm>
            <a:off x="4430713" y="4684713"/>
            <a:ext cx="509587" cy="557212"/>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3</a:t>
            </a:r>
            <a:endParaRPr lang="en-US" altLang="zh-CN"/>
          </a:p>
        </p:txBody>
      </p:sp>
      <p:sp>
        <p:nvSpPr>
          <p:cNvPr id="13318" name="Oval 6">
            <a:extLst>
              <a:ext uri="{FF2B5EF4-FFF2-40B4-BE49-F238E27FC236}">
                <a16:creationId xmlns:a16="http://schemas.microsoft.com/office/drawing/2014/main" id="{FA6FA5FF-9688-497B-872E-6CDE9A02AB69}"/>
              </a:ext>
            </a:extLst>
          </p:cNvPr>
          <p:cNvSpPr>
            <a:spLocks noChangeArrowheads="1"/>
          </p:cNvSpPr>
          <p:nvPr/>
        </p:nvSpPr>
        <p:spPr bwMode="auto">
          <a:xfrm>
            <a:off x="6016625" y="2803525"/>
            <a:ext cx="509588" cy="558800"/>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1</a:t>
            </a:r>
          </a:p>
        </p:txBody>
      </p:sp>
      <p:sp>
        <p:nvSpPr>
          <p:cNvPr id="13319" name="Oval 7">
            <a:extLst>
              <a:ext uri="{FF2B5EF4-FFF2-40B4-BE49-F238E27FC236}">
                <a16:creationId xmlns:a16="http://schemas.microsoft.com/office/drawing/2014/main" id="{7CDA0BFD-1DA0-422E-8C3D-1A8454DAE986}"/>
              </a:ext>
            </a:extLst>
          </p:cNvPr>
          <p:cNvSpPr>
            <a:spLocks noChangeArrowheads="1"/>
          </p:cNvSpPr>
          <p:nvPr/>
        </p:nvSpPr>
        <p:spPr bwMode="auto">
          <a:xfrm>
            <a:off x="1187450" y="34305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A</a:t>
            </a:r>
          </a:p>
        </p:txBody>
      </p:sp>
      <p:sp>
        <p:nvSpPr>
          <p:cNvPr id="47112" name="Oval 8">
            <a:extLst>
              <a:ext uri="{FF2B5EF4-FFF2-40B4-BE49-F238E27FC236}">
                <a16:creationId xmlns:a16="http://schemas.microsoft.com/office/drawing/2014/main" id="{DEA92FD0-D2FB-452E-9AE0-0B8E7108A914}"/>
              </a:ext>
            </a:extLst>
          </p:cNvPr>
          <p:cNvSpPr>
            <a:spLocks noChangeArrowheads="1"/>
          </p:cNvSpPr>
          <p:nvPr/>
        </p:nvSpPr>
        <p:spPr bwMode="auto">
          <a:xfrm>
            <a:off x="2611438" y="22066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1</a:t>
            </a:r>
            <a:endParaRPr lang="en-US" altLang="zh-CN"/>
          </a:p>
        </p:txBody>
      </p:sp>
      <p:sp>
        <p:nvSpPr>
          <p:cNvPr id="47113" name="Oval 9">
            <a:extLst>
              <a:ext uri="{FF2B5EF4-FFF2-40B4-BE49-F238E27FC236}">
                <a16:creationId xmlns:a16="http://schemas.microsoft.com/office/drawing/2014/main" id="{61677838-A998-4328-A38D-45DC956F71BC}"/>
              </a:ext>
            </a:extLst>
          </p:cNvPr>
          <p:cNvSpPr>
            <a:spLocks noChangeArrowheads="1"/>
          </p:cNvSpPr>
          <p:nvPr/>
        </p:nvSpPr>
        <p:spPr bwMode="auto">
          <a:xfrm>
            <a:off x="2628900" y="46767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3</a:t>
            </a:r>
            <a:endParaRPr lang="en-US" altLang="zh-CN"/>
          </a:p>
        </p:txBody>
      </p:sp>
      <p:sp>
        <p:nvSpPr>
          <p:cNvPr id="47114" name="Oval 10">
            <a:extLst>
              <a:ext uri="{FF2B5EF4-FFF2-40B4-BE49-F238E27FC236}">
                <a16:creationId xmlns:a16="http://schemas.microsoft.com/office/drawing/2014/main" id="{58AB334B-035E-467F-9361-30BB703EB6AE}"/>
              </a:ext>
            </a:extLst>
          </p:cNvPr>
          <p:cNvSpPr>
            <a:spLocks noChangeArrowheads="1"/>
          </p:cNvSpPr>
          <p:nvPr/>
        </p:nvSpPr>
        <p:spPr bwMode="auto">
          <a:xfrm>
            <a:off x="2628900" y="344170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2</a:t>
            </a:r>
            <a:endParaRPr lang="en-US" altLang="zh-CN"/>
          </a:p>
        </p:txBody>
      </p:sp>
      <p:sp>
        <p:nvSpPr>
          <p:cNvPr id="13323" name="Oval 11">
            <a:extLst>
              <a:ext uri="{FF2B5EF4-FFF2-40B4-BE49-F238E27FC236}">
                <a16:creationId xmlns:a16="http://schemas.microsoft.com/office/drawing/2014/main" id="{C249361F-FABC-4B75-B746-D7001E80C7EF}"/>
              </a:ext>
            </a:extLst>
          </p:cNvPr>
          <p:cNvSpPr>
            <a:spLocks noChangeArrowheads="1"/>
          </p:cNvSpPr>
          <p:nvPr/>
        </p:nvSpPr>
        <p:spPr bwMode="auto">
          <a:xfrm>
            <a:off x="6029325" y="4071938"/>
            <a:ext cx="508000" cy="558800"/>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2</a:t>
            </a:r>
            <a:endParaRPr lang="en-US" altLang="zh-CN"/>
          </a:p>
        </p:txBody>
      </p:sp>
      <p:sp>
        <p:nvSpPr>
          <p:cNvPr id="13324" name="Oval 12">
            <a:extLst>
              <a:ext uri="{FF2B5EF4-FFF2-40B4-BE49-F238E27FC236}">
                <a16:creationId xmlns:a16="http://schemas.microsoft.com/office/drawing/2014/main" id="{682267AB-175A-4055-81DD-B8707940B163}"/>
              </a:ext>
            </a:extLst>
          </p:cNvPr>
          <p:cNvSpPr>
            <a:spLocks noChangeArrowheads="1"/>
          </p:cNvSpPr>
          <p:nvPr/>
        </p:nvSpPr>
        <p:spPr bwMode="auto">
          <a:xfrm>
            <a:off x="7375525" y="343376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E</a:t>
            </a:r>
            <a:endParaRPr lang="en-US" altLang="zh-CN"/>
          </a:p>
        </p:txBody>
      </p:sp>
      <p:sp>
        <p:nvSpPr>
          <p:cNvPr id="13325" name="Oval 13">
            <a:extLst>
              <a:ext uri="{FF2B5EF4-FFF2-40B4-BE49-F238E27FC236}">
                <a16:creationId xmlns:a16="http://schemas.microsoft.com/office/drawing/2014/main" id="{9ECE2ED0-1B2F-48C4-BC62-02FEF76BE056}"/>
              </a:ext>
            </a:extLst>
          </p:cNvPr>
          <p:cNvSpPr>
            <a:spLocks noChangeArrowheads="1"/>
          </p:cNvSpPr>
          <p:nvPr/>
        </p:nvSpPr>
        <p:spPr bwMode="auto">
          <a:xfrm>
            <a:off x="4406900" y="3408363"/>
            <a:ext cx="508000" cy="557212"/>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2</a:t>
            </a:r>
            <a:endParaRPr lang="en-US" altLang="zh-CN"/>
          </a:p>
        </p:txBody>
      </p:sp>
      <p:sp>
        <p:nvSpPr>
          <p:cNvPr id="13326" name="Line 14">
            <a:extLst>
              <a:ext uri="{FF2B5EF4-FFF2-40B4-BE49-F238E27FC236}">
                <a16:creationId xmlns:a16="http://schemas.microsoft.com/office/drawing/2014/main" id="{1ADA4448-B86B-49A9-A8DC-05E89796517A}"/>
              </a:ext>
            </a:extLst>
          </p:cNvPr>
          <p:cNvSpPr>
            <a:spLocks noChangeShapeType="1"/>
          </p:cNvSpPr>
          <p:nvPr/>
        </p:nvSpPr>
        <p:spPr bwMode="auto">
          <a:xfrm flipV="1">
            <a:off x="1622425" y="260508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7" name="Line 15">
            <a:extLst>
              <a:ext uri="{FF2B5EF4-FFF2-40B4-BE49-F238E27FC236}">
                <a16:creationId xmlns:a16="http://schemas.microsoft.com/office/drawing/2014/main" id="{D3FA8687-BE6D-4166-BDF5-E96288D612A1}"/>
              </a:ext>
            </a:extLst>
          </p:cNvPr>
          <p:cNvSpPr>
            <a:spLocks noChangeShapeType="1"/>
          </p:cNvSpPr>
          <p:nvPr/>
        </p:nvSpPr>
        <p:spPr bwMode="auto">
          <a:xfrm flipV="1">
            <a:off x="1695450" y="372110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8" name="Line 16">
            <a:extLst>
              <a:ext uri="{FF2B5EF4-FFF2-40B4-BE49-F238E27FC236}">
                <a16:creationId xmlns:a16="http://schemas.microsoft.com/office/drawing/2014/main" id="{CEEA5716-4F4B-432B-9559-276BA548B89B}"/>
              </a:ext>
            </a:extLst>
          </p:cNvPr>
          <p:cNvSpPr>
            <a:spLocks noChangeShapeType="1"/>
          </p:cNvSpPr>
          <p:nvPr/>
        </p:nvSpPr>
        <p:spPr bwMode="auto">
          <a:xfrm>
            <a:off x="3148013" y="372110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9" name="Line 17">
            <a:extLst>
              <a:ext uri="{FF2B5EF4-FFF2-40B4-BE49-F238E27FC236}">
                <a16:creationId xmlns:a16="http://schemas.microsoft.com/office/drawing/2014/main" id="{BE03DE69-B40C-4981-87BA-3DAA930FF755}"/>
              </a:ext>
            </a:extLst>
          </p:cNvPr>
          <p:cNvSpPr>
            <a:spLocks noChangeShapeType="1"/>
          </p:cNvSpPr>
          <p:nvPr/>
        </p:nvSpPr>
        <p:spPr bwMode="auto">
          <a:xfrm>
            <a:off x="1622425" y="391477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0" name="Line 18">
            <a:extLst>
              <a:ext uri="{FF2B5EF4-FFF2-40B4-BE49-F238E27FC236}">
                <a16:creationId xmlns:a16="http://schemas.microsoft.com/office/drawing/2014/main" id="{AB71A95A-9EEB-45A9-B054-8262D53ACF6D}"/>
              </a:ext>
            </a:extLst>
          </p:cNvPr>
          <p:cNvSpPr>
            <a:spLocks noChangeShapeType="1"/>
          </p:cNvSpPr>
          <p:nvPr/>
        </p:nvSpPr>
        <p:spPr bwMode="auto">
          <a:xfrm flipV="1">
            <a:off x="3148013" y="242570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1" name="Line 19">
            <a:extLst>
              <a:ext uri="{FF2B5EF4-FFF2-40B4-BE49-F238E27FC236}">
                <a16:creationId xmlns:a16="http://schemas.microsoft.com/office/drawing/2014/main" id="{2384A684-26EB-4BE5-8BA5-C6F36D399FD1}"/>
              </a:ext>
            </a:extLst>
          </p:cNvPr>
          <p:cNvSpPr>
            <a:spLocks noChangeShapeType="1"/>
          </p:cNvSpPr>
          <p:nvPr/>
        </p:nvSpPr>
        <p:spPr bwMode="auto">
          <a:xfrm>
            <a:off x="3148013" y="499586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2" name="Line 20">
            <a:extLst>
              <a:ext uri="{FF2B5EF4-FFF2-40B4-BE49-F238E27FC236}">
                <a16:creationId xmlns:a16="http://schemas.microsoft.com/office/drawing/2014/main" id="{912AEE96-1271-4D37-906B-CAC328186249}"/>
              </a:ext>
            </a:extLst>
          </p:cNvPr>
          <p:cNvSpPr>
            <a:spLocks noChangeShapeType="1"/>
          </p:cNvSpPr>
          <p:nvPr/>
        </p:nvSpPr>
        <p:spPr bwMode="auto">
          <a:xfrm>
            <a:off x="4914900" y="245268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3" name="Line 21">
            <a:extLst>
              <a:ext uri="{FF2B5EF4-FFF2-40B4-BE49-F238E27FC236}">
                <a16:creationId xmlns:a16="http://schemas.microsoft.com/office/drawing/2014/main" id="{921AC827-906B-4F29-AFBE-BAF6978717AB}"/>
              </a:ext>
            </a:extLst>
          </p:cNvPr>
          <p:cNvSpPr>
            <a:spLocks noChangeShapeType="1"/>
          </p:cNvSpPr>
          <p:nvPr/>
        </p:nvSpPr>
        <p:spPr bwMode="auto">
          <a:xfrm>
            <a:off x="6513513" y="319563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4" name="Line 22">
            <a:extLst>
              <a:ext uri="{FF2B5EF4-FFF2-40B4-BE49-F238E27FC236}">
                <a16:creationId xmlns:a16="http://schemas.microsoft.com/office/drawing/2014/main" id="{C7CA346E-F7F5-400B-AF1D-93734A679568}"/>
              </a:ext>
            </a:extLst>
          </p:cNvPr>
          <p:cNvSpPr>
            <a:spLocks noChangeShapeType="1"/>
          </p:cNvSpPr>
          <p:nvPr/>
        </p:nvSpPr>
        <p:spPr bwMode="auto">
          <a:xfrm flipV="1">
            <a:off x="4914900" y="447040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5" name="Line 23">
            <a:extLst>
              <a:ext uri="{FF2B5EF4-FFF2-40B4-BE49-F238E27FC236}">
                <a16:creationId xmlns:a16="http://schemas.microsoft.com/office/drawing/2014/main" id="{1D58F1FB-C172-4335-9DE6-5DD94278C798}"/>
              </a:ext>
            </a:extLst>
          </p:cNvPr>
          <p:cNvSpPr>
            <a:spLocks noChangeShapeType="1"/>
          </p:cNvSpPr>
          <p:nvPr/>
        </p:nvSpPr>
        <p:spPr bwMode="auto">
          <a:xfrm flipV="1">
            <a:off x="6513513" y="385921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6" name="Line 24">
            <a:extLst>
              <a:ext uri="{FF2B5EF4-FFF2-40B4-BE49-F238E27FC236}">
                <a16:creationId xmlns:a16="http://schemas.microsoft.com/office/drawing/2014/main" id="{113B465E-3134-45A0-900C-48C8419E5B5D}"/>
              </a:ext>
            </a:extLst>
          </p:cNvPr>
          <p:cNvSpPr>
            <a:spLocks noChangeShapeType="1"/>
          </p:cNvSpPr>
          <p:nvPr/>
        </p:nvSpPr>
        <p:spPr bwMode="auto">
          <a:xfrm flipV="1">
            <a:off x="4891088" y="314325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 name="Line 25">
            <a:extLst>
              <a:ext uri="{FF2B5EF4-FFF2-40B4-BE49-F238E27FC236}">
                <a16:creationId xmlns:a16="http://schemas.microsoft.com/office/drawing/2014/main" id="{D83E5C05-5C2F-48B5-856B-6A51058190E6}"/>
              </a:ext>
            </a:extLst>
          </p:cNvPr>
          <p:cNvSpPr>
            <a:spLocks noChangeShapeType="1"/>
          </p:cNvSpPr>
          <p:nvPr/>
        </p:nvSpPr>
        <p:spPr bwMode="auto">
          <a:xfrm>
            <a:off x="4867275" y="383381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 name="Line 26">
            <a:extLst>
              <a:ext uri="{FF2B5EF4-FFF2-40B4-BE49-F238E27FC236}">
                <a16:creationId xmlns:a16="http://schemas.microsoft.com/office/drawing/2014/main" id="{B1C9C968-B7F3-4180-95E5-A1FD3AE65C61}"/>
              </a:ext>
            </a:extLst>
          </p:cNvPr>
          <p:cNvSpPr>
            <a:spLocks noChangeShapeType="1"/>
          </p:cNvSpPr>
          <p:nvPr/>
        </p:nvSpPr>
        <p:spPr bwMode="auto">
          <a:xfrm>
            <a:off x="3074988" y="258445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 name="Line 27">
            <a:extLst>
              <a:ext uri="{FF2B5EF4-FFF2-40B4-BE49-F238E27FC236}">
                <a16:creationId xmlns:a16="http://schemas.microsoft.com/office/drawing/2014/main" id="{2F2B0EC3-3983-43B6-8EC2-044323ADF44B}"/>
              </a:ext>
            </a:extLst>
          </p:cNvPr>
          <p:cNvSpPr>
            <a:spLocks noChangeShapeType="1"/>
          </p:cNvSpPr>
          <p:nvPr/>
        </p:nvSpPr>
        <p:spPr bwMode="auto">
          <a:xfrm>
            <a:off x="3027363" y="271780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 name="Line 28">
            <a:extLst>
              <a:ext uri="{FF2B5EF4-FFF2-40B4-BE49-F238E27FC236}">
                <a16:creationId xmlns:a16="http://schemas.microsoft.com/office/drawing/2014/main" id="{26606EDB-91F9-4CBF-B4F0-CE21D065B757}"/>
              </a:ext>
            </a:extLst>
          </p:cNvPr>
          <p:cNvSpPr>
            <a:spLocks noChangeShapeType="1"/>
          </p:cNvSpPr>
          <p:nvPr/>
        </p:nvSpPr>
        <p:spPr bwMode="auto">
          <a:xfrm flipV="1">
            <a:off x="3074988" y="258445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 name="Line 29">
            <a:extLst>
              <a:ext uri="{FF2B5EF4-FFF2-40B4-BE49-F238E27FC236}">
                <a16:creationId xmlns:a16="http://schemas.microsoft.com/office/drawing/2014/main" id="{116C8B2F-2398-4B4B-AE85-C03D91EF3D45}"/>
              </a:ext>
            </a:extLst>
          </p:cNvPr>
          <p:cNvSpPr>
            <a:spLocks noChangeShapeType="1"/>
          </p:cNvSpPr>
          <p:nvPr/>
        </p:nvSpPr>
        <p:spPr bwMode="auto">
          <a:xfrm>
            <a:off x="3100388" y="388620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 name="Line 30">
            <a:extLst>
              <a:ext uri="{FF2B5EF4-FFF2-40B4-BE49-F238E27FC236}">
                <a16:creationId xmlns:a16="http://schemas.microsoft.com/office/drawing/2014/main" id="{EF30DA90-5CE4-48F3-8A3D-660F7591ED97}"/>
              </a:ext>
            </a:extLst>
          </p:cNvPr>
          <p:cNvSpPr>
            <a:spLocks noChangeShapeType="1"/>
          </p:cNvSpPr>
          <p:nvPr/>
        </p:nvSpPr>
        <p:spPr bwMode="auto">
          <a:xfrm flipV="1">
            <a:off x="3051175" y="268446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3" name="Line 31">
            <a:extLst>
              <a:ext uri="{FF2B5EF4-FFF2-40B4-BE49-F238E27FC236}">
                <a16:creationId xmlns:a16="http://schemas.microsoft.com/office/drawing/2014/main" id="{B124766D-ACA8-4BD5-B1A9-570F65A2E42A}"/>
              </a:ext>
            </a:extLst>
          </p:cNvPr>
          <p:cNvSpPr>
            <a:spLocks noChangeShapeType="1"/>
          </p:cNvSpPr>
          <p:nvPr/>
        </p:nvSpPr>
        <p:spPr bwMode="auto">
          <a:xfrm flipV="1">
            <a:off x="3148013" y="380682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4" name="Line 32">
            <a:extLst>
              <a:ext uri="{FF2B5EF4-FFF2-40B4-BE49-F238E27FC236}">
                <a16:creationId xmlns:a16="http://schemas.microsoft.com/office/drawing/2014/main" id="{D4196B14-53E1-4A9E-A68C-016769A892A5}"/>
              </a:ext>
            </a:extLst>
          </p:cNvPr>
          <p:cNvSpPr>
            <a:spLocks noChangeShapeType="1"/>
          </p:cNvSpPr>
          <p:nvPr/>
        </p:nvSpPr>
        <p:spPr bwMode="auto">
          <a:xfrm>
            <a:off x="4843463" y="263842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5" name="Line 33">
            <a:extLst>
              <a:ext uri="{FF2B5EF4-FFF2-40B4-BE49-F238E27FC236}">
                <a16:creationId xmlns:a16="http://schemas.microsoft.com/office/drawing/2014/main" id="{1F63A7DB-D3B6-44BA-B981-2B89466289D7}"/>
              </a:ext>
            </a:extLst>
          </p:cNvPr>
          <p:cNvSpPr>
            <a:spLocks noChangeShapeType="1"/>
          </p:cNvSpPr>
          <p:nvPr/>
        </p:nvSpPr>
        <p:spPr bwMode="auto">
          <a:xfrm flipV="1">
            <a:off x="4867275" y="330200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6" name="Text Box 34">
            <a:extLst>
              <a:ext uri="{FF2B5EF4-FFF2-40B4-BE49-F238E27FC236}">
                <a16:creationId xmlns:a16="http://schemas.microsoft.com/office/drawing/2014/main" id="{6CFD99D2-B002-4772-A9C7-D64678C3E3EB}"/>
              </a:ext>
            </a:extLst>
          </p:cNvPr>
          <p:cNvSpPr txBox="1">
            <a:spLocks noChangeArrowheads="1"/>
          </p:cNvSpPr>
          <p:nvPr/>
        </p:nvSpPr>
        <p:spPr bwMode="auto">
          <a:xfrm>
            <a:off x="1849438" y="29130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a:t>
            </a:r>
          </a:p>
        </p:txBody>
      </p:sp>
      <p:sp>
        <p:nvSpPr>
          <p:cNvPr id="13347" name="Text Box 35">
            <a:extLst>
              <a:ext uri="{FF2B5EF4-FFF2-40B4-BE49-F238E27FC236}">
                <a16:creationId xmlns:a16="http://schemas.microsoft.com/office/drawing/2014/main" id="{E755C983-ADD7-496C-BAFE-D878AD623405}"/>
              </a:ext>
            </a:extLst>
          </p:cNvPr>
          <p:cNvSpPr txBox="1">
            <a:spLocks noChangeArrowheads="1"/>
          </p:cNvSpPr>
          <p:nvPr/>
        </p:nvSpPr>
        <p:spPr bwMode="auto">
          <a:xfrm>
            <a:off x="1835150" y="3489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5</a:t>
            </a:r>
          </a:p>
        </p:txBody>
      </p:sp>
      <p:sp>
        <p:nvSpPr>
          <p:cNvPr id="13348" name="Text Box 36">
            <a:extLst>
              <a:ext uri="{FF2B5EF4-FFF2-40B4-BE49-F238E27FC236}">
                <a16:creationId xmlns:a16="http://schemas.microsoft.com/office/drawing/2014/main" id="{5ED57B0F-1572-4F4F-82CC-F13B52F58DC9}"/>
              </a:ext>
            </a:extLst>
          </p:cNvPr>
          <p:cNvSpPr txBox="1">
            <a:spLocks noChangeArrowheads="1"/>
          </p:cNvSpPr>
          <p:nvPr/>
        </p:nvSpPr>
        <p:spPr bwMode="auto">
          <a:xfrm>
            <a:off x="1768475" y="42322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a:t>
            </a:r>
          </a:p>
        </p:txBody>
      </p:sp>
      <p:sp>
        <p:nvSpPr>
          <p:cNvPr id="47141" name="Text Box 37">
            <a:extLst>
              <a:ext uri="{FF2B5EF4-FFF2-40B4-BE49-F238E27FC236}">
                <a16:creationId xmlns:a16="http://schemas.microsoft.com/office/drawing/2014/main" id="{4211E390-2E0B-4006-A81A-106CA9B095BD}"/>
              </a:ext>
            </a:extLst>
          </p:cNvPr>
          <p:cNvSpPr txBox="1">
            <a:spLocks noChangeArrowheads="1"/>
          </p:cNvSpPr>
          <p:nvPr/>
        </p:nvSpPr>
        <p:spPr bwMode="auto">
          <a:xfrm>
            <a:off x="3360738" y="213360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12</a:t>
            </a:r>
            <a:endParaRPr lang="en-US" altLang="zh-CN" b="1"/>
          </a:p>
        </p:txBody>
      </p:sp>
      <p:sp>
        <p:nvSpPr>
          <p:cNvPr id="47142" name="Text Box 38">
            <a:extLst>
              <a:ext uri="{FF2B5EF4-FFF2-40B4-BE49-F238E27FC236}">
                <a16:creationId xmlns:a16="http://schemas.microsoft.com/office/drawing/2014/main" id="{544C4AFA-81A6-4DFB-AA23-068DDA3CA7E1}"/>
              </a:ext>
            </a:extLst>
          </p:cNvPr>
          <p:cNvSpPr txBox="1">
            <a:spLocks noChangeArrowheads="1"/>
          </p:cNvSpPr>
          <p:nvPr/>
        </p:nvSpPr>
        <p:spPr bwMode="auto">
          <a:xfrm>
            <a:off x="3294063" y="25320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14</a:t>
            </a:r>
          </a:p>
        </p:txBody>
      </p:sp>
      <p:sp>
        <p:nvSpPr>
          <p:cNvPr id="47143" name="Text Box 39">
            <a:extLst>
              <a:ext uri="{FF2B5EF4-FFF2-40B4-BE49-F238E27FC236}">
                <a16:creationId xmlns:a16="http://schemas.microsoft.com/office/drawing/2014/main" id="{D90D3533-94FD-4C92-9F20-D07F35766E15}"/>
              </a:ext>
            </a:extLst>
          </p:cNvPr>
          <p:cNvSpPr txBox="1">
            <a:spLocks noChangeArrowheads="1"/>
          </p:cNvSpPr>
          <p:nvPr/>
        </p:nvSpPr>
        <p:spPr bwMode="auto">
          <a:xfrm>
            <a:off x="3073400" y="287655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10</a:t>
            </a:r>
          </a:p>
        </p:txBody>
      </p:sp>
      <p:sp>
        <p:nvSpPr>
          <p:cNvPr id="47144" name="Text Box 40">
            <a:extLst>
              <a:ext uri="{FF2B5EF4-FFF2-40B4-BE49-F238E27FC236}">
                <a16:creationId xmlns:a16="http://schemas.microsoft.com/office/drawing/2014/main" id="{4CC738C4-58BC-4F25-86A3-0E118BD7F691}"/>
              </a:ext>
            </a:extLst>
          </p:cNvPr>
          <p:cNvSpPr txBox="1">
            <a:spLocks noChangeArrowheads="1"/>
          </p:cNvSpPr>
          <p:nvPr/>
        </p:nvSpPr>
        <p:spPr bwMode="auto">
          <a:xfrm>
            <a:off x="3100388" y="31956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6</a:t>
            </a:r>
          </a:p>
        </p:txBody>
      </p:sp>
      <p:sp>
        <p:nvSpPr>
          <p:cNvPr id="47145" name="Text Box 41">
            <a:extLst>
              <a:ext uri="{FF2B5EF4-FFF2-40B4-BE49-F238E27FC236}">
                <a16:creationId xmlns:a16="http://schemas.microsoft.com/office/drawing/2014/main" id="{619E4DE7-512D-42EF-9864-4DDD72C7807A}"/>
              </a:ext>
            </a:extLst>
          </p:cNvPr>
          <p:cNvSpPr txBox="1">
            <a:spLocks noChangeArrowheads="1"/>
          </p:cNvSpPr>
          <p:nvPr/>
        </p:nvSpPr>
        <p:spPr bwMode="auto">
          <a:xfrm>
            <a:off x="3221038" y="36210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10</a:t>
            </a:r>
          </a:p>
        </p:txBody>
      </p:sp>
      <p:sp>
        <p:nvSpPr>
          <p:cNvPr id="47146" name="Text Box 42">
            <a:extLst>
              <a:ext uri="{FF2B5EF4-FFF2-40B4-BE49-F238E27FC236}">
                <a16:creationId xmlns:a16="http://schemas.microsoft.com/office/drawing/2014/main" id="{63E0E2FD-5A5F-4DF4-A6D4-B062454FFFCA}"/>
              </a:ext>
            </a:extLst>
          </p:cNvPr>
          <p:cNvSpPr txBox="1">
            <a:spLocks noChangeArrowheads="1"/>
          </p:cNvSpPr>
          <p:nvPr/>
        </p:nvSpPr>
        <p:spPr bwMode="auto">
          <a:xfrm>
            <a:off x="3074988" y="399256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4</a:t>
            </a:r>
          </a:p>
        </p:txBody>
      </p:sp>
      <p:sp>
        <p:nvSpPr>
          <p:cNvPr id="47147" name="Text Box 43">
            <a:extLst>
              <a:ext uri="{FF2B5EF4-FFF2-40B4-BE49-F238E27FC236}">
                <a16:creationId xmlns:a16="http://schemas.microsoft.com/office/drawing/2014/main" id="{1601DF2F-CB91-4777-95EA-5A8CE71F0CC0}"/>
              </a:ext>
            </a:extLst>
          </p:cNvPr>
          <p:cNvSpPr txBox="1">
            <a:spLocks noChangeArrowheads="1"/>
          </p:cNvSpPr>
          <p:nvPr/>
        </p:nvSpPr>
        <p:spPr bwMode="auto">
          <a:xfrm>
            <a:off x="3001963" y="43386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13</a:t>
            </a:r>
          </a:p>
        </p:txBody>
      </p:sp>
      <p:sp>
        <p:nvSpPr>
          <p:cNvPr id="47148" name="Text Box 44">
            <a:extLst>
              <a:ext uri="{FF2B5EF4-FFF2-40B4-BE49-F238E27FC236}">
                <a16:creationId xmlns:a16="http://schemas.microsoft.com/office/drawing/2014/main" id="{EDE64C08-61D9-4057-BF40-63DAA2C22A0A}"/>
              </a:ext>
            </a:extLst>
          </p:cNvPr>
          <p:cNvSpPr txBox="1">
            <a:spLocks noChangeArrowheads="1"/>
          </p:cNvSpPr>
          <p:nvPr/>
        </p:nvSpPr>
        <p:spPr bwMode="auto">
          <a:xfrm>
            <a:off x="3221038" y="505460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11</a:t>
            </a:r>
          </a:p>
        </p:txBody>
      </p:sp>
      <p:sp>
        <p:nvSpPr>
          <p:cNvPr id="47149" name="Text Box 45">
            <a:extLst>
              <a:ext uri="{FF2B5EF4-FFF2-40B4-BE49-F238E27FC236}">
                <a16:creationId xmlns:a16="http://schemas.microsoft.com/office/drawing/2014/main" id="{DB34E90C-F81D-4BD6-A568-E4837F455F0E}"/>
              </a:ext>
            </a:extLst>
          </p:cNvPr>
          <p:cNvSpPr txBox="1">
            <a:spLocks noChangeArrowheads="1"/>
          </p:cNvSpPr>
          <p:nvPr/>
        </p:nvSpPr>
        <p:spPr bwMode="auto">
          <a:xfrm>
            <a:off x="3268663" y="460375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rPr>
              <a:t>12</a:t>
            </a:r>
          </a:p>
        </p:txBody>
      </p:sp>
      <p:sp>
        <p:nvSpPr>
          <p:cNvPr id="13358" name="Line 52">
            <a:extLst>
              <a:ext uri="{FF2B5EF4-FFF2-40B4-BE49-F238E27FC236}">
                <a16:creationId xmlns:a16="http://schemas.microsoft.com/office/drawing/2014/main" id="{B9F5E4A7-CA51-4019-8E47-754F241FBF24}"/>
              </a:ext>
            </a:extLst>
          </p:cNvPr>
          <p:cNvSpPr>
            <a:spLocks noChangeShapeType="1"/>
          </p:cNvSpPr>
          <p:nvPr/>
        </p:nvSpPr>
        <p:spPr bwMode="auto">
          <a:xfrm>
            <a:off x="6516688" y="3194050"/>
            <a:ext cx="895350" cy="4524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9" name="Text Box 53">
            <a:extLst>
              <a:ext uri="{FF2B5EF4-FFF2-40B4-BE49-F238E27FC236}">
                <a16:creationId xmlns:a16="http://schemas.microsoft.com/office/drawing/2014/main" id="{15B0A639-561C-4734-A797-E52148D68BBD}"/>
              </a:ext>
            </a:extLst>
          </p:cNvPr>
          <p:cNvSpPr txBox="1">
            <a:spLocks noChangeArrowheads="1"/>
          </p:cNvSpPr>
          <p:nvPr/>
        </p:nvSpPr>
        <p:spPr bwMode="auto">
          <a:xfrm>
            <a:off x="6156325" y="24225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5</a:t>
            </a:r>
          </a:p>
        </p:txBody>
      </p:sp>
      <p:sp>
        <p:nvSpPr>
          <p:cNvPr id="13360" name="Line 54">
            <a:extLst>
              <a:ext uri="{FF2B5EF4-FFF2-40B4-BE49-F238E27FC236}">
                <a16:creationId xmlns:a16="http://schemas.microsoft.com/office/drawing/2014/main" id="{82DC1EA7-C9FA-4583-B269-36C71E90862A}"/>
              </a:ext>
            </a:extLst>
          </p:cNvPr>
          <p:cNvSpPr>
            <a:spLocks noChangeShapeType="1"/>
          </p:cNvSpPr>
          <p:nvPr/>
        </p:nvSpPr>
        <p:spPr bwMode="auto">
          <a:xfrm flipV="1">
            <a:off x="6516688" y="3862388"/>
            <a:ext cx="919162" cy="3984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1" name="Text Box 55">
            <a:extLst>
              <a:ext uri="{FF2B5EF4-FFF2-40B4-BE49-F238E27FC236}">
                <a16:creationId xmlns:a16="http://schemas.microsoft.com/office/drawing/2014/main" id="{239947A5-F961-45FB-8C61-C6B7B7D0F027}"/>
              </a:ext>
            </a:extLst>
          </p:cNvPr>
          <p:cNvSpPr txBox="1">
            <a:spLocks noChangeArrowheads="1"/>
          </p:cNvSpPr>
          <p:nvPr/>
        </p:nvSpPr>
        <p:spPr bwMode="auto">
          <a:xfrm>
            <a:off x="6156325" y="37179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a:t>
            </a:r>
          </a:p>
        </p:txBody>
      </p:sp>
      <p:sp>
        <p:nvSpPr>
          <p:cNvPr id="13362" name="Line 56">
            <a:extLst>
              <a:ext uri="{FF2B5EF4-FFF2-40B4-BE49-F238E27FC236}">
                <a16:creationId xmlns:a16="http://schemas.microsoft.com/office/drawing/2014/main" id="{6D156D4A-A4E2-4CEC-AE20-E2DD5B37AA3A}"/>
              </a:ext>
            </a:extLst>
          </p:cNvPr>
          <p:cNvSpPr>
            <a:spLocks noChangeShapeType="1"/>
          </p:cNvSpPr>
          <p:nvPr/>
        </p:nvSpPr>
        <p:spPr bwMode="auto">
          <a:xfrm>
            <a:off x="4932363" y="2468563"/>
            <a:ext cx="1114425" cy="5302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3" name="Text Box 57">
            <a:extLst>
              <a:ext uri="{FF2B5EF4-FFF2-40B4-BE49-F238E27FC236}">
                <a16:creationId xmlns:a16="http://schemas.microsoft.com/office/drawing/2014/main" id="{2FED17D4-D4DD-4921-827A-2018E1B64F1E}"/>
              </a:ext>
            </a:extLst>
          </p:cNvPr>
          <p:cNvSpPr txBox="1">
            <a:spLocks noChangeArrowheads="1"/>
          </p:cNvSpPr>
          <p:nvPr/>
        </p:nvSpPr>
        <p:spPr bwMode="auto">
          <a:xfrm>
            <a:off x="4500563" y="1773238"/>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8</a:t>
            </a:r>
          </a:p>
        </p:txBody>
      </p:sp>
      <p:sp>
        <p:nvSpPr>
          <p:cNvPr id="13364" name="Line 58">
            <a:extLst>
              <a:ext uri="{FF2B5EF4-FFF2-40B4-BE49-F238E27FC236}">
                <a16:creationId xmlns:a16="http://schemas.microsoft.com/office/drawing/2014/main" id="{364F7729-FB55-4811-B8C8-F819868A0139}"/>
              </a:ext>
            </a:extLst>
          </p:cNvPr>
          <p:cNvSpPr>
            <a:spLocks noChangeShapeType="1"/>
          </p:cNvSpPr>
          <p:nvPr/>
        </p:nvSpPr>
        <p:spPr bwMode="auto">
          <a:xfrm>
            <a:off x="4859338" y="3816350"/>
            <a:ext cx="1112837" cy="4778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5" name="Text Box 59">
            <a:extLst>
              <a:ext uri="{FF2B5EF4-FFF2-40B4-BE49-F238E27FC236}">
                <a16:creationId xmlns:a16="http://schemas.microsoft.com/office/drawing/2014/main" id="{BDAC83B6-997C-4089-8D6B-4EA09511F0DF}"/>
              </a:ext>
            </a:extLst>
          </p:cNvPr>
          <p:cNvSpPr txBox="1">
            <a:spLocks noChangeArrowheads="1"/>
          </p:cNvSpPr>
          <p:nvPr/>
        </p:nvSpPr>
        <p:spPr bwMode="auto">
          <a:xfrm>
            <a:off x="4500563" y="3055938"/>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7</a:t>
            </a:r>
          </a:p>
        </p:txBody>
      </p:sp>
      <p:sp>
        <p:nvSpPr>
          <p:cNvPr id="13366" name="Line 60">
            <a:extLst>
              <a:ext uri="{FF2B5EF4-FFF2-40B4-BE49-F238E27FC236}">
                <a16:creationId xmlns:a16="http://schemas.microsoft.com/office/drawing/2014/main" id="{A6522A23-D772-4937-A4C1-5F2D492F6A62}"/>
              </a:ext>
            </a:extLst>
          </p:cNvPr>
          <p:cNvSpPr>
            <a:spLocks noChangeShapeType="1"/>
          </p:cNvSpPr>
          <p:nvPr/>
        </p:nvSpPr>
        <p:spPr bwMode="auto">
          <a:xfrm flipV="1">
            <a:off x="4932363" y="4445000"/>
            <a:ext cx="1138237" cy="42545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7" name="Text Box 61">
            <a:extLst>
              <a:ext uri="{FF2B5EF4-FFF2-40B4-BE49-F238E27FC236}">
                <a16:creationId xmlns:a16="http://schemas.microsoft.com/office/drawing/2014/main" id="{20B5A6C2-D399-4150-B193-291D5BA7ECF5}"/>
              </a:ext>
            </a:extLst>
          </p:cNvPr>
          <p:cNvSpPr txBox="1">
            <a:spLocks noChangeArrowheads="1"/>
          </p:cNvSpPr>
          <p:nvPr/>
        </p:nvSpPr>
        <p:spPr bwMode="auto">
          <a:xfrm>
            <a:off x="4584700" y="4294188"/>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12</a:t>
            </a:r>
          </a:p>
        </p:txBody>
      </p:sp>
      <p:sp>
        <p:nvSpPr>
          <p:cNvPr id="47166" name="Line 62">
            <a:extLst>
              <a:ext uri="{FF2B5EF4-FFF2-40B4-BE49-F238E27FC236}">
                <a16:creationId xmlns:a16="http://schemas.microsoft.com/office/drawing/2014/main" id="{12DC6968-659F-41E0-A1A1-77471831FD6F}"/>
              </a:ext>
            </a:extLst>
          </p:cNvPr>
          <p:cNvSpPr>
            <a:spLocks noChangeShapeType="1"/>
          </p:cNvSpPr>
          <p:nvPr/>
        </p:nvSpPr>
        <p:spPr bwMode="auto">
          <a:xfrm flipV="1">
            <a:off x="3132138" y="2422525"/>
            <a:ext cx="1235075" cy="206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7" name="Text Box 63">
            <a:extLst>
              <a:ext uri="{FF2B5EF4-FFF2-40B4-BE49-F238E27FC236}">
                <a16:creationId xmlns:a16="http://schemas.microsoft.com/office/drawing/2014/main" id="{B54F9218-CE46-49A4-969D-44B9A82882F5}"/>
              </a:ext>
            </a:extLst>
          </p:cNvPr>
          <p:cNvSpPr txBox="1">
            <a:spLocks noChangeArrowheads="1"/>
          </p:cNvSpPr>
          <p:nvPr/>
        </p:nvSpPr>
        <p:spPr bwMode="auto">
          <a:xfrm>
            <a:off x="2700338" y="1846263"/>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20</a:t>
            </a:r>
          </a:p>
        </p:txBody>
      </p:sp>
      <p:sp>
        <p:nvSpPr>
          <p:cNvPr id="47168" name="Line 64">
            <a:extLst>
              <a:ext uri="{FF2B5EF4-FFF2-40B4-BE49-F238E27FC236}">
                <a16:creationId xmlns:a16="http://schemas.microsoft.com/office/drawing/2014/main" id="{E4EE521F-C85A-4D78-B52F-BD32AC45C00E}"/>
              </a:ext>
            </a:extLst>
          </p:cNvPr>
          <p:cNvSpPr>
            <a:spLocks noChangeShapeType="1"/>
          </p:cNvSpPr>
          <p:nvPr/>
        </p:nvSpPr>
        <p:spPr bwMode="auto">
          <a:xfrm flipV="1">
            <a:off x="3059113" y="2597150"/>
            <a:ext cx="1331912" cy="97631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9" name="Text Box 65">
            <a:extLst>
              <a:ext uri="{FF2B5EF4-FFF2-40B4-BE49-F238E27FC236}">
                <a16:creationId xmlns:a16="http://schemas.microsoft.com/office/drawing/2014/main" id="{C63C2252-50EE-4006-AA83-4F142DC018B8}"/>
              </a:ext>
            </a:extLst>
          </p:cNvPr>
          <p:cNvSpPr txBox="1">
            <a:spLocks noChangeArrowheads="1"/>
          </p:cNvSpPr>
          <p:nvPr/>
        </p:nvSpPr>
        <p:spPr bwMode="auto">
          <a:xfrm>
            <a:off x="2713038" y="3055938"/>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14</a:t>
            </a:r>
          </a:p>
        </p:txBody>
      </p:sp>
      <p:sp>
        <p:nvSpPr>
          <p:cNvPr id="47170" name="Line 66">
            <a:extLst>
              <a:ext uri="{FF2B5EF4-FFF2-40B4-BE49-F238E27FC236}">
                <a16:creationId xmlns:a16="http://schemas.microsoft.com/office/drawing/2014/main" id="{16374161-A8FA-4B34-83EA-D75C0415CF2A}"/>
              </a:ext>
            </a:extLst>
          </p:cNvPr>
          <p:cNvSpPr>
            <a:spLocks noChangeShapeType="1"/>
          </p:cNvSpPr>
          <p:nvPr/>
        </p:nvSpPr>
        <p:spPr bwMode="auto">
          <a:xfrm flipV="1">
            <a:off x="3132138" y="3841750"/>
            <a:ext cx="1308100" cy="10287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71" name="Text Box 67">
            <a:extLst>
              <a:ext uri="{FF2B5EF4-FFF2-40B4-BE49-F238E27FC236}">
                <a16:creationId xmlns:a16="http://schemas.microsoft.com/office/drawing/2014/main" id="{BADA7DD4-B393-4E32-945B-B08CB2114157}"/>
              </a:ext>
            </a:extLst>
          </p:cNvPr>
          <p:cNvSpPr txBox="1">
            <a:spLocks noChangeArrowheads="1"/>
          </p:cNvSpPr>
          <p:nvPr/>
        </p:nvSpPr>
        <p:spPr bwMode="auto">
          <a:xfrm>
            <a:off x="2784475" y="43529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mph" presetSubtype="2" fill="hold" nodeType="clickEffect">
                                  <p:stCondLst>
                                    <p:cond delay="0"/>
                                  </p:stCondLst>
                                  <p:childTnLst>
                                    <p:animClr clrSpc="rgb" dir="cw">
                                      <p:cBhvr>
                                        <p:cTn id="6" dur="500" fill="hold"/>
                                        <p:tgtEl>
                                          <p:spTgt spid="47112"/>
                                        </p:tgtEl>
                                        <p:attrNameLst>
                                          <p:attrName>fillcolor</p:attrName>
                                        </p:attrNameLst>
                                      </p:cBhvr>
                                      <p:to>
                                        <a:srgbClr val="7446B2"/>
                                      </p:to>
                                    </p:animClr>
                                    <p:set>
                                      <p:cBhvr>
                                        <p:cTn id="7" dur="500" fill="hold"/>
                                        <p:tgtEl>
                                          <p:spTgt spid="47112"/>
                                        </p:tgtEl>
                                        <p:attrNameLst>
                                          <p:attrName>fill.type</p:attrName>
                                        </p:attrNameLst>
                                      </p:cBhvr>
                                      <p:to>
                                        <p:strVal val="solid"/>
                                      </p:to>
                                    </p:set>
                                    <p:set>
                                      <p:cBhvr>
                                        <p:cTn id="8" dur="500" fill="hold"/>
                                        <p:tgtEl>
                                          <p:spTgt spid="47112"/>
                                        </p:tgtEl>
                                        <p:attrNameLst>
                                          <p:attrName>fill.on</p:attrName>
                                        </p:attrNameLst>
                                      </p:cBhvr>
                                      <p:to>
                                        <p:strVal val="tru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71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16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47141"/>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47142"/>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47143"/>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mph" presetSubtype="2" fill="hold" nodeType="clickEffect">
                                  <p:stCondLst>
                                    <p:cond delay="0"/>
                                  </p:stCondLst>
                                  <p:childTnLst>
                                    <p:animClr clrSpc="rgb" dir="cw">
                                      <p:cBhvr>
                                        <p:cTn id="24" dur="500" fill="hold"/>
                                        <p:tgtEl>
                                          <p:spTgt spid="47114"/>
                                        </p:tgtEl>
                                        <p:attrNameLst>
                                          <p:attrName>fillcolor</p:attrName>
                                        </p:attrNameLst>
                                      </p:cBhvr>
                                      <p:to>
                                        <a:srgbClr val="7446B2"/>
                                      </p:to>
                                    </p:animClr>
                                    <p:set>
                                      <p:cBhvr>
                                        <p:cTn id="25" dur="500" fill="hold"/>
                                        <p:tgtEl>
                                          <p:spTgt spid="47114"/>
                                        </p:tgtEl>
                                        <p:attrNameLst>
                                          <p:attrName>fill.type</p:attrName>
                                        </p:attrNameLst>
                                      </p:cBhvr>
                                      <p:to>
                                        <p:strVal val="solid"/>
                                      </p:to>
                                    </p:set>
                                    <p:set>
                                      <p:cBhvr>
                                        <p:cTn id="26" dur="500" fill="hold"/>
                                        <p:tgtEl>
                                          <p:spTgt spid="47114"/>
                                        </p:tgtEl>
                                        <p:attrNameLst>
                                          <p:attrName>fill.on</p:attrName>
                                        </p:attrNameLst>
                                      </p:cBhvr>
                                      <p:to>
                                        <p:strVal val="tru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71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169"/>
                                        </p:tgtEl>
                                        <p:attrNameLst>
                                          <p:attrName>style.visibility</p:attrName>
                                        </p:attrNameLst>
                                      </p:cBhvr>
                                      <p:to>
                                        <p:strVal val="visible"/>
                                      </p:to>
                                    </p:set>
                                  </p:childTnLst>
                                </p:cTn>
                              </p:par>
                              <p:par>
                                <p:cTn id="33" presetID="1" presetClass="exit" presetSubtype="0" fill="hold" grpId="0" nodeType="withEffect">
                                  <p:stCondLst>
                                    <p:cond delay="0"/>
                                  </p:stCondLst>
                                  <p:childTnLst>
                                    <p:set>
                                      <p:cBhvr>
                                        <p:cTn id="34" dur="1" fill="hold">
                                          <p:stCondLst>
                                            <p:cond delay="0"/>
                                          </p:stCondLst>
                                        </p:cTn>
                                        <p:tgtEl>
                                          <p:spTgt spid="47144"/>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47145"/>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47146"/>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mph" presetSubtype="2" fill="hold" nodeType="clickEffect">
                                  <p:stCondLst>
                                    <p:cond delay="0"/>
                                  </p:stCondLst>
                                  <p:childTnLst>
                                    <p:animClr clrSpc="rgb" dir="cw">
                                      <p:cBhvr>
                                        <p:cTn id="42" dur="500" fill="hold"/>
                                        <p:tgtEl>
                                          <p:spTgt spid="47113"/>
                                        </p:tgtEl>
                                        <p:attrNameLst>
                                          <p:attrName>fillcolor</p:attrName>
                                        </p:attrNameLst>
                                      </p:cBhvr>
                                      <p:to>
                                        <a:srgbClr val="7446B2"/>
                                      </p:to>
                                    </p:animClr>
                                    <p:set>
                                      <p:cBhvr>
                                        <p:cTn id="43" dur="500" fill="hold"/>
                                        <p:tgtEl>
                                          <p:spTgt spid="47113"/>
                                        </p:tgtEl>
                                        <p:attrNameLst>
                                          <p:attrName>fill.type</p:attrName>
                                        </p:attrNameLst>
                                      </p:cBhvr>
                                      <p:to>
                                        <p:strVal val="solid"/>
                                      </p:to>
                                    </p:set>
                                    <p:set>
                                      <p:cBhvr>
                                        <p:cTn id="44" dur="500" fill="hold"/>
                                        <p:tgtEl>
                                          <p:spTgt spid="47113"/>
                                        </p:tgtEl>
                                        <p:attrNameLst>
                                          <p:attrName>fill.on</p:attrName>
                                        </p:attrNameLst>
                                      </p:cBhvr>
                                      <p:to>
                                        <p:strVal val="tru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4717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7171"/>
                                        </p:tgtEl>
                                        <p:attrNameLst>
                                          <p:attrName>style.visibility</p:attrName>
                                        </p:attrNameLst>
                                      </p:cBhvr>
                                      <p:to>
                                        <p:strVal val="visible"/>
                                      </p:to>
                                    </p:set>
                                  </p:childTnLst>
                                </p:cTn>
                              </p:par>
                              <p:par>
                                <p:cTn id="51" presetID="1" presetClass="exit" presetSubtype="0" fill="hold" grpId="0" nodeType="withEffect">
                                  <p:stCondLst>
                                    <p:cond delay="0"/>
                                  </p:stCondLst>
                                  <p:childTnLst>
                                    <p:set>
                                      <p:cBhvr>
                                        <p:cTn id="52" dur="1" fill="hold">
                                          <p:stCondLst>
                                            <p:cond delay="0"/>
                                          </p:stCondLst>
                                        </p:cTn>
                                        <p:tgtEl>
                                          <p:spTgt spid="47147"/>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47149"/>
                                        </p:tgtEl>
                                        <p:attrNameLst>
                                          <p:attrName>style.visibility</p:attrName>
                                        </p:attrNameLst>
                                      </p:cBhvr>
                                      <p:to>
                                        <p:strVal val="hidden"/>
                                      </p:to>
                                    </p:set>
                                  </p:childTnLst>
                                </p:cTn>
                              </p:par>
                              <p:par>
                                <p:cTn id="55" presetID="1" presetClass="exit" presetSubtype="0" fill="hold" grpId="0" nodeType="withEffect">
                                  <p:stCondLst>
                                    <p:cond delay="0"/>
                                  </p:stCondLst>
                                  <p:childTnLst>
                                    <p:set>
                                      <p:cBhvr>
                                        <p:cTn id="56" dur="1" fill="hold">
                                          <p:stCondLst>
                                            <p:cond delay="0"/>
                                          </p:stCondLst>
                                        </p:cTn>
                                        <p:tgtEl>
                                          <p:spTgt spid="4714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41" grpId="0"/>
      <p:bldP spid="47142" grpId="0"/>
      <p:bldP spid="47143" grpId="0"/>
      <p:bldP spid="47144" grpId="0"/>
      <p:bldP spid="47145" grpId="0"/>
      <p:bldP spid="47146" grpId="0"/>
      <p:bldP spid="47147" grpId="0"/>
      <p:bldP spid="47148" grpId="0"/>
      <p:bldP spid="47149" grpId="0"/>
      <p:bldP spid="47167" grpId="0" animBg="1"/>
      <p:bldP spid="47169" grpId="0" animBg="1"/>
      <p:bldP spid="4717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BE04304-081B-4D44-9332-42ED2E9DBCDB}"/>
              </a:ext>
            </a:extLst>
          </p:cNvPr>
          <p:cNvSpPr>
            <a:spLocks noGrp="1" noChangeArrowheads="1"/>
          </p:cNvSpPr>
          <p:nvPr>
            <p:ph type="title"/>
          </p:nvPr>
        </p:nvSpPr>
        <p:spPr/>
        <p:txBody>
          <a:bodyPr/>
          <a:lstStyle/>
          <a:p>
            <a:pPr eaLnBrk="1" hangingPunct="1"/>
            <a:r>
              <a:rPr lang="zh-CN" altLang="en-US"/>
              <a:t>最短路线问题</a:t>
            </a:r>
            <a:r>
              <a:rPr lang="en-US" altLang="zh-CN"/>
              <a:t>-</a:t>
            </a:r>
            <a:r>
              <a:rPr lang="zh-CN" altLang="en-US"/>
              <a:t>多阶段决策</a:t>
            </a:r>
          </a:p>
        </p:txBody>
      </p:sp>
      <p:sp>
        <p:nvSpPr>
          <p:cNvPr id="14339" name="Rectangle 3">
            <a:extLst>
              <a:ext uri="{FF2B5EF4-FFF2-40B4-BE49-F238E27FC236}">
                <a16:creationId xmlns:a16="http://schemas.microsoft.com/office/drawing/2014/main" id="{A904A650-136B-4317-A248-CC9E3B671DBB}"/>
              </a:ext>
            </a:extLst>
          </p:cNvPr>
          <p:cNvSpPr>
            <a:spLocks noGrp="1" noChangeArrowheads="1"/>
          </p:cNvSpPr>
          <p:nvPr>
            <p:ph type="body" idx="1"/>
          </p:nvPr>
        </p:nvSpPr>
        <p:spPr>
          <a:xfrm>
            <a:off x="341313" y="918369"/>
            <a:ext cx="8229600" cy="5310188"/>
          </a:xfrm>
        </p:spPr>
        <p:txBody>
          <a:bodyPr/>
          <a:lstStyle/>
          <a:p>
            <a:pPr eaLnBrk="1" hangingPunct="1"/>
            <a:r>
              <a:rPr lang="en-US" altLang="zh-CN" dirty="0"/>
              <a:t>A</a:t>
            </a:r>
            <a:r>
              <a:rPr lang="en-US" altLang="zh-CN" baseline="-25000" dirty="0"/>
              <a:t> </a:t>
            </a:r>
            <a:r>
              <a:rPr lang="zh-CN" altLang="en-US" dirty="0"/>
              <a:t>到 </a:t>
            </a:r>
            <a:r>
              <a:rPr lang="en-US" altLang="zh-CN" dirty="0"/>
              <a:t>E </a:t>
            </a:r>
            <a:r>
              <a:rPr lang="zh-CN" altLang="en-US" dirty="0"/>
              <a:t>的最短线路</a:t>
            </a:r>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lvl="1" eaLnBrk="1" hangingPunct="1"/>
            <a:r>
              <a:rPr lang="zh-CN" altLang="en-US" sz="2400" dirty="0"/>
              <a:t>加法操作：</a:t>
            </a:r>
            <a:r>
              <a:rPr lang="en-US" altLang="zh-CN" sz="2400" dirty="0"/>
              <a:t>0+6+9+</a:t>
            </a:r>
            <a:r>
              <a:rPr lang="en-US" altLang="zh-CN" sz="2400" dirty="0">
                <a:solidFill>
                  <a:srgbClr val="FF0000"/>
                </a:solidFill>
              </a:rPr>
              <a:t>3</a:t>
            </a:r>
            <a:r>
              <a:rPr lang="en-US" altLang="zh-CN" sz="2400" dirty="0"/>
              <a:t>=18</a:t>
            </a:r>
            <a:r>
              <a:rPr lang="zh-CN" altLang="en-US" sz="2400" dirty="0"/>
              <a:t>次，比较操作：</a:t>
            </a:r>
            <a:r>
              <a:rPr lang="en-US" altLang="zh-CN" sz="2400" dirty="0"/>
              <a:t>0+3+6+</a:t>
            </a:r>
            <a:r>
              <a:rPr lang="en-US" altLang="zh-CN" sz="2400" dirty="0">
                <a:solidFill>
                  <a:srgbClr val="FF0000"/>
                </a:solidFill>
              </a:rPr>
              <a:t>2</a:t>
            </a:r>
            <a:r>
              <a:rPr lang="en-US" altLang="zh-CN" sz="2400" dirty="0"/>
              <a:t>=11</a:t>
            </a:r>
            <a:r>
              <a:rPr lang="zh-CN" altLang="en-US" sz="2400" dirty="0"/>
              <a:t>次</a:t>
            </a:r>
          </a:p>
        </p:txBody>
      </p:sp>
      <p:sp>
        <p:nvSpPr>
          <p:cNvPr id="14340" name="Oval 4">
            <a:extLst>
              <a:ext uri="{FF2B5EF4-FFF2-40B4-BE49-F238E27FC236}">
                <a16:creationId xmlns:a16="http://schemas.microsoft.com/office/drawing/2014/main" id="{0CF35E85-3557-4E9D-A77A-B480006E59CB}"/>
              </a:ext>
            </a:extLst>
          </p:cNvPr>
          <p:cNvSpPr>
            <a:spLocks noChangeArrowheads="1"/>
          </p:cNvSpPr>
          <p:nvPr/>
        </p:nvSpPr>
        <p:spPr bwMode="auto">
          <a:xfrm>
            <a:off x="4406900" y="2166938"/>
            <a:ext cx="508000" cy="557212"/>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1</a:t>
            </a:r>
          </a:p>
        </p:txBody>
      </p:sp>
      <p:sp>
        <p:nvSpPr>
          <p:cNvPr id="14341" name="Oval 5">
            <a:extLst>
              <a:ext uri="{FF2B5EF4-FFF2-40B4-BE49-F238E27FC236}">
                <a16:creationId xmlns:a16="http://schemas.microsoft.com/office/drawing/2014/main" id="{CD3C2722-9854-40B3-BCE3-5BC1978C62C5}"/>
              </a:ext>
            </a:extLst>
          </p:cNvPr>
          <p:cNvSpPr>
            <a:spLocks noChangeArrowheads="1"/>
          </p:cNvSpPr>
          <p:nvPr/>
        </p:nvSpPr>
        <p:spPr bwMode="auto">
          <a:xfrm>
            <a:off x="4430713" y="4684713"/>
            <a:ext cx="509587" cy="557212"/>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3</a:t>
            </a:r>
            <a:endParaRPr lang="en-US" altLang="zh-CN"/>
          </a:p>
        </p:txBody>
      </p:sp>
      <p:sp>
        <p:nvSpPr>
          <p:cNvPr id="14342" name="Oval 6">
            <a:extLst>
              <a:ext uri="{FF2B5EF4-FFF2-40B4-BE49-F238E27FC236}">
                <a16:creationId xmlns:a16="http://schemas.microsoft.com/office/drawing/2014/main" id="{2DC00B84-8D10-4473-9F22-3FA689494485}"/>
              </a:ext>
            </a:extLst>
          </p:cNvPr>
          <p:cNvSpPr>
            <a:spLocks noChangeArrowheads="1"/>
          </p:cNvSpPr>
          <p:nvPr/>
        </p:nvSpPr>
        <p:spPr bwMode="auto">
          <a:xfrm>
            <a:off x="6016625" y="2803525"/>
            <a:ext cx="509588" cy="558800"/>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1</a:t>
            </a:r>
          </a:p>
        </p:txBody>
      </p:sp>
      <p:sp>
        <p:nvSpPr>
          <p:cNvPr id="48135" name="Oval 7">
            <a:extLst>
              <a:ext uri="{FF2B5EF4-FFF2-40B4-BE49-F238E27FC236}">
                <a16:creationId xmlns:a16="http://schemas.microsoft.com/office/drawing/2014/main" id="{94450708-C63B-4873-B22E-E0A62CBA2D37}"/>
              </a:ext>
            </a:extLst>
          </p:cNvPr>
          <p:cNvSpPr>
            <a:spLocks noChangeArrowheads="1"/>
          </p:cNvSpPr>
          <p:nvPr/>
        </p:nvSpPr>
        <p:spPr bwMode="auto">
          <a:xfrm>
            <a:off x="1187450" y="34305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A</a:t>
            </a:r>
          </a:p>
        </p:txBody>
      </p:sp>
      <p:sp>
        <p:nvSpPr>
          <p:cNvPr id="14344" name="Oval 8">
            <a:extLst>
              <a:ext uri="{FF2B5EF4-FFF2-40B4-BE49-F238E27FC236}">
                <a16:creationId xmlns:a16="http://schemas.microsoft.com/office/drawing/2014/main" id="{01E4E817-74AC-4480-BB92-5E692CCFF714}"/>
              </a:ext>
            </a:extLst>
          </p:cNvPr>
          <p:cNvSpPr>
            <a:spLocks noChangeArrowheads="1"/>
          </p:cNvSpPr>
          <p:nvPr/>
        </p:nvSpPr>
        <p:spPr bwMode="auto">
          <a:xfrm>
            <a:off x="2611438" y="2206625"/>
            <a:ext cx="508000" cy="557213"/>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1</a:t>
            </a:r>
            <a:endParaRPr lang="en-US" altLang="zh-CN"/>
          </a:p>
        </p:txBody>
      </p:sp>
      <p:sp>
        <p:nvSpPr>
          <p:cNvPr id="14345" name="Oval 9">
            <a:extLst>
              <a:ext uri="{FF2B5EF4-FFF2-40B4-BE49-F238E27FC236}">
                <a16:creationId xmlns:a16="http://schemas.microsoft.com/office/drawing/2014/main" id="{453E2337-2537-4E0A-A7B0-2CD677236898}"/>
              </a:ext>
            </a:extLst>
          </p:cNvPr>
          <p:cNvSpPr>
            <a:spLocks noChangeArrowheads="1"/>
          </p:cNvSpPr>
          <p:nvPr/>
        </p:nvSpPr>
        <p:spPr bwMode="auto">
          <a:xfrm>
            <a:off x="2628900" y="4676775"/>
            <a:ext cx="508000" cy="557213"/>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3</a:t>
            </a:r>
            <a:endParaRPr lang="en-US" altLang="zh-CN"/>
          </a:p>
        </p:txBody>
      </p:sp>
      <p:sp>
        <p:nvSpPr>
          <p:cNvPr id="14346" name="Oval 10">
            <a:extLst>
              <a:ext uri="{FF2B5EF4-FFF2-40B4-BE49-F238E27FC236}">
                <a16:creationId xmlns:a16="http://schemas.microsoft.com/office/drawing/2014/main" id="{3DCACB83-D0F1-4841-A5C7-7ACC06832D88}"/>
              </a:ext>
            </a:extLst>
          </p:cNvPr>
          <p:cNvSpPr>
            <a:spLocks noChangeArrowheads="1"/>
          </p:cNvSpPr>
          <p:nvPr/>
        </p:nvSpPr>
        <p:spPr bwMode="auto">
          <a:xfrm>
            <a:off x="2628900" y="3441700"/>
            <a:ext cx="508000" cy="557213"/>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2</a:t>
            </a:r>
            <a:endParaRPr lang="en-US" altLang="zh-CN"/>
          </a:p>
        </p:txBody>
      </p:sp>
      <p:sp>
        <p:nvSpPr>
          <p:cNvPr id="14347" name="Oval 11">
            <a:extLst>
              <a:ext uri="{FF2B5EF4-FFF2-40B4-BE49-F238E27FC236}">
                <a16:creationId xmlns:a16="http://schemas.microsoft.com/office/drawing/2014/main" id="{C7D85CCB-0E4F-45CA-8296-5B6B9071592D}"/>
              </a:ext>
            </a:extLst>
          </p:cNvPr>
          <p:cNvSpPr>
            <a:spLocks noChangeArrowheads="1"/>
          </p:cNvSpPr>
          <p:nvPr/>
        </p:nvSpPr>
        <p:spPr bwMode="auto">
          <a:xfrm>
            <a:off x="6029325" y="4071938"/>
            <a:ext cx="508000" cy="558800"/>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2</a:t>
            </a:r>
            <a:endParaRPr lang="en-US" altLang="zh-CN"/>
          </a:p>
        </p:txBody>
      </p:sp>
      <p:sp>
        <p:nvSpPr>
          <p:cNvPr id="14348" name="Oval 12">
            <a:extLst>
              <a:ext uri="{FF2B5EF4-FFF2-40B4-BE49-F238E27FC236}">
                <a16:creationId xmlns:a16="http://schemas.microsoft.com/office/drawing/2014/main" id="{FBB29025-9B0F-4EEC-A7E5-D53EE3EC6CB2}"/>
              </a:ext>
            </a:extLst>
          </p:cNvPr>
          <p:cNvSpPr>
            <a:spLocks noChangeArrowheads="1"/>
          </p:cNvSpPr>
          <p:nvPr/>
        </p:nvSpPr>
        <p:spPr bwMode="auto">
          <a:xfrm>
            <a:off x="7375525" y="343376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E</a:t>
            </a:r>
            <a:endParaRPr lang="en-US" altLang="zh-CN"/>
          </a:p>
        </p:txBody>
      </p:sp>
      <p:sp>
        <p:nvSpPr>
          <p:cNvPr id="14349" name="Oval 13">
            <a:extLst>
              <a:ext uri="{FF2B5EF4-FFF2-40B4-BE49-F238E27FC236}">
                <a16:creationId xmlns:a16="http://schemas.microsoft.com/office/drawing/2014/main" id="{54EB3117-1FAF-4D5E-80E3-D0E87BF43A1F}"/>
              </a:ext>
            </a:extLst>
          </p:cNvPr>
          <p:cNvSpPr>
            <a:spLocks noChangeArrowheads="1"/>
          </p:cNvSpPr>
          <p:nvPr/>
        </p:nvSpPr>
        <p:spPr bwMode="auto">
          <a:xfrm>
            <a:off x="4406900" y="3408363"/>
            <a:ext cx="508000" cy="557212"/>
          </a:xfrm>
          <a:prstGeom prst="ellipse">
            <a:avLst/>
          </a:prstGeom>
          <a:solidFill>
            <a:srgbClr val="7446B2"/>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2</a:t>
            </a:r>
            <a:endParaRPr lang="en-US" altLang="zh-CN"/>
          </a:p>
        </p:txBody>
      </p:sp>
      <p:sp>
        <p:nvSpPr>
          <p:cNvPr id="14350" name="Line 14">
            <a:extLst>
              <a:ext uri="{FF2B5EF4-FFF2-40B4-BE49-F238E27FC236}">
                <a16:creationId xmlns:a16="http://schemas.microsoft.com/office/drawing/2014/main" id="{5513C0D7-1EAB-4C2D-920A-A609DE2CBF29}"/>
              </a:ext>
            </a:extLst>
          </p:cNvPr>
          <p:cNvSpPr>
            <a:spLocks noChangeShapeType="1"/>
          </p:cNvSpPr>
          <p:nvPr/>
        </p:nvSpPr>
        <p:spPr bwMode="auto">
          <a:xfrm flipV="1">
            <a:off x="1622425" y="260508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1" name="Line 15">
            <a:extLst>
              <a:ext uri="{FF2B5EF4-FFF2-40B4-BE49-F238E27FC236}">
                <a16:creationId xmlns:a16="http://schemas.microsoft.com/office/drawing/2014/main" id="{4087DCB0-EEBB-40F2-A732-37E57716A2A4}"/>
              </a:ext>
            </a:extLst>
          </p:cNvPr>
          <p:cNvSpPr>
            <a:spLocks noChangeShapeType="1"/>
          </p:cNvSpPr>
          <p:nvPr/>
        </p:nvSpPr>
        <p:spPr bwMode="auto">
          <a:xfrm flipV="1">
            <a:off x="1695450" y="372110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2" name="Line 16">
            <a:extLst>
              <a:ext uri="{FF2B5EF4-FFF2-40B4-BE49-F238E27FC236}">
                <a16:creationId xmlns:a16="http://schemas.microsoft.com/office/drawing/2014/main" id="{E3B737F8-6EC3-4390-B9A3-79578D0E2EC6}"/>
              </a:ext>
            </a:extLst>
          </p:cNvPr>
          <p:cNvSpPr>
            <a:spLocks noChangeShapeType="1"/>
          </p:cNvSpPr>
          <p:nvPr/>
        </p:nvSpPr>
        <p:spPr bwMode="auto">
          <a:xfrm>
            <a:off x="3148013" y="372110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3" name="Line 17">
            <a:extLst>
              <a:ext uri="{FF2B5EF4-FFF2-40B4-BE49-F238E27FC236}">
                <a16:creationId xmlns:a16="http://schemas.microsoft.com/office/drawing/2014/main" id="{E9468FF1-FFE7-44F8-9822-26E9BA613805}"/>
              </a:ext>
            </a:extLst>
          </p:cNvPr>
          <p:cNvSpPr>
            <a:spLocks noChangeShapeType="1"/>
          </p:cNvSpPr>
          <p:nvPr/>
        </p:nvSpPr>
        <p:spPr bwMode="auto">
          <a:xfrm>
            <a:off x="1622425" y="391477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4" name="Line 18">
            <a:extLst>
              <a:ext uri="{FF2B5EF4-FFF2-40B4-BE49-F238E27FC236}">
                <a16:creationId xmlns:a16="http://schemas.microsoft.com/office/drawing/2014/main" id="{F690DD65-1773-46D5-94C5-40999F9BD4C5}"/>
              </a:ext>
            </a:extLst>
          </p:cNvPr>
          <p:cNvSpPr>
            <a:spLocks noChangeShapeType="1"/>
          </p:cNvSpPr>
          <p:nvPr/>
        </p:nvSpPr>
        <p:spPr bwMode="auto">
          <a:xfrm flipV="1">
            <a:off x="3148013" y="242570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5" name="Line 19">
            <a:extLst>
              <a:ext uri="{FF2B5EF4-FFF2-40B4-BE49-F238E27FC236}">
                <a16:creationId xmlns:a16="http://schemas.microsoft.com/office/drawing/2014/main" id="{E623BC67-DBEC-4662-9DB4-F918618BFD0D}"/>
              </a:ext>
            </a:extLst>
          </p:cNvPr>
          <p:cNvSpPr>
            <a:spLocks noChangeShapeType="1"/>
          </p:cNvSpPr>
          <p:nvPr/>
        </p:nvSpPr>
        <p:spPr bwMode="auto">
          <a:xfrm>
            <a:off x="3148013" y="499586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6" name="Line 20">
            <a:extLst>
              <a:ext uri="{FF2B5EF4-FFF2-40B4-BE49-F238E27FC236}">
                <a16:creationId xmlns:a16="http://schemas.microsoft.com/office/drawing/2014/main" id="{AA05AD2B-A2D4-4AC7-88FF-24015637D600}"/>
              </a:ext>
            </a:extLst>
          </p:cNvPr>
          <p:cNvSpPr>
            <a:spLocks noChangeShapeType="1"/>
          </p:cNvSpPr>
          <p:nvPr/>
        </p:nvSpPr>
        <p:spPr bwMode="auto">
          <a:xfrm>
            <a:off x="4914900" y="245268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7" name="Line 21">
            <a:extLst>
              <a:ext uri="{FF2B5EF4-FFF2-40B4-BE49-F238E27FC236}">
                <a16:creationId xmlns:a16="http://schemas.microsoft.com/office/drawing/2014/main" id="{732FDC27-653A-4CEC-B180-0C398F7C6679}"/>
              </a:ext>
            </a:extLst>
          </p:cNvPr>
          <p:cNvSpPr>
            <a:spLocks noChangeShapeType="1"/>
          </p:cNvSpPr>
          <p:nvPr/>
        </p:nvSpPr>
        <p:spPr bwMode="auto">
          <a:xfrm>
            <a:off x="6513513" y="319563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8" name="Line 22">
            <a:extLst>
              <a:ext uri="{FF2B5EF4-FFF2-40B4-BE49-F238E27FC236}">
                <a16:creationId xmlns:a16="http://schemas.microsoft.com/office/drawing/2014/main" id="{E988EA63-576E-4256-9E51-E4536D5149C7}"/>
              </a:ext>
            </a:extLst>
          </p:cNvPr>
          <p:cNvSpPr>
            <a:spLocks noChangeShapeType="1"/>
          </p:cNvSpPr>
          <p:nvPr/>
        </p:nvSpPr>
        <p:spPr bwMode="auto">
          <a:xfrm flipV="1">
            <a:off x="4914900" y="447040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9" name="Line 23">
            <a:extLst>
              <a:ext uri="{FF2B5EF4-FFF2-40B4-BE49-F238E27FC236}">
                <a16:creationId xmlns:a16="http://schemas.microsoft.com/office/drawing/2014/main" id="{FA76FC77-1207-428B-8A2E-5AA5C16E4655}"/>
              </a:ext>
            </a:extLst>
          </p:cNvPr>
          <p:cNvSpPr>
            <a:spLocks noChangeShapeType="1"/>
          </p:cNvSpPr>
          <p:nvPr/>
        </p:nvSpPr>
        <p:spPr bwMode="auto">
          <a:xfrm flipV="1">
            <a:off x="6513513" y="385921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0" name="Line 24">
            <a:extLst>
              <a:ext uri="{FF2B5EF4-FFF2-40B4-BE49-F238E27FC236}">
                <a16:creationId xmlns:a16="http://schemas.microsoft.com/office/drawing/2014/main" id="{F802A7A2-C1E6-442A-B48E-193078567DA2}"/>
              </a:ext>
            </a:extLst>
          </p:cNvPr>
          <p:cNvSpPr>
            <a:spLocks noChangeShapeType="1"/>
          </p:cNvSpPr>
          <p:nvPr/>
        </p:nvSpPr>
        <p:spPr bwMode="auto">
          <a:xfrm flipV="1">
            <a:off x="4891088" y="314325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1" name="Line 25">
            <a:extLst>
              <a:ext uri="{FF2B5EF4-FFF2-40B4-BE49-F238E27FC236}">
                <a16:creationId xmlns:a16="http://schemas.microsoft.com/office/drawing/2014/main" id="{3C76FC7C-8A7B-4550-BBFD-F591AF2966FE}"/>
              </a:ext>
            </a:extLst>
          </p:cNvPr>
          <p:cNvSpPr>
            <a:spLocks noChangeShapeType="1"/>
          </p:cNvSpPr>
          <p:nvPr/>
        </p:nvSpPr>
        <p:spPr bwMode="auto">
          <a:xfrm>
            <a:off x="4867275" y="383381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2" name="Line 26">
            <a:extLst>
              <a:ext uri="{FF2B5EF4-FFF2-40B4-BE49-F238E27FC236}">
                <a16:creationId xmlns:a16="http://schemas.microsoft.com/office/drawing/2014/main" id="{AD887E8A-5B05-49C5-8376-46450E32EF09}"/>
              </a:ext>
            </a:extLst>
          </p:cNvPr>
          <p:cNvSpPr>
            <a:spLocks noChangeShapeType="1"/>
          </p:cNvSpPr>
          <p:nvPr/>
        </p:nvSpPr>
        <p:spPr bwMode="auto">
          <a:xfrm>
            <a:off x="3074988" y="258445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3" name="Line 27">
            <a:extLst>
              <a:ext uri="{FF2B5EF4-FFF2-40B4-BE49-F238E27FC236}">
                <a16:creationId xmlns:a16="http://schemas.microsoft.com/office/drawing/2014/main" id="{85CBBC60-ADEA-4215-89DA-76C3B7D6D775}"/>
              </a:ext>
            </a:extLst>
          </p:cNvPr>
          <p:cNvSpPr>
            <a:spLocks noChangeShapeType="1"/>
          </p:cNvSpPr>
          <p:nvPr/>
        </p:nvSpPr>
        <p:spPr bwMode="auto">
          <a:xfrm>
            <a:off x="3027363" y="271780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4" name="Line 28">
            <a:extLst>
              <a:ext uri="{FF2B5EF4-FFF2-40B4-BE49-F238E27FC236}">
                <a16:creationId xmlns:a16="http://schemas.microsoft.com/office/drawing/2014/main" id="{F7C9B67C-77F5-4118-9B44-27FF447FC512}"/>
              </a:ext>
            </a:extLst>
          </p:cNvPr>
          <p:cNvSpPr>
            <a:spLocks noChangeShapeType="1"/>
          </p:cNvSpPr>
          <p:nvPr/>
        </p:nvSpPr>
        <p:spPr bwMode="auto">
          <a:xfrm flipV="1">
            <a:off x="3074988" y="258445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5" name="Line 29">
            <a:extLst>
              <a:ext uri="{FF2B5EF4-FFF2-40B4-BE49-F238E27FC236}">
                <a16:creationId xmlns:a16="http://schemas.microsoft.com/office/drawing/2014/main" id="{9D932146-2F77-4D35-9428-069A1CF372CF}"/>
              </a:ext>
            </a:extLst>
          </p:cNvPr>
          <p:cNvSpPr>
            <a:spLocks noChangeShapeType="1"/>
          </p:cNvSpPr>
          <p:nvPr/>
        </p:nvSpPr>
        <p:spPr bwMode="auto">
          <a:xfrm>
            <a:off x="3100388" y="388620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6" name="Line 30">
            <a:extLst>
              <a:ext uri="{FF2B5EF4-FFF2-40B4-BE49-F238E27FC236}">
                <a16:creationId xmlns:a16="http://schemas.microsoft.com/office/drawing/2014/main" id="{AFD22188-0456-488D-A8F7-E56C49F71067}"/>
              </a:ext>
            </a:extLst>
          </p:cNvPr>
          <p:cNvSpPr>
            <a:spLocks noChangeShapeType="1"/>
          </p:cNvSpPr>
          <p:nvPr/>
        </p:nvSpPr>
        <p:spPr bwMode="auto">
          <a:xfrm flipV="1">
            <a:off x="3051175" y="268446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7" name="Line 31">
            <a:extLst>
              <a:ext uri="{FF2B5EF4-FFF2-40B4-BE49-F238E27FC236}">
                <a16:creationId xmlns:a16="http://schemas.microsoft.com/office/drawing/2014/main" id="{7299BAB3-CE94-4B43-9BE0-A95E252245B6}"/>
              </a:ext>
            </a:extLst>
          </p:cNvPr>
          <p:cNvSpPr>
            <a:spLocks noChangeShapeType="1"/>
          </p:cNvSpPr>
          <p:nvPr/>
        </p:nvSpPr>
        <p:spPr bwMode="auto">
          <a:xfrm flipV="1">
            <a:off x="3148013" y="380682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8" name="Line 32">
            <a:extLst>
              <a:ext uri="{FF2B5EF4-FFF2-40B4-BE49-F238E27FC236}">
                <a16:creationId xmlns:a16="http://schemas.microsoft.com/office/drawing/2014/main" id="{F33A2441-6ACE-4555-A87B-E56F19B85BC9}"/>
              </a:ext>
            </a:extLst>
          </p:cNvPr>
          <p:cNvSpPr>
            <a:spLocks noChangeShapeType="1"/>
          </p:cNvSpPr>
          <p:nvPr/>
        </p:nvSpPr>
        <p:spPr bwMode="auto">
          <a:xfrm>
            <a:off x="4843463" y="263842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9" name="Line 33">
            <a:extLst>
              <a:ext uri="{FF2B5EF4-FFF2-40B4-BE49-F238E27FC236}">
                <a16:creationId xmlns:a16="http://schemas.microsoft.com/office/drawing/2014/main" id="{EB29284D-956D-454F-A523-838D86666D10}"/>
              </a:ext>
            </a:extLst>
          </p:cNvPr>
          <p:cNvSpPr>
            <a:spLocks noChangeShapeType="1"/>
          </p:cNvSpPr>
          <p:nvPr/>
        </p:nvSpPr>
        <p:spPr bwMode="auto">
          <a:xfrm flipV="1">
            <a:off x="4867275" y="330200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2" name="Text Box 34">
            <a:extLst>
              <a:ext uri="{FF2B5EF4-FFF2-40B4-BE49-F238E27FC236}">
                <a16:creationId xmlns:a16="http://schemas.microsoft.com/office/drawing/2014/main" id="{C095719C-C0A6-45EA-8F36-347BD4BD49A1}"/>
              </a:ext>
            </a:extLst>
          </p:cNvPr>
          <p:cNvSpPr txBox="1">
            <a:spLocks noChangeArrowheads="1"/>
          </p:cNvSpPr>
          <p:nvPr/>
        </p:nvSpPr>
        <p:spPr bwMode="auto">
          <a:xfrm>
            <a:off x="1849438" y="29130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a:t>
            </a:r>
          </a:p>
        </p:txBody>
      </p:sp>
      <p:sp>
        <p:nvSpPr>
          <p:cNvPr id="48163" name="Text Box 35">
            <a:extLst>
              <a:ext uri="{FF2B5EF4-FFF2-40B4-BE49-F238E27FC236}">
                <a16:creationId xmlns:a16="http://schemas.microsoft.com/office/drawing/2014/main" id="{94160128-0619-4C58-937A-7115A6380127}"/>
              </a:ext>
            </a:extLst>
          </p:cNvPr>
          <p:cNvSpPr txBox="1">
            <a:spLocks noChangeArrowheads="1"/>
          </p:cNvSpPr>
          <p:nvPr/>
        </p:nvSpPr>
        <p:spPr bwMode="auto">
          <a:xfrm>
            <a:off x="1835150" y="3489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5</a:t>
            </a:r>
          </a:p>
        </p:txBody>
      </p:sp>
      <p:sp>
        <p:nvSpPr>
          <p:cNvPr id="48164" name="Text Box 36">
            <a:extLst>
              <a:ext uri="{FF2B5EF4-FFF2-40B4-BE49-F238E27FC236}">
                <a16:creationId xmlns:a16="http://schemas.microsoft.com/office/drawing/2014/main" id="{BC107DAB-048B-43A4-862E-1D6E6127D759}"/>
              </a:ext>
            </a:extLst>
          </p:cNvPr>
          <p:cNvSpPr txBox="1">
            <a:spLocks noChangeArrowheads="1"/>
          </p:cNvSpPr>
          <p:nvPr/>
        </p:nvSpPr>
        <p:spPr bwMode="auto">
          <a:xfrm>
            <a:off x="1768475" y="42322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a:t>
            </a:r>
          </a:p>
        </p:txBody>
      </p:sp>
      <p:sp>
        <p:nvSpPr>
          <p:cNvPr id="14373" name="Line 46">
            <a:extLst>
              <a:ext uri="{FF2B5EF4-FFF2-40B4-BE49-F238E27FC236}">
                <a16:creationId xmlns:a16="http://schemas.microsoft.com/office/drawing/2014/main" id="{279F4E61-9B50-40B5-BB61-34EFF5144AEA}"/>
              </a:ext>
            </a:extLst>
          </p:cNvPr>
          <p:cNvSpPr>
            <a:spLocks noChangeShapeType="1"/>
          </p:cNvSpPr>
          <p:nvPr/>
        </p:nvSpPr>
        <p:spPr bwMode="auto">
          <a:xfrm>
            <a:off x="6516688" y="3194050"/>
            <a:ext cx="895350" cy="4524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4" name="Text Box 47">
            <a:extLst>
              <a:ext uri="{FF2B5EF4-FFF2-40B4-BE49-F238E27FC236}">
                <a16:creationId xmlns:a16="http://schemas.microsoft.com/office/drawing/2014/main" id="{E309AB65-DB35-434E-BBA1-913D71E508BA}"/>
              </a:ext>
            </a:extLst>
          </p:cNvPr>
          <p:cNvSpPr txBox="1">
            <a:spLocks noChangeArrowheads="1"/>
          </p:cNvSpPr>
          <p:nvPr/>
        </p:nvSpPr>
        <p:spPr bwMode="auto">
          <a:xfrm>
            <a:off x="6156325" y="24225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5</a:t>
            </a:r>
          </a:p>
        </p:txBody>
      </p:sp>
      <p:sp>
        <p:nvSpPr>
          <p:cNvPr id="14375" name="Line 48">
            <a:extLst>
              <a:ext uri="{FF2B5EF4-FFF2-40B4-BE49-F238E27FC236}">
                <a16:creationId xmlns:a16="http://schemas.microsoft.com/office/drawing/2014/main" id="{AD7E015B-6C00-4504-8894-E4807C61E58D}"/>
              </a:ext>
            </a:extLst>
          </p:cNvPr>
          <p:cNvSpPr>
            <a:spLocks noChangeShapeType="1"/>
          </p:cNvSpPr>
          <p:nvPr/>
        </p:nvSpPr>
        <p:spPr bwMode="auto">
          <a:xfrm flipV="1">
            <a:off x="6516688" y="3862388"/>
            <a:ext cx="919162" cy="3984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6" name="Text Box 49">
            <a:extLst>
              <a:ext uri="{FF2B5EF4-FFF2-40B4-BE49-F238E27FC236}">
                <a16:creationId xmlns:a16="http://schemas.microsoft.com/office/drawing/2014/main" id="{D09D1459-CA4F-4F47-8B51-60E5AE3089E1}"/>
              </a:ext>
            </a:extLst>
          </p:cNvPr>
          <p:cNvSpPr txBox="1">
            <a:spLocks noChangeArrowheads="1"/>
          </p:cNvSpPr>
          <p:nvPr/>
        </p:nvSpPr>
        <p:spPr bwMode="auto">
          <a:xfrm>
            <a:off x="6156325" y="37179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a:t>
            </a:r>
          </a:p>
        </p:txBody>
      </p:sp>
      <p:sp>
        <p:nvSpPr>
          <p:cNvPr id="14377" name="Line 50">
            <a:extLst>
              <a:ext uri="{FF2B5EF4-FFF2-40B4-BE49-F238E27FC236}">
                <a16:creationId xmlns:a16="http://schemas.microsoft.com/office/drawing/2014/main" id="{AE61A3FE-AAA5-4C79-A9D4-B9FDC1BAD890}"/>
              </a:ext>
            </a:extLst>
          </p:cNvPr>
          <p:cNvSpPr>
            <a:spLocks noChangeShapeType="1"/>
          </p:cNvSpPr>
          <p:nvPr/>
        </p:nvSpPr>
        <p:spPr bwMode="auto">
          <a:xfrm>
            <a:off x="4932363" y="2468563"/>
            <a:ext cx="1114425" cy="5302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8" name="Text Box 51">
            <a:extLst>
              <a:ext uri="{FF2B5EF4-FFF2-40B4-BE49-F238E27FC236}">
                <a16:creationId xmlns:a16="http://schemas.microsoft.com/office/drawing/2014/main" id="{21081EEF-2870-4B51-9EDC-25AE7D8D76B4}"/>
              </a:ext>
            </a:extLst>
          </p:cNvPr>
          <p:cNvSpPr txBox="1">
            <a:spLocks noChangeArrowheads="1"/>
          </p:cNvSpPr>
          <p:nvPr/>
        </p:nvSpPr>
        <p:spPr bwMode="auto">
          <a:xfrm>
            <a:off x="4500563" y="1773238"/>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8</a:t>
            </a:r>
          </a:p>
        </p:txBody>
      </p:sp>
      <p:sp>
        <p:nvSpPr>
          <p:cNvPr id="14379" name="Line 52">
            <a:extLst>
              <a:ext uri="{FF2B5EF4-FFF2-40B4-BE49-F238E27FC236}">
                <a16:creationId xmlns:a16="http://schemas.microsoft.com/office/drawing/2014/main" id="{0A546C36-793C-4A27-88EB-1F6550E4CD93}"/>
              </a:ext>
            </a:extLst>
          </p:cNvPr>
          <p:cNvSpPr>
            <a:spLocks noChangeShapeType="1"/>
          </p:cNvSpPr>
          <p:nvPr/>
        </p:nvSpPr>
        <p:spPr bwMode="auto">
          <a:xfrm>
            <a:off x="4859338" y="3816350"/>
            <a:ext cx="1112837" cy="4778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0" name="Text Box 53">
            <a:extLst>
              <a:ext uri="{FF2B5EF4-FFF2-40B4-BE49-F238E27FC236}">
                <a16:creationId xmlns:a16="http://schemas.microsoft.com/office/drawing/2014/main" id="{95BD9A80-3EDD-4669-A082-E9B8EE9FB36B}"/>
              </a:ext>
            </a:extLst>
          </p:cNvPr>
          <p:cNvSpPr txBox="1">
            <a:spLocks noChangeArrowheads="1"/>
          </p:cNvSpPr>
          <p:nvPr/>
        </p:nvSpPr>
        <p:spPr bwMode="auto">
          <a:xfrm>
            <a:off x="4500563" y="3055938"/>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7</a:t>
            </a:r>
          </a:p>
        </p:txBody>
      </p:sp>
      <p:sp>
        <p:nvSpPr>
          <p:cNvPr id="14381" name="Line 54">
            <a:extLst>
              <a:ext uri="{FF2B5EF4-FFF2-40B4-BE49-F238E27FC236}">
                <a16:creationId xmlns:a16="http://schemas.microsoft.com/office/drawing/2014/main" id="{EB4C8CC6-8441-47C8-8B47-7EB427C33E60}"/>
              </a:ext>
            </a:extLst>
          </p:cNvPr>
          <p:cNvSpPr>
            <a:spLocks noChangeShapeType="1"/>
          </p:cNvSpPr>
          <p:nvPr/>
        </p:nvSpPr>
        <p:spPr bwMode="auto">
          <a:xfrm flipV="1">
            <a:off x="4932363" y="4445000"/>
            <a:ext cx="1138237" cy="42545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2" name="Text Box 55">
            <a:extLst>
              <a:ext uri="{FF2B5EF4-FFF2-40B4-BE49-F238E27FC236}">
                <a16:creationId xmlns:a16="http://schemas.microsoft.com/office/drawing/2014/main" id="{59199FA0-91BD-4DE2-AA1D-A5712458EFBC}"/>
              </a:ext>
            </a:extLst>
          </p:cNvPr>
          <p:cNvSpPr txBox="1">
            <a:spLocks noChangeArrowheads="1"/>
          </p:cNvSpPr>
          <p:nvPr/>
        </p:nvSpPr>
        <p:spPr bwMode="auto">
          <a:xfrm>
            <a:off x="4584700" y="4294188"/>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12</a:t>
            </a:r>
          </a:p>
        </p:txBody>
      </p:sp>
      <p:sp>
        <p:nvSpPr>
          <p:cNvPr id="14383" name="Line 56">
            <a:extLst>
              <a:ext uri="{FF2B5EF4-FFF2-40B4-BE49-F238E27FC236}">
                <a16:creationId xmlns:a16="http://schemas.microsoft.com/office/drawing/2014/main" id="{0FE1ED72-8C8B-449F-B361-F338B8C6513D}"/>
              </a:ext>
            </a:extLst>
          </p:cNvPr>
          <p:cNvSpPr>
            <a:spLocks noChangeShapeType="1"/>
          </p:cNvSpPr>
          <p:nvPr/>
        </p:nvSpPr>
        <p:spPr bwMode="auto">
          <a:xfrm flipV="1">
            <a:off x="3132138" y="2422525"/>
            <a:ext cx="1235075" cy="206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4" name="Text Box 57">
            <a:extLst>
              <a:ext uri="{FF2B5EF4-FFF2-40B4-BE49-F238E27FC236}">
                <a16:creationId xmlns:a16="http://schemas.microsoft.com/office/drawing/2014/main" id="{DE5A0FEA-FA00-4660-991D-02C6EC7A15CC}"/>
              </a:ext>
            </a:extLst>
          </p:cNvPr>
          <p:cNvSpPr txBox="1">
            <a:spLocks noChangeArrowheads="1"/>
          </p:cNvSpPr>
          <p:nvPr/>
        </p:nvSpPr>
        <p:spPr bwMode="auto">
          <a:xfrm>
            <a:off x="2700338" y="1846263"/>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20</a:t>
            </a:r>
          </a:p>
        </p:txBody>
      </p:sp>
      <p:sp>
        <p:nvSpPr>
          <p:cNvPr id="14385" name="Line 58">
            <a:extLst>
              <a:ext uri="{FF2B5EF4-FFF2-40B4-BE49-F238E27FC236}">
                <a16:creationId xmlns:a16="http://schemas.microsoft.com/office/drawing/2014/main" id="{9667D2C3-589F-428A-858D-CAE75AAEBE52}"/>
              </a:ext>
            </a:extLst>
          </p:cNvPr>
          <p:cNvSpPr>
            <a:spLocks noChangeShapeType="1"/>
          </p:cNvSpPr>
          <p:nvPr/>
        </p:nvSpPr>
        <p:spPr bwMode="auto">
          <a:xfrm flipV="1">
            <a:off x="3059113" y="2597150"/>
            <a:ext cx="1331912" cy="97631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6" name="Text Box 59">
            <a:extLst>
              <a:ext uri="{FF2B5EF4-FFF2-40B4-BE49-F238E27FC236}">
                <a16:creationId xmlns:a16="http://schemas.microsoft.com/office/drawing/2014/main" id="{F85FE7F3-FDB8-4E75-8E99-995283FC347D}"/>
              </a:ext>
            </a:extLst>
          </p:cNvPr>
          <p:cNvSpPr txBox="1">
            <a:spLocks noChangeArrowheads="1"/>
          </p:cNvSpPr>
          <p:nvPr/>
        </p:nvSpPr>
        <p:spPr bwMode="auto">
          <a:xfrm>
            <a:off x="2713038" y="3055938"/>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14</a:t>
            </a:r>
          </a:p>
        </p:txBody>
      </p:sp>
      <p:sp>
        <p:nvSpPr>
          <p:cNvPr id="14387" name="Line 60">
            <a:extLst>
              <a:ext uri="{FF2B5EF4-FFF2-40B4-BE49-F238E27FC236}">
                <a16:creationId xmlns:a16="http://schemas.microsoft.com/office/drawing/2014/main" id="{E9F8BB14-125B-4247-AB6F-1254C92D844E}"/>
              </a:ext>
            </a:extLst>
          </p:cNvPr>
          <p:cNvSpPr>
            <a:spLocks noChangeShapeType="1"/>
          </p:cNvSpPr>
          <p:nvPr/>
        </p:nvSpPr>
        <p:spPr bwMode="auto">
          <a:xfrm flipV="1">
            <a:off x="3132138" y="3841750"/>
            <a:ext cx="1308100" cy="10287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8" name="Text Box 61">
            <a:extLst>
              <a:ext uri="{FF2B5EF4-FFF2-40B4-BE49-F238E27FC236}">
                <a16:creationId xmlns:a16="http://schemas.microsoft.com/office/drawing/2014/main" id="{230CAA7A-1B8E-42A1-80D7-BF29FDC1F126}"/>
              </a:ext>
            </a:extLst>
          </p:cNvPr>
          <p:cNvSpPr txBox="1">
            <a:spLocks noChangeArrowheads="1"/>
          </p:cNvSpPr>
          <p:nvPr/>
        </p:nvSpPr>
        <p:spPr bwMode="auto">
          <a:xfrm>
            <a:off x="2784475" y="4352925"/>
            <a:ext cx="274638"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rPr>
              <a:t>19</a:t>
            </a:r>
          </a:p>
        </p:txBody>
      </p:sp>
      <p:sp>
        <p:nvSpPr>
          <p:cNvPr id="48190" name="Line 62">
            <a:extLst>
              <a:ext uri="{FF2B5EF4-FFF2-40B4-BE49-F238E27FC236}">
                <a16:creationId xmlns:a16="http://schemas.microsoft.com/office/drawing/2014/main" id="{C3900320-C240-410A-9349-C07179B6EDEF}"/>
              </a:ext>
            </a:extLst>
          </p:cNvPr>
          <p:cNvSpPr>
            <a:spLocks noChangeShapeType="1"/>
          </p:cNvSpPr>
          <p:nvPr/>
        </p:nvSpPr>
        <p:spPr bwMode="auto">
          <a:xfrm flipV="1">
            <a:off x="1692275" y="3717925"/>
            <a:ext cx="944563" cy="142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91" name="Text Box 63">
            <a:extLst>
              <a:ext uri="{FF2B5EF4-FFF2-40B4-BE49-F238E27FC236}">
                <a16:creationId xmlns:a16="http://schemas.microsoft.com/office/drawing/2014/main" id="{EE4F6C2F-1E23-466E-910F-8858C82C3A0B}"/>
              </a:ext>
            </a:extLst>
          </p:cNvPr>
          <p:cNvSpPr txBox="1">
            <a:spLocks noChangeArrowheads="1"/>
          </p:cNvSpPr>
          <p:nvPr/>
        </p:nvSpPr>
        <p:spPr bwMode="auto">
          <a:xfrm>
            <a:off x="1331913" y="3070225"/>
            <a:ext cx="274637"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dirty="0">
                <a:latin typeface="Times New Roman" panose="02020603050405020304" pitchFamily="18" charset="0"/>
              </a:rPr>
              <a:t>19</a:t>
            </a:r>
          </a:p>
        </p:txBody>
      </p:sp>
      <p:sp>
        <p:nvSpPr>
          <p:cNvPr id="2" name="矩形 1">
            <a:extLst>
              <a:ext uri="{FF2B5EF4-FFF2-40B4-BE49-F238E27FC236}">
                <a16:creationId xmlns:a16="http://schemas.microsoft.com/office/drawing/2014/main" id="{1906BFF5-FAF4-41FB-BAC9-B79694F8FAF7}"/>
              </a:ext>
            </a:extLst>
          </p:cNvPr>
          <p:cNvSpPr/>
          <p:nvPr/>
        </p:nvSpPr>
        <p:spPr>
          <a:xfrm>
            <a:off x="1554089" y="5979617"/>
            <a:ext cx="4572000" cy="923330"/>
          </a:xfrm>
          <a:prstGeom prst="rect">
            <a:avLst/>
          </a:prstGeom>
        </p:spPr>
        <p:txBody>
          <a:bodyPr>
            <a:spAutoFit/>
          </a:bodyPr>
          <a:lstStyle/>
          <a:p>
            <a:pPr eaLnBrk="1" hangingPunct="1"/>
            <a:r>
              <a:rPr lang="zh-CN" altLang="en-US" dirty="0"/>
              <a:t>穷举法</a:t>
            </a:r>
          </a:p>
          <a:p>
            <a:pPr lvl="1" eaLnBrk="1" hangingPunct="1"/>
            <a:r>
              <a:rPr lang="zh-CN" altLang="en-US" dirty="0"/>
              <a:t>加法：</a:t>
            </a:r>
            <a:r>
              <a:rPr lang="en-US" altLang="zh-CN" dirty="0"/>
              <a:t>3×18 </a:t>
            </a:r>
            <a:r>
              <a:rPr lang="zh-CN" altLang="en-US" dirty="0"/>
              <a:t>（条路线）</a:t>
            </a:r>
            <a:r>
              <a:rPr lang="en-US" altLang="zh-CN" dirty="0"/>
              <a:t>=</a:t>
            </a:r>
            <a:r>
              <a:rPr lang="en-US" altLang="zh-CN" dirty="0">
                <a:solidFill>
                  <a:srgbClr val="FF0000"/>
                </a:solidFill>
              </a:rPr>
              <a:t>54</a:t>
            </a:r>
            <a:r>
              <a:rPr lang="en-US" altLang="zh-CN" dirty="0"/>
              <a:t> </a:t>
            </a:r>
            <a:r>
              <a:rPr lang="zh-CN" altLang="en-US" dirty="0"/>
              <a:t>次  比较：</a:t>
            </a:r>
            <a:r>
              <a:rPr lang="en-US" altLang="zh-CN" dirty="0">
                <a:solidFill>
                  <a:srgbClr val="FF0000"/>
                </a:solidFill>
              </a:rPr>
              <a:t>17</a:t>
            </a:r>
            <a:r>
              <a:rPr lang="en-US" altLang="zh-CN" dirty="0"/>
              <a:t> </a:t>
            </a:r>
            <a:r>
              <a:rPr lang="zh-CN" altLang="en-US" dirty="0"/>
              <a:t>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mph" presetSubtype="2" fill="hold" nodeType="clickEffect">
                                  <p:stCondLst>
                                    <p:cond delay="0"/>
                                  </p:stCondLst>
                                  <p:childTnLst>
                                    <p:animClr clrSpc="rgb" dir="cw">
                                      <p:cBhvr>
                                        <p:cTn id="6" dur="500" fill="hold"/>
                                        <p:tgtEl>
                                          <p:spTgt spid="48135"/>
                                        </p:tgtEl>
                                        <p:attrNameLst>
                                          <p:attrName>fillcolor</p:attrName>
                                        </p:attrNameLst>
                                      </p:cBhvr>
                                      <p:to>
                                        <a:srgbClr val="7446B2"/>
                                      </p:to>
                                    </p:animClr>
                                    <p:set>
                                      <p:cBhvr>
                                        <p:cTn id="7" dur="500" fill="hold"/>
                                        <p:tgtEl>
                                          <p:spTgt spid="48135"/>
                                        </p:tgtEl>
                                        <p:attrNameLst>
                                          <p:attrName>fill.type</p:attrName>
                                        </p:attrNameLst>
                                      </p:cBhvr>
                                      <p:to>
                                        <p:strVal val="solid"/>
                                      </p:to>
                                    </p:set>
                                    <p:set>
                                      <p:cBhvr>
                                        <p:cTn id="8" dur="500" fill="hold"/>
                                        <p:tgtEl>
                                          <p:spTgt spid="48135"/>
                                        </p:tgtEl>
                                        <p:attrNameLst>
                                          <p:attrName>fill.on</p:attrName>
                                        </p:attrNameLst>
                                      </p:cBhvr>
                                      <p:to>
                                        <p:strVal val="tru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819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191"/>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48162"/>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48163"/>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481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62" grpId="0"/>
      <p:bldP spid="48163" grpId="0"/>
      <p:bldP spid="48164" grpId="0"/>
      <p:bldP spid="4819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AD583A3-65D8-4FC9-BED5-78DF6B611175}"/>
              </a:ext>
            </a:extLst>
          </p:cNvPr>
          <p:cNvSpPr>
            <a:spLocks noGrp="1" noChangeArrowheads="1"/>
          </p:cNvSpPr>
          <p:nvPr>
            <p:ph type="title"/>
          </p:nvPr>
        </p:nvSpPr>
        <p:spPr>
          <a:xfrm>
            <a:off x="457200" y="-3175"/>
            <a:ext cx="8229600" cy="911225"/>
          </a:xfrm>
        </p:spPr>
        <p:txBody>
          <a:bodyPr/>
          <a:lstStyle/>
          <a:p>
            <a:pPr eaLnBrk="1" hangingPunct="1"/>
            <a:r>
              <a:rPr lang="en-US" altLang="zh-CN"/>
              <a:t>Lingo</a:t>
            </a:r>
            <a:r>
              <a:rPr lang="zh-CN" altLang="en-US"/>
              <a:t>求解</a:t>
            </a:r>
          </a:p>
        </p:txBody>
      </p:sp>
      <p:sp>
        <p:nvSpPr>
          <p:cNvPr id="5" name="矩形 4">
            <a:extLst>
              <a:ext uri="{FF2B5EF4-FFF2-40B4-BE49-F238E27FC236}">
                <a16:creationId xmlns:a16="http://schemas.microsoft.com/office/drawing/2014/main" id="{E7D60A1F-9972-438D-915E-314AB99A0492}"/>
              </a:ext>
            </a:extLst>
          </p:cNvPr>
          <p:cNvSpPr/>
          <p:nvPr/>
        </p:nvSpPr>
        <p:spPr>
          <a:xfrm>
            <a:off x="179388" y="1052513"/>
            <a:ext cx="4897437" cy="3108325"/>
          </a:xfrm>
          <a:prstGeom prst="rect">
            <a:avLst/>
          </a:prstGeom>
          <a:ln>
            <a:solidFill>
              <a:srgbClr val="FF00FF"/>
            </a:solidFill>
          </a:ln>
        </p:spPr>
        <p:txBody>
          <a:bodyPr>
            <a:spAutoFit/>
          </a:bodyPr>
          <a:lstStyle/>
          <a:p>
            <a:pPr>
              <a:defRPr/>
            </a:pPr>
            <a:r>
              <a:rPr lang="en-US" altLang="zh-CN" sz="1400" dirty="0">
                <a:solidFill>
                  <a:srgbClr val="0000FF"/>
                </a:solidFill>
                <a:latin typeface="+mn-lt"/>
              </a:rPr>
              <a:t>model</a:t>
            </a:r>
            <a:r>
              <a:rPr lang="en-US" altLang="zh-CN" sz="1400" dirty="0">
                <a:solidFill>
                  <a:srgbClr val="000000"/>
                </a:solidFill>
                <a:latin typeface="+mn-lt"/>
              </a:rPr>
              <a:t>: </a:t>
            </a:r>
            <a:endParaRPr lang="zh-CN" altLang="en-US" sz="1400" dirty="0">
              <a:solidFill>
                <a:srgbClr val="000000"/>
              </a:solidFill>
              <a:latin typeface="+mn-lt"/>
            </a:endParaRPr>
          </a:p>
          <a:p>
            <a:pPr>
              <a:defRPr/>
            </a:pPr>
            <a:r>
              <a:rPr lang="en-US" altLang="zh-CN" sz="1400" dirty="0">
                <a:solidFill>
                  <a:srgbClr val="0000FF"/>
                </a:solidFill>
                <a:latin typeface="+mn-lt"/>
              </a:rPr>
              <a:t>sets</a:t>
            </a:r>
            <a:r>
              <a:rPr lang="en-US" altLang="zh-CN" sz="1400" dirty="0">
                <a:solidFill>
                  <a:srgbClr val="000000"/>
                </a:solidFill>
                <a:latin typeface="+mn-lt"/>
              </a:rPr>
              <a:t>:  cities/A,B1,B2,B3,C1,C2,C3,D1,D2,E/:F; </a:t>
            </a:r>
            <a:endParaRPr lang="zh-CN" altLang="en-US" sz="1400" dirty="0">
              <a:solidFill>
                <a:srgbClr val="000000"/>
              </a:solidFill>
              <a:latin typeface="+mn-lt"/>
            </a:endParaRPr>
          </a:p>
          <a:p>
            <a:pPr>
              <a:defRPr/>
            </a:pPr>
            <a:r>
              <a:rPr lang="en-US" altLang="zh-CN" sz="1400" dirty="0">
                <a:solidFill>
                  <a:srgbClr val="000000"/>
                </a:solidFill>
                <a:latin typeface="+mn-lt"/>
              </a:rPr>
              <a:t>roads(</a:t>
            </a:r>
            <a:r>
              <a:rPr lang="en-US" altLang="zh-CN" sz="1400" dirty="0" err="1">
                <a:solidFill>
                  <a:srgbClr val="000000"/>
                </a:solidFill>
                <a:latin typeface="+mn-lt"/>
              </a:rPr>
              <a:t>cities,cities</a:t>
            </a:r>
            <a:r>
              <a:rPr lang="en-US" altLang="zh-CN" sz="1400" dirty="0">
                <a:solidFill>
                  <a:srgbClr val="000000"/>
                </a:solidFill>
                <a:latin typeface="+mn-lt"/>
              </a:rPr>
              <a:t>)/  </a:t>
            </a:r>
            <a:endParaRPr lang="zh-CN" altLang="en-US" sz="1400" dirty="0">
              <a:solidFill>
                <a:srgbClr val="000000"/>
              </a:solidFill>
              <a:latin typeface="+mn-lt"/>
            </a:endParaRPr>
          </a:p>
          <a:p>
            <a:pPr>
              <a:defRPr/>
            </a:pPr>
            <a:r>
              <a:rPr lang="pt-BR" altLang="zh-CN" sz="1400" dirty="0">
                <a:solidFill>
                  <a:srgbClr val="000000"/>
                </a:solidFill>
                <a:latin typeface="+mn-lt"/>
              </a:rPr>
              <a:t>A,B1 A,B2 A,B3 </a:t>
            </a:r>
            <a:r>
              <a:rPr lang="en-US" altLang="zh-CN" sz="1400" dirty="0">
                <a:solidFill>
                  <a:srgbClr val="000000"/>
                </a:solidFill>
                <a:latin typeface="+mn-lt"/>
              </a:rPr>
              <a:t>B1,C1 B1,C2 B1,C3 B2,C1 B2,C2 B2,C3 </a:t>
            </a:r>
            <a:endParaRPr lang="zh-CN" altLang="en-US" sz="1400" dirty="0">
              <a:solidFill>
                <a:srgbClr val="000000"/>
              </a:solidFill>
              <a:latin typeface="+mn-lt"/>
            </a:endParaRPr>
          </a:p>
          <a:p>
            <a:pPr>
              <a:defRPr/>
            </a:pPr>
            <a:r>
              <a:rPr lang="en-US" altLang="zh-CN" sz="1400" dirty="0">
                <a:solidFill>
                  <a:srgbClr val="000000"/>
                </a:solidFill>
                <a:latin typeface="+mn-lt"/>
              </a:rPr>
              <a:t>B3,C1 B3,C2 B3,C3 C1,D1 C1,D2 C2,D1 C2,D2 C3,D1 C3,D2 </a:t>
            </a:r>
            <a:endParaRPr lang="zh-CN" altLang="en-US" sz="1400" dirty="0">
              <a:solidFill>
                <a:srgbClr val="000000"/>
              </a:solidFill>
              <a:latin typeface="+mn-lt"/>
            </a:endParaRPr>
          </a:p>
          <a:p>
            <a:pPr>
              <a:defRPr/>
            </a:pPr>
            <a:r>
              <a:rPr lang="en-US" altLang="zh-CN" sz="1400" dirty="0">
                <a:solidFill>
                  <a:srgbClr val="000000"/>
                </a:solidFill>
                <a:latin typeface="+mn-lt"/>
              </a:rPr>
              <a:t>D1,E D2,E/:D, P; </a:t>
            </a:r>
            <a:endParaRPr lang="zh-CN" altLang="en-US" sz="1400" dirty="0">
              <a:solidFill>
                <a:srgbClr val="000000"/>
              </a:solidFill>
              <a:latin typeface="+mn-lt"/>
            </a:endParaRPr>
          </a:p>
          <a:p>
            <a:pPr>
              <a:defRPr/>
            </a:pPr>
            <a:r>
              <a:rPr lang="en-US" altLang="zh-CN" sz="1400" dirty="0" err="1">
                <a:solidFill>
                  <a:srgbClr val="0000FF"/>
                </a:solidFill>
                <a:latin typeface="+mn-lt"/>
              </a:rPr>
              <a:t>endsets</a:t>
            </a:r>
            <a:r>
              <a:rPr lang="zh-CN" altLang="en-US" sz="1400" dirty="0">
                <a:solidFill>
                  <a:srgbClr val="000000"/>
                </a:solidFill>
                <a:latin typeface="+mn-lt"/>
              </a:rPr>
              <a:t> </a:t>
            </a:r>
          </a:p>
          <a:p>
            <a:pPr>
              <a:defRPr/>
            </a:pPr>
            <a:r>
              <a:rPr lang="en-US" altLang="zh-CN" sz="1400" dirty="0">
                <a:solidFill>
                  <a:srgbClr val="0000FF"/>
                </a:solidFill>
                <a:latin typeface="+mn-lt"/>
              </a:rPr>
              <a:t>data</a:t>
            </a:r>
            <a:r>
              <a:rPr lang="en-US" altLang="zh-CN" sz="1400" dirty="0">
                <a:solidFill>
                  <a:srgbClr val="000000"/>
                </a:solidFill>
                <a:latin typeface="+mn-lt"/>
              </a:rPr>
              <a:t>:  D=2,5,1,12,14,10, 6,10,4, 13,12,11, 3,9,</a:t>
            </a:r>
            <a:r>
              <a:rPr lang="zh-CN" altLang="en-US" sz="1400" dirty="0">
                <a:solidFill>
                  <a:srgbClr val="000000"/>
                </a:solidFill>
                <a:latin typeface="+mn-lt"/>
              </a:rPr>
              <a:t> </a:t>
            </a:r>
            <a:r>
              <a:rPr lang="en-US" altLang="zh-CN" sz="1400" dirty="0">
                <a:solidFill>
                  <a:srgbClr val="000000"/>
                </a:solidFill>
                <a:latin typeface="+mn-lt"/>
              </a:rPr>
              <a:t>6,5,</a:t>
            </a:r>
            <a:r>
              <a:rPr lang="zh-CN" altLang="en-US" sz="1400" dirty="0">
                <a:solidFill>
                  <a:srgbClr val="000000"/>
                </a:solidFill>
                <a:latin typeface="+mn-lt"/>
              </a:rPr>
              <a:t> </a:t>
            </a:r>
            <a:r>
              <a:rPr lang="en-US" altLang="zh-CN" sz="1400" dirty="0">
                <a:solidFill>
                  <a:srgbClr val="000000"/>
                </a:solidFill>
                <a:latin typeface="+mn-lt"/>
              </a:rPr>
              <a:t>8,10,</a:t>
            </a:r>
            <a:r>
              <a:rPr lang="zh-CN" altLang="en-US" sz="1400" dirty="0">
                <a:solidFill>
                  <a:srgbClr val="000000"/>
                </a:solidFill>
                <a:latin typeface="+mn-lt"/>
              </a:rPr>
              <a:t> </a:t>
            </a:r>
            <a:r>
              <a:rPr lang="en-US" altLang="zh-CN" sz="1400" dirty="0">
                <a:solidFill>
                  <a:srgbClr val="000000"/>
                </a:solidFill>
                <a:latin typeface="+mn-lt"/>
              </a:rPr>
              <a:t>5, </a:t>
            </a:r>
            <a:r>
              <a:rPr lang="zh-CN" altLang="en-US" sz="1400" dirty="0">
                <a:solidFill>
                  <a:srgbClr val="000000"/>
                </a:solidFill>
                <a:latin typeface="+mn-lt"/>
              </a:rPr>
              <a:t> </a:t>
            </a:r>
            <a:r>
              <a:rPr lang="en-US" altLang="zh-CN" sz="1400" dirty="0">
                <a:solidFill>
                  <a:srgbClr val="000000"/>
                </a:solidFill>
                <a:latin typeface="+mn-lt"/>
              </a:rPr>
              <a:t>2; </a:t>
            </a:r>
            <a:endParaRPr lang="zh-CN" altLang="en-US" sz="1400" dirty="0">
              <a:solidFill>
                <a:srgbClr val="000000"/>
              </a:solidFill>
              <a:latin typeface="+mn-lt"/>
            </a:endParaRPr>
          </a:p>
          <a:p>
            <a:pPr>
              <a:defRPr/>
            </a:pPr>
            <a:r>
              <a:rPr lang="en-US" altLang="zh-CN" sz="1400" dirty="0" err="1">
                <a:solidFill>
                  <a:srgbClr val="0000FF"/>
                </a:solidFill>
                <a:latin typeface="+mn-lt"/>
              </a:rPr>
              <a:t>enddata</a:t>
            </a:r>
            <a:r>
              <a:rPr lang="zh-CN" altLang="en-US" sz="1400" dirty="0">
                <a:solidFill>
                  <a:srgbClr val="000000"/>
                </a:solidFill>
                <a:latin typeface="+mn-lt"/>
              </a:rPr>
              <a:t> </a:t>
            </a:r>
          </a:p>
          <a:p>
            <a:pPr>
              <a:defRPr/>
            </a:pPr>
            <a:r>
              <a:rPr lang="en-US" altLang="zh-CN" sz="1400" dirty="0">
                <a:solidFill>
                  <a:srgbClr val="000000"/>
                </a:solidFill>
                <a:latin typeface="+mn-lt"/>
              </a:rPr>
              <a:t>n=</a:t>
            </a:r>
            <a:r>
              <a:rPr lang="en-US" altLang="zh-CN" sz="1400" dirty="0">
                <a:solidFill>
                  <a:srgbClr val="0000FF"/>
                </a:solidFill>
                <a:latin typeface="+mn-lt"/>
              </a:rPr>
              <a:t>@size</a:t>
            </a:r>
            <a:r>
              <a:rPr lang="en-US" altLang="zh-CN" sz="1400" dirty="0">
                <a:solidFill>
                  <a:srgbClr val="000000"/>
                </a:solidFill>
                <a:latin typeface="+mn-lt"/>
              </a:rPr>
              <a:t>(cities); </a:t>
            </a:r>
            <a:endParaRPr lang="zh-CN" altLang="en-US" sz="1400" dirty="0">
              <a:solidFill>
                <a:srgbClr val="000000"/>
              </a:solidFill>
              <a:latin typeface="+mn-lt"/>
            </a:endParaRPr>
          </a:p>
          <a:p>
            <a:pPr>
              <a:defRPr/>
            </a:pPr>
            <a:r>
              <a:rPr lang="en-US" altLang="zh-CN" sz="1400" dirty="0">
                <a:solidFill>
                  <a:srgbClr val="000000"/>
                </a:solidFill>
                <a:latin typeface="+mn-lt"/>
              </a:rPr>
              <a:t>F(n)=0;  </a:t>
            </a:r>
            <a:endParaRPr lang="zh-CN" altLang="en-US" sz="1400" dirty="0">
              <a:solidFill>
                <a:srgbClr val="000000"/>
              </a:solidFill>
              <a:latin typeface="+mn-lt"/>
            </a:endParaRPr>
          </a:p>
          <a:p>
            <a:pPr>
              <a:defRPr/>
            </a:pPr>
            <a:r>
              <a:rPr lang="nn-NO" altLang="zh-CN" sz="1400" dirty="0">
                <a:solidFill>
                  <a:srgbClr val="0000FF"/>
                </a:solidFill>
                <a:latin typeface="+mn-lt"/>
              </a:rPr>
              <a:t>@for</a:t>
            </a:r>
            <a:r>
              <a:rPr lang="nn-NO" altLang="zh-CN" sz="1400" dirty="0">
                <a:solidFill>
                  <a:srgbClr val="000000"/>
                </a:solidFill>
                <a:latin typeface="+mn-lt"/>
              </a:rPr>
              <a:t>(cities(i) | i#lt# n:F(i)=</a:t>
            </a:r>
            <a:r>
              <a:rPr lang="nn-NO" altLang="zh-CN" sz="1400" dirty="0">
                <a:solidFill>
                  <a:srgbClr val="0000FF"/>
                </a:solidFill>
                <a:latin typeface="+mn-lt"/>
              </a:rPr>
              <a:t>@min</a:t>
            </a:r>
            <a:r>
              <a:rPr lang="nn-NO" altLang="zh-CN" sz="1400" dirty="0">
                <a:solidFill>
                  <a:srgbClr val="000000"/>
                </a:solidFill>
                <a:latin typeface="+mn-lt"/>
              </a:rPr>
              <a:t>(roads(i,j): D(i,j)+F(j));); </a:t>
            </a:r>
            <a:endParaRPr lang="zh-CN" altLang="en-US" sz="1400" dirty="0">
              <a:solidFill>
                <a:srgbClr val="000000"/>
              </a:solidFill>
              <a:latin typeface="+mn-lt"/>
            </a:endParaRPr>
          </a:p>
          <a:p>
            <a:pPr>
              <a:defRPr/>
            </a:pPr>
            <a:r>
              <a:rPr lang="pl-PL" altLang="zh-CN" sz="1400" dirty="0">
                <a:solidFill>
                  <a:srgbClr val="0000FF"/>
                </a:solidFill>
                <a:latin typeface="+mn-lt"/>
              </a:rPr>
              <a:t>@for</a:t>
            </a:r>
            <a:r>
              <a:rPr lang="pl-PL" altLang="zh-CN" sz="1400" dirty="0">
                <a:solidFill>
                  <a:srgbClr val="000000"/>
                </a:solidFill>
                <a:latin typeface="+mn-lt"/>
              </a:rPr>
              <a:t>(roads(i,j):P(i,j)=</a:t>
            </a:r>
            <a:r>
              <a:rPr lang="pl-PL" altLang="zh-CN" sz="1400" dirty="0">
                <a:solidFill>
                  <a:srgbClr val="0000FF"/>
                </a:solidFill>
                <a:latin typeface="+mn-lt"/>
              </a:rPr>
              <a:t>@if</a:t>
            </a:r>
            <a:r>
              <a:rPr lang="pl-PL" altLang="zh-CN" sz="1400" dirty="0">
                <a:solidFill>
                  <a:srgbClr val="000000"/>
                </a:solidFill>
                <a:latin typeface="+mn-lt"/>
              </a:rPr>
              <a:t>(F(i) #eq# D(i,j)+F(j),1,0)); </a:t>
            </a:r>
            <a:endParaRPr lang="zh-CN" altLang="en-US" sz="1400" dirty="0">
              <a:solidFill>
                <a:srgbClr val="000000"/>
              </a:solidFill>
              <a:latin typeface="+mn-lt"/>
            </a:endParaRPr>
          </a:p>
          <a:p>
            <a:pPr>
              <a:defRPr/>
            </a:pPr>
            <a:r>
              <a:rPr lang="en-US" altLang="zh-CN" sz="1400" dirty="0">
                <a:solidFill>
                  <a:srgbClr val="0000FF"/>
                </a:solidFill>
                <a:latin typeface="+mn-lt"/>
              </a:rPr>
              <a:t>end</a:t>
            </a:r>
            <a:r>
              <a:rPr lang="zh-CN" altLang="en-US" sz="1400" dirty="0">
                <a:solidFill>
                  <a:srgbClr val="000000"/>
                </a:solidFill>
                <a:latin typeface="+mn-lt"/>
              </a:rPr>
              <a:t> </a:t>
            </a:r>
          </a:p>
        </p:txBody>
      </p:sp>
      <p:pic>
        <p:nvPicPr>
          <p:cNvPr id="15364" name="图片 8">
            <a:extLst>
              <a:ext uri="{FF2B5EF4-FFF2-40B4-BE49-F238E27FC236}">
                <a16:creationId xmlns:a16="http://schemas.microsoft.com/office/drawing/2014/main" id="{BAF27A71-4781-49B7-8A65-755E2DCA3E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1412875"/>
            <a:ext cx="21336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图片 10">
            <a:extLst>
              <a:ext uri="{FF2B5EF4-FFF2-40B4-BE49-F238E27FC236}">
                <a16:creationId xmlns:a16="http://schemas.microsoft.com/office/drawing/2014/main" id="{0D956C33-08E1-4F6A-B16D-51069AA96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3397250"/>
            <a:ext cx="212407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矩形 11">
            <a:extLst>
              <a:ext uri="{FF2B5EF4-FFF2-40B4-BE49-F238E27FC236}">
                <a16:creationId xmlns:a16="http://schemas.microsoft.com/office/drawing/2014/main" id="{BC8B6455-6723-4D40-9E9C-C96930CC157A}"/>
              </a:ext>
            </a:extLst>
          </p:cNvPr>
          <p:cNvSpPr>
            <a:spLocks noChangeArrowheads="1"/>
          </p:cNvSpPr>
          <p:nvPr/>
        </p:nvSpPr>
        <p:spPr bwMode="auto">
          <a:xfrm>
            <a:off x="5219700" y="412750"/>
            <a:ext cx="19415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最短路径问题</a:t>
            </a:r>
            <a:r>
              <a:rPr lang="en-US" altLang="zh-CN"/>
              <a:t>.lg4</a:t>
            </a:r>
            <a:endParaRPr lang="zh-CN" altLang="en-US"/>
          </a:p>
        </p:txBody>
      </p:sp>
      <p:sp>
        <p:nvSpPr>
          <p:cNvPr id="13" name="矩形 12">
            <a:extLst>
              <a:ext uri="{FF2B5EF4-FFF2-40B4-BE49-F238E27FC236}">
                <a16:creationId xmlns:a16="http://schemas.microsoft.com/office/drawing/2014/main" id="{44116608-D0FF-452D-A167-2725A72A668F}"/>
              </a:ext>
            </a:extLst>
          </p:cNvPr>
          <p:cNvSpPr/>
          <p:nvPr/>
        </p:nvSpPr>
        <p:spPr>
          <a:xfrm>
            <a:off x="250825" y="4305300"/>
            <a:ext cx="4572000" cy="2308225"/>
          </a:xfrm>
          <a:prstGeom prst="rect">
            <a:avLst/>
          </a:prstGeom>
        </p:spPr>
        <p:txBody>
          <a:bodyPr>
            <a:spAutoFit/>
          </a:bodyPr>
          <a:lstStyle/>
          <a:p>
            <a:pPr algn="just">
              <a:spcAft>
                <a:spcPts val="0"/>
              </a:spcAft>
              <a:defRPr/>
            </a:pPr>
            <a:r>
              <a:rPr lang="zh-CN" altLang="zh-CN" kern="100" dirty="0">
                <a:latin typeface="Calibri" panose="020F0502020204030204" pitchFamily="34" charset="0"/>
                <a:cs typeface="Times New Roman" panose="02020603050405020304" pitchFamily="18" charset="0"/>
              </a:rPr>
              <a:t>分析：</a:t>
            </a:r>
          </a:p>
          <a:p>
            <a:pPr algn="just">
              <a:spcAft>
                <a:spcPts val="0"/>
              </a:spcAft>
              <a:defRPr/>
            </a:pPr>
            <a:r>
              <a:rPr lang="en-US" altLang="zh-CN" kern="100" dirty="0">
                <a:latin typeface="Calibri" panose="020F0502020204030204" pitchFamily="34" charset="0"/>
                <a:cs typeface="Times New Roman" panose="02020603050405020304" pitchFamily="18" charset="0"/>
              </a:rPr>
              <a:t>sets</a:t>
            </a:r>
            <a:r>
              <a:rPr lang="zh-CN" altLang="zh-CN" kern="100" dirty="0">
                <a:latin typeface="Calibri" panose="020F0502020204030204" pitchFamily="34" charset="0"/>
                <a:cs typeface="Times New Roman" panose="02020603050405020304" pitchFamily="18" charset="0"/>
              </a:rPr>
              <a:t>：保存了题目中的结点和线路标号信息</a:t>
            </a:r>
          </a:p>
          <a:p>
            <a:pPr algn="just">
              <a:spcAft>
                <a:spcPts val="0"/>
              </a:spcAft>
              <a:defRPr/>
            </a:pPr>
            <a:r>
              <a:rPr lang="en-US" altLang="zh-CN" kern="100" dirty="0">
                <a:latin typeface="Calibri" panose="020F0502020204030204" pitchFamily="34" charset="0"/>
                <a:cs typeface="Times New Roman" panose="02020603050405020304" pitchFamily="18" charset="0"/>
              </a:rPr>
              <a:t>cities</a:t>
            </a:r>
            <a:r>
              <a:rPr lang="zh-CN" altLang="zh-CN" kern="100" dirty="0">
                <a:latin typeface="Calibri" panose="020F0502020204030204" pitchFamily="34" charset="0"/>
                <a:cs typeface="Times New Roman" panose="02020603050405020304" pitchFamily="18" charset="0"/>
              </a:rPr>
              <a:t>：所有结点</a:t>
            </a:r>
          </a:p>
          <a:p>
            <a:pPr algn="just">
              <a:spcAft>
                <a:spcPts val="0"/>
              </a:spcAft>
              <a:defRPr/>
            </a:pPr>
            <a:r>
              <a:rPr lang="en-US" altLang="zh-CN" kern="100" dirty="0">
                <a:latin typeface="Calibri" panose="020F0502020204030204" pitchFamily="34" charset="0"/>
                <a:cs typeface="Times New Roman" panose="02020603050405020304" pitchFamily="18" charset="0"/>
              </a:rPr>
              <a:t>roads : </a:t>
            </a:r>
            <a:r>
              <a:rPr lang="zh-CN" altLang="zh-CN" kern="100" dirty="0">
                <a:latin typeface="Calibri" panose="020F0502020204030204" pitchFamily="34" charset="0"/>
                <a:cs typeface="Times New Roman" panose="02020603050405020304" pitchFamily="18" charset="0"/>
              </a:rPr>
              <a:t>所有线路</a:t>
            </a:r>
          </a:p>
          <a:p>
            <a:pPr algn="just">
              <a:spcAft>
                <a:spcPts val="0"/>
              </a:spcAft>
              <a:defRPr/>
            </a:pPr>
            <a:r>
              <a:rPr lang="en-US" altLang="zh-CN" kern="100" dirty="0">
                <a:latin typeface="Calibri" panose="020F0502020204030204" pitchFamily="34" charset="0"/>
                <a:cs typeface="Times New Roman" panose="02020603050405020304" pitchFamily="18" charset="0"/>
              </a:rPr>
              <a:t>data: </a:t>
            </a:r>
            <a:r>
              <a:rPr lang="zh-CN" altLang="zh-CN" kern="100" dirty="0">
                <a:latin typeface="Calibri" panose="020F0502020204030204" pitchFamily="34" charset="0"/>
                <a:cs typeface="Times New Roman" panose="02020603050405020304" pitchFamily="18" charset="0"/>
              </a:rPr>
              <a:t>线路上的权值</a:t>
            </a:r>
          </a:p>
          <a:p>
            <a:pPr algn="just">
              <a:spcAft>
                <a:spcPts val="0"/>
              </a:spcAft>
              <a:defRPr/>
            </a:pPr>
            <a:r>
              <a:rPr lang="zh-CN" altLang="zh-CN" kern="100" dirty="0">
                <a:latin typeface="Calibri" panose="020F0502020204030204" pitchFamily="34" charset="0"/>
                <a:cs typeface="Times New Roman" panose="02020603050405020304" pitchFamily="18" charset="0"/>
              </a:rPr>
              <a:t>第一个</a:t>
            </a:r>
            <a:r>
              <a:rPr lang="en-US" altLang="zh-CN" kern="100" dirty="0">
                <a:latin typeface="Calibri" panose="020F0502020204030204" pitchFamily="34" charset="0"/>
                <a:cs typeface="Times New Roman" panose="02020603050405020304" pitchFamily="18" charset="0"/>
              </a:rPr>
              <a:t>for</a:t>
            </a:r>
            <a:r>
              <a:rPr lang="zh-CN" altLang="zh-CN" kern="100" dirty="0">
                <a:latin typeface="Calibri" panose="020F0502020204030204" pitchFamily="34" charset="0"/>
                <a:cs typeface="Times New Roman" panose="02020603050405020304" pitchFamily="18" charset="0"/>
              </a:rPr>
              <a:t>循环计算每个结点到最后一个结点的最优值</a:t>
            </a:r>
          </a:p>
          <a:p>
            <a:pPr algn="just">
              <a:spcAft>
                <a:spcPts val="0"/>
              </a:spcAft>
              <a:defRPr/>
            </a:pPr>
            <a:r>
              <a:rPr lang="zh-CN" altLang="zh-CN" kern="100" dirty="0">
                <a:latin typeface="Calibri" panose="020F0502020204030204" pitchFamily="34" charset="0"/>
                <a:cs typeface="Times New Roman" panose="02020603050405020304" pitchFamily="18" charset="0"/>
              </a:rPr>
              <a:t>第二个</a:t>
            </a:r>
            <a:r>
              <a:rPr lang="en-US" altLang="zh-CN" kern="100" dirty="0">
                <a:latin typeface="Calibri" panose="020F0502020204030204" pitchFamily="34" charset="0"/>
                <a:cs typeface="Times New Roman" panose="02020603050405020304" pitchFamily="18" charset="0"/>
              </a:rPr>
              <a:t>for</a:t>
            </a:r>
            <a:r>
              <a:rPr lang="zh-CN" altLang="zh-CN" kern="100" dirty="0">
                <a:latin typeface="Calibri" panose="020F0502020204030204" pitchFamily="34" charset="0"/>
                <a:cs typeface="Times New Roman" panose="02020603050405020304" pitchFamily="18" charset="0"/>
              </a:rPr>
              <a:t>循环得出最优路径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FFA5A47B-6D5C-4A7D-B510-E26FCEEE2A43}"/>
              </a:ext>
            </a:extLst>
          </p:cNvPr>
          <p:cNvSpPr>
            <a:spLocks noGrp="1" noChangeArrowheads="1"/>
          </p:cNvSpPr>
          <p:nvPr>
            <p:ph type="body" idx="1"/>
          </p:nvPr>
        </p:nvSpPr>
        <p:spPr/>
        <p:txBody>
          <a:bodyPr/>
          <a:lstStyle/>
          <a:p>
            <a:pPr eaLnBrk="1" hangingPunct="1"/>
            <a:r>
              <a:rPr lang="zh-CN" altLang="en-US"/>
              <a:t>可将过程分为若干互相联系的阶段，每个阶段均需作出决策，每阶段的决策依赖于当前阶段的初始状态，同时影响下一阶段的初始状态</a:t>
            </a:r>
          </a:p>
          <a:p>
            <a:pPr eaLnBrk="1" hangingPunct="1"/>
            <a:endParaRPr lang="zh-CN" altLang="en-US"/>
          </a:p>
          <a:p>
            <a:pPr eaLnBrk="1" hangingPunct="1"/>
            <a:endParaRPr lang="zh-CN" altLang="en-US"/>
          </a:p>
          <a:p>
            <a:pPr eaLnBrk="1" hangingPunct="1"/>
            <a:r>
              <a:rPr lang="zh-CN" altLang="en-US"/>
              <a:t>得到一个决策序列，称为</a:t>
            </a:r>
            <a:r>
              <a:rPr lang="zh-CN" altLang="en-US">
                <a:solidFill>
                  <a:srgbClr val="FF0000"/>
                </a:solidFill>
              </a:rPr>
              <a:t>策略</a:t>
            </a:r>
          </a:p>
          <a:p>
            <a:pPr eaLnBrk="1" hangingPunct="1"/>
            <a:r>
              <a:rPr lang="zh-CN" altLang="en-US"/>
              <a:t>使整个过程结果最优</a:t>
            </a:r>
          </a:p>
          <a:p>
            <a:pPr eaLnBrk="1" hangingPunct="1"/>
            <a:r>
              <a:rPr lang="en-US" altLang="zh-CN"/>
              <a:t>1951</a:t>
            </a:r>
            <a:r>
              <a:rPr lang="zh-CN" altLang="en-US"/>
              <a:t>，</a:t>
            </a:r>
            <a:r>
              <a:rPr lang="en-US" altLang="zh-CN">
                <a:solidFill>
                  <a:schemeClr val="tx2"/>
                </a:solidFill>
              </a:rPr>
              <a:t>R. Bellman</a:t>
            </a:r>
            <a:r>
              <a:rPr lang="en-US" altLang="zh-CN"/>
              <a:t> </a:t>
            </a:r>
            <a:r>
              <a:rPr lang="zh-CN" altLang="en-US"/>
              <a:t>提出动态规划法</a:t>
            </a:r>
          </a:p>
        </p:txBody>
      </p:sp>
      <p:sp>
        <p:nvSpPr>
          <p:cNvPr id="16387" name="Rectangle 2">
            <a:extLst>
              <a:ext uri="{FF2B5EF4-FFF2-40B4-BE49-F238E27FC236}">
                <a16:creationId xmlns:a16="http://schemas.microsoft.com/office/drawing/2014/main" id="{99B12CCB-F2D7-44C4-B0BF-CA5BBD03B37F}"/>
              </a:ext>
            </a:extLst>
          </p:cNvPr>
          <p:cNvSpPr>
            <a:spLocks noGrp="1" noChangeArrowheads="1"/>
          </p:cNvSpPr>
          <p:nvPr>
            <p:ph type="title"/>
          </p:nvPr>
        </p:nvSpPr>
        <p:spPr/>
        <p:txBody>
          <a:bodyPr/>
          <a:lstStyle/>
          <a:p>
            <a:pPr eaLnBrk="1" hangingPunct="1"/>
            <a:r>
              <a:rPr lang="zh-CN" altLang="en-US"/>
              <a:t>多阶段决策过程</a:t>
            </a:r>
          </a:p>
        </p:txBody>
      </p:sp>
      <p:grpSp>
        <p:nvGrpSpPr>
          <p:cNvPr id="16388" name="Group 11">
            <a:extLst>
              <a:ext uri="{FF2B5EF4-FFF2-40B4-BE49-F238E27FC236}">
                <a16:creationId xmlns:a16="http://schemas.microsoft.com/office/drawing/2014/main" id="{A237E35D-C4AE-4A3F-9BCB-7A937ADB7AD8}"/>
              </a:ext>
            </a:extLst>
          </p:cNvPr>
          <p:cNvGrpSpPr>
            <a:grpSpLocks/>
          </p:cNvGrpSpPr>
          <p:nvPr/>
        </p:nvGrpSpPr>
        <p:grpSpPr bwMode="auto">
          <a:xfrm>
            <a:off x="1835150" y="3252788"/>
            <a:ext cx="936625" cy="736600"/>
            <a:chOff x="1156" y="1923"/>
            <a:chExt cx="590" cy="464"/>
          </a:xfrm>
        </p:grpSpPr>
        <p:sp>
          <p:nvSpPr>
            <p:cNvPr id="16415" name="Text Box 5">
              <a:extLst>
                <a:ext uri="{FF2B5EF4-FFF2-40B4-BE49-F238E27FC236}">
                  <a16:creationId xmlns:a16="http://schemas.microsoft.com/office/drawing/2014/main" id="{E0C1CF84-70C9-460C-9F66-DA8FAE943BF4}"/>
                </a:ext>
              </a:extLst>
            </p:cNvPr>
            <p:cNvSpPr txBox="1">
              <a:spLocks noChangeArrowheads="1"/>
            </p:cNvSpPr>
            <p:nvPr/>
          </p:nvSpPr>
          <p:spPr bwMode="auto">
            <a:xfrm>
              <a:off x="1201" y="2150"/>
              <a:ext cx="363"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1</a:t>
              </a:r>
            </a:p>
          </p:txBody>
        </p:sp>
        <p:sp>
          <p:nvSpPr>
            <p:cNvPr id="16416" name="Text Box 6">
              <a:extLst>
                <a:ext uri="{FF2B5EF4-FFF2-40B4-BE49-F238E27FC236}">
                  <a16:creationId xmlns:a16="http://schemas.microsoft.com/office/drawing/2014/main" id="{0A76BA0D-D6C9-4210-87BA-99995A8BF6FA}"/>
                </a:ext>
              </a:extLst>
            </p:cNvPr>
            <p:cNvSpPr txBox="1">
              <a:spLocks noChangeArrowheads="1"/>
            </p:cNvSpPr>
            <p:nvPr/>
          </p:nvSpPr>
          <p:spPr bwMode="auto">
            <a:xfrm>
              <a:off x="1156" y="1923"/>
              <a:ext cx="5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决策</a:t>
              </a:r>
            </a:p>
          </p:txBody>
        </p:sp>
      </p:grpSp>
      <p:grpSp>
        <p:nvGrpSpPr>
          <p:cNvPr id="16389" name="Group 12">
            <a:extLst>
              <a:ext uri="{FF2B5EF4-FFF2-40B4-BE49-F238E27FC236}">
                <a16:creationId xmlns:a16="http://schemas.microsoft.com/office/drawing/2014/main" id="{1116D4AC-925A-4931-85C5-F74BCFDBCB66}"/>
              </a:ext>
            </a:extLst>
          </p:cNvPr>
          <p:cNvGrpSpPr>
            <a:grpSpLocks/>
          </p:cNvGrpSpPr>
          <p:nvPr/>
        </p:nvGrpSpPr>
        <p:grpSpPr bwMode="auto">
          <a:xfrm>
            <a:off x="3130550" y="3252788"/>
            <a:ext cx="936625" cy="736600"/>
            <a:chOff x="1836" y="1888"/>
            <a:chExt cx="590" cy="464"/>
          </a:xfrm>
        </p:grpSpPr>
        <p:sp>
          <p:nvSpPr>
            <p:cNvPr id="16413" name="Text Box 7">
              <a:extLst>
                <a:ext uri="{FF2B5EF4-FFF2-40B4-BE49-F238E27FC236}">
                  <a16:creationId xmlns:a16="http://schemas.microsoft.com/office/drawing/2014/main" id="{4786389B-0E10-4675-8FBF-E46A50692D56}"/>
                </a:ext>
              </a:extLst>
            </p:cNvPr>
            <p:cNvSpPr txBox="1">
              <a:spLocks noChangeArrowheads="1"/>
            </p:cNvSpPr>
            <p:nvPr/>
          </p:nvSpPr>
          <p:spPr bwMode="auto">
            <a:xfrm>
              <a:off x="1881" y="2115"/>
              <a:ext cx="363"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2</a:t>
              </a:r>
            </a:p>
          </p:txBody>
        </p:sp>
        <p:sp>
          <p:nvSpPr>
            <p:cNvPr id="16414" name="Text Box 8">
              <a:extLst>
                <a:ext uri="{FF2B5EF4-FFF2-40B4-BE49-F238E27FC236}">
                  <a16:creationId xmlns:a16="http://schemas.microsoft.com/office/drawing/2014/main" id="{AAD3DC21-4277-42AF-BC64-068D026B8E25}"/>
                </a:ext>
              </a:extLst>
            </p:cNvPr>
            <p:cNvSpPr txBox="1">
              <a:spLocks noChangeArrowheads="1"/>
            </p:cNvSpPr>
            <p:nvPr/>
          </p:nvSpPr>
          <p:spPr bwMode="auto">
            <a:xfrm>
              <a:off x="1836" y="1888"/>
              <a:ext cx="5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决策</a:t>
              </a:r>
            </a:p>
          </p:txBody>
        </p:sp>
      </p:grpSp>
      <p:grpSp>
        <p:nvGrpSpPr>
          <p:cNvPr id="16390" name="Group 13">
            <a:extLst>
              <a:ext uri="{FF2B5EF4-FFF2-40B4-BE49-F238E27FC236}">
                <a16:creationId xmlns:a16="http://schemas.microsoft.com/office/drawing/2014/main" id="{E597F250-42BA-4105-B5CA-CF2122C284AF}"/>
              </a:ext>
            </a:extLst>
          </p:cNvPr>
          <p:cNvGrpSpPr>
            <a:grpSpLocks/>
          </p:cNvGrpSpPr>
          <p:nvPr/>
        </p:nvGrpSpPr>
        <p:grpSpPr bwMode="auto">
          <a:xfrm>
            <a:off x="6083300" y="3268663"/>
            <a:ext cx="936625" cy="736600"/>
            <a:chOff x="3016" y="1888"/>
            <a:chExt cx="590" cy="464"/>
          </a:xfrm>
        </p:grpSpPr>
        <p:sp>
          <p:nvSpPr>
            <p:cNvPr id="16411" name="Text Box 9">
              <a:extLst>
                <a:ext uri="{FF2B5EF4-FFF2-40B4-BE49-F238E27FC236}">
                  <a16:creationId xmlns:a16="http://schemas.microsoft.com/office/drawing/2014/main" id="{5E0786D6-E4FE-491E-9064-0742C26B0374}"/>
                </a:ext>
              </a:extLst>
            </p:cNvPr>
            <p:cNvSpPr txBox="1">
              <a:spLocks noChangeArrowheads="1"/>
            </p:cNvSpPr>
            <p:nvPr/>
          </p:nvSpPr>
          <p:spPr bwMode="auto">
            <a:xfrm>
              <a:off x="3061" y="2115"/>
              <a:ext cx="363"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n</a:t>
              </a:r>
            </a:p>
          </p:txBody>
        </p:sp>
        <p:sp>
          <p:nvSpPr>
            <p:cNvPr id="16412" name="Text Box 10">
              <a:extLst>
                <a:ext uri="{FF2B5EF4-FFF2-40B4-BE49-F238E27FC236}">
                  <a16:creationId xmlns:a16="http://schemas.microsoft.com/office/drawing/2014/main" id="{3985ADD1-4B1F-4BA3-9400-672E25A950F2}"/>
                </a:ext>
              </a:extLst>
            </p:cNvPr>
            <p:cNvSpPr txBox="1">
              <a:spLocks noChangeArrowheads="1"/>
            </p:cNvSpPr>
            <p:nvPr/>
          </p:nvSpPr>
          <p:spPr bwMode="auto">
            <a:xfrm>
              <a:off x="3016" y="1888"/>
              <a:ext cx="5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决策</a:t>
              </a:r>
            </a:p>
          </p:txBody>
        </p:sp>
      </p:grpSp>
      <p:grpSp>
        <p:nvGrpSpPr>
          <p:cNvPr id="16391" name="Group 16">
            <a:extLst>
              <a:ext uri="{FF2B5EF4-FFF2-40B4-BE49-F238E27FC236}">
                <a16:creationId xmlns:a16="http://schemas.microsoft.com/office/drawing/2014/main" id="{A687B877-CD0E-4634-BD07-B262698ABC37}"/>
              </a:ext>
            </a:extLst>
          </p:cNvPr>
          <p:cNvGrpSpPr>
            <a:grpSpLocks/>
          </p:cNvGrpSpPr>
          <p:nvPr/>
        </p:nvGrpSpPr>
        <p:grpSpPr bwMode="auto">
          <a:xfrm>
            <a:off x="3778250" y="3478213"/>
            <a:ext cx="649288" cy="366712"/>
            <a:chOff x="2245" y="1974"/>
            <a:chExt cx="409" cy="231"/>
          </a:xfrm>
        </p:grpSpPr>
        <p:sp>
          <p:nvSpPr>
            <p:cNvPr id="16409" name="Text Box 15">
              <a:extLst>
                <a:ext uri="{FF2B5EF4-FFF2-40B4-BE49-F238E27FC236}">
                  <a16:creationId xmlns:a16="http://schemas.microsoft.com/office/drawing/2014/main" id="{9F11A1A9-5B0F-488D-B046-F69DDC3BCF81}"/>
                </a:ext>
              </a:extLst>
            </p:cNvPr>
            <p:cNvSpPr txBox="1">
              <a:spLocks noChangeArrowheads="1"/>
            </p:cNvSpPr>
            <p:nvPr/>
          </p:nvSpPr>
          <p:spPr bwMode="auto">
            <a:xfrm>
              <a:off x="2245" y="1974"/>
              <a:ext cx="4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状态</a:t>
              </a:r>
            </a:p>
          </p:txBody>
        </p:sp>
        <p:sp>
          <p:nvSpPr>
            <p:cNvPr id="16410" name="Line 14">
              <a:extLst>
                <a:ext uri="{FF2B5EF4-FFF2-40B4-BE49-F238E27FC236}">
                  <a16:creationId xmlns:a16="http://schemas.microsoft.com/office/drawing/2014/main" id="{A589FC9A-C83F-4854-8885-F80EE7D92A39}"/>
                </a:ext>
              </a:extLst>
            </p:cNvPr>
            <p:cNvSpPr>
              <a:spLocks noChangeShapeType="1"/>
            </p:cNvSpPr>
            <p:nvPr/>
          </p:nvSpPr>
          <p:spPr bwMode="auto">
            <a:xfrm>
              <a:off x="2245" y="2205"/>
              <a:ext cx="4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392" name="Group 17">
            <a:extLst>
              <a:ext uri="{FF2B5EF4-FFF2-40B4-BE49-F238E27FC236}">
                <a16:creationId xmlns:a16="http://schemas.microsoft.com/office/drawing/2014/main" id="{EB27FE0B-25AB-4D7D-B3BD-5ECEC699102B}"/>
              </a:ext>
            </a:extLst>
          </p:cNvPr>
          <p:cNvGrpSpPr>
            <a:grpSpLocks/>
          </p:cNvGrpSpPr>
          <p:nvPr/>
        </p:nvGrpSpPr>
        <p:grpSpPr bwMode="auto">
          <a:xfrm>
            <a:off x="1187450" y="3484563"/>
            <a:ext cx="649288" cy="366712"/>
            <a:chOff x="2245" y="1974"/>
            <a:chExt cx="409" cy="231"/>
          </a:xfrm>
        </p:grpSpPr>
        <p:sp>
          <p:nvSpPr>
            <p:cNvPr id="16407" name="Text Box 18">
              <a:extLst>
                <a:ext uri="{FF2B5EF4-FFF2-40B4-BE49-F238E27FC236}">
                  <a16:creationId xmlns:a16="http://schemas.microsoft.com/office/drawing/2014/main" id="{73F21182-2854-4013-BE3C-44BB56865D76}"/>
                </a:ext>
              </a:extLst>
            </p:cNvPr>
            <p:cNvSpPr txBox="1">
              <a:spLocks noChangeArrowheads="1"/>
            </p:cNvSpPr>
            <p:nvPr/>
          </p:nvSpPr>
          <p:spPr bwMode="auto">
            <a:xfrm>
              <a:off x="2245" y="1974"/>
              <a:ext cx="4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状态</a:t>
              </a:r>
            </a:p>
          </p:txBody>
        </p:sp>
        <p:sp>
          <p:nvSpPr>
            <p:cNvPr id="16408" name="Line 19">
              <a:extLst>
                <a:ext uri="{FF2B5EF4-FFF2-40B4-BE49-F238E27FC236}">
                  <a16:creationId xmlns:a16="http://schemas.microsoft.com/office/drawing/2014/main" id="{2AEB1B8E-14BE-4ADD-A777-DAA2AC6CBEB8}"/>
                </a:ext>
              </a:extLst>
            </p:cNvPr>
            <p:cNvSpPr>
              <a:spLocks noChangeShapeType="1"/>
            </p:cNvSpPr>
            <p:nvPr/>
          </p:nvSpPr>
          <p:spPr bwMode="auto">
            <a:xfrm>
              <a:off x="2245" y="2205"/>
              <a:ext cx="4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393" name="Group 20">
            <a:extLst>
              <a:ext uri="{FF2B5EF4-FFF2-40B4-BE49-F238E27FC236}">
                <a16:creationId xmlns:a16="http://schemas.microsoft.com/office/drawing/2014/main" id="{7DCFD8FD-06C5-4AE7-81EB-3C74ACDBDC66}"/>
              </a:ext>
            </a:extLst>
          </p:cNvPr>
          <p:cNvGrpSpPr>
            <a:grpSpLocks/>
          </p:cNvGrpSpPr>
          <p:nvPr/>
        </p:nvGrpSpPr>
        <p:grpSpPr bwMode="auto">
          <a:xfrm>
            <a:off x="2555875" y="3478213"/>
            <a:ext cx="649288" cy="366712"/>
            <a:chOff x="2245" y="1974"/>
            <a:chExt cx="409" cy="231"/>
          </a:xfrm>
        </p:grpSpPr>
        <p:sp>
          <p:nvSpPr>
            <p:cNvPr id="16405" name="Text Box 21">
              <a:extLst>
                <a:ext uri="{FF2B5EF4-FFF2-40B4-BE49-F238E27FC236}">
                  <a16:creationId xmlns:a16="http://schemas.microsoft.com/office/drawing/2014/main" id="{BF9C03B1-5A4D-479B-8EBE-E5B26D8FAB65}"/>
                </a:ext>
              </a:extLst>
            </p:cNvPr>
            <p:cNvSpPr txBox="1">
              <a:spLocks noChangeArrowheads="1"/>
            </p:cNvSpPr>
            <p:nvPr/>
          </p:nvSpPr>
          <p:spPr bwMode="auto">
            <a:xfrm>
              <a:off x="2245" y="1974"/>
              <a:ext cx="4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状态</a:t>
              </a:r>
            </a:p>
          </p:txBody>
        </p:sp>
        <p:sp>
          <p:nvSpPr>
            <p:cNvPr id="16406" name="Line 22">
              <a:extLst>
                <a:ext uri="{FF2B5EF4-FFF2-40B4-BE49-F238E27FC236}">
                  <a16:creationId xmlns:a16="http://schemas.microsoft.com/office/drawing/2014/main" id="{A06F48FF-6083-4F74-87A6-E2100C1D2674}"/>
                </a:ext>
              </a:extLst>
            </p:cNvPr>
            <p:cNvSpPr>
              <a:spLocks noChangeShapeType="1"/>
            </p:cNvSpPr>
            <p:nvPr/>
          </p:nvSpPr>
          <p:spPr bwMode="auto">
            <a:xfrm>
              <a:off x="2245" y="2205"/>
              <a:ext cx="4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394" name="Group 23">
            <a:extLst>
              <a:ext uri="{FF2B5EF4-FFF2-40B4-BE49-F238E27FC236}">
                <a16:creationId xmlns:a16="http://schemas.microsoft.com/office/drawing/2014/main" id="{DD1C2814-601C-4A92-9CF5-D10586851EAE}"/>
              </a:ext>
            </a:extLst>
          </p:cNvPr>
          <p:cNvGrpSpPr>
            <a:grpSpLocks/>
          </p:cNvGrpSpPr>
          <p:nvPr/>
        </p:nvGrpSpPr>
        <p:grpSpPr bwMode="auto">
          <a:xfrm>
            <a:off x="6732588" y="3478213"/>
            <a:ext cx="649287" cy="366712"/>
            <a:chOff x="2245" y="1974"/>
            <a:chExt cx="409" cy="231"/>
          </a:xfrm>
        </p:grpSpPr>
        <p:sp>
          <p:nvSpPr>
            <p:cNvPr id="16403" name="Text Box 24">
              <a:extLst>
                <a:ext uri="{FF2B5EF4-FFF2-40B4-BE49-F238E27FC236}">
                  <a16:creationId xmlns:a16="http://schemas.microsoft.com/office/drawing/2014/main" id="{AD6A383C-C7B4-462C-8357-CC2C3F776FA3}"/>
                </a:ext>
              </a:extLst>
            </p:cNvPr>
            <p:cNvSpPr txBox="1">
              <a:spLocks noChangeArrowheads="1"/>
            </p:cNvSpPr>
            <p:nvPr/>
          </p:nvSpPr>
          <p:spPr bwMode="auto">
            <a:xfrm>
              <a:off x="2245" y="1974"/>
              <a:ext cx="4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状态</a:t>
              </a:r>
            </a:p>
          </p:txBody>
        </p:sp>
        <p:sp>
          <p:nvSpPr>
            <p:cNvPr id="16404" name="Line 25">
              <a:extLst>
                <a:ext uri="{FF2B5EF4-FFF2-40B4-BE49-F238E27FC236}">
                  <a16:creationId xmlns:a16="http://schemas.microsoft.com/office/drawing/2014/main" id="{750E4C15-64EB-4924-BCD7-A7C349A2F028}"/>
                </a:ext>
              </a:extLst>
            </p:cNvPr>
            <p:cNvSpPr>
              <a:spLocks noChangeShapeType="1"/>
            </p:cNvSpPr>
            <p:nvPr/>
          </p:nvSpPr>
          <p:spPr bwMode="auto">
            <a:xfrm>
              <a:off x="2245" y="2205"/>
              <a:ext cx="4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395" name="Group 26">
            <a:extLst>
              <a:ext uri="{FF2B5EF4-FFF2-40B4-BE49-F238E27FC236}">
                <a16:creationId xmlns:a16="http://schemas.microsoft.com/office/drawing/2014/main" id="{32E252FF-3BA2-479B-B7EE-38E4CF23E89E}"/>
              </a:ext>
            </a:extLst>
          </p:cNvPr>
          <p:cNvGrpSpPr>
            <a:grpSpLocks/>
          </p:cNvGrpSpPr>
          <p:nvPr/>
        </p:nvGrpSpPr>
        <p:grpSpPr bwMode="auto">
          <a:xfrm>
            <a:off x="5435600" y="3478213"/>
            <a:ext cx="649288" cy="366712"/>
            <a:chOff x="2245" y="1974"/>
            <a:chExt cx="409" cy="231"/>
          </a:xfrm>
        </p:grpSpPr>
        <p:sp>
          <p:nvSpPr>
            <p:cNvPr id="16401" name="Text Box 27">
              <a:extLst>
                <a:ext uri="{FF2B5EF4-FFF2-40B4-BE49-F238E27FC236}">
                  <a16:creationId xmlns:a16="http://schemas.microsoft.com/office/drawing/2014/main" id="{C1556389-8DAF-4396-91B2-5E95093EBFE8}"/>
                </a:ext>
              </a:extLst>
            </p:cNvPr>
            <p:cNvSpPr txBox="1">
              <a:spLocks noChangeArrowheads="1"/>
            </p:cNvSpPr>
            <p:nvPr/>
          </p:nvSpPr>
          <p:spPr bwMode="auto">
            <a:xfrm>
              <a:off x="2245" y="1974"/>
              <a:ext cx="4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状态</a:t>
              </a:r>
            </a:p>
          </p:txBody>
        </p:sp>
        <p:sp>
          <p:nvSpPr>
            <p:cNvPr id="16402" name="Line 28">
              <a:extLst>
                <a:ext uri="{FF2B5EF4-FFF2-40B4-BE49-F238E27FC236}">
                  <a16:creationId xmlns:a16="http://schemas.microsoft.com/office/drawing/2014/main" id="{609C475D-4B72-42EA-A2F5-CE10C9E9587F}"/>
                </a:ext>
              </a:extLst>
            </p:cNvPr>
            <p:cNvSpPr>
              <a:spLocks noChangeShapeType="1"/>
            </p:cNvSpPr>
            <p:nvPr/>
          </p:nvSpPr>
          <p:spPr bwMode="auto">
            <a:xfrm>
              <a:off x="2245" y="2205"/>
              <a:ext cx="4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396" name="Text Box 29">
            <a:extLst>
              <a:ext uri="{FF2B5EF4-FFF2-40B4-BE49-F238E27FC236}">
                <a16:creationId xmlns:a16="http://schemas.microsoft.com/office/drawing/2014/main" id="{E616A3B1-7463-421B-A449-4BA78DD4F6F6}"/>
              </a:ext>
            </a:extLst>
          </p:cNvPr>
          <p:cNvSpPr txBox="1">
            <a:spLocks noChangeArrowheads="1"/>
          </p:cNvSpPr>
          <p:nvPr/>
        </p:nvSpPr>
        <p:spPr bwMode="auto">
          <a:xfrm>
            <a:off x="4645025" y="3629025"/>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a:t>
            </a:r>
          </a:p>
        </p:txBody>
      </p:sp>
      <p:grpSp>
        <p:nvGrpSpPr>
          <p:cNvPr id="12" name="组合 8">
            <a:extLst>
              <a:ext uri="{FF2B5EF4-FFF2-40B4-BE49-F238E27FC236}">
                <a16:creationId xmlns:a16="http://schemas.microsoft.com/office/drawing/2014/main" id="{3E3670A4-3AB9-4A51-A03C-A81AED7A4A57}"/>
              </a:ext>
            </a:extLst>
          </p:cNvPr>
          <p:cNvGrpSpPr>
            <a:grpSpLocks/>
          </p:cNvGrpSpPr>
          <p:nvPr/>
        </p:nvGrpSpPr>
        <p:grpSpPr bwMode="auto">
          <a:xfrm>
            <a:off x="3348038" y="5581650"/>
            <a:ext cx="4262437" cy="1011238"/>
            <a:chOff x="3347775" y="5582442"/>
            <a:chExt cx="4263482" cy="1011153"/>
          </a:xfrm>
        </p:grpSpPr>
        <p:sp>
          <p:nvSpPr>
            <p:cNvPr id="16398" name="矩形 1">
              <a:extLst>
                <a:ext uri="{FF2B5EF4-FFF2-40B4-BE49-F238E27FC236}">
                  <a16:creationId xmlns:a16="http://schemas.microsoft.com/office/drawing/2014/main" id="{9185C146-FB45-4553-B304-3940F7D2BBAB}"/>
                </a:ext>
              </a:extLst>
            </p:cNvPr>
            <p:cNvSpPr>
              <a:spLocks noChangeArrowheads="1"/>
            </p:cNvSpPr>
            <p:nvPr/>
          </p:nvSpPr>
          <p:spPr bwMode="auto">
            <a:xfrm>
              <a:off x="3347775" y="6224286"/>
              <a:ext cx="4263482"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FF"/>
                  </a:solidFill>
                </a:rPr>
                <a:t>一个决策序列</a:t>
              </a:r>
              <a:r>
                <a:rPr lang="en-US" altLang="zh-CN">
                  <a:solidFill>
                    <a:srgbClr val="FF00FF"/>
                  </a:solidFill>
                </a:rPr>
                <a:t>(</a:t>
              </a:r>
              <a:r>
                <a:rPr lang="zh-CN" altLang="en-US">
                  <a:solidFill>
                    <a:srgbClr val="FF00FF"/>
                  </a:solidFill>
                </a:rPr>
                <a:t>策略</a:t>
              </a:r>
              <a:r>
                <a:rPr lang="en-US" altLang="zh-CN">
                  <a:solidFill>
                    <a:srgbClr val="FF00FF"/>
                  </a:solidFill>
                </a:rPr>
                <a:t>)</a:t>
              </a:r>
              <a:r>
                <a:rPr lang="zh-CN" altLang="en-US">
                  <a:solidFill>
                    <a:srgbClr val="FF00FF"/>
                  </a:solidFill>
                </a:rPr>
                <a:t>在变化的状态中产生</a:t>
              </a:r>
            </a:p>
          </p:txBody>
        </p:sp>
        <p:cxnSp>
          <p:nvCxnSpPr>
            <p:cNvPr id="4" name="直接箭头连接符 3">
              <a:extLst>
                <a:ext uri="{FF2B5EF4-FFF2-40B4-BE49-F238E27FC236}">
                  <a16:creationId xmlns:a16="http://schemas.microsoft.com/office/drawing/2014/main" id="{C757F5F4-31C0-4284-B7F2-0B86E04777B5}"/>
                </a:ext>
              </a:extLst>
            </p:cNvPr>
            <p:cNvCxnSpPr>
              <a:cxnSpLocks/>
              <a:endCxn id="16398" idx="0"/>
            </p:cNvCxnSpPr>
            <p:nvPr/>
          </p:nvCxnSpPr>
          <p:spPr>
            <a:xfrm>
              <a:off x="5478722" y="6020555"/>
              <a:ext cx="1587" cy="203183"/>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0808ECB2-A0A7-419E-A77B-986A5D56B228}"/>
                </a:ext>
              </a:extLst>
            </p:cNvPr>
            <p:cNvSpPr/>
            <p:nvPr/>
          </p:nvSpPr>
          <p:spPr>
            <a:xfrm>
              <a:off x="4969009" y="5582442"/>
              <a:ext cx="827291" cy="438113"/>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7" dur="500"/>
                                        <p:tgtEl>
                                          <p:spTgt spid="19459">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12" dur="500"/>
                                        <p:tgtEl>
                                          <p:spTgt spid="19459">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459">
                                            <p:txEl>
                                              <p:pRg st="5" end="5"/>
                                            </p:txEl>
                                          </p:spTgt>
                                        </p:tgtEl>
                                        <p:attrNameLst>
                                          <p:attrName>style.visibility</p:attrName>
                                        </p:attrNameLst>
                                      </p:cBhvr>
                                      <p:to>
                                        <p:strVal val="visible"/>
                                      </p:to>
                                    </p:set>
                                    <p:animEffect transition="in" filter="blinds(horizontal)">
                                      <p:cBhvr>
                                        <p:cTn id="17" dur="500"/>
                                        <p:tgtEl>
                                          <p:spTgt spid="19459">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BD48AEC-3349-45F8-BE26-CEED0A8726CB}"/>
              </a:ext>
            </a:extLst>
          </p:cNvPr>
          <p:cNvSpPr>
            <a:spLocks noGrp="1" noChangeArrowheads="1"/>
          </p:cNvSpPr>
          <p:nvPr>
            <p:ph type="title"/>
          </p:nvPr>
        </p:nvSpPr>
        <p:spPr/>
        <p:txBody>
          <a:bodyPr/>
          <a:lstStyle/>
          <a:p>
            <a:pPr eaLnBrk="1" hangingPunct="1"/>
            <a:r>
              <a:rPr lang="zh-CN" altLang="en-US"/>
              <a:t>递归神经网络</a:t>
            </a:r>
            <a:endParaRPr lang="zh-CN" altLang="en-US" sz="2400"/>
          </a:p>
        </p:txBody>
      </p:sp>
      <p:pic>
        <p:nvPicPr>
          <p:cNvPr id="17411" name="图片 5">
            <a:extLst>
              <a:ext uri="{FF2B5EF4-FFF2-40B4-BE49-F238E27FC236}">
                <a16:creationId xmlns:a16="http://schemas.microsoft.com/office/drawing/2014/main" id="{0904388D-41D6-4D58-A062-280713B07D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101725"/>
            <a:ext cx="7442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457845D0-AB0A-4385-8306-3D83CEA42953}"/>
              </a:ext>
            </a:extLst>
          </p:cNvPr>
          <p:cNvSpPr/>
          <p:nvPr/>
        </p:nvSpPr>
        <p:spPr>
          <a:xfrm>
            <a:off x="2124075" y="5257800"/>
            <a:ext cx="5080000" cy="585788"/>
          </a:xfrm>
          <a:prstGeom prst="rect">
            <a:avLst/>
          </a:prstGeom>
        </p:spPr>
        <p:txBody>
          <a:bodyPr wrap="none">
            <a:spAutoFit/>
          </a:bodyPr>
          <a:lstStyle/>
          <a:p>
            <a:pPr>
              <a:defRPr/>
            </a:pPr>
            <a:r>
              <a:rPr lang="en-US" altLang="zh-CN" sz="3200" b="1" dirty="0">
                <a:latin typeface="+mn-lt"/>
                <a:ea typeface="+mn-ea"/>
              </a:rPr>
              <a:t>Recurrent Neural Networks</a:t>
            </a:r>
            <a:endParaRPr lang="zh-CN" altLang="en-US" sz="3200" b="1" dirty="0">
              <a:latin typeface="+mn-lt"/>
              <a:ea typeface="+mn-ea"/>
            </a:endParaRPr>
          </a:p>
        </p:txBody>
      </p:sp>
      <p:sp>
        <p:nvSpPr>
          <p:cNvPr id="9" name="矩形 8">
            <a:extLst>
              <a:ext uri="{FF2B5EF4-FFF2-40B4-BE49-F238E27FC236}">
                <a16:creationId xmlns:a16="http://schemas.microsoft.com/office/drawing/2014/main" id="{A0B3DF01-86EA-46B2-951C-5B3A45604B32}"/>
              </a:ext>
            </a:extLst>
          </p:cNvPr>
          <p:cNvSpPr/>
          <p:nvPr/>
        </p:nvSpPr>
        <p:spPr>
          <a:xfrm>
            <a:off x="287338" y="6192838"/>
            <a:ext cx="8569325" cy="368300"/>
          </a:xfrm>
          <a:prstGeom prst="rect">
            <a:avLst/>
          </a:prstGeom>
        </p:spPr>
        <p:txBody>
          <a:bodyPr>
            <a:spAutoFit/>
          </a:bodyPr>
          <a:lstStyle/>
          <a:p>
            <a:pPr>
              <a:defRPr/>
            </a:pPr>
            <a:r>
              <a:rPr lang="zh-CN" altLang="en-US" b="1" dirty="0">
                <a:latin typeface="+mn-lt"/>
              </a:rPr>
              <a:t>递归神经网络</a:t>
            </a:r>
            <a:r>
              <a:rPr lang="en-US" altLang="zh-CN" b="1" dirty="0">
                <a:latin typeface="+mn-lt"/>
              </a:rPr>
              <a:t>(RNN)</a:t>
            </a:r>
            <a:r>
              <a:rPr lang="zh-CN" altLang="en-US" b="1" dirty="0">
                <a:latin typeface="+mn-lt"/>
              </a:rPr>
              <a:t>简介</a:t>
            </a:r>
            <a:r>
              <a:rPr lang="en-US" altLang="zh-CN" b="1" dirty="0">
                <a:latin typeface="+mn-lt"/>
              </a:rPr>
              <a:t>.</a:t>
            </a:r>
            <a:r>
              <a:rPr lang="zh-CN" altLang="en-US" b="1" dirty="0">
                <a:latin typeface="+mn-lt"/>
              </a:rPr>
              <a:t>http://blog.csdn.net/aws3217150/article/details/50768453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a:extLst>
              <a:ext uri="{FF2B5EF4-FFF2-40B4-BE49-F238E27FC236}">
                <a16:creationId xmlns:a16="http://schemas.microsoft.com/office/drawing/2014/main" id="{E95374F1-9834-4FE3-B15C-4141761E1D78}"/>
              </a:ext>
            </a:extLst>
          </p:cNvPr>
          <p:cNvSpPr>
            <a:spLocks noGrp="1" noChangeArrowheads="1"/>
          </p:cNvSpPr>
          <p:nvPr>
            <p:ph type="ctrTitle"/>
          </p:nvPr>
        </p:nvSpPr>
        <p:spPr/>
        <p:txBody>
          <a:bodyPr/>
          <a:lstStyle/>
          <a:p>
            <a:pPr eaLnBrk="1" hangingPunct="1"/>
            <a:r>
              <a:rPr lang="zh-CN" altLang="en-US"/>
              <a:t>第九章之第二节</a:t>
            </a:r>
          </a:p>
        </p:txBody>
      </p:sp>
      <p:sp>
        <p:nvSpPr>
          <p:cNvPr id="18435" name="Rectangle 5">
            <a:extLst>
              <a:ext uri="{FF2B5EF4-FFF2-40B4-BE49-F238E27FC236}">
                <a16:creationId xmlns:a16="http://schemas.microsoft.com/office/drawing/2014/main" id="{B26DBD11-DDD1-48AB-930F-8F9BE99EBF96}"/>
              </a:ext>
            </a:extLst>
          </p:cNvPr>
          <p:cNvSpPr>
            <a:spLocks noGrp="1" noChangeArrowheads="1"/>
          </p:cNvSpPr>
          <p:nvPr>
            <p:ph type="subTitle" idx="1"/>
          </p:nvPr>
        </p:nvSpPr>
        <p:spPr>
          <a:xfrm>
            <a:off x="1689100" y="2924175"/>
            <a:ext cx="6986588" cy="1752600"/>
          </a:xfrm>
        </p:spPr>
        <p:txBody>
          <a:bodyPr/>
          <a:lstStyle/>
          <a:p>
            <a:pPr eaLnBrk="1" hangingPunct="1"/>
            <a:r>
              <a:rPr lang="zh-CN" altLang="en-US" sz="5400"/>
              <a:t>基本概念和基本方程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793F79B-D660-4657-A3B1-88B5DBCE36C0}"/>
              </a:ext>
            </a:extLst>
          </p:cNvPr>
          <p:cNvSpPr>
            <a:spLocks noGrp="1" noChangeArrowheads="1"/>
          </p:cNvSpPr>
          <p:nvPr>
            <p:ph type="title"/>
          </p:nvPr>
        </p:nvSpPr>
        <p:spPr/>
        <p:txBody>
          <a:bodyPr/>
          <a:lstStyle/>
          <a:p>
            <a:pPr eaLnBrk="1" hangingPunct="1"/>
            <a:r>
              <a:rPr lang="zh-CN" altLang="en-US"/>
              <a:t>基本概念</a:t>
            </a:r>
          </a:p>
        </p:txBody>
      </p:sp>
      <p:sp>
        <p:nvSpPr>
          <p:cNvPr id="21507" name="Rectangle 3">
            <a:extLst>
              <a:ext uri="{FF2B5EF4-FFF2-40B4-BE49-F238E27FC236}">
                <a16:creationId xmlns:a16="http://schemas.microsoft.com/office/drawing/2014/main" id="{266DE867-0FBB-4069-8427-4F5CF7DFFF11}"/>
              </a:ext>
            </a:extLst>
          </p:cNvPr>
          <p:cNvSpPr>
            <a:spLocks noGrp="1" noChangeArrowheads="1"/>
          </p:cNvSpPr>
          <p:nvPr>
            <p:ph type="body" idx="1"/>
          </p:nvPr>
        </p:nvSpPr>
        <p:spPr>
          <a:xfrm>
            <a:off x="0" y="1177925"/>
            <a:ext cx="9217025" cy="5454650"/>
          </a:xfrm>
        </p:spPr>
        <p:txBody>
          <a:bodyPr/>
          <a:lstStyle/>
          <a:p>
            <a:pPr eaLnBrk="1" hangingPunct="1">
              <a:defRPr/>
            </a:pPr>
            <a:r>
              <a:rPr lang="zh-CN" altLang="en-US" dirty="0"/>
              <a:t>阶段 </a:t>
            </a:r>
            <a:r>
              <a:rPr lang="en-US" altLang="zh-CN" i="1" dirty="0"/>
              <a:t>k</a:t>
            </a:r>
            <a:endParaRPr lang="en-US" altLang="zh-CN" dirty="0"/>
          </a:p>
          <a:p>
            <a:pPr lvl="1" eaLnBrk="1" hangingPunct="1">
              <a:defRPr/>
            </a:pPr>
            <a:r>
              <a:rPr lang="zh-CN" altLang="en-US" dirty="0"/>
              <a:t>表示决策顺序的离散量，可按 </a:t>
            </a:r>
            <a:r>
              <a:rPr lang="zh-CN" altLang="en-US" dirty="0">
                <a:solidFill>
                  <a:srgbClr val="FF0000"/>
                </a:solidFill>
              </a:rPr>
              <a:t>时间</a:t>
            </a:r>
            <a:r>
              <a:rPr lang="zh-CN" altLang="en-US" dirty="0"/>
              <a:t> 或 </a:t>
            </a:r>
            <a:r>
              <a:rPr lang="zh-CN" altLang="en-US" dirty="0">
                <a:solidFill>
                  <a:srgbClr val="FF0000"/>
                </a:solidFill>
              </a:rPr>
              <a:t>空间</a:t>
            </a:r>
            <a:r>
              <a:rPr lang="zh-CN" altLang="en-US" dirty="0"/>
              <a:t> 划分</a:t>
            </a:r>
          </a:p>
          <a:p>
            <a:pPr lvl="1" eaLnBrk="1" hangingPunct="1">
              <a:defRPr/>
            </a:pPr>
            <a:endParaRPr lang="zh-CN" altLang="en-US" sz="1000" dirty="0"/>
          </a:p>
          <a:p>
            <a:pPr eaLnBrk="1" hangingPunct="1">
              <a:defRPr/>
            </a:pPr>
            <a:r>
              <a:rPr lang="zh-CN" altLang="en-US" dirty="0"/>
              <a:t>状态 </a:t>
            </a:r>
            <a:r>
              <a:rPr lang="en-US" altLang="zh-CN" i="1" dirty="0" err="1"/>
              <a:t>S</a:t>
            </a:r>
            <a:r>
              <a:rPr lang="en-US" altLang="zh-CN" i="1" baseline="-25000" dirty="0" err="1"/>
              <a:t>k</a:t>
            </a:r>
            <a:r>
              <a:rPr lang="en-US" altLang="zh-CN" i="1" baseline="-25000" dirty="0"/>
              <a:t> </a:t>
            </a:r>
            <a:r>
              <a:rPr kumimoji="1" lang="zh-CN" altLang="en-US" dirty="0"/>
              <a:t>（大写</a:t>
            </a:r>
            <a:r>
              <a:rPr kumimoji="1" lang="en-US" altLang="zh-CN" dirty="0"/>
              <a:t>S</a:t>
            </a:r>
            <a:r>
              <a:rPr kumimoji="1" lang="zh-CN" altLang="en-US" dirty="0"/>
              <a:t>）</a:t>
            </a:r>
            <a:endParaRPr lang="en-US" altLang="zh-CN" i="1" dirty="0"/>
          </a:p>
          <a:p>
            <a:pPr marL="344487" lvl="1" indent="0" eaLnBrk="1" hangingPunct="1">
              <a:buFont typeface="Wingdings" panose="05000000000000000000" pitchFamily="2" charset="2"/>
              <a:buNone/>
              <a:defRPr/>
            </a:pPr>
            <a:r>
              <a:rPr kumimoji="1" lang="zh-CN" altLang="en-US" dirty="0"/>
              <a:t>表示每个阶段</a:t>
            </a:r>
            <a:r>
              <a:rPr kumimoji="1" lang="zh-CN" altLang="en-US" dirty="0">
                <a:solidFill>
                  <a:srgbClr val="FF0000"/>
                </a:solidFill>
              </a:rPr>
              <a:t>开始时</a:t>
            </a:r>
            <a:r>
              <a:rPr kumimoji="1" lang="zh-CN" altLang="en-US" dirty="0"/>
              <a:t>状态变量</a:t>
            </a:r>
            <a:r>
              <a:rPr kumimoji="1" lang="en-US" altLang="zh-CN" dirty="0"/>
              <a:t>, </a:t>
            </a:r>
            <a:r>
              <a:rPr kumimoji="1" lang="zh-CN" altLang="en-US" dirty="0"/>
              <a:t>第</a:t>
            </a:r>
            <a:r>
              <a:rPr lang="en-US" altLang="zh-CN" i="1" dirty="0"/>
              <a:t>k</a:t>
            </a:r>
            <a:r>
              <a:rPr lang="zh-CN" altLang="en-US" dirty="0"/>
              <a:t>阶段的可达状态集合。</a:t>
            </a:r>
            <a:endParaRPr lang="en-US" altLang="zh-CN" dirty="0"/>
          </a:p>
          <a:p>
            <a:pPr marL="344487" lvl="1" indent="0" eaLnBrk="1" hangingPunct="1">
              <a:buFont typeface="Wingdings" panose="05000000000000000000" pitchFamily="2" charset="2"/>
              <a:buNone/>
              <a:defRPr/>
            </a:pPr>
            <a:endParaRPr lang="zh-CN" altLang="en-US" sz="1000" dirty="0"/>
          </a:p>
          <a:p>
            <a:pPr eaLnBrk="1" hangingPunct="1">
              <a:defRPr/>
            </a:pPr>
            <a:r>
              <a:rPr lang="zh-CN" altLang="en-US" dirty="0"/>
              <a:t>状态变量 </a:t>
            </a:r>
            <a:r>
              <a:rPr lang="en-US" altLang="zh-CN" i="1" dirty="0" err="1"/>
              <a:t>s</a:t>
            </a:r>
            <a:r>
              <a:rPr lang="en-US" altLang="zh-CN" i="1" baseline="-25000" dirty="0" err="1"/>
              <a:t>k</a:t>
            </a:r>
            <a:r>
              <a:rPr kumimoji="1" lang="zh-CN" altLang="en-US" dirty="0"/>
              <a:t>（小写</a:t>
            </a:r>
            <a:r>
              <a:rPr kumimoji="1" lang="en-US" altLang="zh-CN" dirty="0"/>
              <a:t>s</a:t>
            </a:r>
            <a:r>
              <a:rPr kumimoji="1" lang="zh-CN" altLang="en-US" dirty="0"/>
              <a:t>）</a:t>
            </a:r>
            <a:endParaRPr lang="en-US" altLang="zh-CN" i="1" baseline="-25000" dirty="0"/>
          </a:p>
          <a:p>
            <a:pPr lvl="1" eaLnBrk="1" hangingPunct="1">
              <a:defRPr/>
            </a:pPr>
            <a:r>
              <a:rPr lang="zh-CN" altLang="en-US" dirty="0"/>
              <a:t>描述过程状态的变量</a:t>
            </a:r>
          </a:p>
          <a:p>
            <a:pPr lvl="1" eaLnBrk="1" hangingPunct="1">
              <a:defRPr/>
            </a:pPr>
            <a:r>
              <a:rPr lang="zh-CN" altLang="en-US" dirty="0"/>
              <a:t>可以是数量，也可以是字符；数量状态可以是连续的，也可以是离散的</a:t>
            </a:r>
          </a:p>
          <a:p>
            <a:pPr lvl="1" eaLnBrk="1" hangingPunct="1">
              <a:defRPr/>
            </a:pPr>
            <a:r>
              <a:rPr lang="zh-CN" altLang="en-US" dirty="0"/>
              <a:t>具有</a:t>
            </a:r>
            <a:r>
              <a:rPr lang="zh-CN" altLang="en-US" dirty="0">
                <a:solidFill>
                  <a:srgbClr val="FF0000"/>
                </a:solidFill>
              </a:rPr>
              <a:t>马尔可夫性 </a:t>
            </a:r>
            <a:r>
              <a:rPr lang="en-US" altLang="zh-CN" dirty="0">
                <a:solidFill>
                  <a:srgbClr val="FF0000"/>
                </a:solidFill>
              </a:rPr>
              <a:t>(</a:t>
            </a:r>
            <a:r>
              <a:rPr lang="zh-CN" altLang="en-US" sz="2400" dirty="0">
                <a:solidFill>
                  <a:srgbClr val="FF0000"/>
                </a:solidFill>
              </a:rPr>
              <a:t>无后效性</a:t>
            </a:r>
            <a:r>
              <a:rPr lang="en-US" altLang="zh-CN" sz="2400" dirty="0">
                <a:solidFill>
                  <a:srgbClr val="FF0000"/>
                </a:solidFill>
              </a:rPr>
              <a:t>, </a:t>
            </a:r>
            <a:r>
              <a:rPr lang="zh-CN" altLang="en-US" sz="2400" dirty="0">
                <a:solidFill>
                  <a:srgbClr val="0070C0"/>
                </a:solidFill>
              </a:rPr>
              <a:t>过去的历史只能通过当前的状态去影响未来的发展，当前的状态是以往历史的一个总结</a:t>
            </a:r>
            <a:r>
              <a:rPr lang="en-US" altLang="zh-CN" dirty="0">
                <a:solidFill>
                  <a:srgbClr val="FF0000"/>
                </a:solidFill>
              </a:rPr>
              <a:t>)</a:t>
            </a:r>
          </a:p>
        </p:txBody>
      </p:sp>
      <p:pic>
        <p:nvPicPr>
          <p:cNvPr id="19460" name="图片 47">
            <a:extLst>
              <a:ext uri="{FF2B5EF4-FFF2-40B4-BE49-F238E27FC236}">
                <a16:creationId xmlns:a16="http://schemas.microsoft.com/office/drawing/2014/main" id="{6A928EEA-C369-487D-820E-E643821EB54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44450"/>
            <a:ext cx="5364163" cy="1558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linds(horizontal)">
                                      <p:cBhvr>
                                        <p:cTn id="7" dur="500"/>
                                        <p:tgtEl>
                                          <p:spTgt spid="2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blinds(horizontal)">
                                      <p:cBhvr>
                                        <p:cTn id="12" dur="500"/>
                                        <p:tgtEl>
                                          <p:spTgt spid="215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17" dur="500"/>
                                        <p:tgtEl>
                                          <p:spTgt spid="2150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22" dur="500"/>
                                        <p:tgtEl>
                                          <p:spTgt spid="2150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507">
                                            <p:txEl>
                                              <p:pRg st="6" end="6"/>
                                            </p:txEl>
                                          </p:spTgt>
                                        </p:tgtEl>
                                        <p:attrNameLst>
                                          <p:attrName>style.visibility</p:attrName>
                                        </p:attrNameLst>
                                      </p:cBhvr>
                                      <p:to>
                                        <p:strVal val="visible"/>
                                      </p:to>
                                    </p:set>
                                    <p:animEffect transition="in" filter="blinds(horizontal)">
                                      <p:cBhvr>
                                        <p:cTn id="27" dur="500"/>
                                        <p:tgtEl>
                                          <p:spTgt spid="21507">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507">
                                            <p:txEl>
                                              <p:pRg st="7" end="7"/>
                                            </p:txEl>
                                          </p:spTgt>
                                        </p:tgtEl>
                                        <p:attrNameLst>
                                          <p:attrName>style.visibility</p:attrName>
                                        </p:attrNameLst>
                                      </p:cBhvr>
                                      <p:to>
                                        <p:strVal val="visible"/>
                                      </p:to>
                                    </p:set>
                                    <p:animEffect transition="in" filter="blinds(horizontal)">
                                      <p:cBhvr>
                                        <p:cTn id="32" dur="500"/>
                                        <p:tgtEl>
                                          <p:spTgt spid="21507">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507">
                                            <p:txEl>
                                              <p:pRg st="8" end="8"/>
                                            </p:txEl>
                                          </p:spTgt>
                                        </p:tgtEl>
                                        <p:attrNameLst>
                                          <p:attrName>style.visibility</p:attrName>
                                        </p:attrNameLst>
                                      </p:cBhvr>
                                      <p:to>
                                        <p:strVal val="visible"/>
                                      </p:to>
                                    </p:set>
                                    <p:animEffect transition="in" filter="blinds(horizontal)">
                                      <p:cBhvr>
                                        <p:cTn id="37" dur="500"/>
                                        <p:tgtEl>
                                          <p:spTgt spid="21507">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1507">
                                            <p:txEl>
                                              <p:pRg st="9" end="9"/>
                                            </p:txEl>
                                          </p:spTgt>
                                        </p:tgtEl>
                                        <p:attrNameLst>
                                          <p:attrName>style.visibility</p:attrName>
                                        </p:attrNameLst>
                                      </p:cBhvr>
                                      <p:to>
                                        <p:strVal val="visible"/>
                                      </p:to>
                                    </p:set>
                                    <p:animEffect transition="in" filter="blinds(horizontal)">
                                      <p:cBhvr>
                                        <p:cTn id="42" dur="500"/>
                                        <p:tgtEl>
                                          <p:spTgt spid="2150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bldLvl="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A8044CD-DCB8-44B9-8ADE-CA3ACCD7D25F}"/>
              </a:ext>
            </a:extLst>
          </p:cNvPr>
          <p:cNvSpPr>
            <a:spLocks noGrp="1" noChangeArrowheads="1"/>
          </p:cNvSpPr>
          <p:nvPr>
            <p:ph type="title"/>
          </p:nvPr>
        </p:nvSpPr>
        <p:spPr/>
        <p:txBody>
          <a:bodyPr/>
          <a:lstStyle/>
          <a:p>
            <a:pPr eaLnBrk="1" hangingPunct="1"/>
            <a:r>
              <a:rPr lang="zh-CN" altLang="en-US"/>
              <a:t>基本概念</a:t>
            </a:r>
          </a:p>
        </p:txBody>
      </p:sp>
      <p:sp>
        <p:nvSpPr>
          <p:cNvPr id="22531" name="Rectangle 3">
            <a:extLst>
              <a:ext uri="{FF2B5EF4-FFF2-40B4-BE49-F238E27FC236}">
                <a16:creationId xmlns:a16="http://schemas.microsoft.com/office/drawing/2014/main" id="{DDC69D43-FBB1-4959-9520-4E087A92F9EE}"/>
              </a:ext>
            </a:extLst>
          </p:cNvPr>
          <p:cNvSpPr>
            <a:spLocks noGrp="1" noChangeArrowheads="1"/>
          </p:cNvSpPr>
          <p:nvPr>
            <p:ph type="body" idx="1"/>
          </p:nvPr>
        </p:nvSpPr>
        <p:spPr>
          <a:xfrm>
            <a:off x="395288" y="1671638"/>
            <a:ext cx="8229600" cy="4781550"/>
          </a:xfrm>
        </p:spPr>
        <p:txBody>
          <a:bodyPr/>
          <a:lstStyle/>
          <a:p>
            <a:pPr eaLnBrk="1" hangingPunct="1">
              <a:lnSpc>
                <a:spcPct val="90000"/>
              </a:lnSpc>
            </a:pPr>
            <a:r>
              <a:rPr lang="zh-CN" altLang="en-US"/>
              <a:t>决策 </a:t>
            </a:r>
            <a:r>
              <a:rPr lang="en-US" altLang="zh-CN" i="1"/>
              <a:t>u</a:t>
            </a:r>
            <a:r>
              <a:rPr lang="en-US" altLang="zh-CN" i="1" baseline="-25000"/>
              <a:t>k</a:t>
            </a:r>
          </a:p>
          <a:p>
            <a:pPr lvl="1" eaLnBrk="1" hangingPunct="1">
              <a:lnSpc>
                <a:spcPct val="90000"/>
              </a:lnSpc>
            </a:pPr>
            <a:r>
              <a:rPr lang="zh-CN" altLang="en-US"/>
              <a:t>从上一状态确定下一状态时所做的选择</a:t>
            </a:r>
          </a:p>
          <a:p>
            <a:pPr lvl="1" eaLnBrk="1" hangingPunct="1">
              <a:lnSpc>
                <a:spcPct val="90000"/>
              </a:lnSpc>
            </a:pPr>
            <a:r>
              <a:rPr lang="zh-CN" altLang="en-US"/>
              <a:t>是所在状态变量的函数，记为 </a:t>
            </a:r>
            <a:r>
              <a:rPr lang="en-US" altLang="zh-CN" i="1"/>
              <a:t>u</a:t>
            </a:r>
            <a:r>
              <a:rPr lang="en-US" altLang="zh-CN" i="1" baseline="-25000"/>
              <a:t>k</a:t>
            </a:r>
            <a:r>
              <a:rPr lang="en-US" altLang="zh-CN"/>
              <a:t>(</a:t>
            </a:r>
            <a:r>
              <a:rPr lang="en-US" altLang="zh-CN" i="1"/>
              <a:t>s</a:t>
            </a:r>
            <a:r>
              <a:rPr lang="en-US" altLang="zh-CN" i="1" baseline="-25000"/>
              <a:t>k</a:t>
            </a:r>
            <a:r>
              <a:rPr lang="en-US" altLang="zh-CN"/>
              <a:t>) </a:t>
            </a:r>
          </a:p>
          <a:p>
            <a:pPr eaLnBrk="1" hangingPunct="1">
              <a:lnSpc>
                <a:spcPct val="90000"/>
              </a:lnSpc>
            </a:pPr>
            <a:r>
              <a:rPr lang="zh-CN" altLang="en-US"/>
              <a:t>允许决策集合 </a:t>
            </a:r>
            <a:r>
              <a:rPr lang="en-US" altLang="zh-CN" i="1"/>
              <a:t>D</a:t>
            </a:r>
            <a:r>
              <a:rPr lang="en-US" altLang="zh-CN" i="1" baseline="-25000"/>
              <a:t>k</a:t>
            </a:r>
            <a:r>
              <a:rPr lang="en-US" altLang="zh-CN"/>
              <a:t>(</a:t>
            </a:r>
            <a:r>
              <a:rPr lang="en-US" altLang="zh-CN" i="1"/>
              <a:t>s</a:t>
            </a:r>
            <a:r>
              <a:rPr lang="en-US" altLang="zh-CN" i="1" baseline="-25000"/>
              <a:t>k</a:t>
            </a:r>
            <a:r>
              <a:rPr lang="en-US" altLang="zh-CN"/>
              <a:t>)</a:t>
            </a:r>
            <a:endParaRPr lang="en-US" altLang="zh-CN" i="1"/>
          </a:p>
          <a:p>
            <a:pPr lvl="1" eaLnBrk="1" hangingPunct="1">
              <a:lnSpc>
                <a:spcPct val="90000"/>
              </a:lnSpc>
            </a:pPr>
            <a:r>
              <a:rPr lang="en-US" altLang="zh-CN"/>
              <a:t> </a:t>
            </a:r>
            <a:r>
              <a:rPr lang="zh-CN" altLang="en-US"/>
              <a:t>第 </a:t>
            </a:r>
            <a:r>
              <a:rPr lang="en-US" altLang="zh-CN" i="1"/>
              <a:t>k </a:t>
            </a:r>
            <a:r>
              <a:rPr lang="zh-CN" altLang="en-US"/>
              <a:t>阶段在状态 </a:t>
            </a:r>
            <a:r>
              <a:rPr lang="en-US" altLang="zh-CN" i="1"/>
              <a:t>s</a:t>
            </a:r>
            <a:r>
              <a:rPr lang="en-US" altLang="zh-CN" i="1" baseline="-25000"/>
              <a:t>k</a:t>
            </a:r>
            <a:r>
              <a:rPr lang="zh-CN" altLang="en-US"/>
              <a:t>下，允许采取决策的全体</a:t>
            </a:r>
            <a:r>
              <a:rPr lang="zh-CN" altLang="en-US" i="1"/>
              <a:t> </a:t>
            </a:r>
          </a:p>
          <a:p>
            <a:pPr eaLnBrk="1" hangingPunct="1">
              <a:lnSpc>
                <a:spcPct val="90000"/>
              </a:lnSpc>
            </a:pPr>
            <a:r>
              <a:rPr lang="zh-CN" altLang="en-US"/>
              <a:t>策略  </a:t>
            </a:r>
            <a:r>
              <a:rPr lang="en-US" altLang="zh-CN" i="1"/>
              <a:t>p</a:t>
            </a:r>
            <a:r>
              <a:rPr lang="en-US" altLang="zh-CN" i="1" baseline="-25000"/>
              <a:t>k,n</a:t>
            </a:r>
            <a:r>
              <a:rPr lang="en-US" altLang="zh-CN"/>
              <a:t>(</a:t>
            </a:r>
            <a:r>
              <a:rPr lang="en-US" altLang="zh-CN" i="1"/>
              <a:t>s</a:t>
            </a:r>
            <a:r>
              <a:rPr lang="en-US" altLang="zh-CN" i="1" baseline="-25000"/>
              <a:t>k</a:t>
            </a:r>
            <a:r>
              <a:rPr lang="en-US" altLang="zh-CN"/>
              <a:t>)={</a:t>
            </a:r>
            <a:r>
              <a:rPr lang="en-US" altLang="zh-CN" i="1"/>
              <a:t>u</a:t>
            </a:r>
            <a:r>
              <a:rPr lang="en-US" altLang="zh-CN" i="1" baseline="-25000"/>
              <a:t>k</a:t>
            </a:r>
            <a:r>
              <a:rPr lang="en-US" altLang="zh-CN"/>
              <a:t>(</a:t>
            </a:r>
            <a:r>
              <a:rPr lang="en-US" altLang="zh-CN" i="1"/>
              <a:t>s</a:t>
            </a:r>
            <a:r>
              <a:rPr lang="en-US" altLang="zh-CN" i="1" baseline="-25000"/>
              <a:t>k</a:t>
            </a:r>
            <a:r>
              <a:rPr lang="en-US" altLang="zh-CN"/>
              <a:t>), </a:t>
            </a:r>
            <a:r>
              <a:rPr lang="en-US" altLang="zh-CN" i="1"/>
              <a:t>u</a:t>
            </a:r>
            <a:r>
              <a:rPr lang="en-US" altLang="zh-CN" i="1" baseline="-25000"/>
              <a:t>k+</a:t>
            </a:r>
            <a:r>
              <a:rPr lang="en-US" altLang="zh-CN" baseline="-25000"/>
              <a:t>1</a:t>
            </a:r>
            <a:r>
              <a:rPr lang="en-US" altLang="zh-CN"/>
              <a:t>(</a:t>
            </a:r>
            <a:r>
              <a:rPr lang="en-US" altLang="zh-CN" i="1"/>
              <a:t>s</a:t>
            </a:r>
            <a:r>
              <a:rPr lang="en-US" altLang="zh-CN" i="1" baseline="-25000"/>
              <a:t>k+</a:t>
            </a:r>
            <a:r>
              <a:rPr lang="en-US" altLang="zh-CN" baseline="-25000"/>
              <a:t>1</a:t>
            </a:r>
            <a:r>
              <a:rPr lang="en-US" altLang="zh-CN"/>
              <a:t>), …,</a:t>
            </a:r>
            <a:r>
              <a:rPr lang="en-US" altLang="zh-CN" i="1"/>
              <a:t> u</a:t>
            </a:r>
            <a:r>
              <a:rPr lang="en-US" altLang="zh-CN" i="1" baseline="-25000"/>
              <a:t>n</a:t>
            </a:r>
            <a:r>
              <a:rPr lang="en-US" altLang="zh-CN"/>
              <a:t>(</a:t>
            </a:r>
            <a:r>
              <a:rPr lang="en-US" altLang="zh-CN" i="1"/>
              <a:t>s</a:t>
            </a:r>
            <a:r>
              <a:rPr lang="en-US" altLang="zh-CN" i="1" baseline="-25000"/>
              <a:t>n</a:t>
            </a:r>
            <a:r>
              <a:rPr lang="en-US" altLang="zh-CN"/>
              <a:t>)}</a:t>
            </a:r>
          </a:p>
          <a:p>
            <a:pPr lvl="1" eaLnBrk="1" hangingPunct="1">
              <a:lnSpc>
                <a:spcPct val="90000"/>
              </a:lnSpc>
            </a:pPr>
            <a:r>
              <a:rPr lang="zh-CN" altLang="en-US"/>
              <a:t>由第</a:t>
            </a:r>
            <a:r>
              <a:rPr lang="en-US" altLang="zh-CN" i="1"/>
              <a:t>k </a:t>
            </a:r>
            <a:r>
              <a:rPr lang="zh-CN" altLang="en-US"/>
              <a:t>阶段到终止的每段决策组成的序列</a:t>
            </a:r>
          </a:p>
          <a:p>
            <a:pPr lvl="1" eaLnBrk="1" hangingPunct="1">
              <a:lnSpc>
                <a:spcPct val="90000"/>
              </a:lnSpc>
            </a:pPr>
            <a:r>
              <a:rPr lang="zh-CN" altLang="en-US"/>
              <a:t>可供选择的策略范围称为</a:t>
            </a:r>
            <a:r>
              <a:rPr lang="zh-CN" altLang="en-US">
                <a:solidFill>
                  <a:srgbClr val="FF0000"/>
                </a:solidFill>
              </a:rPr>
              <a:t>允许策略集合</a:t>
            </a:r>
            <a:r>
              <a:rPr lang="zh-CN" altLang="en-US"/>
              <a:t>，记为 </a:t>
            </a:r>
            <a:r>
              <a:rPr lang="en-US" altLang="zh-CN"/>
              <a:t>P</a:t>
            </a:r>
          </a:p>
          <a:p>
            <a:pPr lvl="1" eaLnBrk="1" hangingPunct="1">
              <a:lnSpc>
                <a:spcPct val="90000"/>
              </a:lnSpc>
            </a:pPr>
            <a:r>
              <a:rPr lang="zh-CN" altLang="en-US"/>
              <a:t>其中达到最优效果的策略称为</a:t>
            </a:r>
            <a:r>
              <a:rPr lang="zh-CN" altLang="en-US">
                <a:solidFill>
                  <a:srgbClr val="FF0000"/>
                </a:solidFill>
              </a:rPr>
              <a:t>最优策略</a:t>
            </a:r>
          </a:p>
        </p:txBody>
      </p:sp>
      <p:pic>
        <p:nvPicPr>
          <p:cNvPr id="20484" name="图片 11">
            <a:extLst>
              <a:ext uri="{FF2B5EF4-FFF2-40B4-BE49-F238E27FC236}">
                <a16:creationId xmlns:a16="http://schemas.microsoft.com/office/drawing/2014/main" id="{E3E965B0-8A72-4501-8D18-8F8515615AF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44800" y="34925"/>
            <a:ext cx="6227763" cy="2025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linds(horizontal)">
                                      <p:cBhvr>
                                        <p:cTn id="7" dur="500"/>
                                        <p:tgtEl>
                                          <p:spTgt spid="225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blinds(horizontal)">
                                      <p:cBhvr>
                                        <p:cTn id="12" dur="500"/>
                                        <p:tgtEl>
                                          <p:spTgt spid="225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7" dur="500"/>
                                        <p:tgtEl>
                                          <p:spTgt spid="225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22" dur="500"/>
                                        <p:tgtEl>
                                          <p:spTgt spid="225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27" dur="500"/>
                                        <p:tgtEl>
                                          <p:spTgt spid="2253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531">
                                            <p:txEl>
                                              <p:pRg st="5" end="5"/>
                                            </p:txEl>
                                          </p:spTgt>
                                        </p:tgtEl>
                                        <p:attrNameLst>
                                          <p:attrName>style.visibility</p:attrName>
                                        </p:attrNameLst>
                                      </p:cBhvr>
                                      <p:to>
                                        <p:strVal val="visible"/>
                                      </p:to>
                                    </p:set>
                                    <p:animEffect transition="in" filter="blinds(horizontal)">
                                      <p:cBhvr>
                                        <p:cTn id="32" dur="500"/>
                                        <p:tgtEl>
                                          <p:spTgt spid="2253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531">
                                            <p:txEl>
                                              <p:pRg st="6" end="6"/>
                                            </p:txEl>
                                          </p:spTgt>
                                        </p:tgtEl>
                                        <p:attrNameLst>
                                          <p:attrName>style.visibility</p:attrName>
                                        </p:attrNameLst>
                                      </p:cBhvr>
                                      <p:to>
                                        <p:strVal val="visible"/>
                                      </p:to>
                                    </p:set>
                                    <p:animEffect transition="in" filter="blinds(horizontal)">
                                      <p:cBhvr>
                                        <p:cTn id="37" dur="500"/>
                                        <p:tgtEl>
                                          <p:spTgt spid="2253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531">
                                            <p:txEl>
                                              <p:pRg st="7" end="7"/>
                                            </p:txEl>
                                          </p:spTgt>
                                        </p:tgtEl>
                                        <p:attrNameLst>
                                          <p:attrName>style.visibility</p:attrName>
                                        </p:attrNameLst>
                                      </p:cBhvr>
                                      <p:to>
                                        <p:strVal val="visible"/>
                                      </p:to>
                                    </p:set>
                                    <p:animEffect transition="in" filter="blinds(horizontal)">
                                      <p:cBhvr>
                                        <p:cTn id="42" dur="500"/>
                                        <p:tgtEl>
                                          <p:spTgt spid="2253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2531">
                                            <p:txEl>
                                              <p:pRg st="8" end="8"/>
                                            </p:txEl>
                                          </p:spTgt>
                                        </p:tgtEl>
                                        <p:attrNameLst>
                                          <p:attrName>style.visibility</p:attrName>
                                        </p:attrNameLst>
                                      </p:cBhvr>
                                      <p:to>
                                        <p:strVal val="visible"/>
                                      </p:to>
                                    </p:set>
                                    <p:animEffect transition="in" filter="blinds(horizontal)">
                                      <p:cBhvr>
                                        <p:cTn id="47" dur="500"/>
                                        <p:tgtEl>
                                          <p:spTgt spid="225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bldLvl="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13095DC-7D81-422C-B712-E3BC5C8C2DF2}"/>
              </a:ext>
            </a:extLst>
          </p:cNvPr>
          <p:cNvSpPr>
            <a:spLocks noGrp="1" noChangeArrowheads="1"/>
          </p:cNvSpPr>
          <p:nvPr>
            <p:ph type="title"/>
          </p:nvPr>
        </p:nvSpPr>
        <p:spPr/>
        <p:txBody>
          <a:bodyPr/>
          <a:lstStyle/>
          <a:p>
            <a:pPr eaLnBrk="1" hangingPunct="1"/>
            <a:r>
              <a:rPr lang="zh-CN" altLang="en-US"/>
              <a:t>基本概念</a:t>
            </a:r>
          </a:p>
        </p:txBody>
      </p:sp>
      <p:sp>
        <p:nvSpPr>
          <p:cNvPr id="35843" name="Rectangle 3">
            <a:extLst>
              <a:ext uri="{FF2B5EF4-FFF2-40B4-BE49-F238E27FC236}">
                <a16:creationId xmlns:a16="http://schemas.microsoft.com/office/drawing/2014/main" id="{82F364DB-48FC-4C2A-9C5B-B0EA8D4F3495}"/>
              </a:ext>
            </a:extLst>
          </p:cNvPr>
          <p:cNvSpPr>
            <a:spLocks noGrp="1" noChangeArrowheads="1"/>
          </p:cNvSpPr>
          <p:nvPr>
            <p:ph type="body" idx="1"/>
          </p:nvPr>
        </p:nvSpPr>
        <p:spPr>
          <a:xfrm>
            <a:off x="179388" y="2181225"/>
            <a:ext cx="8353425" cy="4781550"/>
          </a:xfrm>
        </p:spPr>
        <p:txBody>
          <a:bodyPr/>
          <a:lstStyle/>
          <a:p>
            <a:pPr eaLnBrk="1" hangingPunct="1">
              <a:lnSpc>
                <a:spcPct val="90000"/>
              </a:lnSpc>
            </a:pPr>
            <a:r>
              <a:rPr lang="zh-CN" altLang="en-US"/>
              <a:t>状态转移方程 </a:t>
            </a:r>
            <a:r>
              <a:rPr lang="en-US" altLang="zh-CN" i="1"/>
              <a:t>s</a:t>
            </a:r>
            <a:r>
              <a:rPr lang="en-US" altLang="zh-CN" i="1" baseline="-25000"/>
              <a:t>k+</a:t>
            </a:r>
            <a:r>
              <a:rPr lang="en-US" altLang="zh-CN" baseline="-25000"/>
              <a:t>1</a:t>
            </a:r>
            <a:r>
              <a:rPr lang="en-US" altLang="zh-CN"/>
              <a:t>=</a:t>
            </a:r>
            <a:r>
              <a:rPr lang="en-US" altLang="zh-CN" i="1"/>
              <a:t>T</a:t>
            </a:r>
            <a:r>
              <a:rPr lang="en-US" altLang="zh-CN" i="1" baseline="-25000"/>
              <a:t>k</a:t>
            </a:r>
            <a:r>
              <a:rPr lang="en-US" altLang="zh-CN"/>
              <a:t>(</a:t>
            </a:r>
            <a:r>
              <a:rPr lang="en-US" altLang="zh-CN" i="1"/>
              <a:t>s</a:t>
            </a:r>
            <a:r>
              <a:rPr lang="en-US" altLang="zh-CN" i="1" baseline="-25000"/>
              <a:t>k </a:t>
            </a:r>
            <a:r>
              <a:rPr lang="en-US" altLang="zh-CN"/>
              <a:t>, </a:t>
            </a:r>
            <a:r>
              <a:rPr lang="en-US" altLang="zh-CN" i="1"/>
              <a:t>u</a:t>
            </a:r>
            <a:r>
              <a:rPr lang="en-US" altLang="zh-CN" i="1" baseline="-25000"/>
              <a:t>k</a:t>
            </a:r>
            <a:r>
              <a:rPr lang="en-US" altLang="zh-CN"/>
              <a:t>)</a:t>
            </a:r>
          </a:p>
          <a:p>
            <a:pPr lvl="1" eaLnBrk="1" hangingPunct="1">
              <a:lnSpc>
                <a:spcPct val="90000"/>
              </a:lnSpc>
            </a:pPr>
            <a:r>
              <a:rPr lang="zh-CN" altLang="en-US"/>
              <a:t>某一状态</a:t>
            </a:r>
            <a:r>
              <a:rPr lang="en-US" altLang="zh-CN" i="1"/>
              <a:t>s</a:t>
            </a:r>
            <a:r>
              <a:rPr lang="en-US" altLang="zh-CN" i="1" baseline="-25000"/>
              <a:t>k</a:t>
            </a:r>
            <a:r>
              <a:rPr lang="zh-CN" altLang="en-US"/>
              <a:t>以及该状态下决策</a:t>
            </a:r>
            <a:r>
              <a:rPr lang="en-US" altLang="zh-CN" i="1"/>
              <a:t>u</a:t>
            </a:r>
            <a:r>
              <a:rPr lang="en-US" altLang="zh-CN" i="1" baseline="-25000"/>
              <a:t>k</a:t>
            </a:r>
            <a:r>
              <a:rPr lang="zh-CN" altLang="en-US"/>
              <a:t>，与下一状态</a:t>
            </a:r>
            <a:r>
              <a:rPr lang="en-US" altLang="zh-CN" i="1"/>
              <a:t>s</a:t>
            </a:r>
            <a:r>
              <a:rPr lang="en-US" altLang="zh-CN" i="1" baseline="-25000"/>
              <a:t>k</a:t>
            </a:r>
            <a:r>
              <a:rPr lang="en-US" altLang="zh-CN" baseline="-25000"/>
              <a:t>+1</a:t>
            </a:r>
            <a:r>
              <a:rPr lang="zh-CN" altLang="en-US"/>
              <a:t>间的函数关系</a:t>
            </a:r>
          </a:p>
          <a:p>
            <a:pPr eaLnBrk="1" hangingPunct="1">
              <a:lnSpc>
                <a:spcPct val="90000"/>
              </a:lnSpc>
            </a:pPr>
            <a:r>
              <a:rPr lang="zh-CN" altLang="en-US"/>
              <a:t>阶段指标函数 </a:t>
            </a:r>
            <a:r>
              <a:rPr lang="en-US" altLang="zh-CN" i="1"/>
              <a:t>v</a:t>
            </a:r>
            <a:r>
              <a:rPr lang="en-US" altLang="zh-CN" i="1" baseline="-25000"/>
              <a:t>k</a:t>
            </a:r>
            <a:r>
              <a:rPr lang="en-US" altLang="zh-CN"/>
              <a:t>(</a:t>
            </a:r>
            <a:r>
              <a:rPr lang="en-US" altLang="zh-CN" i="1"/>
              <a:t>s</a:t>
            </a:r>
            <a:r>
              <a:rPr lang="en-US" altLang="zh-CN" i="1" baseline="-25000"/>
              <a:t>k</a:t>
            </a:r>
            <a:r>
              <a:rPr lang="en-US" altLang="zh-CN"/>
              <a:t>, </a:t>
            </a:r>
            <a:r>
              <a:rPr lang="en-US" altLang="zh-CN" i="1"/>
              <a:t>u</a:t>
            </a:r>
            <a:r>
              <a:rPr lang="en-US" altLang="zh-CN" i="1" baseline="-25000"/>
              <a:t>k</a:t>
            </a:r>
            <a:r>
              <a:rPr lang="en-US" altLang="zh-CN"/>
              <a:t>) (</a:t>
            </a:r>
            <a:r>
              <a:rPr lang="zh-CN" altLang="en-US" sz="2800"/>
              <a:t>也可以理解为</a:t>
            </a:r>
            <a:r>
              <a:rPr lang="zh-CN" altLang="en-US" sz="2800">
                <a:solidFill>
                  <a:srgbClr val="FF0000"/>
                </a:solidFill>
              </a:rPr>
              <a:t>目标函数</a:t>
            </a:r>
            <a:r>
              <a:rPr lang="en-US" altLang="zh-CN"/>
              <a:t>)</a:t>
            </a:r>
          </a:p>
          <a:p>
            <a:pPr lvl="1" eaLnBrk="1" hangingPunct="1">
              <a:lnSpc>
                <a:spcPct val="90000"/>
              </a:lnSpc>
            </a:pPr>
            <a:r>
              <a:rPr lang="zh-CN" altLang="en-US"/>
              <a:t>从状态 </a:t>
            </a:r>
            <a:r>
              <a:rPr lang="en-US" altLang="zh-CN" i="1"/>
              <a:t>s</a:t>
            </a:r>
            <a:r>
              <a:rPr lang="en-US" altLang="zh-CN" i="1" baseline="-25000"/>
              <a:t>k </a:t>
            </a:r>
            <a:r>
              <a:rPr lang="zh-CN" altLang="en-US"/>
              <a:t>出发，选择决策 </a:t>
            </a:r>
            <a:r>
              <a:rPr lang="en-US" altLang="zh-CN" i="1"/>
              <a:t>u</a:t>
            </a:r>
            <a:r>
              <a:rPr lang="en-US" altLang="zh-CN" i="1" baseline="-25000"/>
              <a:t>k</a:t>
            </a:r>
            <a:r>
              <a:rPr lang="zh-CN" altLang="en-US"/>
              <a:t>所产生的第 </a:t>
            </a:r>
            <a:r>
              <a:rPr lang="en-US" altLang="zh-CN" i="1"/>
              <a:t>k </a:t>
            </a:r>
            <a:r>
              <a:rPr lang="zh-CN" altLang="en-US"/>
              <a:t>阶段的数量指标</a:t>
            </a:r>
          </a:p>
        </p:txBody>
      </p:sp>
      <p:graphicFrame>
        <p:nvGraphicFramePr>
          <p:cNvPr id="3" name="对象 2">
            <a:extLst>
              <a:ext uri="{FF2B5EF4-FFF2-40B4-BE49-F238E27FC236}">
                <a16:creationId xmlns:a16="http://schemas.microsoft.com/office/drawing/2014/main" id="{F06F5C1A-13F6-4D87-B060-3C61566DD708}"/>
              </a:ext>
            </a:extLst>
          </p:cNvPr>
          <p:cNvGraphicFramePr>
            <a:graphicFrameLocks noChangeAspect="1"/>
          </p:cNvGraphicFramePr>
          <p:nvPr/>
        </p:nvGraphicFramePr>
        <p:xfrm>
          <a:off x="735013" y="4875213"/>
          <a:ext cx="5845175" cy="1798637"/>
        </p:xfrm>
        <a:graphic>
          <a:graphicData uri="http://schemas.openxmlformats.org/presentationml/2006/ole">
            <mc:AlternateContent xmlns:mc="http://schemas.openxmlformats.org/markup-compatibility/2006">
              <mc:Choice xmlns:v="urn:schemas-microsoft-com:vml" Requires="v">
                <p:oleObj spid="_x0000_s22550" name="Equation" r:id="rId3" imgW="2971800" imgH="914400" progId="Equation.DSMT4">
                  <p:embed/>
                </p:oleObj>
              </mc:Choice>
              <mc:Fallback>
                <p:oleObj name="Equation" r:id="rId3" imgW="2971800" imgH="914400"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13" y="4875213"/>
                        <a:ext cx="5845175" cy="179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2533" name="图片 8">
            <a:extLst>
              <a:ext uri="{FF2B5EF4-FFF2-40B4-BE49-F238E27FC236}">
                <a16:creationId xmlns:a16="http://schemas.microsoft.com/office/drawing/2014/main" id="{C4EA15C9-1FC3-4B5E-94C9-F5D47A0B3BB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843213" y="34925"/>
            <a:ext cx="6227762" cy="2025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2" dur="500"/>
                                        <p:tgtEl>
                                          <p:spTgt spid="358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7" dur="500"/>
                                        <p:tgtEl>
                                          <p:spTgt spid="358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843">
                                            <p:txEl>
                                              <p:pRg st="3" end="3"/>
                                            </p:txEl>
                                          </p:spTgt>
                                        </p:tgtEl>
                                        <p:attrNameLst>
                                          <p:attrName>style.visibility</p:attrName>
                                        </p:attrNameLst>
                                      </p:cBhvr>
                                      <p:to>
                                        <p:strVal val="visible"/>
                                      </p:to>
                                    </p:set>
                                    <p:animEffect transition="in" filter="blinds(horizontal)">
                                      <p:cBhvr>
                                        <p:cTn id="22" dur="500"/>
                                        <p:tgtEl>
                                          <p:spTgt spid="358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randombar(horizontal)">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bldLvl="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2A71A63-3528-4151-8CBA-3655B0EEB97F}"/>
              </a:ext>
            </a:extLst>
          </p:cNvPr>
          <p:cNvSpPr>
            <a:spLocks noGrp="1" noChangeArrowheads="1"/>
          </p:cNvSpPr>
          <p:nvPr>
            <p:ph type="title"/>
          </p:nvPr>
        </p:nvSpPr>
        <p:spPr/>
        <p:txBody>
          <a:bodyPr/>
          <a:lstStyle/>
          <a:p>
            <a:pPr eaLnBrk="1" hangingPunct="1"/>
            <a:r>
              <a:rPr lang="zh-CN" altLang="en-US"/>
              <a:t>基本概念</a:t>
            </a:r>
          </a:p>
        </p:txBody>
      </p:sp>
      <p:sp>
        <p:nvSpPr>
          <p:cNvPr id="23555" name="Rectangle 3">
            <a:extLst>
              <a:ext uri="{FF2B5EF4-FFF2-40B4-BE49-F238E27FC236}">
                <a16:creationId xmlns:a16="http://schemas.microsoft.com/office/drawing/2014/main" id="{E2F52612-3FA4-48A3-955B-006ED9DCB5ED}"/>
              </a:ext>
            </a:extLst>
          </p:cNvPr>
          <p:cNvSpPr>
            <a:spLocks noGrp="1" noChangeArrowheads="1"/>
          </p:cNvSpPr>
          <p:nvPr>
            <p:ph type="body" idx="1"/>
          </p:nvPr>
        </p:nvSpPr>
        <p:spPr>
          <a:xfrm>
            <a:off x="323850" y="1960563"/>
            <a:ext cx="8229600" cy="4997450"/>
          </a:xfrm>
          <a:extLst/>
        </p:spPr>
        <p:txBody>
          <a:bodyPr/>
          <a:lstStyle/>
          <a:p>
            <a:pPr eaLnBrk="1" hangingPunct="1">
              <a:defRPr/>
            </a:pPr>
            <a:r>
              <a:rPr lang="zh-CN" altLang="en-US" dirty="0"/>
              <a:t>指标函数 </a:t>
            </a:r>
            <a:r>
              <a:rPr lang="en-US" altLang="zh-CN" dirty="0" err="1"/>
              <a:t>V</a:t>
            </a:r>
            <a:r>
              <a:rPr lang="en-US" altLang="zh-CN" i="1" baseline="-25000" dirty="0" err="1"/>
              <a:t>k,n</a:t>
            </a:r>
            <a:r>
              <a:rPr lang="en-US" altLang="zh-CN" dirty="0"/>
              <a:t>(</a:t>
            </a:r>
            <a:r>
              <a:rPr lang="en-US" altLang="zh-CN" i="1" dirty="0" err="1"/>
              <a:t>s</a:t>
            </a:r>
            <a:r>
              <a:rPr lang="en-US" altLang="zh-CN" i="1" baseline="-25000" dirty="0" err="1"/>
              <a:t>k</a:t>
            </a:r>
            <a:r>
              <a:rPr lang="en-US" altLang="zh-CN" dirty="0"/>
              <a:t>, </a:t>
            </a:r>
            <a:r>
              <a:rPr lang="en-US" altLang="zh-CN" i="1" dirty="0" err="1"/>
              <a:t>u</a:t>
            </a:r>
            <a:r>
              <a:rPr lang="en-US" altLang="zh-CN" i="1" baseline="-25000" dirty="0" err="1"/>
              <a:t>k</a:t>
            </a:r>
            <a:r>
              <a:rPr lang="en-US" altLang="zh-CN" i="1" dirty="0"/>
              <a:t>, s</a:t>
            </a:r>
            <a:r>
              <a:rPr lang="en-US" altLang="zh-CN" i="1" baseline="-25000" dirty="0"/>
              <a:t>k+</a:t>
            </a:r>
            <a:r>
              <a:rPr lang="en-US" altLang="zh-CN" baseline="-25000" dirty="0"/>
              <a:t>1</a:t>
            </a:r>
            <a:r>
              <a:rPr lang="en-US" altLang="zh-CN" i="1" baseline="-25000" dirty="0"/>
              <a:t> </a:t>
            </a:r>
            <a:r>
              <a:rPr lang="en-US" altLang="zh-CN" i="1" dirty="0"/>
              <a:t>,…, s</a:t>
            </a:r>
            <a:r>
              <a:rPr lang="en-US" altLang="zh-CN" i="1" baseline="-25000" dirty="0"/>
              <a:t>n+</a:t>
            </a:r>
            <a:r>
              <a:rPr lang="en-US" altLang="zh-CN" baseline="-25000" dirty="0"/>
              <a:t>1</a:t>
            </a:r>
            <a:r>
              <a:rPr lang="en-US" altLang="zh-CN" dirty="0"/>
              <a:t>) </a:t>
            </a:r>
          </a:p>
          <a:p>
            <a:pPr lvl="1" eaLnBrk="1" hangingPunct="1">
              <a:defRPr/>
            </a:pPr>
            <a:r>
              <a:rPr lang="zh-CN" altLang="en-US" dirty="0"/>
              <a:t>从状态</a:t>
            </a:r>
            <a:r>
              <a:rPr lang="en-US" altLang="zh-CN" i="1" dirty="0" err="1"/>
              <a:t>s</a:t>
            </a:r>
            <a:r>
              <a:rPr lang="en-US" altLang="zh-CN" i="1" baseline="-25000" dirty="0" err="1"/>
              <a:t>k</a:t>
            </a:r>
            <a:r>
              <a:rPr lang="zh-CN" altLang="en-US" dirty="0"/>
              <a:t>出发，经</a:t>
            </a:r>
            <a:r>
              <a:rPr lang="en-US" altLang="zh-CN" i="1" dirty="0"/>
              <a:t>s</a:t>
            </a:r>
            <a:r>
              <a:rPr lang="en-US" altLang="zh-CN" i="1" baseline="-25000" dirty="0"/>
              <a:t>k+</a:t>
            </a:r>
            <a:r>
              <a:rPr lang="en-US" altLang="zh-CN" baseline="-25000" dirty="0"/>
              <a:t>1</a:t>
            </a:r>
            <a:r>
              <a:rPr lang="en-US" altLang="zh-CN" i="1" baseline="-25000" dirty="0"/>
              <a:t> </a:t>
            </a:r>
            <a:r>
              <a:rPr lang="en-US" altLang="zh-CN" i="1" dirty="0"/>
              <a:t>,…, s</a:t>
            </a:r>
            <a:r>
              <a:rPr lang="en-US" altLang="zh-CN" i="1" baseline="-25000" dirty="0"/>
              <a:t>n+</a:t>
            </a:r>
            <a:r>
              <a:rPr lang="en-US" altLang="zh-CN" baseline="-25000" dirty="0"/>
              <a:t>1</a:t>
            </a:r>
            <a:r>
              <a:rPr lang="zh-CN" altLang="en-US" dirty="0"/>
              <a:t>产生的过程指标 </a:t>
            </a:r>
          </a:p>
          <a:p>
            <a:pPr lvl="1" eaLnBrk="1" hangingPunct="1">
              <a:defRPr/>
            </a:pPr>
            <a:r>
              <a:rPr lang="zh-CN" altLang="en-US" dirty="0"/>
              <a:t>动态规划要求指标函数具有</a:t>
            </a:r>
            <a:r>
              <a:rPr lang="zh-CN" altLang="en-US" dirty="0">
                <a:solidFill>
                  <a:srgbClr val="FF0000"/>
                </a:solidFill>
              </a:rPr>
              <a:t>可分离性</a:t>
            </a:r>
          </a:p>
          <a:p>
            <a:pPr lvl="2" eaLnBrk="1" hangingPunct="1">
              <a:defRPr/>
            </a:pPr>
            <a:r>
              <a:rPr lang="zh-CN" altLang="en-US" dirty="0"/>
              <a:t>可加性：</a:t>
            </a:r>
            <a:r>
              <a:rPr lang="en-US" altLang="zh-CN" sz="2800" dirty="0" err="1"/>
              <a:t>V</a:t>
            </a:r>
            <a:r>
              <a:rPr lang="en-US" altLang="zh-CN" i="1" baseline="-25000" dirty="0" err="1"/>
              <a:t>k,n</a:t>
            </a:r>
            <a:r>
              <a:rPr lang="en-US" altLang="zh-CN" i="1" baseline="-25000" dirty="0"/>
              <a:t> </a:t>
            </a:r>
            <a:r>
              <a:rPr lang="en-US" altLang="zh-CN" dirty="0"/>
              <a:t>(</a:t>
            </a:r>
            <a:r>
              <a:rPr lang="en-US" altLang="zh-CN" i="1" dirty="0" err="1"/>
              <a:t>s</a:t>
            </a:r>
            <a:r>
              <a:rPr lang="en-US" altLang="zh-CN" i="1" baseline="-25000" dirty="0" err="1"/>
              <a:t>k</a:t>
            </a:r>
            <a:r>
              <a:rPr lang="en-US" altLang="zh-CN" dirty="0"/>
              <a:t>, </a:t>
            </a:r>
            <a:r>
              <a:rPr lang="en-US" altLang="zh-CN" i="1" dirty="0" err="1"/>
              <a:t>u</a:t>
            </a:r>
            <a:r>
              <a:rPr lang="en-US" altLang="zh-CN" i="1" baseline="-25000" dirty="0" err="1"/>
              <a:t>k</a:t>
            </a:r>
            <a:r>
              <a:rPr lang="en-US" altLang="zh-CN" dirty="0"/>
              <a:t>, </a:t>
            </a:r>
            <a:r>
              <a:rPr lang="en-US" altLang="zh-CN" i="1" dirty="0"/>
              <a:t>s</a:t>
            </a:r>
            <a:r>
              <a:rPr lang="en-US" altLang="zh-CN" i="1" baseline="-25000" dirty="0"/>
              <a:t>k+</a:t>
            </a:r>
            <a:r>
              <a:rPr lang="en-US" altLang="zh-CN" baseline="-25000" dirty="0"/>
              <a:t>1</a:t>
            </a:r>
            <a:r>
              <a:rPr lang="en-US" altLang="zh-CN" dirty="0"/>
              <a:t>,…,</a:t>
            </a:r>
            <a:r>
              <a:rPr lang="en-US" altLang="zh-CN" i="1" dirty="0"/>
              <a:t>s</a:t>
            </a:r>
            <a:r>
              <a:rPr lang="en-US" altLang="zh-CN" i="1" baseline="-25000" dirty="0"/>
              <a:t>n+</a:t>
            </a:r>
            <a:r>
              <a:rPr lang="en-US" altLang="zh-CN" baseline="-25000" dirty="0"/>
              <a:t>1</a:t>
            </a:r>
            <a:r>
              <a:rPr lang="en-US" altLang="zh-CN" dirty="0"/>
              <a:t>)=</a:t>
            </a:r>
            <a:br>
              <a:rPr lang="en-US" altLang="zh-CN" dirty="0"/>
            </a:br>
            <a:r>
              <a:rPr lang="en-US" altLang="zh-CN" dirty="0"/>
              <a:t>                              </a:t>
            </a:r>
            <a:r>
              <a:rPr lang="en-US" altLang="zh-CN" i="1" dirty="0" err="1"/>
              <a:t>v</a:t>
            </a:r>
            <a:r>
              <a:rPr lang="en-US" altLang="zh-CN" i="1" baseline="-25000" dirty="0" err="1"/>
              <a:t>k</a:t>
            </a:r>
            <a:r>
              <a:rPr lang="en-US" altLang="zh-CN" i="1" baseline="-25000" dirty="0"/>
              <a:t> </a:t>
            </a:r>
            <a:r>
              <a:rPr lang="en-US" altLang="zh-CN" dirty="0"/>
              <a:t>(</a:t>
            </a:r>
            <a:r>
              <a:rPr lang="en-US" altLang="zh-CN" i="1" dirty="0" err="1"/>
              <a:t>s</a:t>
            </a:r>
            <a:r>
              <a:rPr lang="en-US" altLang="zh-CN" i="1" baseline="-25000" dirty="0" err="1"/>
              <a:t>k</a:t>
            </a:r>
            <a:r>
              <a:rPr lang="en-US" altLang="zh-CN" dirty="0" err="1"/>
              <a:t>,</a:t>
            </a:r>
            <a:r>
              <a:rPr lang="en-US" altLang="zh-CN" i="1" dirty="0" err="1"/>
              <a:t>u</a:t>
            </a:r>
            <a:r>
              <a:rPr lang="en-US" altLang="zh-CN" i="1" baseline="-25000" dirty="0" err="1"/>
              <a:t>k</a:t>
            </a:r>
            <a:r>
              <a:rPr lang="en-US" altLang="zh-CN" dirty="0"/>
              <a:t>) +</a:t>
            </a:r>
            <a:r>
              <a:rPr lang="en-US" altLang="zh-CN" sz="2800" dirty="0"/>
              <a:t>V</a:t>
            </a:r>
            <a:r>
              <a:rPr lang="en-US" altLang="zh-CN" i="1" baseline="-25000" dirty="0"/>
              <a:t>k+</a:t>
            </a:r>
            <a:r>
              <a:rPr lang="en-US" altLang="zh-CN" baseline="-25000" dirty="0"/>
              <a:t>1,</a:t>
            </a:r>
            <a:r>
              <a:rPr lang="en-US" altLang="zh-CN" i="1" baseline="-25000" dirty="0"/>
              <a:t>n </a:t>
            </a:r>
            <a:r>
              <a:rPr lang="en-US" altLang="zh-CN" dirty="0"/>
              <a:t>(</a:t>
            </a:r>
            <a:r>
              <a:rPr lang="en-US" altLang="zh-CN" i="1" dirty="0"/>
              <a:t>s</a:t>
            </a:r>
            <a:r>
              <a:rPr lang="en-US" altLang="zh-CN" i="1" baseline="-25000" dirty="0"/>
              <a:t>k+</a:t>
            </a:r>
            <a:r>
              <a:rPr lang="en-US" altLang="zh-CN" baseline="-25000" dirty="0"/>
              <a:t>1</a:t>
            </a:r>
            <a:r>
              <a:rPr lang="en-US" altLang="zh-CN" dirty="0"/>
              <a:t>,</a:t>
            </a:r>
            <a:r>
              <a:rPr lang="en-US" altLang="zh-CN" i="1" dirty="0"/>
              <a:t>u</a:t>
            </a:r>
            <a:r>
              <a:rPr lang="en-US" altLang="zh-CN" i="1" baseline="-25000" dirty="0"/>
              <a:t>k+</a:t>
            </a:r>
            <a:r>
              <a:rPr lang="en-US" altLang="zh-CN" baseline="-25000" dirty="0"/>
              <a:t>1</a:t>
            </a:r>
            <a:r>
              <a:rPr lang="en-US" altLang="zh-CN" dirty="0"/>
              <a:t>,…,</a:t>
            </a:r>
            <a:r>
              <a:rPr lang="en-US" altLang="zh-CN" i="1" dirty="0"/>
              <a:t>s</a:t>
            </a:r>
            <a:r>
              <a:rPr lang="en-US" altLang="zh-CN" i="1" baseline="-25000" dirty="0"/>
              <a:t>n+</a:t>
            </a:r>
            <a:r>
              <a:rPr lang="en-US" altLang="zh-CN" baseline="-25000" dirty="0"/>
              <a:t>1</a:t>
            </a:r>
            <a:r>
              <a:rPr lang="en-US" altLang="zh-CN" dirty="0"/>
              <a:t>) </a:t>
            </a:r>
          </a:p>
          <a:p>
            <a:pPr lvl="2" eaLnBrk="1" hangingPunct="1">
              <a:defRPr/>
            </a:pPr>
            <a:r>
              <a:rPr lang="zh-CN" altLang="en-US" dirty="0"/>
              <a:t>可乘性：</a:t>
            </a:r>
            <a:r>
              <a:rPr lang="en-US" altLang="zh-CN" sz="2800" dirty="0" err="1"/>
              <a:t>V</a:t>
            </a:r>
            <a:r>
              <a:rPr lang="en-US" altLang="zh-CN" i="1" baseline="-25000" dirty="0" err="1"/>
              <a:t>k,n</a:t>
            </a:r>
            <a:r>
              <a:rPr lang="en-US" altLang="zh-CN" i="1" baseline="-25000" dirty="0"/>
              <a:t> </a:t>
            </a:r>
            <a:r>
              <a:rPr lang="en-US" altLang="zh-CN" dirty="0"/>
              <a:t>(</a:t>
            </a:r>
            <a:r>
              <a:rPr lang="en-US" altLang="zh-CN" i="1" dirty="0" err="1"/>
              <a:t>s</a:t>
            </a:r>
            <a:r>
              <a:rPr lang="en-US" altLang="zh-CN" i="1" baseline="-25000" dirty="0" err="1"/>
              <a:t>k</a:t>
            </a:r>
            <a:r>
              <a:rPr lang="en-US" altLang="zh-CN" dirty="0"/>
              <a:t>, </a:t>
            </a:r>
            <a:r>
              <a:rPr lang="en-US" altLang="zh-CN" i="1" dirty="0" err="1"/>
              <a:t>u</a:t>
            </a:r>
            <a:r>
              <a:rPr lang="en-US" altLang="zh-CN" i="1" baseline="-25000" dirty="0" err="1"/>
              <a:t>k</a:t>
            </a:r>
            <a:r>
              <a:rPr lang="en-US" altLang="zh-CN" dirty="0"/>
              <a:t>, </a:t>
            </a:r>
            <a:r>
              <a:rPr lang="en-US" altLang="zh-CN" i="1" dirty="0"/>
              <a:t>s</a:t>
            </a:r>
            <a:r>
              <a:rPr lang="en-US" altLang="zh-CN" i="1" baseline="-25000" dirty="0"/>
              <a:t>k+</a:t>
            </a:r>
            <a:r>
              <a:rPr lang="en-US" altLang="zh-CN" baseline="-25000" dirty="0"/>
              <a:t>1</a:t>
            </a:r>
            <a:r>
              <a:rPr lang="en-US" altLang="zh-CN" dirty="0"/>
              <a:t>,…,</a:t>
            </a:r>
            <a:r>
              <a:rPr lang="en-US" altLang="zh-CN" i="1" dirty="0"/>
              <a:t>s</a:t>
            </a:r>
            <a:r>
              <a:rPr lang="en-US" altLang="zh-CN" i="1" baseline="-25000" dirty="0"/>
              <a:t>n+</a:t>
            </a:r>
            <a:r>
              <a:rPr lang="en-US" altLang="zh-CN" baseline="-25000" dirty="0"/>
              <a:t>1</a:t>
            </a:r>
            <a:r>
              <a:rPr lang="en-US" altLang="zh-CN" dirty="0"/>
              <a:t>)= </a:t>
            </a:r>
            <a:br>
              <a:rPr lang="en-US" altLang="zh-CN" dirty="0"/>
            </a:br>
            <a:r>
              <a:rPr lang="en-US" altLang="zh-CN" dirty="0"/>
              <a:t>                             </a:t>
            </a:r>
            <a:r>
              <a:rPr lang="en-US" altLang="zh-CN" i="1" dirty="0" err="1"/>
              <a:t>v</a:t>
            </a:r>
            <a:r>
              <a:rPr lang="en-US" altLang="zh-CN" i="1" baseline="-25000" dirty="0" err="1"/>
              <a:t>k</a:t>
            </a:r>
            <a:r>
              <a:rPr lang="en-US" altLang="zh-CN" i="1" baseline="-25000" dirty="0"/>
              <a:t> </a:t>
            </a:r>
            <a:r>
              <a:rPr lang="en-US" altLang="zh-CN" dirty="0"/>
              <a:t>(</a:t>
            </a:r>
            <a:r>
              <a:rPr lang="en-US" altLang="zh-CN" i="1" dirty="0" err="1"/>
              <a:t>s</a:t>
            </a:r>
            <a:r>
              <a:rPr lang="en-US" altLang="zh-CN" i="1" baseline="-25000" dirty="0" err="1"/>
              <a:t>k</a:t>
            </a:r>
            <a:r>
              <a:rPr lang="en-US" altLang="zh-CN" dirty="0" err="1"/>
              <a:t>,</a:t>
            </a:r>
            <a:r>
              <a:rPr lang="en-US" altLang="zh-CN" i="1" dirty="0" err="1"/>
              <a:t>u</a:t>
            </a:r>
            <a:r>
              <a:rPr lang="en-US" altLang="zh-CN" i="1" baseline="-25000" dirty="0" err="1"/>
              <a:t>k</a:t>
            </a:r>
            <a:r>
              <a:rPr lang="en-US" altLang="zh-CN" dirty="0"/>
              <a:t>)× </a:t>
            </a:r>
            <a:r>
              <a:rPr lang="en-US" altLang="zh-CN" sz="2800" dirty="0"/>
              <a:t>V</a:t>
            </a:r>
            <a:r>
              <a:rPr lang="en-US" altLang="zh-CN" i="1" baseline="-25000" dirty="0"/>
              <a:t>k+</a:t>
            </a:r>
            <a:r>
              <a:rPr lang="en-US" altLang="zh-CN" baseline="-25000" dirty="0"/>
              <a:t>1,</a:t>
            </a:r>
            <a:r>
              <a:rPr lang="en-US" altLang="zh-CN" i="1" baseline="-25000" dirty="0"/>
              <a:t>n </a:t>
            </a:r>
            <a:r>
              <a:rPr lang="en-US" altLang="zh-CN" dirty="0"/>
              <a:t>(</a:t>
            </a:r>
            <a:r>
              <a:rPr lang="en-US" altLang="zh-CN" i="1" dirty="0"/>
              <a:t>s</a:t>
            </a:r>
            <a:r>
              <a:rPr lang="en-US" altLang="zh-CN" i="1" baseline="-25000" dirty="0"/>
              <a:t>k+</a:t>
            </a:r>
            <a:r>
              <a:rPr lang="en-US" altLang="zh-CN" baseline="-25000" dirty="0"/>
              <a:t>1</a:t>
            </a:r>
            <a:r>
              <a:rPr lang="en-US" altLang="zh-CN" dirty="0"/>
              <a:t>,</a:t>
            </a:r>
            <a:r>
              <a:rPr lang="en-US" altLang="zh-CN" i="1" dirty="0"/>
              <a:t>u</a:t>
            </a:r>
            <a:r>
              <a:rPr lang="en-US" altLang="zh-CN" i="1" baseline="-25000" dirty="0"/>
              <a:t>k+</a:t>
            </a:r>
            <a:r>
              <a:rPr lang="en-US" altLang="zh-CN" baseline="-25000" dirty="0"/>
              <a:t>1</a:t>
            </a:r>
            <a:r>
              <a:rPr lang="en-US" altLang="zh-CN" dirty="0"/>
              <a:t>,…,</a:t>
            </a:r>
            <a:r>
              <a:rPr lang="en-US" altLang="zh-CN" i="1" dirty="0"/>
              <a:t>s</a:t>
            </a:r>
            <a:r>
              <a:rPr lang="en-US" altLang="zh-CN" i="1" baseline="-25000" dirty="0"/>
              <a:t>n+</a:t>
            </a:r>
            <a:r>
              <a:rPr lang="en-US" altLang="zh-CN" baseline="-25000" dirty="0"/>
              <a:t>1</a:t>
            </a:r>
            <a:r>
              <a:rPr lang="en-US" altLang="zh-CN" dirty="0"/>
              <a:t>)</a:t>
            </a:r>
          </a:p>
          <a:p>
            <a:pPr eaLnBrk="1" hangingPunct="1">
              <a:defRPr/>
            </a:pPr>
            <a:r>
              <a:rPr lang="zh-CN" altLang="en-US" dirty="0">
                <a:highlight>
                  <a:srgbClr val="FFFF00"/>
                </a:highlight>
              </a:rPr>
              <a:t>最优值函数 </a:t>
            </a:r>
            <a:r>
              <a:rPr lang="zh-CN" altLang="en-US" sz="2800" b="0" dirty="0">
                <a:highlight>
                  <a:srgbClr val="FFFF00"/>
                </a:highlight>
              </a:rPr>
              <a:t> </a:t>
            </a:r>
            <a:r>
              <a:rPr lang="en-US" altLang="zh-CN" sz="2800" i="1" dirty="0" err="1">
                <a:highlight>
                  <a:srgbClr val="FFFF00"/>
                </a:highlight>
              </a:rPr>
              <a:t>f</a:t>
            </a:r>
            <a:r>
              <a:rPr lang="en-US" altLang="zh-CN" i="1" baseline="-25000" dirty="0" err="1">
                <a:highlight>
                  <a:srgbClr val="FFFF00"/>
                </a:highlight>
              </a:rPr>
              <a:t>k</a:t>
            </a:r>
            <a:r>
              <a:rPr lang="en-US" altLang="zh-CN" sz="2800" dirty="0">
                <a:highlight>
                  <a:srgbClr val="FFFF00"/>
                </a:highlight>
              </a:rPr>
              <a:t>(</a:t>
            </a:r>
            <a:r>
              <a:rPr lang="en-US" altLang="zh-CN" i="1" dirty="0" err="1">
                <a:highlight>
                  <a:srgbClr val="FFFF00"/>
                </a:highlight>
              </a:rPr>
              <a:t>s</a:t>
            </a:r>
            <a:r>
              <a:rPr lang="en-US" altLang="zh-CN" i="1" baseline="-25000" dirty="0" err="1">
                <a:highlight>
                  <a:srgbClr val="FFFF00"/>
                </a:highlight>
              </a:rPr>
              <a:t>k</a:t>
            </a:r>
            <a:r>
              <a:rPr lang="en-US" altLang="zh-CN" sz="2800" dirty="0">
                <a:highlight>
                  <a:srgbClr val="FFFF00"/>
                </a:highlight>
              </a:rPr>
              <a:t>)= opt</a:t>
            </a:r>
            <a:r>
              <a:rPr lang="en-US" altLang="zh-CN" sz="2800" b="0" dirty="0">
                <a:highlight>
                  <a:srgbClr val="FFFF00"/>
                </a:highlight>
              </a:rPr>
              <a:t>  </a:t>
            </a:r>
            <a:r>
              <a:rPr lang="en-US" altLang="zh-CN" dirty="0" err="1">
                <a:highlight>
                  <a:srgbClr val="FFFF00"/>
                </a:highlight>
              </a:rPr>
              <a:t>V</a:t>
            </a:r>
            <a:r>
              <a:rPr lang="en-US" altLang="zh-CN" i="1" baseline="-25000" dirty="0" err="1">
                <a:highlight>
                  <a:srgbClr val="FFFF00"/>
                </a:highlight>
              </a:rPr>
              <a:t>k,n</a:t>
            </a:r>
            <a:r>
              <a:rPr lang="en-US" altLang="zh-CN" dirty="0">
                <a:highlight>
                  <a:srgbClr val="FFFF00"/>
                </a:highlight>
              </a:rPr>
              <a:t>(</a:t>
            </a:r>
            <a:r>
              <a:rPr lang="en-US" altLang="zh-CN" i="1" dirty="0" err="1">
                <a:highlight>
                  <a:srgbClr val="FFFF00"/>
                </a:highlight>
              </a:rPr>
              <a:t>s</a:t>
            </a:r>
            <a:r>
              <a:rPr lang="en-US" altLang="zh-CN" i="1" baseline="-25000" dirty="0" err="1">
                <a:highlight>
                  <a:srgbClr val="FFFF00"/>
                </a:highlight>
              </a:rPr>
              <a:t>k</a:t>
            </a:r>
            <a:r>
              <a:rPr lang="en-US" altLang="zh-CN" dirty="0">
                <a:highlight>
                  <a:srgbClr val="FFFF00"/>
                </a:highlight>
              </a:rPr>
              <a:t>, </a:t>
            </a:r>
            <a:r>
              <a:rPr lang="en-US" altLang="zh-CN" i="1" dirty="0" err="1">
                <a:highlight>
                  <a:srgbClr val="FFFF00"/>
                </a:highlight>
              </a:rPr>
              <a:t>u</a:t>
            </a:r>
            <a:r>
              <a:rPr lang="en-US" altLang="zh-CN" i="1" baseline="-25000" dirty="0" err="1">
                <a:highlight>
                  <a:srgbClr val="FFFF00"/>
                </a:highlight>
              </a:rPr>
              <a:t>k</a:t>
            </a:r>
            <a:r>
              <a:rPr lang="en-US" altLang="zh-CN" i="1" baseline="-25000" dirty="0">
                <a:highlight>
                  <a:srgbClr val="FFFF00"/>
                </a:highlight>
              </a:rPr>
              <a:t> </a:t>
            </a:r>
            <a:r>
              <a:rPr lang="en-US" altLang="zh-CN" i="1" dirty="0">
                <a:highlight>
                  <a:srgbClr val="FFFF00"/>
                </a:highlight>
              </a:rPr>
              <a:t>,…, s</a:t>
            </a:r>
            <a:r>
              <a:rPr lang="en-US" altLang="zh-CN" i="1" baseline="-25000" dirty="0">
                <a:highlight>
                  <a:srgbClr val="FFFF00"/>
                </a:highlight>
              </a:rPr>
              <a:t>n+</a:t>
            </a:r>
            <a:r>
              <a:rPr lang="en-US" altLang="zh-CN" baseline="-25000" dirty="0">
                <a:highlight>
                  <a:srgbClr val="FFFF00"/>
                </a:highlight>
              </a:rPr>
              <a:t>1</a:t>
            </a:r>
            <a:r>
              <a:rPr lang="en-US" altLang="zh-CN" dirty="0">
                <a:highlight>
                  <a:srgbClr val="FFFF00"/>
                </a:highlight>
              </a:rPr>
              <a:t>) </a:t>
            </a:r>
          </a:p>
          <a:p>
            <a:pPr lvl="1" eaLnBrk="1" hangingPunct="1">
              <a:defRPr/>
            </a:pPr>
            <a:r>
              <a:rPr lang="zh-CN" altLang="en-US" dirty="0">
                <a:highlight>
                  <a:srgbClr val="FFFF00"/>
                </a:highlight>
              </a:rPr>
              <a:t>从状态</a:t>
            </a:r>
            <a:r>
              <a:rPr lang="en-US" altLang="zh-CN" i="1" dirty="0" err="1">
                <a:highlight>
                  <a:srgbClr val="FFFF00"/>
                </a:highlight>
              </a:rPr>
              <a:t>s</a:t>
            </a:r>
            <a:r>
              <a:rPr lang="en-US" altLang="zh-CN" i="1" baseline="-25000" dirty="0" err="1">
                <a:highlight>
                  <a:srgbClr val="FFFF00"/>
                </a:highlight>
              </a:rPr>
              <a:t>k</a:t>
            </a:r>
            <a:r>
              <a:rPr lang="zh-CN" altLang="en-US" dirty="0">
                <a:highlight>
                  <a:srgbClr val="FFFF00"/>
                </a:highlight>
              </a:rPr>
              <a:t>出发到终止状态的过程，采取最优策略得到的指标函数值</a:t>
            </a:r>
          </a:p>
        </p:txBody>
      </p:sp>
      <p:pic>
        <p:nvPicPr>
          <p:cNvPr id="23556" name="图片 4">
            <a:extLst>
              <a:ext uri="{FF2B5EF4-FFF2-40B4-BE49-F238E27FC236}">
                <a16:creationId xmlns:a16="http://schemas.microsoft.com/office/drawing/2014/main" id="{BC4422AC-ACF0-4013-BE63-1A41B4D7C5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25775" y="44450"/>
            <a:ext cx="6010275" cy="195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2" dur="500"/>
                                        <p:tgtEl>
                                          <p:spTgt spid="23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7" dur="500"/>
                                        <p:tgtEl>
                                          <p:spTgt spid="23555">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20" dur="500"/>
                                        <p:tgtEl>
                                          <p:spTgt spid="23555">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3" dur="500"/>
                                        <p:tgtEl>
                                          <p:spTgt spid="23555">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28" dur="500"/>
                                        <p:tgtEl>
                                          <p:spTgt spid="23555">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33" dur="500"/>
                                        <p:tgtEl>
                                          <p:spTgt spid="235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bldLvl="2"/>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897FF6DD-0FAD-4A34-9439-313F8BAB12E3}"/>
              </a:ext>
            </a:extLst>
          </p:cNvPr>
          <p:cNvSpPr>
            <a:spLocks noGrp="1" noChangeArrowheads="1"/>
          </p:cNvSpPr>
          <p:nvPr>
            <p:ph type="title"/>
          </p:nvPr>
        </p:nvSpPr>
        <p:spPr/>
        <p:txBody>
          <a:bodyPr/>
          <a:lstStyle/>
          <a:p>
            <a:r>
              <a:rPr lang="zh-CN" altLang="en-US"/>
              <a:t>基本概念</a:t>
            </a:r>
          </a:p>
        </p:txBody>
      </p:sp>
      <p:grpSp>
        <p:nvGrpSpPr>
          <p:cNvPr id="24579" name="组合 54">
            <a:extLst>
              <a:ext uri="{FF2B5EF4-FFF2-40B4-BE49-F238E27FC236}">
                <a16:creationId xmlns:a16="http://schemas.microsoft.com/office/drawing/2014/main" id="{E463843B-AD33-4090-8846-C04322B465C8}"/>
              </a:ext>
            </a:extLst>
          </p:cNvPr>
          <p:cNvGrpSpPr>
            <a:grpSpLocks/>
          </p:cNvGrpSpPr>
          <p:nvPr/>
        </p:nvGrpSpPr>
        <p:grpSpPr bwMode="auto">
          <a:xfrm>
            <a:off x="1323975" y="1773238"/>
            <a:ext cx="6696075" cy="2495550"/>
            <a:chOff x="1187450" y="1898650"/>
            <a:chExt cx="6696075" cy="3222625"/>
          </a:xfrm>
        </p:grpSpPr>
        <p:sp>
          <p:nvSpPr>
            <p:cNvPr id="24593" name="Oval 5">
              <a:extLst>
                <a:ext uri="{FF2B5EF4-FFF2-40B4-BE49-F238E27FC236}">
                  <a16:creationId xmlns:a16="http://schemas.microsoft.com/office/drawing/2014/main" id="{45CF76D5-35FF-48C1-B5A1-FE2368102350}"/>
                </a:ext>
              </a:extLst>
            </p:cNvPr>
            <p:cNvSpPr>
              <a:spLocks noChangeArrowheads="1"/>
            </p:cNvSpPr>
            <p:nvPr/>
          </p:nvSpPr>
          <p:spPr bwMode="auto">
            <a:xfrm>
              <a:off x="4406900" y="1931987"/>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1</a:t>
              </a:r>
            </a:p>
          </p:txBody>
        </p:sp>
        <p:sp>
          <p:nvSpPr>
            <p:cNvPr id="24594" name="Oval 6">
              <a:extLst>
                <a:ext uri="{FF2B5EF4-FFF2-40B4-BE49-F238E27FC236}">
                  <a16:creationId xmlns:a16="http://schemas.microsoft.com/office/drawing/2014/main" id="{A3ECFE37-C848-46F4-AAC2-13084B834380}"/>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latin typeface="Times New Roman" panose="02020603050405020304" pitchFamily="18" charset="0"/>
                </a:rPr>
                <a:t>C</a:t>
              </a:r>
              <a:r>
                <a:rPr lang="en-US" altLang="zh-CN" baseline="-25000" dirty="0">
                  <a:latin typeface="Times New Roman" panose="02020603050405020304" pitchFamily="18" charset="0"/>
                </a:rPr>
                <a:t>3</a:t>
              </a:r>
              <a:endParaRPr lang="en-US" altLang="zh-CN" dirty="0"/>
            </a:p>
          </p:txBody>
        </p:sp>
        <p:sp>
          <p:nvSpPr>
            <p:cNvPr id="24595" name="Oval 7">
              <a:extLst>
                <a:ext uri="{FF2B5EF4-FFF2-40B4-BE49-F238E27FC236}">
                  <a16:creationId xmlns:a16="http://schemas.microsoft.com/office/drawing/2014/main" id="{14A2E4CC-929B-45A1-9466-EA182DEF9C85}"/>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latin typeface="Times New Roman" panose="02020603050405020304" pitchFamily="18" charset="0"/>
                </a:rPr>
                <a:t>D</a:t>
              </a:r>
              <a:r>
                <a:rPr lang="en-US" altLang="zh-CN" baseline="-25000" dirty="0">
                  <a:latin typeface="Times New Roman" panose="02020603050405020304" pitchFamily="18" charset="0"/>
                </a:rPr>
                <a:t>1</a:t>
              </a:r>
            </a:p>
          </p:txBody>
        </p:sp>
        <p:sp>
          <p:nvSpPr>
            <p:cNvPr id="24596" name="Oval 8">
              <a:extLst>
                <a:ext uri="{FF2B5EF4-FFF2-40B4-BE49-F238E27FC236}">
                  <a16:creationId xmlns:a16="http://schemas.microsoft.com/office/drawing/2014/main" id="{1AFA5A38-D52A-4B54-8B55-C8AB0B4E937E}"/>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A</a:t>
              </a:r>
            </a:p>
          </p:txBody>
        </p:sp>
        <p:sp>
          <p:nvSpPr>
            <p:cNvPr id="24597" name="Oval 9">
              <a:extLst>
                <a:ext uri="{FF2B5EF4-FFF2-40B4-BE49-F238E27FC236}">
                  <a16:creationId xmlns:a16="http://schemas.microsoft.com/office/drawing/2014/main" id="{89C4C3A1-2E08-4135-A27A-4AFA3DA16AFE}"/>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1</a:t>
              </a:r>
              <a:endParaRPr lang="en-US" altLang="zh-CN"/>
            </a:p>
          </p:txBody>
        </p:sp>
        <p:sp>
          <p:nvSpPr>
            <p:cNvPr id="24598" name="Oval 10">
              <a:extLst>
                <a:ext uri="{FF2B5EF4-FFF2-40B4-BE49-F238E27FC236}">
                  <a16:creationId xmlns:a16="http://schemas.microsoft.com/office/drawing/2014/main" id="{FABBEB5B-59BB-46D9-9886-123A38125385}"/>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3</a:t>
              </a:r>
              <a:endParaRPr lang="en-US" altLang="zh-CN"/>
            </a:p>
          </p:txBody>
        </p:sp>
        <p:sp>
          <p:nvSpPr>
            <p:cNvPr id="24599" name="Oval 11">
              <a:extLst>
                <a:ext uri="{FF2B5EF4-FFF2-40B4-BE49-F238E27FC236}">
                  <a16:creationId xmlns:a16="http://schemas.microsoft.com/office/drawing/2014/main" id="{55FC3078-C38C-4989-957D-58D1FABA9A34}"/>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2</a:t>
              </a:r>
              <a:endParaRPr lang="en-US" altLang="zh-CN"/>
            </a:p>
          </p:txBody>
        </p:sp>
        <p:sp>
          <p:nvSpPr>
            <p:cNvPr id="24600" name="Oval 12">
              <a:extLst>
                <a:ext uri="{FF2B5EF4-FFF2-40B4-BE49-F238E27FC236}">
                  <a16:creationId xmlns:a16="http://schemas.microsoft.com/office/drawing/2014/main" id="{DBFE32A7-EF3A-4B6F-BF8B-9C563EA9360A}"/>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2</a:t>
              </a:r>
              <a:endParaRPr lang="en-US" altLang="zh-CN"/>
            </a:p>
          </p:txBody>
        </p:sp>
        <p:sp>
          <p:nvSpPr>
            <p:cNvPr id="24601" name="Oval 13">
              <a:extLst>
                <a:ext uri="{FF2B5EF4-FFF2-40B4-BE49-F238E27FC236}">
                  <a16:creationId xmlns:a16="http://schemas.microsoft.com/office/drawing/2014/main" id="{9C722A0F-311D-413E-833E-FADBDF5A7669}"/>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E</a:t>
              </a:r>
              <a:endParaRPr lang="en-US" altLang="zh-CN"/>
            </a:p>
          </p:txBody>
        </p:sp>
        <p:sp>
          <p:nvSpPr>
            <p:cNvPr id="24602" name="Oval 14">
              <a:extLst>
                <a:ext uri="{FF2B5EF4-FFF2-40B4-BE49-F238E27FC236}">
                  <a16:creationId xmlns:a16="http://schemas.microsoft.com/office/drawing/2014/main" id="{E227F52C-12F0-4238-9F54-C9CA98F6414A}"/>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latin typeface="Times New Roman" panose="02020603050405020304" pitchFamily="18" charset="0"/>
                </a:rPr>
                <a:t>C</a:t>
              </a:r>
              <a:r>
                <a:rPr lang="en-US" altLang="zh-CN" baseline="-25000" dirty="0">
                  <a:latin typeface="Times New Roman" panose="02020603050405020304" pitchFamily="18" charset="0"/>
                </a:rPr>
                <a:t>2</a:t>
              </a:r>
              <a:endParaRPr lang="en-US" altLang="zh-CN" dirty="0"/>
            </a:p>
          </p:txBody>
        </p:sp>
        <p:sp>
          <p:nvSpPr>
            <p:cNvPr id="24603" name="Line 15">
              <a:extLst>
                <a:ext uri="{FF2B5EF4-FFF2-40B4-BE49-F238E27FC236}">
                  <a16:creationId xmlns:a16="http://schemas.microsoft.com/office/drawing/2014/main" id="{B6C69EFB-9C9E-4AB5-9FFC-8CFAE4F573B9}"/>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4" name="Line 16">
              <a:extLst>
                <a:ext uri="{FF2B5EF4-FFF2-40B4-BE49-F238E27FC236}">
                  <a16:creationId xmlns:a16="http://schemas.microsoft.com/office/drawing/2014/main" id="{49B41B80-825E-489F-BF74-CF1FE93B0947}"/>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5" name="Line 17">
              <a:extLst>
                <a:ext uri="{FF2B5EF4-FFF2-40B4-BE49-F238E27FC236}">
                  <a16:creationId xmlns:a16="http://schemas.microsoft.com/office/drawing/2014/main" id="{2DF00FF3-8ED7-44D9-9988-5917A2B2D998}"/>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6" name="Line 18">
              <a:extLst>
                <a:ext uri="{FF2B5EF4-FFF2-40B4-BE49-F238E27FC236}">
                  <a16:creationId xmlns:a16="http://schemas.microsoft.com/office/drawing/2014/main" id="{DBE0B6C1-8AF8-4484-85A5-133EF0447FA7}"/>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7" name="Line 19">
              <a:extLst>
                <a:ext uri="{FF2B5EF4-FFF2-40B4-BE49-F238E27FC236}">
                  <a16:creationId xmlns:a16="http://schemas.microsoft.com/office/drawing/2014/main" id="{302F7C0B-4B46-4E5A-96D9-94D1DF77540B}"/>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8" name="Line 20">
              <a:extLst>
                <a:ext uri="{FF2B5EF4-FFF2-40B4-BE49-F238E27FC236}">
                  <a16:creationId xmlns:a16="http://schemas.microsoft.com/office/drawing/2014/main" id="{02A7FDB5-3AC3-4A9F-8636-6855F1EDC1EF}"/>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9" name="Line 21">
              <a:extLst>
                <a:ext uri="{FF2B5EF4-FFF2-40B4-BE49-F238E27FC236}">
                  <a16:creationId xmlns:a16="http://schemas.microsoft.com/office/drawing/2014/main" id="{F7C8FE20-1897-427A-B3CA-4B2C11BA14EE}"/>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0" name="Line 22">
              <a:extLst>
                <a:ext uri="{FF2B5EF4-FFF2-40B4-BE49-F238E27FC236}">
                  <a16:creationId xmlns:a16="http://schemas.microsoft.com/office/drawing/2014/main" id="{BAA0C16F-0279-4F03-8475-D3C63EB3CCFA}"/>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1" name="Line 23">
              <a:extLst>
                <a:ext uri="{FF2B5EF4-FFF2-40B4-BE49-F238E27FC236}">
                  <a16:creationId xmlns:a16="http://schemas.microsoft.com/office/drawing/2014/main" id="{7E5F6363-58B4-4DF9-9E4C-1E74DE437141}"/>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2" name="Line 24">
              <a:extLst>
                <a:ext uri="{FF2B5EF4-FFF2-40B4-BE49-F238E27FC236}">
                  <a16:creationId xmlns:a16="http://schemas.microsoft.com/office/drawing/2014/main" id="{A9811548-8477-4C18-B497-5D63E2A238FF}"/>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3" name="Line 25">
              <a:extLst>
                <a:ext uri="{FF2B5EF4-FFF2-40B4-BE49-F238E27FC236}">
                  <a16:creationId xmlns:a16="http://schemas.microsoft.com/office/drawing/2014/main" id="{CEFAD863-A6C8-411E-8738-60730E1C6F69}"/>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4" name="Line 27">
              <a:extLst>
                <a:ext uri="{FF2B5EF4-FFF2-40B4-BE49-F238E27FC236}">
                  <a16:creationId xmlns:a16="http://schemas.microsoft.com/office/drawing/2014/main" id="{E0A74446-F466-463D-8F27-CFB145F6140D}"/>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5" name="Line 28">
              <a:extLst>
                <a:ext uri="{FF2B5EF4-FFF2-40B4-BE49-F238E27FC236}">
                  <a16:creationId xmlns:a16="http://schemas.microsoft.com/office/drawing/2014/main" id="{75035F33-B472-49F4-8292-679F258765AE}"/>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6" name="Line 30">
              <a:extLst>
                <a:ext uri="{FF2B5EF4-FFF2-40B4-BE49-F238E27FC236}">
                  <a16:creationId xmlns:a16="http://schemas.microsoft.com/office/drawing/2014/main" id="{FA6B457B-B83A-4757-9B3D-A284E207F715}"/>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7" name="Line 31">
              <a:extLst>
                <a:ext uri="{FF2B5EF4-FFF2-40B4-BE49-F238E27FC236}">
                  <a16:creationId xmlns:a16="http://schemas.microsoft.com/office/drawing/2014/main" id="{C3C1337A-BE52-4096-B9BD-2BC1D9BFD213}"/>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8" name="Line 32">
              <a:extLst>
                <a:ext uri="{FF2B5EF4-FFF2-40B4-BE49-F238E27FC236}">
                  <a16:creationId xmlns:a16="http://schemas.microsoft.com/office/drawing/2014/main" id="{EDFB254B-28BF-4484-A735-D08E9A17D48F}"/>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9" name="Line 34">
              <a:extLst>
                <a:ext uri="{FF2B5EF4-FFF2-40B4-BE49-F238E27FC236}">
                  <a16:creationId xmlns:a16="http://schemas.microsoft.com/office/drawing/2014/main" id="{FC01652D-4B3E-4D95-83EC-07D12503C4ED}"/>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0" name="Text Box 35">
              <a:extLst>
                <a:ext uri="{FF2B5EF4-FFF2-40B4-BE49-F238E27FC236}">
                  <a16:creationId xmlns:a16="http://schemas.microsoft.com/office/drawing/2014/main" id="{0C0D686D-2631-4D95-9738-504540254CB5}"/>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2</a:t>
              </a:r>
            </a:p>
          </p:txBody>
        </p:sp>
        <p:sp>
          <p:nvSpPr>
            <p:cNvPr id="24621" name="Text Box 36">
              <a:extLst>
                <a:ext uri="{FF2B5EF4-FFF2-40B4-BE49-F238E27FC236}">
                  <a16:creationId xmlns:a16="http://schemas.microsoft.com/office/drawing/2014/main" id="{7385F38F-99A9-4C64-A151-B7B9FC4DA28B}"/>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5</a:t>
              </a:r>
            </a:p>
          </p:txBody>
        </p:sp>
        <p:sp>
          <p:nvSpPr>
            <p:cNvPr id="24622" name="Text Box 37">
              <a:extLst>
                <a:ext uri="{FF2B5EF4-FFF2-40B4-BE49-F238E27FC236}">
                  <a16:creationId xmlns:a16="http://schemas.microsoft.com/office/drawing/2014/main" id="{405769AD-80B4-4010-9937-8CE03C5D32C9}"/>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a:t>
              </a:r>
            </a:p>
          </p:txBody>
        </p:sp>
        <p:sp>
          <p:nvSpPr>
            <p:cNvPr id="24623" name="Text Box 38">
              <a:extLst>
                <a:ext uri="{FF2B5EF4-FFF2-40B4-BE49-F238E27FC236}">
                  <a16:creationId xmlns:a16="http://schemas.microsoft.com/office/drawing/2014/main" id="{8A6BB7A5-6187-49C8-8ECA-618A566B1D48}"/>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12</a:t>
              </a:r>
              <a:endParaRPr lang="en-US" altLang="zh-CN"/>
            </a:p>
          </p:txBody>
        </p:sp>
        <p:sp>
          <p:nvSpPr>
            <p:cNvPr id="24624" name="Text Box 39">
              <a:extLst>
                <a:ext uri="{FF2B5EF4-FFF2-40B4-BE49-F238E27FC236}">
                  <a16:creationId xmlns:a16="http://schemas.microsoft.com/office/drawing/2014/main" id="{15EDD9C0-5697-404C-B8C4-E5A72EC402CB}"/>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14</a:t>
              </a:r>
            </a:p>
          </p:txBody>
        </p:sp>
        <p:sp>
          <p:nvSpPr>
            <p:cNvPr id="24625" name="Text Box 40">
              <a:extLst>
                <a:ext uri="{FF2B5EF4-FFF2-40B4-BE49-F238E27FC236}">
                  <a16:creationId xmlns:a16="http://schemas.microsoft.com/office/drawing/2014/main" id="{4DD00F14-8F28-4FE1-8518-416BE210B6FE}"/>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10</a:t>
              </a:r>
            </a:p>
          </p:txBody>
        </p:sp>
        <p:sp>
          <p:nvSpPr>
            <p:cNvPr id="24626" name="Text Box 41">
              <a:extLst>
                <a:ext uri="{FF2B5EF4-FFF2-40B4-BE49-F238E27FC236}">
                  <a16:creationId xmlns:a16="http://schemas.microsoft.com/office/drawing/2014/main" id="{5F0AD653-E07E-4D22-BFEF-AFB415D01632}"/>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6</a:t>
              </a:r>
            </a:p>
          </p:txBody>
        </p:sp>
        <p:sp>
          <p:nvSpPr>
            <p:cNvPr id="24627" name="Text Box 42">
              <a:extLst>
                <a:ext uri="{FF2B5EF4-FFF2-40B4-BE49-F238E27FC236}">
                  <a16:creationId xmlns:a16="http://schemas.microsoft.com/office/drawing/2014/main" id="{2619BC35-9067-4079-98DE-CBBDA4ACA377}"/>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24628" name="Text Box 43">
              <a:extLst>
                <a:ext uri="{FF2B5EF4-FFF2-40B4-BE49-F238E27FC236}">
                  <a16:creationId xmlns:a16="http://schemas.microsoft.com/office/drawing/2014/main" id="{A03AF13E-E4A3-4E42-B8E5-4819BBE85AC2}"/>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4</a:t>
              </a:r>
            </a:p>
          </p:txBody>
        </p:sp>
        <p:sp>
          <p:nvSpPr>
            <p:cNvPr id="24629" name="Text Box 44">
              <a:extLst>
                <a:ext uri="{FF2B5EF4-FFF2-40B4-BE49-F238E27FC236}">
                  <a16:creationId xmlns:a16="http://schemas.microsoft.com/office/drawing/2014/main" id="{4CAAE947-F439-48DB-B5BA-1C789B6C65D7}"/>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13</a:t>
              </a:r>
            </a:p>
          </p:txBody>
        </p:sp>
        <p:sp>
          <p:nvSpPr>
            <p:cNvPr id="24630" name="Text Box 45">
              <a:extLst>
                <a:ext uri="{FF2B5EF4-FFF2-40B4-BE49-F238E27FC236}">
                  <a16:creationId xmlns:a16="http://schemas.microsoft.com/office/drawing/2014/main" id="{D608EB82-7A48-492A-AA12-32E662CC62F2}"/>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11</a:t>
              </a:r>
            </a:p>
          </p:txBody>
        </p:sp>
        <p:sp>
          <p:nvSpPr>
            <p:cNvPr id="24631" name="Text Box 46">
              <a:extLst>
                <a:ext uri="{FF2B5EF4-FFF2-40B4-BE49-F238E27FC236}">
                  <a16:creationId xmlns:a16="http://schemas.microsoft.com/office/drawing/2014/main" id="{123FAB50-1C4C-4C17-8953-E7EE6FBFBB44}"/>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12</a:t>
              </a:r>
            </a:p>
          </p:txBody>
        </p:sp>
        <p:sp>
          <p:nvSpPr>
            <p:cNvPr id="24632" name="Text Box 47">
              <a:extLst>
                <a:ext uri="{FF2B5EF4-FFF2-40B4-BE49-F238E27FC236}">
                  <a16:creationId xmlns:a16="http://schemas.microsoft.com/office/drawing/2014/main" id="{DEC0F29A-4D71-4A73-B1B4-43196F44E3CE}"/>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3</a:t>
              </a:r>
            </a:p>
          </p:txBody>
        </p:sp>
        <p:sp>
          <p:nvSpPr>
            <p:cNvPr id="24633" name="Text Box 49">
              <a:extLst>
                <a:ext uri="{FF2B5EF4-FFF2-40B4-BE49-F238E27FC236}">
                  <a16:creationId xmlns:a16="http://schemas.microsoft.com/office/drawing/2014/main" id="{0130F74D-660C-42C8-8F21-BCCC0596D79C}"/>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6</a:t>
              </a:r>
            </a:p>
          </p:txBody>
        </p:sp>
        <p:sp>
          <p:nvSpPr>
            <p:cNvPr id="24634" name="Text Box 51">
              <a:extLst>
                <a:ext uri="{FF2B5EF4-FFF2-40B4-BE49-F238E27FC236}">
                  <a16:creationId xmlns:a16="http://schemas.microsoft.com/office/drawing/2014/main" id="{70BDCB10-4BCC-4BB7-BB54-06D5114A6907}"/>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8</a:t>
              </a:r>
            </a:p>
          </p:txBody>
        </p:sp>
        <p:sp>
          <p:nvSpPr>
            <p:cNvPr id="24635" name="Text Box 52">
              <a:extLst>
                <a:ext uri="{FF2B5EF4-FFF2-40B4-BE49-F238E27FC236}">
                  <a16:creationId xmlns:a16="http://schemas.microsoft.com/office/drawing/2014/main" id="{B3284B37-3BC1-4BB9-9D55-66FCB11F1BBD}"/>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24636" name="Text Box 53">
              <a:extLst>
                <a:ext uri="{FF2B5EF4-FFF2-40B4-BE49-F238E27FC236}">
                  <a16:creationId xmlns:a16="http://schemas.microsoft.com/office/drawing/2014/main" id="{CBD47D09-7AF0-49CD-9D05-3FECA7618299}"/>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5</a:t>
              </a:r>
            </a:p>
          </p:txBody>
        </p:sp>
        <p:sp>
          <p:nvSpPr>
            <p:cNvPr id="24637" name="Text Box 54">
              <a:extLst>
                <a:ext uri="{FF2B5EF4-FFF2-40B4-BE49-F238E27FC236}">
                  <a16:creationId xmlns:a16="http://schemas.microsoft.com/office/drawing/2014/main" id="{EA54848F-C363-4F50-AB03-20802388122B}"/>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2</a:t>
              </a:r>
            </a:p>
          </p:txBody>
        </p:sp>
      </p:grpSp>
      <p:grpSp>
        <p:nvGrpSpPr>
          <p:cNvPr id="24580" name="组合 167">
            <a:extLst>
              <a:ext uri="{FF2B5EF4-FFF2-40B4-BE49-F238E27FC236}">
                <a16:creationId xmlns:a16="http://schemas.microsoft.com/office/drawing/2014/main" id="{F3E6FE8D-97C1-4C85-AC4B-CE9F80D54A2D}"/>
              </a:ext>
            </a:extLst>
          </p:cNvPr>
          <p:cNvGrpSpPr>
            <a:grpSpLocks/>
          </p:cNvGrpSpPr>
          <p:nvPr/>
        </p:nvGrpSpPr>
        <p:grpSpPr bwMode="auto">
          <a:xfrm>
            <a:off x="1058863" y="908050"/>
            <a:ext cx="7026275" cy="3514725"/>
            <a:chOff x="1281093" y="1412776"/>
            <a:chExt cx="7027859" cy="4536504"/>
          </a:xfrm>
        </p:grpSpPr>
        <p:sp>
          <p:nvSpPr>
            <p:cNvPr id="24584" name="文本框 157">
              <a:extLst>
                <a:ext uri="{FF2B5EF4-FFF2-40B4-BE49-F238E27FC236}">
                  <a16:creationId xmlns:a16="http://schemas.microsoft.com/office/drawing/2014/main" id="{C1A54CF0-FD0A-4BBE-AB74-AE7D38BC28D7}"/>
                </a:ext>
              </a:extLst>
            </p:cNvPr>
            <p:cNvSpPr txBox="1">
              <a:spLocks noChangeArrowheads="1"/>
            </p:cNvSpPr>
            <p:nvPr/>
          </p:nvSpPr>
          <p:spPr bwMode="auto">
            <a:xfrm>
              <a:off x="1281093"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1</a:t>
              </a:r>
              <a:endParaRPr lang="zh-CN" altLang="en-US" b="1"/>
            </a:p>
          </p:txBody>
        </p:sp>
        <p:sp>
          <p:nvSpPr>
            <p:cNvPr id="24585" name="文本框 158">
              <a:extLst>
                <a:ext uri="{FF2B5EF4-FFF2-40B4-BE49-F238E27FC236}">
                  <a16:creationId xmlns:a16="http://schemas.microsoft.com/office/drawing/2014/main" id="{8414F110-F1B9-4674-8AAE-FC650DD8A27A}"/>
                </a:ext>
              </a:extLst>
            </p:cNvPr>
            <p:cNvSpPr txBox="1">
              <a:spLocks noChangeArrowheads="1"/>
            </p:cNvSpPr>
            <p:nvPr/>
          </p:nvSpPr>
          <p:spPr bwMode="auto">
            <a:xfrm>
              <a:off x="2823349"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2</a:t>
              </a:r>
              <a:endParaRPr lang="zh-CN" altLang="en-US" b="1"/>
            </a:p>
          </p:txBody>
        </p:sp>
        <p:sp>
          <p:nvSpPr>
            <p:cNvPr id="24586" name="文本框 159">
              <a:extLst>
                <a:ext uri="{FF2B5EF4-FFF2-40B4-BE49-F238E27FC236}">
                  <a16:creationId xmlns:a16="http://schemas.microsoft.com/office/drawing/2014/main" id="{3BA8C20F-C8A8-4089-B6DA-E965E5D2A83B}"/>
                </a:ext>
              </a:extLst>
            </p:cNvPr>
            <p:cNvSpPr txBox="1">
              <a:spLocks noChangeArrowheads="1"/>
            </p:cNvSpPr>
            <p:nvPr/>
          </p:nvSpPr>
          <p:spPr bwMode="auto">
            <a:xfrm>
              <a:off x="4570233"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3</a:t>
              </a:r>
              <a:endParaRPr lang="zh-CN" altLang="en-US" b="1"/>
            </a:p>
          </p:txBody>
        </p:sp>
        <p:sp>
          <p:nvSpPr>
            <p:cNvPr id="24587" name="文本框 160">
              <a:extLst>
                <a:ext uri="{FF2B5EF4-FFF2-40B4-BE49-F238E27FC236}">
                  <a16:creationId xmlns:a16="http://schemas.microsoft.com/office/drawing/2014/main" id="{51C2610B-9439-4EB6-8677-3CFB65E22433}"/>
                </a:ext>
              </a:extLst>
            </p:cNvPr>
            <p:cNvSpPr txBox="1">
              <a:spLocks noChangeArrowheads="1"/>
            </p:cNvSpPr>
            <p:nvPr/>
          </p:nvSpPr>
          <p:spPr bwMode="auto">
            <a:xfrm>
              <a:off x="6244347"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4</a:t>
              </a:r>
              <a:endParaRPr lang="zh-CN" altLang="en-US" b="1"/>
            </a:p>
          </p:txBody>
        </p:sp>
        <p:sp>
          <p:nvSpPr>
            <p:cNvPr id="24588" name="文本框 161">
              <a:extLst>
                <a:ext uri="{FF2B5EF4-FFF2-40B4-BE49-F238E27FC236}">
                  <a16:creationId xmlns:a16="http://schemas.microsoft.com/office/drawing/2014/main" id="{23B02155-E036-4A77-9E02-F64B040BF317}"/>
                </a:ext>
              </a:extLst>
            </p:cNvPr>
            <p:cNvSpPr txBox="1">
              <a:spLocks noChangeArrowheads="1"/>
            </p:cNvSpPr>
            <p:nvPr/>
          </p:nvSpPr>
          <p:spPr bwMode="auto">
            <a:xfrm>
              <a:off x="7531175" y="1725256"/>
              <a:ext cx="7777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5</a:t>
              </a:r>
              <a:endParaRPr lang="zh-CN" altLang="en-US" b="1"/>
            </a:p>
          </p:txBody>
        </p:sp>
        <p:cxnSp>
          <p:nvCxnSpPr>
            <p:cNvPr id="164" name="直接连接符 163">
              <a:extLst>
                <a:ext uri="{FF2B5EF4-FFF2-40B4-BE49-F238E27FC236}">
                  <a16:creationId xmlns:a16="http://schemas.microsoft.com/office/drawing/2014/main" id="{641C0379-2F10-400C-84F3-95D3C305EE44}"/>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9F3D7029-85AB-406D-8D36-3C50F672199C}"/>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69B68A54-EFD8-40A3-8E52-CDACCAEDD596}"/>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3D73C259-E406-42FC-B22E-4D6F629BCF7A}"/>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69" name="文本框 168">
            <a:extLst>
              <a:ext uri="{FF2B5EF4-FFF2-40B4-BE49-F238E27FC236}">
                <a16:creationId xmlns:a16="http://schemas.microsoft.com/office/drawing/2014/main" id="{F0F5A0BD-27DF-49DD-8108-A8607E833C80}"/>
              </a:ext>
            </a:extLst>
          </p:cNvPr>
          <p:cNvSpPr txBox="1">
            <a:spLocks noRot="1" noChangeAspect="1" noMove="1" noResize="1" noEditPoints="1" noAdjustHandles="1" noChangeArrowheads="1" noChangeShapeType="1" noTextEdit="1"/>
          </p:cNvSpPr>
          <p:nvPr/>
        </p:nvSpPr>
        <p:spPr>
          <a:xfrm>
            <a:off x="590875" y="4580969"/>
            <a:ext cx="4567212" cy="400110"/>
          </a:xfrm>
          <a:prstGeom prst="rect">
            <a:avLst/>
          </a:prstGeom>
          <a:blipFill>
            <a:blip r:embed="rId2"/>
            <a:stretch>
              <a:fillRect b="-10606"/>
            </a:stretch>
          </a:blipFill>
        </p:spPr>
        <p:txBody>
          <a:bodyPr/>
          <a:lstStyle/>
          <a:p>
            <a:r>
              <a:rPr lang="zh-CN" altLang="en-US">
                <a:noFill/>
              </a:rPr>
              <a:t> </a:t>
            </a:r>
          </a:p>
        </p:txBody>
      </p:sp>
      <p:sp>
        <p:nvSpPr>
          <p:cNvPr id="170" name="文本框 169">
            <a:extLst>
              <a:ext uri="{FF2B5EF4-FFF2-40B4-BE49-F238E27FC236}">
                <a16:creationId xmlns:a16="http://schemas.microsoft.com/office/drawing/2014/main" id="{5E09F051-9912-4ACA-B491-52B7C845749C}"/>
              </a:ext>
            </a:extLst>
          </p:cNvPr>
          <p:cNvSpPr txBox="1">
            <a:spLocks noRot="1" noChangeAspect="1" noMove="1" noResize="1" noEditPoints="1" noAdjustHandles="1" noChangeArrowheads="1" noChangeShapeType="1" noTextEdit="1"/>
          </p:cNvSpPr>
          <p:nvPr/>
        </p:nvSpPr>
        <p:spPr>
          <a:xfrm>
            <a:off x="590875" y="5035780"/>
            <a:ext cx="8235396" cy="400110"/>
          </a:xfrm>
          <a:prstGeom prst="rect">
            <a:avLst/>
          </a:prstGeom>
          <a:blipFill>
            <a:blip r:embed="rId3"/>
            <a:stretch>
              <a:fillRect l="-370" t="-10606" b="-27273"/>
            </a:stretch>
          </a:blipFill>
        </p:spPr>
        <p:txBody>
          <a:bodyPr/>
          <a:lstStyle/>
          <a:p>
            <a:r>
              <a:rPr lang="zh-CN" altLang="en-US" dirty="0">
                <a:noFill/>
              </a:rPr>
              <a:t> </a:t>
            </a:r>
          </a:p>
        </p:txBody>
      </p:sp>
      <p:sp>
        <p:nvSpPr>
          <p:cNvPr id="171" name="文本框 170">
            <a:extLst>
              <a:ext uri="{FF2B5EF4-FFF2-40B4-BE49-F238E27FC236}">
                <a16:creationId xmlns:a16="http://schemas.microsoft.com/office/drawing/2014/main" id="{87334923-F9D1-4055-8BF8-87B137644130}"/>
              </a:ext>
            </a:extLst>
          </p:cNvPr>
          <p:cNvSpPr txBox="1">
            <a:spLocks noRot="1" noChangeAspect="1" noMove="1" noResize="1" noEditPoints="1" noAdjustHandles="1" noChangeArrowheads="1" noChangeShapeType="1" noTextEdit="1"/>
          </p:cNvSpPr>
          <p:nvPr/>
        </p:nvSpPr>
        <p:spPr>
          <a:xfrm>
            <a:off x="550266" y="5450190"/>
            <a:ext cx="7800790" cy="707886"/>
          </a:xfrm>
          <a:prstGeom prst="rect">
            <a:avLst/>
          </a:prstGeom>
          <a:blipFill>
            <a:blip r:embed="rId4"/>
            <a:stretch>
              <a:fillRect t="-6034" b="-12931"/>
            </a:stretch>
          </a:blipFill>
        </p:spPr>
        <p:txBody>
          <a:bodyPr/>
          <a:lstStyle/>
          <a:p>
            <a:r>
              <a:rPr lang="zh-CN" altLang="en-US" dirty="0">
                <a:noFill/>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F66FDFB0-8DFD-4665-B5C8-35EE8068E057}"/>
              </a:ext>
            </a:extLst>
          </p:cNvPr>
          <p:cNvSpPr>
            <a:spLocks noGrp="1" noChangeArrowheads="1"/>
          </p:cNvSpPr>
          <p:nvPr>
            <p:ph type="title"/>
          </p:nvPr>
        </p:nvSpPr>
        <p:spPr/>
        <p:txBody>
          <a:bodyPr/>
          <a:lstStyle/>
          <a:p>
            <a:r>
              <a:rPr lang="zh-CN" altLang="en-US"/>
              <a:t>基本概念</a:t>
            </a:r>
          </a:p>
        </p:txBody>
      </p:sp>
      <p:grpSp>
        <p:nvGrpSpPr>
          <p:cNvPr id="25603" name="组合 54">
            <a:extLst>
              <a:ext uri="{FF2B5EF4-FFF2-40B4-BE49-F238E27FC236}">
                <a16:creationId xmlns:a16="http://schemas.microsoft.com/office/drawing/2014/main" id="{5D972D3A-8FCA-4B9C-9A0B-9330A572F44F}"/>
              </a:ext>
            </a:extLst>
          </p:cNvPr>
          <p:cNvGrpSpPr>
            <a:grpSpLocks/>
          </p:cNvGrpSpPr>
          <p:nvPr/>
        </p:nvGrpSpPr>
        <p:grpSpPr bwMode="auto">
          <a:xfrm>
            <a:off x="1323975" y="1773238"/>
            <a:ext cx="6696075" cy="2495550"/>
            <a:chOff x="1187450" y="1898650"/>
            <a:chExt cx="6696075" cy="3222625"/>
          </a:xfrm>
        </p:grpSpPr>
        <p:sp>
          <p:nvSpPr>
            <p:cNvPr id="25615" name="Oval 5">
              <a:extLst>
                <a:ext uri="{FF2B5EF4-FFF2-40B4-BE49-F238E27FC236}">
                  <a16:creationId xmlns:a16="http://schemas.microsoft.com/office/drawing/2014/main" id="{AEE7B5C5-4B29-4D73-84A6-6118099876DD}"/>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1</a:t>
              </a:r>
            </a:p>
          </p:txBody>
        </p:sp>
        <p:sp>
          <p:nvSpPr>
            <p:cNvPr id="25616" name="Oval 6">
              <a:extLst>
                <a:ext uri="{FF2B5EF4-FFF2-40B4-BE49-F238E27FC236}">
                  <a16:creationId xmlns:a16="http://schemas.microsoft.com/office/drawing/2014/main" id="{909BEB98-2E93-427C-8A58-2DCC368A23D6}"/>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3</a:t>
              </a:r>
              <a:endParaRPr lang="en-US" altLang="zh-CN"/>
            </a:p>
          </p:txBody>
        </p:sp>
        <p:sp>
          <p:nvSpPr>
            <p:cNvPr id="25617" name="Oval 7">
              <a:extLst>
                <a:ext uri="{FF2B5EF4-FFF2-40B4-BE49-F238E27FC236}">
                  <a16:creationId xmlns:a16="http://schemas.microsoft.com/office/drawing/2014/main" id="{ECAF3349-FA57-4BAB-9B0A-18DF55C66053}"/>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1</a:t>
              </a:r>
            </a:p>
          </p:txBody>
        </p:sp>
        <p:sp>
          <p:nvSpPr>
            <p:cNvPr id="25618" name="Oval 8">
              <a:extLst>
                <a:ext uri="{FF2B5EF4-FFF2-40B4-BE49-F238E27FC236}">
                  <a16:creationId xmlns:a16="http://schemas.microsoft.com/office/drawing/2014/main" id="{116D1E76-53B1-412B-91ED-3363817B4E8D}"/>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A</a:t>
              </a:r>
            </a:p>
          </p:txBody>
        </p:sp>
        <p:sp>
          <p:nvSpPr>
            <p:cNvPr id="25619" name="Oval 9">
              <a:extLst>
                <a:ext uri="{FF2B5EF4-FFF2-40B4-BE49-F238E27FC236}">
                  <a16:creationId xmlns:a16="http://schemas.microsoft.com/office/drawing/2014/main" id="{E982BCA0-D456-446F-AB96-17474CD303F6}"/>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1</a:t>
              </a:r>
              <a:endParaRPr lang="en-US" altLang="zh-CN"/>
            </a:p>
          </p:txBody>
        </p:sp>
        <p:sp>
          <p:nvSpPr>
            <p:cNvPr id="25620" name="Oval 10">
              <a:extLst>
                <a:ext uri="{FF2B5EF4-FFF2-40B4-BE49-F238E27FC236}">
                  <a16:creationId xmlns:a16="http://schemas.microsoft.com/office/drawing/2014/main" id="{2914E02E-4C3F-42B9-99F3-C9987FB3CE7F}"/>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3</a:t>
              </a:r>
              <a:endParaRPr lang="en-US" altLang="zh-CN"/>
            </a:p>
          </p:txBody>
        </p:sp>
        <p:sp>
          <p:nvSpPr>
            <p:cNvPr id="25621" name="Oval 11">
              <a:extLst>
                <a:ext uri="{FF2B5EF4-FFF2-40B4-BE49-F238E27FC236}">
                  <a16:creationId xmlns:a16="http://schemas.microsoft.com/office/drawing/2014/main" id="{96CE12F5-6A50-4A4D-B97D-0EE71A98F859}"/>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2</a:t>
              </a:r>
              <a:endParaRPr lang="en-US" altLang="zh-CN"/>
            </a:p>
          </p:txBody>
        </p:sp>
        <p:sp>
          <p:nvSpPr>
            <p:cNvPr id="25622" name="Oval 12">
              <a:extLst>
                <a:ext uri="{FF2B5EF4-FFF2-40B4-BE49-F238E27FC236}">
                  <a16:creationId xmlns:a16="http://schemas.microsoft.com/office/drawing/2014/main" id="{A76EFE5F-73AA-49D4-AEFF-0DC0C9D49640}"/>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2</a:t>
              </a:r>
              <a:endParaRPr lang="en-US" altLang="zh-CN"/>
            </a:p>
          </p:txBody>
        </p:sp>
        <p:sp>
          <p:nvSpPr>
            <p:cNvPr id="25623" name="Oval 13">
              <a:extLst>
                <a:ext uri="{FF2B5EF4-FFF2-40B4-BE49-F238E27FC236}">
                  <a16:creationId xmlns:a16="http://schemas.microsoft.com/office/drawing/2014/main" id="{02734E82-441E-48E0-8C3E-03AEA646F7C9}"/>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E</a:t>
              </a:r>
              <a:endParaRPr lang="en-US" altLang="zh-CN"/>
            </a:p>
          </p:txBody>
        </p:sp>
        <p:sp>
          <p:nvSpPr>
            <p:cNvPr id="25624" name="Oval 14">
              <a:extLst>
                <a:ext uri="{FF2B5EF4-FFF2-40B4-BE49-F238E27FC236}">
                  <a16:creationId xmlns:a16="http://schemas.microsoft.com/office/drawing/2014/main" id="{DAA51005-4AE7-4B7B-A0DB-8ACFDE6BD6BF}"/>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2</a:t>
              </a:r>
              <a:endParaRPr lang="en-US" altLang="zh-CN"/>
            </a:p>
          </p:txBody>
        </p:sp>
        <p:sp>
          <p:nvSpPr>
            <p:cNvPr id="25625" name="Line 15">
              <a:extLst>
                <a:ext uri="{FF2B5EF4-FFF2-40B4-BE49-F238E27FC236}">
                  <a16:creationId xmlns:a16="http://schemas.microsoft.com/office/drawing/2014/main" id="{145690B7-ED57-45CC-AD13-C538DDC87FF3}"/>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6" name="Line 16">
              <a:extLst>
                <a:ext uri="{FF2B5EF4-FFF2-40B4-BE49-F238E27FC236}">
                  <a16:creationId xmlns:a16="http://schemas.microsoft.com/office/drawing/2014/main" id="{67DE685F-CA32-4021-B59D-71AFEDA03255}"/>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7" name="Line 17">
              <a:extLst>
                <a:ext uri="{FF2B5EF4-FFF2-40B4-BE49-F238E27FC236}">
                  <a16:creationId xmlns:a16="http://schemas.microsoft.com/office/drawing/2014/main" id="{0CB6D01F-0534-4257-87D4-FAE75D975A91}"/>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8" name="Line 18">
              <a:extLst>
                <a:ext uri="{FF2B5EF4-FFF2-40B4-BE49-F238E27FC236}">
                  <a16:creationId xmlns:a16="http://schemas.microsoft.com/office/drawing/2014/main" id="{A4035368-28A6-4C16-9F8B-BF364429E40F}"/>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9" name="Line 19">
              <a:extLst>
                <a:ext uri="{FF2B5EF4-FFF2-40B4-BE49-F238E27FC236}">
                  <a16:creationId xmlns:a16="http://schemas.microsoft.com/office/drawing/2014/main" id="{1D983079-D645-456C-AD51-854C6E3294D8}"/>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0" name="Line 20">
              <a:extLst>
                <a:ext uri="{FF2B5EF4-FFF2-40B4-BE49-F238E27FC236}">
                  <a16:creationId xmlns:a16="http://schemas.microsoft.com/office/drawing/2014/main" id="{1D2928CB-0CAC-4359-B1F3-592D5B22B388}"/>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1" name="Line 21">
              <a:extLst>
                <a:ext uri="{FF2B5EF4-FFF2-40B4-BE49-F238E27FC236}">
                  <a16:creationId xmlns:a16="http://schemas.microsoft.com/office/drawing/2014/main" id="{DDFEEE6B-F7E2-49C3-A7E7-1F2000516B64}"/>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2" name="Line 22">
              <a:extLst>
                <a:ext uri="{FF2B5EF4-FFF2-40B4-BE49-F238E27FC236}">
                  <a16:creationId xmlns:a16="http://schemas.microsoft.com/office/drawing/2014/main" id="{F3DD44F2-4C0E-4557-8810-89BFF72EF1E6}"/>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3" name="Line 23">
              <a:extLst>
                <a:ext uri="{FF2B5EF4-FFF2-40B4-BE49-F238E27FC236}">
                  <a16:creationId xmlns:a16="http://schemas.microsoft.com/office/drawing/2014/main" id="{8F3B8B5F-9EE2-4556-8C6D-B095FAE6F418}"/>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4" name="Line 24">
              <a:extLst>
                <a:ext uri="{FF2B5EF4-FFF2-40B4-BE49-F238E27FC236}">
                  <a16:creationId xmlns:a16="http://schemas.microsoft.com/office/drawing/2014/main" id="{2A5C76E3-AF84-4FB2-A831-D2392EA72D81}"/>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5" name="Line 25">
              <a:extLst>
                <a:ext uri="{FF2B5EF4-FFF2-40B4-BE49-F238E27FC236}">
                  <a16:creationId xmlns:a16="http://schemas.microsoft.com/office/drawing/2014/main" id="{DF324E7D-1F55-498C-878E-7DB0AC9489FD}"/>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6" name="Line 27">
              <a:extLst>
                <a:ext uri="{FF2B5EF4-FFF2-40B4-BE49-F238E27FC236}">
                  <a16:creationId xmlns:a16="http://schemas.microsoft.com/office/drawing/2014/main" id="{2A58CF2A-66BD-4266-8081-9FF489BF1D01}"/>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7" name="Line 28">
              <a:extLst>
                <a:ext uri="{FF2B5EF4-FFF2-40B4-BE49-F238E27FC236}">
                  <a16:creationId xmlns:a16="http://schemas.microsoft.com/office/drawing/2014/main" id="{5EC7E789-E3F4-4110-8233-0CBDAE87C6A3}"/>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8" name="Line 30">
              <a:extLst>
                <a:ext uri="{FF2B5EF4-FFF2-40B4-BE49-F238E27FC236}">
                  <a16:creationId xmlns:a16="http://schemas.microsoft.com/office/drawing/2014/main" id="{72FCB14C-0CD0-48E4-8380-D08AE71FF095}"/>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9" name="Line 31">
              <a:extLst>
                <a:ext uri="{FF2B5EF4-FFF2-40B4-BE49-F238E27FC236}">
                  <a16:creationId xmlns:a16="http://schemas.microsoft.com/office/drawing/2014/main" id="{2FFD1FEB-0397-4609-AFA3-760AB90FA367}"/>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0" name="Line 32">
              <a:extLst>
                <a:ext uri="{FF2B5EF4-FFF2-40B4-BE49-F238E27FC236}">
                  <a16:creationId xmlns:a16="http://schemas.microsoft.com/office/drawing/2014/main" id="{69AD32A3-BD4F-4D6F-80FA-E772A7894159}"/>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1" name="Line 34">
              <a:extLst>
                <a:ext uri="{FF2B5EF4-FFF2-40B4-BE49-F238E27FC236}">
                  <a16:creationId xmlns:a16="http://schemas.microsoft.com/office/drawing/2014/main" id="{F1B7BD02-0886-4011-B20F-C38864317526}"/>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2" name="Text Box 35">
              <a:extLst>
                <a:ext uri="{FF2B5EF4-FFF2-40B4-BE49-F238E27FC236}">
                  <a16:creationId xmlns:a16="http://schemas.microsoft.com/office/drawing/2014/main" id="{F26AD539-0BA0-4DBA-8B10-81F69F9B3B7E}"/>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2</a:t>
              </a:r>
            </a:p>
          </p:txBody>
        </p:sp>
        <p:sp>
          <p:nvSpPr>
            <p:cNvPr id="25643" name="Text Box 36">
              <a:extLst>
                <a:ext uri="{FF2B5EF4-FFF2-40B4-BE49-F238E27FC236}">
                  <a16:creationId xmlns:a16="http://schemas.microsoft.com/office/drawing/2014/main" id="{4922FB03-3348-4EF0-956B-9295594953CB}"/>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5</a:t>
              </a:r>
            </a:p>
          </p:txBody>
        </p:sp>
        <p:sp>
          <p:nvSpPr>
            <p:cNvPr id="25644" name="Text Box 37">
              <a:extLst>
                <a:ext uri="{FF2B5EF4-FFF2-40B4-BE49-F238E27FC236}">
                  <a16:creationId xmlns:a16="http://schemas.microsoft.com/office/drawing/2014/main" id="{AC1CCB72-1AF1-460B-9AC4-A2D8393BB3F8}"/>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a:t>
              </a:r>
            </a:p>
          </p:txBody>
        </p:sp>
        <p:sp>
          <p:nvSpPr>
            <p:cNvPr id="25645" name="Text Box 38">
              <a:extLst>
                <a:ext uri="{FF2B5EF4-FFF2-40B4-BE49-F238E27FC236}">
                  <a16:creationId xmlns:a16="http://schemas.microsoft.com/office/drawing/2014/main" id="{F6A97598-4F62-4476-9256-4F64F9245C19}"/>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12</a:t>
              </a:r>
              <a:endParaRPr lang="en-US" altLang="zh-CN"/>
            </a:p>
          </p:txBody>
        </p:sp>
        <p:sp>
          <p:nvSpPr>
            <p:cNvPr id="25646" name="Text Box 39">
              <a:extLst>
                <a:ext uri="{FF2B5EF4-FFF2-40B4-BE49-F238E27FC236}">
                  <a16:creationId xmlns:a16="http://schemas.microsoft.com/office/drawing/2014/main" id="{E2361629-1FCB-4903-90D9-7FEB7EC75B31}"/>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14</a:t>
              </a:r>
            </a:p>
          </p:txBody>
        </p:sp>
        <p:sp>
          <p:nvSpPr>
            <p:cNvPr id="25647" name="Text Box 40">
              <a:extLst>
                <a:ext uri="{FF2B5EF4-FFF2-40B4-BE49-F238E27FC236}">
                  <a16:creationId xmlns:a16="http://schemas.microsoft.com/office/drawing/2014/main" id="{6781861D-5B66-4B38-ABF8-A4E72F7043F8}"/>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10</a:t>
              </a:r>
            </a:p>
          </p:txBody>
        </p:sp>
        <p:sp>
          <p:nvSpPr>
            <p:cNvPr id="25648" name="Text Box 41">
              <a:extLst>
                <a:ext uri="{FF2B5EF4-FFF2-40B4-BE49-F238E27FC236}">
                  <a16:creationId xmlns:a16="http://schemas.microsoft.com/office/drawing/2014/main" id="{6DF3716E-60D5-49C0-A6D8-F313FEEACBAA}"/>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6</a:t>
              </a:r>
            </a:p>
          </p:txBody>
        </p:sp>
        <p:sp>
          <p:nvSpPr>
            <p:cNvPr id="25649" name="Text Box 42">
              <a:extLst>
                <a:ext uri="{FF2B5EF4-FFF2-40B4-BE49-F238E27FC236}">
                  <a16:creationId xmlns:a16="http://schemas.microsoft.com/office/drawing/2014/main" id="{4EEF439C-4031-4A40-819C-2EAF71AAB117}"/>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25650" name="Text Box 43">
              <a:extLst>
                <a:ext uri="{FF2B5EF4-FFF2-40B4-BE49-F238E27FC236}">
                  <a16:creationId xmlns:a16="http://schemas.microsoft.com/office/drawing/2014/main" id="{B9897BCE-6985-46B6-A5E3-699276902452}"/>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4</a:t>
              </a:r>
            </a:p>
          </p:txBody>
        </p:sp>
        <p:sp>
          <p:nvSpPr>
            <p:cNvPr id="25651" name="Text Box 44">
              <a:extLst>
                <a:ext uri="{FF2B5EF4-FFF2-40B4-BE49-F238E27FC236}">
                  <a16:creationId xmlns:a16="http://schemas.microsoft.com/office/drawing/2014/main" id="{F216D529-B2DF-47A1-889E-8852AD158017}"/>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13</a:t>
              </a:r>
            </a:p>
          </p:txBody>
        </p:sp>
        <p:sp>
          <p:nvSpPr>
            <p:cNvPr id="25652" name="Text Box 45">
              <a:extLst>
                <a:ext uri="{FF2B5EF4-FFF2-40B4-BE49-F238E27FC236}">
                  <a16:creationId xmlns:a16="http://schemas.microsoft.com/office/drawing/2014/main" id="{4D943701-AEBF-4B84-8E50-14A93BED5B6B}"/>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11</a:t>
              </a:r>
            </a:p>
          </p:txBody>
        </p:sp>
        <p:sp>
          <p:nvSpPr>
            <p:cNvPr id="25653" name="Text Box 46">
              <a:extLst>
                <a:ext uri="{FF2B5EF4-FFF2-40B4-BE49-F238E27FC236}">
                  <a16:creationId xmlns:a16="http://schemas.microsoft.com/office/drawing/2014/main" id="{D0C5B94E-E815-4754-B26D-F3BC73471FB4}"/>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12</a:t>
              </a:r>
            </a:p>
          </p:txBody>
        </p:sp>
        <p:sp>
          <p:nvSpPr>
            <p:cNvPr id="25654" name="Text Box 47">
              <a:extLst>
                <a:ext uri="{FF2B5EF4-FFF2-40B4-BE49-F238E27FC236}">
                  <a16:creationId xmlns:a16="http://schemas.microsoft.com/office/drawing/2014/main" id="{46AF65B1-1229-4C78-96FA-5E9F1D2DDB77}"/>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3</a:t>
              </a:r>
            </a:p>
          </p:txBody>
        </p:sp>
        <p:sp>
          <p:nvSpPr>
            <p:cNvPr id="25655" name="Text Box 49">
              <a:extLst>
                <a:ext uri="{FF2B5EF4-FFF2-40B4-BE49-F238E27FC236}">
                  <a16:creationId xmlns:a16="http://schemas.microsoft.com/office/drawing/2014/main" id="{AB3D0774-3948-441B-80C3-41146FAB488E}"/>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6</a:t>
              </a:r>
            </a:p>
          </p:txBody>
        </p:sp>
        <p:sp>
          <p:nvSpPr>
            <p:cNvPr id="25656" name="Text Box 51">
              <a:extLst>
                <a:ext uri="{FF2B5EF4-FFF2-40B4-BE49-F238E27FC236}">
                  <a16:creationId xmlns:a16="http://schemas.microsoft.com/office/drawing/2014/main" id="{7B4E1E7B-A08E-4727-939B-7B447070A62B}"/>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8</a:t>
              </a:r>
            </a:p>
          </p:txBody>
        </p:sp>
        <p:sp>
          <p:nvSpPr>
            <p:cNvPr id="25657" name="Text Box 52">
              <a:extLst>
                <a:ext uri="{FF2B5EF4-FFF2-40B4-BE49-F238E27FC236}">
                  <a16:creationId xmlns:a16="http://schemas.microsoft.com/office/drawing/2014/main" id="{6587599E-58A8-45ED-B83C-75BB8F5D4F28}"/>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25658" name="Text Box 53">
              <a:extLst>
                <a:ext uri="{FF2B5EF4-FFF2-40B4-BE49-F238E27FC236}">
                  <a16:creationId xmlns:a16="http://schemas.microsoft.com/office/drawing/2014/main" id="{BBE64975-5E40-467D-950B-3DE01044EAF3}"/>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5</a:t>
              </a:r>
            </a:p>
          </p:txBody>
        </p:sp>
        <p:sp>
          <p:nvSpPr>
            <p:cNvPr id="25659" name="Text Box 54">
              <a:extLst>
                <a:ext uri="{FF2B5EF4-FFF2-40B4-BE49-F238E27FC236}">
                  <a16:creationId xmlns:a16="http://schemas.microsoft.com/office/drawing/2014/main" id="{7D44265D-5924-43BD-A500-C04584A13E8E}"/>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2</a:t>
              </a:r>
            </a:p>
          </p:txBody>
        </p:sp>
      </p:grpSp>
      <p:grpSp>
        <p:nvGrpSpPr>
          <p:cNvPr id="25604" name="组合 167">
            <a:extLst>
              <a:ext uri="{FF2B5EF4-FFF2-40B4-BE49-F238E27FC236}">
                <a16:creationId xmlns:a16="http://schemas.microsoft.com/office/drawing/2014/main" id="{E1AF9207-7DCD-427D-90A2-C9CB7DDC94C9}"/>
              </a:ext>
            </a:extLst>
          </p:cNvPr>
          <p:cNvGrpSpPr>
            <a:grpSpLocks/>
          </p:cNvGrpSpPr>
          <p:nvPr/>
        </p:nvGrpSpPr>
        <p:grpSpPr bwMode="auto">
          <a:xfrm>
            <a:off x="1058863" y="908050"/>
            <a:ext cx="7026275" cy="3514725"/>
            <a:chOff x="1281093" y="1412776"/>
            <a:chExt cx="7027859" cy="4536504"/>
          </a:xfrm>
        </p:grpSpPr>
        <p:sp>
          <p:nvSpPr>
            <p:cNvPr id="25606" name="文本框 157">
              <a:extLst>
                <a:ext uri="{FF2B5EF4-FFF2-40B4-BE49-F238E27FC236}">
                  <a16:creationId xmlns:a16="http://schemas.microsoft.com/office/drawing/2014/main" id="{D8119606-C5FA-41CF-85C5-A6CBB39E58F6}"/>
                </a:ext>
              </a:extLst>
            </p:cNvPr>
            <p:cNvSpPr txBox="1">
              <a:spLocks noChangeArrowheads="1"/>
            </p:cNvSpPr>
            <p:nvPr/>
          </p:nvSpPr>
          <p:spPr bwMode="auto">
            <a:xfrm>
              <a:off x="1281093"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1</a:t>
              </a:r>
              <a:endParaRPr lang="zh-CN" altLang="en-US" b="1"/>
            </a:p>
          </p:txBody>
        </p:sp>
        <p:sp>
          <p:nvSpPr>
            <p:cNvPr id="25607" name="文本框 158">
              <a:extLst>
                <a:ext uri="{FF2B5EF4-FFF2-40B4-BE49-F238E27FC236}">
                  <a16:creationId xmlns:a16="http://schemas.microsoft.com/office/drawing/2014/main" id="{C47B6E9C-0EC7-4BBF-93D2-DC174D6D4010}"/>
                </a:ext>
              </a:extLst>
            </p:cNvPr>
            <p:cNvSpPr txBox="1">
              <a:spLocks noChangeArrowheads="1"/>
            </p:cNvSpPr>
            <p:nvPr/>
          </p:nvSpPr>
          <p:spPr bwMode="auto">
            <a:xfrm>
              <a:off x="2823349"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2</a:t>
              </a:r>
              <a:endParaRPr lang="zh-CN" altLang="en-US" b="1"/>
            </a:p>
          </p:txBody>
        </p:sp>
        <p:sp>
          <p:nvSpPr>
            <p:cNvPr id="25608" name="文本框 159">
              <a:extLst>
                <a:ext uri="{FF2B5EF4-FFF2-40B4-BE49-F238E27FC236}">
                  <a16:creationId xmlns:a16="http://schemas.microsoft.com/office/drawing/2014/main" id="{278F807E-ABAA-4B13-85DF-BAE8C2B1687B}"/>
                </a:ext>
              </a:extLst>
            </p:cNvPr>
            <p:cNvSpPr txBox="1">
              <a:spLocks noChangeArrowheads="1"/>
            </p:cNvSpPr>
            <p:nvPr/>
          </p:nvSpPr>
          <p:spPr bwMode="auto">
            <a:xfrm>
              <a:off x="4570233"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3</a:t>
              </a:r>
              <a:endParaRPr lang="zh-CN" altLang="en-US" b="1"/>
            </a:p>
          </p:txBody>
        </p:sp>
        <p:sp>
          <p:nvSpPr>
            <p:cNvPr id="25609" name="文本框 160">
              <a:extLst>
                <a:ext uri="{FF2B5EF4-FFF2-40B4-BE49-F238E27FC236}">
                  <a16:creationId xmlns:a16="http://schemas.microsoft.com/office/drawing/2014/main" id="{5AE42666-F51E-4434-B2E2-91E608304D70}"/>
                </a:ext>
              </a:extLst>
            </p:cNvPr>
            <p:cNvSpPr txBox="1">
              <a:spLocks noChangeArrowheads="1"/>
            </p:cNvSpPr>
            <p:nvPr/>
          </p:nvSpPr>
          <p:spPr bwMode="auto">
            <a:xfrm>
              <a:off x="6244347"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4</a:t>
              </a:r>
              <a:endParaRPr lang="zh-CN" altLang="en-US" b="1"/>
            </a:p>
          </p:txBody>
        </p:sp>
        <p:sp>
          <p:nvSpPr>
            <p:cNvPr id="25610" name="文本框 161">
              <a:extLst>
                <a:ext uri="{FF2B5EF4-FFF2-40B4-BE49-F238E27FC236}">
                  <a16:creationId xmlns:a16="http://schemas.microsoft.com/office/drawing/2014/main" id="{4584F5B0-5E61-4E6C-9A16-9FC6F1533A44}"/>
                </a:ext>
              </a:extLst>
            </p:cNvPr>
            <p:cNvSpPr txBox="1">
              <a:spLocks noChangeArrowheads="1"/>
            </p:cNvSpPr>
            <p:nvPr/>
          </p:nvSpPr>
          <p:spPr bwMode="auto">
            <a:xfrm>
              <a:off x="7531175" y="1725256"/>
              <a:ext cx="7777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5</a:t>
              </a:r>
              <a:endParaRPr lang="zh-CN" altLang="en-US" b="1"/>
            </a:p>
          </p:txBody>
        </p:sp>
        <p:cxnSp>
          <p:nvCxnSpPr>
            <p:cNvPr id="164" name="直接连接符 163">
              <a:extLst>
                <a:ext uri="{FF2B5EF4-FFF2-40B4-BE49-F238E27FC236}">
                  <a16:creationId xmlns:a16="http://schemas.microsoft.com/office/drawing/2014/main" id="{641C0379-2F10-400C-84F3-95D3C305EE44}"/>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9F3D7029-85AB-406D-8D36-3C50F672199C}"/>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69B68A54-EFD8-40A3-8E52-CDACCAEDD596}"/>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3D73C259-E406-42FC-B22E-4D6F629BCF7A}"/>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1" name="文本框 170">
            <a:extLst>
              <a:ext uri="{FF2B5EF4-FFF2-40B4-BE49-F238E27FC236}">
                <a16:creationId xmlns:a16="http://schemas.microsoft.com/office/drawing/2014/main" id="{87334923-F9D1-4055-8BF8-87B137644130}"/>
              </a:ext>
            </a:extLst>
          </p:cNvPr>
          <p:cNvSpPr txBox="1">
            <a:spLocks noRot="1" noChangeAspect="1" noMove="1" noResize="1" noEditPoints="1" noAdjustHandles="1" noChangeArrowheads="1" noChangeShapeType="1" noTextEdit="1"/>
          </p:cNvSpPr>
          <p:nvPr/>
        </p:nvSpPr>
        <p:spPr>
          <a:xfrm>
            <a:off x="550265" y="4497501"/>
            <a:ext cx="8136533" cy="1678023"/>
          </a:xfrm>
          <a:prstGeom prst="rect">
            <a:avLst/>
          </a:prstGeom>
          <a:blipFill>
            <a:blip r:embed="rId2"/>
            <a:stretch>
              <a:fillRect l="-749" t="-2909" b="-5091"/>
            </a:stretch>
          </a:blipFill>
        </p:spPr>
        <p:txBody>
          <a:bodyPr/>
          <a:lstStyle/>
          <a:p>
            <a:r>
              <a:rPr lang="zh-CN" altLang="en-US" dirty="0">
                <a:noFill/>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CF1F66AF-C724-4C68-AC42-918A9B0D8D0F}"/>
              </a:ext>
            </a:extLst>
          </p:cNvPr>
          <p:cNvSpPr>
            <a:spLocks noGrp="1" noChangeArrowheads="1"/>
          </p:cNvSpPr>
          <p:nvPr>
            <p:ph type="title"/>
          </p:nvPr>
        </p:nvSpPr>
        <p:spPr/>
        <p:txBody>
          <a:bodyPr/>
          <a:lstStyle/>
          <a:p>
            <a:r>
              <a:rPr lang="zh-CN" altLang="en-US"/>
              <a:t>基本概念</a:t>
            </a:r>
          </a:p>
        </p:txBody>
      </p:sp>
      <p:grpSp>
        <p:nvGrpSpPr>
          <p:cNvPr id="26627" name="组合 54">
            <a:extLst>
              <a:ext uri="{FF2B5EF4-FFF2-40B4-BE49-F238E27FC236}">
                <a16:creationId xmlns:a16="http://schemas.microsoft.com/office/drawing/2014/main" id="{CBAD8F39-0EAB-45EF-9342-40D33A6958A6}"/>
              </a:ext>
            </a:extLst>
          </p:cNvPr>
          <p:cNvGrpSpPr>
            <a:grpSpLocks/>
          </p:cNvGrpSpPr>
          <p:nvPr/>
        </p:nvGrpSpPr>
        <p:grpSpPr bwMode="auto">
          <a:xfrm>
            <a:off x="1323975" y="1773238"/>
            <a:ext cx="6696075" cy="2495550"/>
            <a:chOff x="1187450" y="1898650"/>
            <a:chExt cx="6696075" cy="3222625"/>
          </a:xfrm>
        </p:grpSpPr>
        <p:sp>
          <p:nvSpPr>
            <p:cNvPr id="26639" name="Oval 5">
              <a:extLst>
                <a:ext uri="{FF2B5EF4-FFF2-40B4-BE49-F238E27FC236}">
                  <a16:creationId xmlns:a16="http://schemas.microsoft.com/office/drawing/2014/main" id="{98671B1E-7B42-488D-849E-2CF4A36CA779}"/>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1</a:t>
              </a:r>
            </a:p>
          </p:txBody>
        </p:sp>
        <p:sp>
          <p:nvSpPr>
            <p:cNvPr id="26640" name="Oval 6">
              <a:extLst>
                <a:ext uri="{FF2B5EF4-FFF2-40B4-BE49-F238E27FC236}">
                  <a16:creationId xmlns:a16="http://schemas.microsoft.com/office/drawing/2014/main" id="{20C7DB52-7AC0-47D4-8660-A1D6BC611919}"/>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3</a:t>
              </a:r>
              <a:endParaRPr lang="en-US" altLang="zh-CN"/>
            </a:p>
          </p:txBody>
        </p:sp>
        <p:sp>
          <p:nvSpPr>
            <p:cNvPr id="26641" name="Oval 7">
              <a:extLst>
                <a:ext uri="{FF2B5EF4-FFF2-40B4-BE49-F238E27FC236}">
                  <a16:creationId xmlns:a16="http://schemas.microsoft.com/office/drawing/2014/main" id="{E15070C4-E895-47E4-8BAE-8DB9B7089A9C}"/>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1</a:t>
              </a:r>
            </a:p>
          </p:txBody>
        </p:sp>
        <p:sp>
          <p:nvSpPr>
            <p:cNvPr id="26642" name="Oval 8">
              <a:extLst>
                <a:ext uri="{FF2B5EF4-FFF2-40B4-BE49-F238E27FC236}">
                  <a16:creationId xmlns:a16="http://schemas.microsoft.com/office/drawing/2014/main" id="{1CBDD619-72A6-4593-8349-971CDF99B784}"/>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A</a:t>
              </a:r>
            </a:p>
          </p:txBody>
        </p:sp>
        <p:sp>
          <p:nvSpPr>
            <p:cNvPr id="26643" name="Oval 9">
              <a:extLst>
                <a:ext uri="{FF2B5EF4-FFF2-40B4-BE49-F238E27FC236}">
                  <a16:creationId xmlns:a16="http://schemas.microsoft.com/office/drawing/2014/main" id="{2E90724A-9CBD-472E-8DA9-BCD5D574BECE}"/>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1</a:t>
              </a:r>
              <a:endParaRPr lang="en-US" altLang="zh-CN"/>
            </a:p>
          </p:txBody>
        </p:sp>
        <p:sp>
          <p:nvSpPr>
            <p:cNvPr id="26644" name="Oval 10">
              <a:extLst>
                <a:ext uri="{FF2B5EF4-FFF2-40B4-BE49-F238E27FC236}">
                  <a16:creationId xmlns:a16="http://schemas.microsoft.com/office/drawing/2014/main" id="{D5C08893-5880-4779-8F0E-65129FB46DBF}"/>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3</a:t>
              </a:r>
              <a:endParaRPr lang="en-US" altLang="zh-CN"/>
            </a:p>
          </p:txBody>
        </p:sp>
        <p:sp>
          <p:nvSpPr>
            <p:cNvPr id="26645" name="Oval 11">
              <a:extLst>
                <a:ext uri="{FF2B5EF4-FFF2-40B4-BE49-F238E27FC236}">
                  <a16:creationId xmlns:a16="http://schemas.microsoft.com/office/drawing/2014/main" id="{F9C7475C-E489-4840-B029-FA1348D0B3EA}"/>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2</a:t>
              </a:r>
              <a:endParaRPr lang="en-US" altLang="zh-CN"/>
            </a:p>
          </p:txBody>
        </p:sp>
        <p:sp>
          <p:nvSpPr>
            <p:cNvPr id="26646" name="Oval 12">
              <a:extLst>
                <a:ext uri="{FF2B5EF4-FFF2-40B4-BE49-F238E27FC236}">
                  <a16:creationId xmlns:a16="http://schemas.microsoft.com/office/drawing/2014/main" id="{6961690C-3628-4AE7-B7C4-5A4F49B191AE}"/>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2</a:t>
              </a:r>
              <a:endParaRPr lang="en-US" altLang="zh-CN"/>
            </a:p>
          </p:txBody>
        </p:sp>
        <p:sp>
          <p:nvSpPr>
            <p:cNvPr id="26647" name="Oval 13">
              <a:extLst>
                <a:ext uri="{FF2B5EF4-FFF2-40B4-BE49-F238E27FC236}">
                  <a16:creationId xmlns:a16="http://schemas.microsoft.com/office/drawing/2014/main" id="{AAA1126F-22C4-45E1-A8CA-668486792C64}"/>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E</a:t>
              </a:r>
              <a:endParaRPr lang="en-US" altLang="zh-CN"/>
            </a:p>
          </p:txBody>
        </p:sp>
        <p:sp>
          <p:nvSpPr>
            <p:cNvPr id="26648" name="Oval 14">
              <a:extLst>
                <a:ext uri="{FF2B5EF4-FFF2-40B4-BE49-F238E27FC236}">
                  <a16:creationId xmlns:a16="http://schemas.microsoft.com/office/drawing/2014/main" id="{D771E43B-6B22-45BF-AFAC-421901993534}"/>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2</a:t>
              </a:r>
              <a:endParaRPr lang="en-US" altLang="zh-CN"/>
            </a:p>
          </p:txBody>
        </p:sp>
        <p:sp>
          <p:nvSpPr>
            <p:cNvPr id="26649" name="Line 15">
              <a:extLst>
                <a:ext uri="{FF2B5EF4-FFF2-40B4-BE49-F238E27FC236}">
                  <a16:creationId xmlns:a16="http://schemas.microsoft.com/office/drawing/2014/main" id="{5CAD3F85-DCF4-408D-A9A6-EFB5FB8FABA0}"/>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0" name="Line 16">
              <a:extLst>
                <a:ext uri="{FF2B5EF4-FFF2-40B4-BE49-F238E27FC236}">
                  <a16:creationId xmlns:a16="http://schemas.microsoft.com/office/drawing/2014/main" id="{EA25E2A7-7A15-4407-918B-01B3A94B166F}"/>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1" name="Line 17">
              <a:extLst>
                <a:ext uri="{FF2B5EF4-FFF2-40B4-BE49-F238E27FC236}">
                  <a16:creationId xmlns:a16="http://schemas.microsoft.com/office/drawing/2014/main" id="{7F041C23-0441-473C-AE6D-7E2A9EFE2DE9}"/>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2" name="Line 18">
              <a:extLst>
                <a:ext uri="{FF2B5EF4-FFF2-40B4-BE49-F238E27FC236}">
                  <a16:creationId xmlns:a16="http://schemas.microsoft.com/office/drawing/2014/main" id="{75E0752C-6430-498E-BCEA-2B8BE9382951}"/>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3" name="Line 19">
              <a:extLst>
                <a:ext uri="{FF2B5EF4-FFF2-40B4-BE49-F238E27FC236}">
                  <a16:creationId xmlns:a16="http://schemas.microsoft.com/office/drawing/2014/main" id="{F9411C6D-B785-4E7D-A4F3-58E8326C312A}"/>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4" name="Line 20">
              <a:extLst>
                <a:ext uri="{FF2B5EF4-FFF2-40B4-BE49-F238E27FC236}">
                  <a16:creationId xmlns:a16="http://schemas.microsoft.com/office/drawing/2014/main" id="{4A05BFDD-A348-4A95-B20B-46F5EB571FFD}"/>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5" name="Line 21">
              <a:extLst>
                <a:ext uri="{FF2B5EF4-FFF2-40B4-BE49-F238E27FC236}">
                  <a16:creationId xmlns:a16="http://schemas.microsoft.com/office/drawing/2014/main" id="{C9AE2886-DD4C-4B32-9184-9222E61FF216}"/>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6" name="Line 22">
              <a:extLst>
                <a:ext uri="{FF2B5EF4-FFF2-40B4-BE49-F238E27FC236}">
                  <a16:creationId xmlns:a16="http://schemas.microsoft.com/office/drawing/2014/main" id="{BC136A69-738E-465A-BBDC-7F1D3A42EFA4}"/>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7" name="Line 23">
              <a:extLst>
                <a:ext uri="{FF2B5EF4-FFF2-40B4-BE49-F238E27FC236}">
                  <a16:creationId xmlns:a16="http://schemas.microsoft.com/office/drawing/2014/main" id="{74C74998-D856-4671-A534-6A87BCD49A82}"/>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8" name="Line 24">
              <a:extLst>
                <a:ext uri="{FF2B5EF4-FFF2-40B4-BE49-F238E27FC236}">
                  <a16:creationId xmlns:a16="http://schemas.microsoft.com/office/drawing/2014/main" id="{65A5C0DF-D511-4C7B-B7CE-5B8E5DB7CC2C}"/>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9" name="Line 25">
              <a:extLst>
                <a:ext uri="{FF2B5EF4-FFF2-40B4-BE49-F238E27FC236}">
                  <a16:creationId xmlns:a16="http://schemas.microsoft.com/office/drawing/2014/main" id="{A3EA6B12-7ECE-4696-8E53-07915EC03081}"/>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0" name="Line 27">
              <a:extLst>
                <a:ext uri="{FF2B5EF4-FFF2-40B4-BE49-F238E27FC236}">
                  <a16:creationId xmlns:a16="http://schemas.microsoft.com/office/drawing/2014/main" id="{C1A4894B-C64F-47E4-882A-06002FD11AB4}"/>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1" name="Line 28">
              <a:extLst>
                <a:ext uri="{FF2B5EF4-FFF2-40B4-BE49-F238E27FC236}">
                  <a16:creationId xmlns:a16="http://schemas.microsoft.com/office/drawing/2014/main" id="{0FCB9926-6CB6-4E21-8D06-D59C8A6F9E56}"/>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2" name="Line 30">
              <a:extLst>
                <a:ext uri="{FF2B5EF4-FFF2-40B4-BE49-F238E27FC236}">
                  <a16:creationId xmlns:a16="http://schemas.microsoft.com/office/drawing/2014/main" id="{182E6F28-5318-42DD-ABD5-E8F8F938AA83}"/>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3" name="Line 31">
              <a:extLst>
                <a:ext uri="{FF2B5EF4-FFF2-40B4-BE49-F238E27FC236}">
                  <a16:creationId xmlns:a16="http://schemas.microsoft.com/office/drawing/2014/main" id="{2AD9E79C-BCAA-4602-B19F-2F8AACAB2562}"/>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4" name="Line 32">
              <a:extLst>
                <a:ext uri="{FF2B5EF4-FFF2-40B4-BE49-F238E27FC236}">
                  <a16:creationId xmlns:a16="http://schemas.microsoft.com/office/drawing/2014/main" id="{B11CBC20-CA68-40D7-AB50-4FB28BC3492D}"/>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5" name="Line 34">
              <a:extLst>
                <a:ext uri="{FF2B5EF4-FFF2-40B4-BE49-F238E27FC236}">
                  <a16:creationId xmlns:a16="http://schemas.microsoft.com/office/drawing/2014/main" id="{6288C4FB-8401-4183-809B-BF7454E3A85B}"/>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6" name="Text Box 35">
              <a:extLst>
                <a:ext uri="{FF2B5EF4-FFF2-40B4-BE49-F238E27FC236}">
                  <a16:creationId xmlns:a16="http://schemas.microsoft.com/office/drawing/2014/main" id="{EAFF9389-81FE-44EC-B990-0F64365A8905}"/>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2</a:t>
              </a:r>
            </a:p>
          </p:txBody>
        </p:sp>
        <p:sp>
          <p:nvSpPr>
            <p:cNvPr id="26667" name="Text Box 36">
              <a:extLst>
                <a:ext uri="{FF2B5EF4-FFF2-40B4-BE49-F238E27FC236}">
                  <a16:creationId xmlns:a16="http://schemas.microsoft.com/office/drawing/2014/main" id="{8E158D8B-7FAF-4293-9592-C7BBCFE9C34F}"/>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5</a:t>
              </a:r>
            </a:p>
          </p:txBody>
        </p:sp>
        <p:sp>
          <p:nvSpPr>
            <p:cNvPr id="26668" name="Text Box 37">
              <a:extLst>
                <a:ext uri="{FF2B5EF4-FFF2-40B4-BE49-F238E27FC236}">
                  <a16:creationId xmlns:a16="http://schemas.microsoft.com/office/drawing/2014/main" id="{5C9B7D80-A277-4FBF-878E-F2BFD3EA0A6E}"/>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a:t>
              </a:r>
            </a:p>
          </p:txBody>
        </p:sp>
        <p:sp>
          <p:nvSpPr>
            <p:cNvPr id="26669" name="Text Box 38">
              <a:extLst>
                <a:ext uri="{FF2B5EF4-FFF2-40B4-BE49-F238E27FC236}">
                  <a16:creationId xmlns:a16="http://schemas.microsoft.com/office/drawing/2014/main" id="{18789E3B-CE6B-4EBC-A629-D08CFDA6D5ED}"/>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12</a:t>
              </a:r>
              <a:endParaRPr lang="en-US" altLang="zh-CN"/>
            </a:p>
          </p:txBody>
        </p:sp>
        <p:sp>
          <p:nvSpPr>
            <p:cNvPr id="26670" name="Text Box 39">
              <a:extLst>
                <a:ext uri="{FF2B5EF4-FFF2-40B4-BE49-F238E27FC236}">
                  <a16:creationId xmlns:a16="http://schemas.microsoft.com/office/drawing/2014/main" id="{C3F89E86-C943-4E8C-9912-8A2305BC1E5C}"/>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14</a:t>
              </a:r>
            </a:p>
          </p:txBody>
        </p:sp>
        <p:sp>
          <p:nvSpPr>
            <p:cNvPr id="26671" name="Text Box 40">
              <a:extLst>
                <a:ext uri="{FF2B5EF4-FFF2-40B4-BE49-F238E27FC236}">
                  <a16:creationId xmlns:a16="http://schemas.microsoft.com/office/drawing/2014/main" id="{A7B13D4F-DDBD-4BC8-B4B9-A26F43C18D1C}"/>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10</a:t>
              </a:r>
            </a:p>
          </p:txBody>
        </p:sp>
        <p:sp>
          <p:nvSpPr>
            <p:cNvPr id="26672" name="Text Box 41">
              <a:extLst>
                <a:ext uri="{FF2B5EF4-FFF2-40B4-BE49-F238E27FC236}">
                  <a16:creationId xmlns:a16="http://schemas.microsoft.com/office/drawing/2014/main" id="{6CD11237-80CA-4031-9D52-F18DA1C650AA}"/>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6</a:t>
              </a:r>
            </a:p>
          </p:txBody>
        </p:sp>
        <p:sp>
          <p:nvSpPr>
            <p:cNvPr id="26673" name="Text Box 42">
              <a:extLst>
                <a:ext uri="{FF2B5EF4-FFF2-40B4-BE49-F238E27FC236}">
                  <a16:creationId xmlns:a16="http://schemas.microsoft.com/office/drawing/2014/main" id="{4746EFA6-73D1-4C33-8573-C1331826ADDD}"/>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26674" name="Text Box 43">
              <a:extLst>
                <a:ext uri="{FF2B5EF4-FFF2-40B4-BE49-F238E27FC236}">
                  <a16:creationId xmlns:a16="http://schemas.microsoft.com/office/drawing/2014/main" id="{64FF62A4-8194-4379-83F2-378E2833BBAC}"/>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4</a:t>
              </a:r>
            </a:p>
          </p:txBody>
        </p:sp>
        <p:sp>
          <p:nvSpPr>
            <p:cNvPr id="26675" name="Text Box 44">
              <a:extLst>
                <a:ext uri="{FF2B5EF4-FFF2-40B4-BE49-F238E27FC236}">
                  <a16:creationId xmlns:a16="http://schemas.microsoft.com/office/drawing/2014/main" id="{16370AC8-AFF6-4D54-BFA5-214E50441762}"/>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13</a:t>
              </a:r>
            </a:p>
          </p:txBody>
        </p:sp>
        <p:sp>
          <p:nvSpPr>
            <p:cNvPr id="26676" name="Text Box 45">
              <a:extLst>
                <a:ext uri="{FF2B5EF4-FFF2-40B4-BE49-F238E27FC236}">
                  <a16:creationId xmlns:a16="http://schemas.microsoft.com/office/drawing/2014/main" id="{7556E7FC-03F9-49E9-941B-0BB68CBB18A8}"/>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11</a:t>
              </a:r>
            </a:p>
          </p:txBody>
        </p:sp>
        <p:sp>
          <p:nvSpPr>
            <p:cNvPr id="26677" name="Text Box 46">
              <a:extLst>
                <a:ext uri="{FF2B5EF4-FFF2-40B4-BE49-F238E27FC236}">
                  <a16:creationId xmlns:a16="http://schemas.microsoft.com/office/drawing/2014/main" id="{BB421A8E-541B-4031-BAF9-585C7AAFA7B9}"/>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12</a:t>
              </a:r>
            </a:p>
          </p:txBody>
        </p:sp>
        <p:sp>
          <p:nvSpPr>
            <p:cNvPr id="26678" name="Text Box 47">
              <a:extLst>
                <a:ext uri="{FF2B5EF4-FFF2-40B4-BE49-F238E27FC236}">
                  <a16:creationId xmlns:a16="http://schemas.microsoft.com/office/drawing/2014/main" id="{6ED7D7B5-7549-4163-9442-F24C8EE8AD3A}"/>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3</a:t>
              </a:r>
            </a:p>
          </p:txBody>
        </p:sp>
        <p:sp>
          <p:nvSpPr>
            <p:cNvPr id="26679" name="Text Box 49">
              <a:extLst>
                <a:ext uri="{FF2B5EF4-FFF2-40B4-BE49-F238E27FC236}">
                  <a16:creationId xmlns:a16="http://schemas.microsoft.com/office/drawing/2014/main" id="{E6755DA1-682F-4A2E-963D-84525A34FC08}"/>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6</a:t>
              </a:r>
            </a:p>
          </p:txBody>
        </p:sp>
        <p:sp>
          <p:nvSpPr>
            <p:cNvPr id="26680" name="Text Box 51">
              <a:extLst>
                <a:ext uri="{FF2B5EF4-FFF2-40B4-BE49-F238E27FC236}">
                  <a16:creationId xmlns:a16="http://schemas.microsoft.com/office/drawing/2014/main" id="{586628FA-6B01-40B0-A314-1F721FB9216E}"/>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8</a:t>
              </a:r>
            </a:p>
          </p:txBody>
        </p:sp>
        <p:sp>
          <p:nvSpPr>
            <p:cNvPr id="26681" name="Text Box 52">
              <a:extLst>
                <a:ext uri="{FF2B5EF4-FFF2-40B4-BE49-F238E27FC236}">
                  <a16:creationId xmlns:a16="http://schemas.microsoft.com/office/drawing/2014/main" id="{83ABB342-9A6A-4F96-B241-010C9C457D30}"/>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26682" name="Text Box 53">
              <a:extLst>
                <a:ext uri="{FF2B5EF4-FFF2-40B4-BE49-F238E27FC236}">
                  <a16:creationId xmlns:a16="http://schemas.microsoft.com/office/drawing/2014/main" id="{C34ED499-BE18-4EB0-8C7C-D775D87F8A06}"/>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5</a:t>
              </a:r>
            </a:p>
          </p:txBody>
        </p:sp>
        <p:sp>
          <p:nvSpPr>
            <p:cNvPr id="26683" name="Text Box 54">
              <a:extLst>
                <a:ext uri="{FF2B5EF4-FFF2-40B4-BE49-F238E27FC236}">
                  <a16:creationId xmlns:a16="http://schemas.microsoft.com/office/drawing/2014/main" id="{25039DB7-67E5-4AE3-88AB-1A70A91C99A5}"/>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2</a:t>
              </a:r>
            </a:p>
          </p:txBody>
        </p:sp>
      </p:grpSp>
      <p:grpSp>
        <p:nvGrpSpPr>
          <p:cNvPr id="26628" name="组合 167">
            <a:extLst>
              <a:ext uri="{FF2B5EF4-FFF2-40B4-BE49-F238E27FC236}">
                <a16:creationId xmlns:a16="http://schemas.microsoft.com/office/drawing/2014/main" id="{72E7387B-DB0D-48DF-8775-2BB02C3D7A3D}"/>
              </a:ext>
            </a:extLst>
          </p:cNvPr>
          <p:cNvGrpSpPr>
            <a:grpSpLocks/>
          </p:cNvGrpSpPr>
          <p:nvPr/>
        </p:nvGrpSpPr>
        <p:grpSpPr bwMode="auto">
          <a:xfrm>
            <a:off x="1058863" y="908050"/>
            <a:ext cx="7026275" cy="3514725"/>
            <a:chOff x="1281093" y="1412776"/>
            <a:chExt cx="7027859" cy="4536504"/>
          </a:xfrm>
        </p:grpSpPr>
        <p:sp>
          <p:nvSpPr>
            <p:cNvPr id="26630" name="文本框 157">
              <a:extLst>
                <a:ext uri="{FF2B5EF4-FFF2-40B4-BE49-F238E27FC236}">
                  <a16:creationId xmlns:a16="http://schemas.microsoft.com/office/drawing/2014/main" id="{87804637-8409-4FE6-AEC3-7896B95C8010}"/>
                </a:ext>
              </a:extLst>
            </p:cNvPr>
            <p:cNvSpPr txBox="1">
              <a:spLocks noChangeArrowheads="1"/>
            </p:cNvSpPr>
            <p:nvPr/>
          </p:nvSpPr>
          <p:spPr bwMode="auto">
            <a:xfrm>
              <a:off x="1281093"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1</a:t>
              </a:r>
              <a:endParaRPr lang="zh-CN" altLang="en-US" b="1"/>
            </a:p>
          </p:txBody>
        </p:sp>
        <p:sp>
          <p:nvSpPr>
            <p:cNvPr id="26631" name="文本框 158">
              <a:extLst>
                <a:ext uri="{FF2B5EF4-FFF2-40B4-BE49-F238E27FC236}">
                  <a16:creationId xmlns:a16="http://schemas.microsoft.com/office/drawing/2014/main" id="{68A5FCB4-86FD-4DBB-B788-722E141E4F3C}"/>
                </a:ext>
              </a:extLst>
            </p:cNvPr>
            <p:cNvSpPr txBox="1">
              <a:spLocks noChangeArrowheads="1"/>
            </p:cNvSpPr>
            <p:nvPr/>
          </p:nvSpPr>
          <p:spPr bwMode="auto">
            <a:xfrm>
              <a:off x="2823349"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2</a:t>
              </a:r>
              <a:endParaRPr lang="zh-CN" altLang="en-US" b="1"/>
            </a:p>
          </p:txBody>
        </p:sp>
        <p:sp>
          <p:nvSpPr>
            <p:cNvPr id="26632" name="文本框 159">
              <a:extLst>
                <a:ext uri="{FF2B5EF4-FFF2-40B4-BE49-F238E27FC236}">
                  <a16:creationId xmlns:a16="http://schemas.microsoft.com/office/drawing/2014/main" id="{3D2F1761-D27B-40D1-AE3A-F1FB8B0242FB}"/>
                </a:ext>
              </a:extLst>
            </p:cNvPr>
            <p:cNvSpPr txBox="1">
              <a:spLocks noChangeArrowheads="1"/>
            </p:cNvSpPr>
            <p:nvPr/>
          </p:nvSpPr>
          <p:spPr bwMode="auto">
            <a:xfrm>
              <a:off x="4570233"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3</a:t>
              </a:r>
              <a:endParaRPr lang="zh-CN" altLang="en-US" b="1"/>
            </a:p>
          </p:txBody>
        </p:sp>
        <p:sp>
          <p:nvSpPr>
            <p:cNvPr id="26633" name="文本框 160">
              <a:extLst>
                <a:ext uri="{FF2B5EF4-FFF2-40B4-BE49-F238E27FC236}">
                  <a16:creationId xmlns:a16="http://schemas.microsoft.com/office/drawing/2014/main" id="{B5F36746-8FCD-4DF2-ABC9-9C51EBA68435}"/>
                </a:ext>
              </a:extLst>
            </p:cNvPr>
            <p:cNvSpPr txBox="1">
              <a:spLocks noChangeArrowheads="1"/>
            </p:cNvSpPr>
            <p:nvPr/>
          </p:nvSpPr>
          <p:spPr bwMode="auto">
            <a:xfrm>
              <a:off x="6244347"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4</a:t>
              </a:r>
              <a:endParaRPr lang="zh-CN" altLang="en-US" b="1"/>
            </a:p>
          </p:txBody>
        </p:sp>
        <p:sp>
          <p:nvSpPr>
            <p:cNvPr id="26634" name="文本框 161">
              <a:extLst>
                <a:ext uri="{FF2B5EF4-FFF2-40B4-BE49-F238E27FC236}">
                  <a16:creationId xmlns:a16="http://schemas.microsoft.com/office/drawing/2014/main" id="{1FA594DA-5964-4FAF-B30F-F0649E86975B}"/>
                </a:ext>
              </a:extLst>
            </p:cNvPr>
            <p:cNvSpPr txBox="1">
              <a:spLocks noChangeArrowheads="1"/>
            </p:cNvSpPr>
            <p:nvPr/>
          </p:nvSpPr>
          <p:spPr bwMode="auto">
            <a:xfrm>
              <a:off x="7531175" y="1725256"/>
              <a:ext cx="7777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5</a:t>
              </a:r>
              <a:endParaRPr lang="zh-CN" altLang="en-US" b="1"/>
            </a:p>
          </p:txBody>
        </p:sp>
        <p:cxnSp>
          <p:nvCxnSpPr>
            <p:cNvPr id="164" name="直接连接符 163">
              <a:extLst>
                <a:ext uri="{FF2B5EF4-FFF2-40B4-BE49-F238E27FC236}">
                  <a16:creationId xmlns:a16="http://schemas.microsoft.com/office/drawing/2014/main" id="{641C0379-2F10-400C-84F3-95D3C305EE44}"/>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9F3D7029-85AB-406D-8D36-3C50F672199C}"/>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69B68A54-EFD8-40A3-8E52-CDACCAEDD596}"/>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3D73C259-E406-42FC-B22E-4D6F629BCF7A}"/>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1" name="文本框 170">
            <a:extLst>
              <a:ext uri="{FF2B5EF4-FFF2-40B4-BE49-F238E27FC236}">
                <a16:creationId xmlns:a16="http://schemas.microsoft.com/office/drawing/2014/main" id="{87334923-F9D1-4055-8BF8-87B137644130}"/>
              </a:ext>
            </a:extLst>
          </p:cNvPr>
          <p:cNvSpPr txBox="1">
            <a:spLocks noRot="1" noChangeAspect="1" noMove="1" noResize="1" noEditPoints="1" noAdjustHandles="1" noChangeArrowheads="1" noChangeShapeType="1" noTextEdit="1"/>
          </p:cNvSpPr>
          <p:nvPr/>
        </p:nvSpPr>
        <p:spPr>
          <a:xfrm>
            <a:off x="550265" y="4497501"/>
            <a:ext cx="8136533" cy="1631216"/>
          </a:xfrm>
          <a:prstGeom prst="rect">
            <a:avLst/>
          </a:prstGeom>
          <a:blipFill>
            <a:blip r:embed="rId2"/>
            <a:stretch>
              <a:fillRect l="-749" t="-2996"/>
            </a:stretch>
          </a:blipFill>
        </p:spPr>
        <p:txBody>
          <a:bodyPr/>
          <a:lstStyle/>
          <a:p>
            <a:r>
              <a:rPr lang="zh-CN" altLang="en-US" dirty="0">
                <a:noFill/>
              </a:rPr>
              <a:t> </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21DD00B-421F-433A-A2EB-1F8FDE49FA2D}"/>
                  </a:ext>
                </a:extLst>
              </p:cNvPr>
              <p:cNvSpPr/>
              <p:nvPr/>
            </p:nvSpPr>
            <p:spPr>
              <a:xfrm>
                <a:off x="590982" y="5924611"/>
                <a:ext cx="6781985" cy="509178"/>
              </a:xfrm>
              <a:prstGeom prst="rect">
                <a:avLst/>
              </a:prstGeom>
            </p:spPr>
            <p:txBody>
              <a:bodyPr wrap="none">
                <a:spAutoFit/>
              </a:bodyPr>
              <a:lstStyle/>
              <a:p>
                <a:pPr eaLnBrk="1" hangingPunct="1">
                  <a:defRPr/>
                </a:pPr>
                <a:r>
                  <a:rPr lang="zh-CN" altLang="en-US" sz="2400" dirty="0">
                    <a:highlight>
                      <a:srgbClr val="FFFF00"/>
                    </a:highlight>
                  </a:rPr>
                  <a:t>最优值函数 </a:t>
                </a:r>
                <a:r>
                  <a:rPr lang="zh-CN" altLang="en-US" sz="2000" dirty="0">
                    <a:highlight>
                      <a:srgbClr val="FFFF00"/>
                    </a:highlight>
                  </a:rPr>
                  <a:t> </a:t>
                </a:r>
                <a:r>
                  <a:rPr lang="en-US" altLang="zh-CN" sz="2000" i="1" dirty="0">
                    <a:highlight>
                      <a:srgbClr val="FFFF00"/>
                    </a:highlight>
                  </a:rPr>
                  <a:t>f</a:t>
                </a:r>
                <a:r>
                  <a:rPr lang="en-US" altLang="zh-CN" sz="2000" dirty="0">
                    <a:highlight>
                      <a:srgbClr val="FFFF00"/>
                    </a:highlight>
                  </a:rPr>
                  <a:t>(</a:t>
                </a:r>
                <a:r>
                  <a:rPr lang="en-US" altLang="zh-CN" sz="2400" i="1" dirty="0">
                    <a:highlight>
                      <a:srgbClr val="FFFF00"/>
                    </a:highlight>
                  </a:rPr>
                  <a:t>B</a:t>
                </a:r>
                <a:r>
                  <a:rPr lang="en-US" altLang="zh-CN" sz="2400" i="1" baseline="-25000" dirty="0">
                    <a:highlight>
                      <a:srgbClr val="FFFF00"/>
                    </a:highlight>
                  </a:rPr>
                  <a:t>1</a:t>
                </a:r>
                <a:r>
                  <a:rPr lang="en-US" altLang="zh-CN" sz="2000" dirty="0">
                    <a:highlight>
                      <a:srgbClr val="FFFF00"/>
                    </a:highlight>
                  </a:rPr>
                  <a:t>)= opt  </a:t>
                </a:r>
                <a:r>
                  <a:rPr lang="en-US" altLang="zh-CN" sz="2400" dirty="0">
                    <a:highlight>
                      <a:srgbClr val="FFFF00"/>
                    </a:highlight>
                  </a:rPr>
                  <a:t>V</a:t>
                </a:r>
                <a:r>
                  <a:rPr lang="en-US" altLang="zh-CN" sz="2400" i="1" baseline="-25000" dirty="0">
                    <a:highlight>
                      <a:srgbClr val="FFFF00"/>
                    </a:highlight>
                  </a:rPr>
                  <a:t> </a:t>
                </a:r>
                <a:r>
                  <a:rPr lang="en-US" altLang="zh-CN" sz="2400" dirty="0">
                    <a:highlight>
                      <a:srgbClr val="FFFF00"/>
                    </a:highlight>
                  </a:rPr>
                  <a:t>(</a:t>
                </a:r>
                <a14:m>
                  <m:oMath xmlns:m="http://schemas.openxmlformats.org/officeDocument/2006/math">
                    <m:sSub>
                      <m:sSubPr>
                        <m:ctrlPr>
                          <a:rPr lang="en-US" altLang="zh-CN" sz="2400" b="0" i="1" smtClean="0">
                            <a:highlight>
                              <a:srgbClr val="FFFF00"/>
                            </a:highlight>
                            <a:latin typeface="Cambria Math" panose="02040503050406030204" pitchFamily="18" charset="0"/>
                          </a:rPr>
                        </m:ctrlPr>
                      </m:sSubPr>
                      <m:e>
                        <m:r>
                          <a:rPr lang="en-US" altLang="zh-CN" sz="2400" b="0" i="1" smtClean="0">
                            <a:highlight>
                              <a:srgbClr val="FFFF00"/>
                            </a:highlight>
                            <a:latin typeface="Cambria Math" panose="02040503050406030204" pitchFamily="18" charset="0"/>
                          </a:rPr>
                          <m:t>𝐵</m:t>
                        </m:r>
                      </m:e>
                      <m:sub>
                        <m:r>
                          <a:rPr lang="en-US" altLang="zh-CN" sz="2400" b="0" i="1" smtClean="0">
                            <a:highlight>
                              <a:srgbClr val="FFFF00"/>
                            </a:highlight>
                            <a:latin typeface="Cambria Math" panose="02040503050406030204" pitchFamily="18" charset="0"/>
                          </a:rPr>
                          <m:t>1</m:t>
                        </m:r>
                      </m:sub>
                    </m:sSub>
                    <m:r>
                      <a:rPr lang="en-US" altLang="zh-CN" sz="2400" b="0" i="1" smtClean="0">
                        <a:highlight>
                          <a:srgbClr val="FFFF00"/>
                        </a:highlight>
                        <a:latin typeface="Cambria Math" panose="02040503050406030204" pitchFamily="18" charset="0"/>
                      </a:rPr>
                      <m:t>,</m:t>
                    </m:r>
                    <m:r>
                      <a:rPr lang="en-US" altLang="zh-CN" sz="2400" b="0" i="1" smtClean="0">
                        <a:highlight>
                          <a:srgbClr val="FFFF00"/>
                        </a:highlight>
                        <a:latin typeface="Cambria Math" panose="02040503050406030204" pitchFamily="18" charset="0"/>
                      </a:rPr>
                      <m:t>𝑢</m:t>
                    </m:r>
                    <m:d>
                      <m:dPr>
                        <m:ctrlPr>
                          <a:rPr lang="en-US" altLang="zh-CN" sz="2400" b="0" i="1" smtClean="0">
                            <a:highlight>
                              <a:srgbClr val="FFFF00"/>
                            </a:highlight>
                            <a:latin typeface="Cambria Math" panose="02040503050406030204" pitchFamily="18" charset="0"/>
                          </a:rPr>
                        </m:ctrlPr>
                      </m:dPr>
                      <m:e>
                        <m:sSub>
                          <m:sSubPr>
                            <m:ctrlPr>
                              <a:rPr lang="en-US" altLang="zh-CN" sz="2400" b="0" i="1" smtClean="0">
                                <a:highlight>
                                  <a:srgbClr val="FFFF00"/>
                                </a:highlight>
                                <a:latin typeface="Cambria Math" panose="02040503050406030204" pitchFamily="18" charset="0"/>
                              </a:rPr>
                            </m:ctrlPr>
                          </m:sSubPr>
                          <m:e>
                            <m:r>
                              <a:rPr lang="en-US" altLang="zh-CN" sz="2400" b="0" i="1" smtClean="0">
                                <a:highlight>
                                  <a:srgbClr val="FFFF00"/>
                                </a:highlight>
                                <a:latin typeface="Cambria Math" panose="02040503050406030204" pitchFamily="18" charset="0"/>
                              </a:rPr>
                              <m:t>𝐵</m:t>
                            </m:r>
                          </m:e>
                          <m:sub>
                            <m:r>
                              <a:rPr lang="en-US" altLang="zh-CN" sz="2400" b="0" i="1" smtClean="0">
                                <a:highlight>
                                  <a:srgbClr val="FFFF00"/>
                                </a:highlight>
                                <a:latin typeface="Cambria Math" panose="02040503050406030204" pitchFamily="18" charset="0"/>
                              </a:rPr>
                              <m:t>1</m:t>
                            </m:r>
                          </m:sub>
                        </m:sSub>
                      </m:e>
                    </m:d>
                    <m:r>
                      <a:rPr lang="en-US" altLang="zh-CN" sz="2400" b="0" i="1" smtClean="0">
                        <a:highlight>
                          <a:srgbClr val="FFFF00"/>
                        </a:highlight>
                        <a:latin typeface="Cambria Math" panose="02040503050406030204" pitchFamily="18" charset="0"/>
                      </a:rPr>
                      <m:t>,</m:t>
                    </m:r>
                    <m:r>
                      <a:rPr lang="en-US" altLang="zh-CN" sz="2400" b="0" i="1" smtClean="0">
                        <a:highlight>
                          <a:srgbClr val="FFFF00"/>
                        </a:highlight>
                        <a:latin typeface="Cambria Math" panose="02040503050406030204" pitchFamily="18" charset="0"/>
                      </a:rPr>
                      <m:t>𝑢</m:t>
                    </m:r>
                    <m:d>
                      <m:dPr>
                        <m:ctrlPr>
                          <a:rPr lang="en-US" altLang="zh-CN" sz="2400" b="0" i="1" smtClean="0">
                            <a:highlight>
                              <a:srgbClr val="FFFF00"/>
                            </a:highlight>
                            <a:latin typeface="Cambria Math" panose="02040503050406030204" pitchFamily="18" charset="0"/>
                          </a:rPr>
                        </m:ctrlPr>
                      </m:dPr>
                      <m:e>
                        <m:r>
                          <a:rPr lang="en-US" altLang="zh-CN" sz="2400" b="0" i="1" smtClean="0">
                            <a:highlight>
                              <a:srgbClr val="FFFF00"/>
                            </a:highlight>
                            <a:latin typeface="Cambria Math" panose="02040503050406030204" pitchFamily="18" charset="0"/>
                          </a:rPr>
                          <m:t>𝑢</m:t>
                        </m:r>
                        <m:d>
                          <m:dPr>
                            <m:ctrlPr>
                              <a:rPr lang="en-US" altLang="zh-CN" sz="2400" b="0" i="1" smtClean="0">
                                <a:highlight>
                                  <a:srgbClr val="FFFF00"/>
                                </a:highlight>
                                <a:latin typeface="Cambria Math" panose="02040503050406030204" pitchFamily="18" charset="0"/>
                              </a:rPr>
                            </m:ctrlPr>
                          </m:dPr>
                          <m:e>
                            <m:sSub>
                              <m:sSubPr>
                                <m:ctrlPr>
                                  <a:rPr lang="en-US" altLang="zh-CN" sz="2400" b="0" i="1" smtClean="0">
                                    <a:highlight>
                                      <a:srgbClr val="FFFF00"/>
                                    </a:highlight>
                                    <a:latin typeface="Cambria Math" panose="02040503050406030204" pitchFamily="18" charset="0"/>
                                  </a:rPr>
                                </m:ctrlPr>
                              </m:sSubPr>
                              <m:e>
                                <m:r>
                                  <a:rPr lang="en-US" altLang="zh-CN" sz="2400" b="0" i="1" smtClean="0">
                                    <a:highlight>
                                      <a:srgbClr val="FFFF00"/>
                                    </a:highlight>
                                    <a:latin typeface="Cambria Math" panose="02040503050406030204" pitchFamily="18" charset="0"/>
                                  </a:rPr>
                                  <m:t>𝐵</m:t>
                                </m:r>
                              </m:e>
                              <m:sub>
                                <m:r>
                                  <a:rPr lang="en-US" altLang="zh-CN" sz="2400" b="0" i="1" smtClean="0">
                                    <a:highlight>
                                      <a:srgbClr val="FFFF00"/>
                                    </a:highlight>
                                    <a:latin typeface="Cambria Math" panose="02040503050406030204" pitchFamily="18" charset="0"/>
                                  </a:rPr>
                                  <m:t>1</m:t>
                                </m:r>
                              </m:sub>
                            </m:sSub>
                          </m:e>
                        </m:d>
                      </m:e>
                    </m:d>
                    <m:r>
                      <a:rPr lang="en-US" altLang="zh-CN" sz="2400" b="0" i="1" smtClean="0">
                        <a:highlight>
                          <a:srgbClr val="FFFF00"/>
                        </a:highlight>
                        <a:latin typeface="Cambria Math" panose="02040503050406030204" pitchFamily="18" charset="0"/>
                      </a:rPr>
                      <m:t>,</m:t>
                    </m:r>
                    <m:r>
                      <a:rPr lang="en-US" altLang="zh-CN" sz="2400" b="0" i="1" smtClean="0">
                        <a:highlight>
                          <a:srgbClr val="FFFF00"/>
                        </a:highlight>
                        <a:latin typeface="Cambria Math" panose="02040503050406030204" pitchFamily="18" charset="0"/>
                      </a:rPr>
                      <m:t>𝐸</m:t>
                    </m:r>
                  </m:oMath>
                </a14:m>
                <a:r>
                  <a:rPr lang="en-US" altLang="zh-CN" sz="2400" dirty="0">
                    <a:highlight>
                      <a:srgbClr val="FFFF00"/>
                    </a:highlight>
                  </a:rPr>
                  <a:t>) </a:t>
                </a:r>
              </a:p>
            </p:txBody>
          </p:sp>
        </mc:Choice>
        <mc:Fallback xmlns="">
          <p:sp>
            <p:nvSpPr>
              <p:cNvPr id="2" name="矩形 1">
                <a:extLst>
                  <a:ext uri="{FF2B5EF4-FFF2-40B4-BE49-F238E27FC236}">
                    <a16:creationId xmlns:a16="http://schemas.microsoft.com/office/drawing/2014/main" id="{821DD00B-421F-433A-A2EB-1F8FDE49FA2D}"/>
                  </a:ext>
                </a:extLst>
              </p:cNvPr>
              <p:cNvSpPr>
                <a:spLocks noRot="1" noChangeAspect="1" noMove="1" noResize="1" noEditPoints="1" noAdjustHandles="1" noChangeArrowheads="1" noChangeShapeType="1" noTextEdit="1"/>
              </p:cNvSpPr>
              <p:nvPr/>
            </p:nvSpPr>
            <p:spPr>
              <a:xfrm>
                <a:off x="590982" y="5924611"/>
                <a:ext cx="6781985" cy="509178"/>
              </a:xfrm>
              <a:prstGeom prst="rect">
                <a:avLst/>
              </a:prstGeom>
              <a:blipFill>
                <a:blip r:embed="rId3"/>
                <a:stretch>
                  <a:fillRect l="-1439" t="-9639" b="-22892"/>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410D8A4-EC77-42D7-BB4D-2F8C4D79785A}"/>
              </a:ext>
            </a:extLst>
          </p:cNvPr>
          <p:cNvSpPr>
            <a:spLocks noGrp="1" noChangeArrowheads="1"/>
          </p:cNvSpPr>
          <p:nvPr>
            <p:ph type="title"/>
          </p:nvPr>
        </p:nvSpPr>
        <p:spPr/>
        <p:txBody>
          <a:bodyPr/>
          <a:lstStyle/>
          <a:p>
            <a:pPr eaLnBrk="1" hangingPunct="1"/>
            <a:r>
              <a:rPr lang="zh-CN" altLang="en-US" dirty="0"/>
              <a:t>基本方程</a:t>
            </a:r>
            <a:r>
              <a:rPr lang="en-US" altLang="zh-CN" dirty="0"/>
              <a:t>(</a:t>
            </a:r>
            <a:r>
              <a:rPr lang="zh-CN" altLang="en-US" dirty="0"/>
              <a:t>逆序解法</a:t>
            </a:r>
            <a:r>
              <a:rPr lang="en-US" altLang="zh-CN" dirty="0"/>
              <a:t>)</a:t>
            </a:r>
            <a:endParaRPr lang="zh-CN" altLang="en-US" dirty="0"/>
          </a:p>
        </p:txBody>
      </p:sp>
      <p:sp>
        <p:nvSpPr>
          <p:cNvPr id="27651" name="Rectangle 3">
            <a:extLst>
              <a:ext uri="{FF2B5EF4-FFF2-40B4-BE49-F238E27FC236}">
                <a16:creationId xmlns:a16="http://schemas.microsoft.com/office/drawing/2014/main" id="{B0E2A44F-B6BB-4F9B-A96D-FF04378BCA9A}"/>
              </a:ext>
            </a:extLst>
          </p:cNvPr>
          <p:cNvSpPr>
            <a:spLocks noGrp="1" noChangeArrowheads="1"/>
          </p:cNvSpPr>
          <p:nvPr>
            <p:ph type="body" sz="half" idx="1"/>
          </p:nvPr>
        </p:nvSpPr>
        <p:spPr>
          <a:xfrm>
            <a:off x="870140" y="5716482"/>
            <a:ext cx="7643813" cy="1601230"/>
          </a:xfrm>
        </p:spPr>
        <p:txBody>
          <a:bodyPr/>
          <a:lstStyle/>
          <a:p>
            <a:pPr eaLnBrk="1" hangingPunct="1"/>
            <a:r>
              <a:rPr lang="zh-CN" altLang="en-US" dirty="0"/>
              <a:t>边界条件 </a:t>
            </a:r>
            <a:r>
              <a:rPr lang="en-US" altLang="zh-CN" i="1" dirty="0"/>
              <a:t>f</a:t>
            </a:r>
            <a:r>
              <a:rPr lang="en-US" altLang="zh-CN" i="1" baseline="-25000" dirty="0"/>
              <a:t>n+</a:t>
            </a:r>
            <a:r>
              <a:rPr lang="en-US" altLang="zh-CN" baseline="-25000" dirty="0"/>
              <a:t>1</a:t>
            </a:r>
            <a:r>
              <a:rPr lang="en-US" altLang="zh-CN" i="1" baseline="-25000" dirty="0"/>
              <a:t> </a:t>
            </a:r>
            <a:r>
              <a:rPr lang="en-US" altLang="zh-CN" dirty="0"/>
              <a:t>(</a:t>
            </a:r>
            <a:r>
              <a:rPr lang="en-US" altLang="zh-CN" i="1" dirty="0"/>
              <a:t>s</a:t>
            </a:r>
            <a:r>
              <a:rPr lang="en-US" altLang="zh-CN" i="1" baseline="-25000" dirty="0"/>
              <a:t>n+</a:t>
            </a:r>
            <a:r>
              <a:rPr lang="en-US" altLang="zh-CN" baseline="-25000" dirty="0"/>
              <a:t>1</a:t>
            </a:r>
            <a:r>
              <a:rPr lang="en-US" altLang="zh-CN" dirty="0"/>
              <a:t>)=0</a:t>
            </a:r>
            <a:r>
              <a:rPr lang="en-US" altLang="zh-CN" sz="2400" dirty="0"/>
              <a:t> </a:t>
            </a:r>
          </a:p>
        </p:txBody>
      </p:sp>
      <mc:AlternateContent xmlns:mc="http://schemas.openxmlformats.org/markup-compatibility/2006" xmlns:a14="http://schemas.microsoft.com/office/drawing/2010/main">
        <mc:Choice Requires="a14">
          <p:sp>
            <p:nvSpPr>
              <p:cNvPr id="27652" name="Object 4">
                <a:extLst>
                  <a:ext uri="{FF2B5EF4-FFF2-40B4-BE49-F238E27FC236}">
                    <a16:creationId xmlns:a16="http://schemas.microsoft.com/office/drawing/2014/main" id="{7306B373-8851-4589-9394-893E56572D67}"/>
                  </a:ext>
                </a:extLst>
              </p:cNvPr>
              <p:cNvSpPr txBox="1">
                <a:spLocks noGrp="1"/>
              </p:cNvSpPr>
              <p:nvPr>
                <p:ph sz="half" idx="2"/>
              </p:nvPr>
            </p:nvSpPr>
            <p:spPr bwMode="auto">
              <a:xfrm>
                <a:off x="630048" y="4621916"/>
                <a:ext cx="8056752" cy="1627187"/>
              </a:xfrm>
              <a:prstGeom prst="rect">
                <a:avLst/>
              </a:prstGeom>
              <a:noFill/>
              <a:ln>
                <a:noFill/>
              </a:ln>
              <a:effectLst/>
            </p:spPr>
            <p:txBody>
              <a:bodyPr>
                <a:normAutofit fontScale="85000" lnSpcReduction="10000"/>
              </a:bodyPr>
              <a:lstStyle/>
              <a:p>
                <a:pPr>
                  <a:buNone/>
                </a:pPr>
                <a14:m>
                  <m:oMathPara xmlns:m="http://schemas.openxmlformats.org/officeDocument/2006/math">
                    <m:oMathParaPr>
                      <m:jc m:val="centerGroup"/>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)= </m:t>
                      </m:r>
                      <m:limLow>
                        <m:limLowPr>
                          <m:ctrlPr>
                            <a:rPr lang="zh-CN" altLang="en-US" i="1">
                              <a:solidFill>
                                <a:srgbClr val="000000"/>
                              </a:solidFill>
                              <a:latin typeface="Cambria Math" panose="02040503050406030204" pitchFamily="18" charset="0"/>
                            </a:rPr>
                          </m:ctrlPr>
                        </m:limLowPr>
                        <m:e>
                          <m:r>
                            <m:rPr>
                              <m:nor/>
                            </m:rPr>
                            <a:rPr lang="zh-CN" altLang="en-US" i="0">
                              <a:solidFill>
                                <a:srgbClr val="000000"/>
                              </a:solidFill>
                              <a:latin typeface="Cambria Math" panose="02040503050406030204" pitchFamily="18" charset="0"/>
                            </a:rPr>
                            <m:t>opt</m:t>
                          </m:r>
                        </m:e>
                        <m:lim>
                          <m:r>
                            <a:rPr lang="en-US" altLang="zh-CN" i="1">
                              <a:solidFill>
                                <a:srgbClr val="000000"/>
                              </a:solidFill>
                              <a:latin typeface="Cambria Math" panose="02040503050406030204" pitchFamily="18" charset="0"/>
                            </a:rPr>
                            <m:t>𝒖</m:t>
                          </m:r>
                          <m:r>
                            <a:rPr lang="en-US" altLang="zh-CN" i="1">
                              <a:solidFill>
                                <a:srgbClr val="000000"/>
                              </a:solidFill>
                              <a:latin typeface="Cambria Math" panose="02040503050406030204" pitchFamily="18" charset="0"/>
                            </a:rPr>
                            <m:t>(</m:t>
                          </m:r>
                          <m:sSub>
                            <m:sSubPr>
                              <m:ctrlPr>
                                <a:rPr lang="en-US" altLang="zh-CN" b="0" i="1">
                                  <a:solidFill>
                                    <a:srgbClr val="000000"/>
                                  </a:solidFill>
                                  <a:latin typeface="Cambria Math" panose="02040503050406030204" pitchFamily="18" charset="0"/>
                                </a:rPr>
                              </m:ctrlPr>
                            </m:sSubPr>
                            <m:e>
                              <m:r>
                                <a:rPr lang="en-US" altLang="zh-CN" b="0" i="1">
                                  <a:solidFill>
                                    <a:srgbClr val="000000"/>
                                  </a:solidFill>
                                  <a:latin typeface="Cambria Math" panose="02040503050406030204" pitchFamily="18" charset="0"/>
                                </a:rPr>
                                <m:t>𝑠</m:t>
                              </m:r>
                            </m:e>
                            <m:sub>
                              <m:r>
                                <a:rPr lang="en-US" altLang="zh-CN" b="0" i="1">
                                  <a:solidFill>
                                    <a:srgbClr val="000000"/>
                                  </a:solidFill>
                                  <a:latin typeface="Cambria Math" panose="02040503050406030204" pitchFamily="18" charset="0"/>
                                </a:rPr>
                                <m:t>𝑘</m:t>
                              </m:r>
                            </m:sub>
                          </m:sSub>
                          <m:r>
                            <a:rPr lang="en-US" altLang="zh-CN"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en-US" altLang="zh-CN" b="1" i="1" smtClean="0">
                              <a:solidFill>
                                <a:srgbClr val="000000"/>
                              </a:solidFill>
                              <a:latin typeface="Cambria Math" panose="02040503050406030204" pitchFamily="18" charset="0"/>
                            </a:rPr>
                            <m:t>𝑫</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𝑘</m:t>
                                  </m:r>
                                </m:sub>
                              </m:sSub>
                            </m:e>
                          </m:d>
                        </m:lim>
                      </m:limLow>
                      <m:r>
                        <a:rPr lang="zh-CN" altLang="en-US" i="1">
                          <a:solidFill>
                            <a:srgbClr val="000000"/>
                          </a:solidFill>
                          <a:latin typeface="Cambria Math" panose="02040503050406030204" pitchFamily="18" charset="0"/>
                        </a:rPr>
                        <m:t> [</m:t>
                      </m:r>
                      <m:r>
                        <a:rPr lang="en-US" altLang="zh-CN" b="1" i="1" smtClean="0">
                          <a:solidFill>
                            <a:srgbClr val="000000"/>
                          </a:solidFill>
                          <a:latin typeface="Cambria Math" panose="02040503050406030204" pitchFamily="18" charset="0"/>
                        </a:rPr>
                        <m:t>𝒗</m:t>
                      </m:r>
                      <m:r>
                        <a:rPr lang="zh-CN" altLang="en-US"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en-US" altLang="zh-CN" b="1" i="1" smtClean="0">
                          <a:solidFill>
                            <a:srgbClr val="000000"/>
                          </a:solidFill>
                          <a:latin typeface="Cambria Math" panose="02040503050406030204" pitchFamily="18" charset="0"/>
                        </a:rPr>
                        <m:t>𝒖</m:t>
                      </m:r>
                      <m:r>
                        <a:rPr lang="en-US" altLang="zh-CN" b="1"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𝑘</m:t>
                          </m:r>
                        </m:sub>
                      </m:sSub>
                      <m:r>
                        <a:rPr lang="en-US" altLang="zh-CN" b="1"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en-US" altLang="zh-CN" b="1" i="1" smtClean="0">
                          <a:solidFill>
                            <a:srgbClr val="000000"/>
                          </a:solidFill>
                          <a:latin typeface="Cambria Math" panose="02040503050406030204" pitchFamily="18" charset="0"/>
                        </a:rPr>
                        <m:t>𝒇</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𝒖</m:t>
                      </m:r>
                      <m:r>
                        <a:rPr lang="en-US" altLang="zh-CN" i="1">
                          <a:solidFill>
                            <a:srgbClr val="000000"/>
                          </a:solidFill>
                          <a:latin typeface="Cambria Math" panose="02040503050406030204" pitchFamily="18" charset="0"/>
                        </a:rPr>
                        <m:t>(</m:t>
                      </m:r>
                      <m:sSub>
                        <m:sSubPr>
                          <m:ctrlPr>
                            <a:rPr lang="en-US" altLang="zh-CN" b="0" i="1">
                              <a:solidFill>
                                <a:srgbClr val="000000"/>
                              </a:solidFill>
                              <a:latin typeface="Cambria Math" panose="02040503050406030204" pitchFamily="18" charset="0"/>
                            </a:rPr>
                          </m:ctrlPr>
                        </m:sSubPr>
                        <m:e>
                          <m:r>
                            <a:rPr lang="en-US" altLang="zh-CN" b="0" i="1">
                              <a:solidFill>
                                <a:srgbClr val="000000"/>
                              </a:solidFill>
                              <a:latin typeface="Cambria Math" panose="02040503050406030204" pitchFamily="18" charset="0"/>
                            </a:rPr>
                            <m:t>𝑠</m:t>
                          </m:r>
                        </m:e>
                        <m:sub>
                          <m:r>
                            <a:rPr lang="en-US" altLang="zh-CN" b="0" i="1">
                              <a:solidFill>
                                <a:srgbClr val="000000"/>
                              </a:solidFill>
                              <a:latin typeface="Cambria Math" panose="02040503050406030204" pitchFamily="18" charset="0"/>
                            </a:rPr>
                            <m:t>𝑘</m:t>
                          </m:r>
                        </m:sub>
                      </m:sSub>
                      <m:r>
                        <a:rPr lang="en-US" altLang="zh-CN"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oMath>
                    <m:oMath xmlns:m="http://schemas.openxmlformats.org/officeDocument/2006/math">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−1,...,1</m:t>
                      </m:r>
                    </m:oMath>
                  </m:oMathPara>
                </a14:m>
                <a:endParaRPr lang="zh-CN" altLang="en-US" dirty="0"/>
              </a:p>
            </p:txBody>
          </p:sp>
        </mc:Choice>
        <mc:Fallback xmlns="">
          <p:sp>
            <p:nvSpPr>
              <p:cNvPr id="27652" name="Object 4">
                <a:extLst>
                  <a:ext uri="{FF2B5EF4-FFF2-40B4-BE49-F238E27FC236}">
                    <a16:creationId xmlns:a16="http://schemas.microsoft.com/office/drawing/2014/main" id="{7306B373-8851-4589-9394-893E56572D67}"/>
                  </a:ext>
                </a:extLst>
              </p:cNvPr>
              <p:cNvSpPr txBox="1">
                <a:spLocks noRot="1" noChangeAspect="1" noMove="1" noResize="1" noEditPoints="1" noAdjustHandles="1" noChangeArrowheads="1" noChangeShapeType="1" noTextEdit="1"/>
              </p:cNvSpPr>
              <p:nvPr>
                <p:ph sz="half" idx="2"/>
              </p:nvPr>
            </p:nvSpPr>
            <p:spPr bwMode="auto">
              <a:xfrm>
                <a:off x="630048" y="4621916"/>
                <a:ext cx="8056752" cy="1627187"/>
              </a:xfrm>
              <a:prstGeom prst="rect">
                <a:avLst/>
              </a:prstGeom>
              <a:blipFill>
                <a:blip r:embed="rId2"/>
                <a:stretch>
                  <a:fillRect/>
                </a:stretch>
              </a:blipFill>
              <a:ln>
                <a:noFill/>
              </a:ln>
              <a:effectLst/>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917288F3-8B9E-49A2-97A3-43F41BCE5143}"/>
              </a:ext>
            </a:extLst>
          </p:cNvPr>
          <p:cNvGrpSpPr/>
          <p:nvPr/>
        </p:nvGrpSpPr>
        <p:grpSpPr>
          <a:xfrm>
            <a:off x="179513" y="1086995"/>
            <a:ext cx="5976664" cy="3514725"/>
            <a:chOff x="179512" y="1086995"/>
            <a:chExt cx="7026275" cy="3514725"/>
          </a:xfrm>
        </p:grpSpPr>
        <p:grpSp>
          <p:nvGrpSpPr>
            <p:cNvPr id="53" name="组合 167">
              <a:extLst>
                <a:ext uri="{FF2B5EF4-FFF2-40B4-BE49-F238E27FC236}">
                  <a16:creationId xmlns:a16="http://schemas.microsoft.com/office/drawing/2014/main" id="{62D76B02-02B0-4E2E-98D8-A9F1F083A653}"/>
                </a:ext>
              </a:extLst>
            </p:cNvPr>
            <p:cNvGrpSpPr>
              <a:grpSpLocks/>
            </p:cNvGrpSpPr>
            <p:nvPr/>
          </p:nvGrpSpPr>
          <p:grpSpPr bwMode="auto">
            <a:xfrm>
              <a:off x="179512" y="1086995"/>
              <a:ext cx="7026275" cy="3514725"/>
              <a:chOff x="1281093" y="1412776"/>
              <a:chExt cx="7027859" cy="4536504"/>
            </a:xfrm>
          </p:grpSpPr>
          <p:sp>
            <p:nvSpPr>
              <p:cNvPr id="54" name="文本框 157">
                <a:extLst>
                  <a:ext uri="{FF2B5EF4-FFF2-40B4-BE49-F238E27FC236}">
                    <a16:creationId xmlns:a16="http://schemas.microsoft.com/office/drawing/2014/main" id="{F6F0CDA6-C872-498D-A50E-BA157765325D}"/>
                  </a:ext>
                </a:extLst>
              </p:cNvPr>
              <p:cNvSpPr txBox="1">
                <a:spLocks noChangeArrowheads="1"/>
              </p:cNvSpPr>
              <p:nvPr/>
            </p:nvSpPr>
            <p:spPr bwMode="auto">
              <a:xfrm>
                <a:off x="1281093"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1</a:t>
                </a:r>
                <a:endParaRPr lang="zh-CN" altLang="en-US" b="1"/>
              </a:p>
            </p:txBody>
          </p:sp>
          <p:sp>
            <p:nvSpPr>
              <p:cNvPr id="55" name="文本框 158">
                <a:extLst>
                  <a:ext uri="{FF2B5EF4-FFF2-40B4-BE49-F238E27FC236}">
                    <a16:creationId xmlns:a16="http://schemas.microsoft.com/office/drawing/2014/main" id="{767A5123-C596-4DD1-91AE-879A25E98825}"/>
                  </a:ext>
                </a:extLst>
              </p:cNvPr>
              <p:cNvSpPr txBox="1">
                <a:spLocks noChangeArrowheads="1"/>
              </p:cNvSpPr>
              <p:nvPr/>
            </p:nvSpPr>
            <p:spPr bwMode="auto">
              <a:xfrm>
                <a:off x="2823349"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2</a:t>
                </a:r>
                <a:endParaRPr lang="zh-CN" altLang="en-US" b="1"/>
              </a:p>
            </p:txBody>
          </p:sp>
          <p:sp>
            <p:nvSpPr>
              <p:cNvPr id="56" name="文本框 159">
                <a:extLst>
                  <a:ext uri="{FF2B5EF4-FFF2-40B4-BE49-F238E27FC236}">
                    <a16:creationId xmlns:a16="http://schemas.microsoft.com/office/drawing/2014/main" id="{7028B3F2-4745-4CAE-A062-73E6FFF71AC7}"/>
                  </a:ext>
                </a:extLst>
              </p:cNvPr>
              <p:cNvSpPr txBox="1">
                <a:spLocks noChangeArrowheads="1"/>
              </p:cNvSpPr>
              <p:nvPr/>
            </p:nvSpPr>
            <p:spPr bwMode="auto">
              <a:xfrm>
                <a:off x="4570233"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3</a:t>
                </a:r>
                <a:endParaRPr lang="zh-CN" altLang="en-US" b="1"/>
              </a:p>
            </p:txBody>
          </p:sp>
          <p:sp>
            <p:nvSpPr>
              <p:cNvPr id="57" name="文本框 160">
                <a:extLst>
                  <a:ext uri="{FF2B5EF4-FFF2-40B4-BE49-F238E27FC236}">
                    <a16:creationId xmlns:a16="http://schemas.microsoft.com/office/drawing/2014/main" id="{B04FD00D-C358-4733-AF41-54A8059E0C8B}"/>
                  </a:ext>
                </a:extLst>
              </p:cNvPr>
              <p:cNvSpPr txBox="1">
                <a:spLocks noChangeArrowheads="1"/>
              </p:cNvSpPr>
              <p:nvPr/>
            </p:nvSpPr>
            <p:spPr bwMode="auto">
              <a:xfrm>
                <a:off x="6244347" y="1725256"/>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4</a:t>
                </a:r>
                <a:endParaRPr lang="zh-CN" altLang="en-US" b="1"/>
              </a:p>
            </p:txBody>
          </p:sp>
          <p:sp>
            <p:nvSpPr>
              <p:cNvPr id="58" name="文本框 161">
                <a:extLst>
                  <a:ext uri="{FF2B5EF4-FFF2-40B4-BE49-F238E27FC236}">
                    <a16:creationId xmlns:a16="http://schemas.microsoft.com/office/drawing/2014/main" id="{78E516FA-C238-4C30-8117-7181D6C9AF4B}"/>
                  </a:ext>
                </a:extLst>
              </p:cNvPr>
              <p:cNvSpPr txBox="1">
                <a:spLocks noChangeArrowheads="1"/>
              </p:cNvSpPr>
              <p:nvPr/>
            </p:nvSpPr>
            <p:spPr bwMode="auto">
              <a:xfrm>
                <a:off x="7531175" y="1725256"/>
                <a:ext cx="7777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状态</a:t>
                </a:r>
                <a:r>
                  <a:rPr lang="en-US" altLang="zh-CN" b="1"/>
                  <a:t>5</a:t>
                </a:r>
                <a:endParaRPr lang="zh-CN" altLang="en-US" b="1"/>
              </a:p>
            </p:txBody>
          </p:sp>
          <p:cxnSp>
            <p:nvCxnSpPr>
              <p:cNvPr id="59" name="直接连接符 58">
                <a:extLst>
                  <a:ext uri="{FF2B5EF4-FFF2-40B4-BE49-F238E27FC236}">
                    <a16:creationId xmlns:a16="http://schemas.microsoft.com/office/drawing/2014/main" id="{7D0355CC-B1B6-4416-9133-A8E4189964B5}"/>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D714960F-1958-4004-BA16-CE02059893EB}"/>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8D21216-3295-4975-B956-262140EC8DDF}"/>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3C3B10C-81D6-4D22-9351-1B4FE6B1D3F9}"/>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5" name="组合 1">
              <a:extLst>
                <a:ext uri="{FF2B5EF4-FFF2-40B4-BE49-F238E27FC236}">
                  <a16:creationId xmlns:a16="http://schemas.microsoft.com/office/drawing/2014/main" id="{F0B2A3BA-8200-4AD2-8BD6-C9E29EB259B8}"/>
                </a:ext>
              </a:extLst>
            </p:cNvPr>
            <p:cNvGrpSpPr>
              <a:grpSpLocks/>
            </p:cNvGrpSpPr>
            <p:nvPr/>
          </p:nvGrpSpPr>
          <p:grpSpPr bwMode="auto">
            <a:xfrm>
              <a:off x="352980" y="1896905"/>
              <a:ext cx="6696075" cy="2535251"/>
              <a:chOff x="1187450" y="1898650"/>
              <a:chExt cx="6696075" cy="3222625"/>
            </a:xfrm>
          </p:grpSpPr>
          <p:sp>
            <p:nvSpPr>
              <p:cNvPr id="66" name="Oval 5">
                <a:extLst>
                  <a:ext uri="{FF2B5EF4-FFF2-40B4-BE49-F238E27FC236}">
                    <a16:creationId xmlns:a16="http://schemas.microsoft.com/office/drawing/2014/main" id="{B843706A-2529-45DB-8621-D44C22AF4CAC}"/>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1</a:t>
                </a:r>
              </a:p>
            </p:txBody>
          </p:sp>
          <p:sp>
            <p:nvSpPr>
              <p:cNvPr id="67" name="Oval 6">
                <a:extLst>
                  <a:ext uri="{FF2B5EF4-FFF2-40B4-BE49-F238E27FC236}">
                    <a16:creationId xmlns:a16="http://schemas.microsoft.com/office/drawing/2014/main" id="{44422404-073F-427D-8CC9-69E00C5615E8}"/>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3</a:t>
                </a:r>
                <a:endParaRPr lang="en-US" altLang="zh-CN"/>
              </a:p>
            </p:txBody>
          </p:sp>
          <p:sp>
            <p:nvSpPr>
              <p:cNvPr id="68" name="Oval 7">
                <a:extLst>
                  <a:ext uri="{FF2B5EF4-FFF2-40B4-BE49-F238E27FC236}">
                    <a16:creationId xmlns:a16="http://schemas.microsoft.com/office/drawing/2014/main" id="{B53B0F59-667B-4FDE-AF14-E2F3D7638C92}"/>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1</a:t>
                </a:r>
              </a:p>
            </p:txBody>
          </p:sp>
          <p:sp>
            <p:nvSpPr>
              <p:cNvPr id="69" name="Oval 8">
                <a:extLst>
                  <a:ext uri="{FF2B5EF4-FFF2-40B4-BE49-F238E27FC236}">
                    <a16:creationId xmlns:a16="http://schemas.microsoft.com/office/drawing/2014/main" id="{2FD0BB59-B661-4FC6-9E90-9DCC8A0D8F6A}"/>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A</a:t>
                </a:r>
              </a:p>
            </p:txBody>
          </p:sp>
          <p:sp>
            <p:nvSpPr>
              <p:cNvPr id="70" name="Oval 9">
                <a:extLst>
                  <a:ext uri="{FF2B5EF4-FFF2-40B4-BE49-F238E27FC236}">
                    <a16:creationId xmlns:a16="http://schemas.microsoft.com/office/drawing/2014/main" id="{8CE2E3C1-DE7D-43C4-8D8F-E9670DC9856E}"/>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1</a:t>
                </a:r>
                <a:endParaRPr lang="en-US" altLang="zh-CN"/>
              </a:p>
            </p:txBody>
          </p:sp>
          <p:sp>
            <p:nvSpPr>
              <p:cNvPr id="71" name="Oval 10">
                <a:extLst>
                  <a:ext uri="{FF2B5EF4-FFF2-40B4-BE49-F238E27FC236}">
                    <a16:creationId xmlns:a16="http://schemas.microsoft.com/office/drawing/2014/main" id="{BA3C4B6C-98B6-4487-AE01-3175DCCB54F2}"/>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3</a:t>
                </a:r>
                <a:endParaRPr lang="en-US" altLang="zh-CN"/>
              </a:p>
            </p:txBody>
          </p:sp>
          <p:sp>
            <p:nvSpPr>
              <p:cNvPr id="72" name="Oval 11">
                <a:extLst>
                  <a:ext uri="{FF2B5EF4-FFF2-40B4-BE49-F238E27FC236}">
                    <a16:creationId xmlns:a16="http://schemas.microsoft.com/office/drawing/2014/main" id="{AB8F9DB6-6C91-4050-B105-ADD6C44A9492}"/>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B</a:t>
                </a:r>
                <a:r>
                  <a:rPr lang="en-US" altLang="zh-CN" baseline="-25000">
                    <a:latin typeface="Times New Roman" panose="02020603050405020304" pitchFamily="18" charset="0"/>
                  </a:rPr>
                  <a:t>2</a:t>
                </a:r>
                <a:endParaRPr lang="en-US" altLang="zh-CN"/>
              </a:p>
            </p:txBody>
          </p:sp>
          <p:sp>
            <p:nvSpPr>
              <p:cNvPr id="73" name="Oval 12">
                <a:extLst>
                  <a:ext uri="{FF2B5EF4-FFF2-40B4-BE49-F238E27FC236}">
                    <a16:creationId xmlns:a16="http://schemas.microsoft.com/office/drawing/2014/main" id="{228D351F-5A7A-4FD1-A4A9-85B1B856DA3A}"/>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D</a:t>
                </a:r>
                <a:r>
                  <a:rPr lang="en-US" altLang="zh-CN" baseline="-25000">
                    <a:latin typeface="Times New Roman" panose="02020603050405020304" pitchFamily="18" charset="0"/>
                  </a:rPr>
                  <a:t>2</a:t>
                </a:r>
                <a:endParaRPr lang="en-US" altLang="zh-CN"/>
              </a:p>
            </p:txBody>
          </p:sp>
          <p:sp>
            <p:nvSpPr>
              <p:cNvPr id="74" name="Oval 13">
                <a:extLst>
                  <a:ext uri="{FF2B5EF4-FFF2-40B4-BE49-F238E27FC236}">
                    <a16:creationId xmlns:a16="http://schemas.microsoft.com/office/drawing/2014/main" id="{97693D58-847D-4C2F-9C72-26E45C85BC43}"/>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E</a:t>
                </a:r>
                <a:endParaRPr lang="en-US" altLang="zh-CN"/>
              </a:p>
            </p:txBody>
          </p:sp>
          <p:sp>
            <p:nvSpPr>
              <p:cNvPr id="75" name="Oval 14">
                <a:extLst>
                  <a:ext uri="{FF2B5EF4-FFF2-40B4-BE49-F238E27FC236}">
                    <a16:creationId xmlns:a16="http://schemas.microsoft.com/office/drawing/2014/main" id="{3DDB5D2A-7BF9-4DC2-834B-99FB4A9941CC}"/>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C</a:t>
                </a:r>
                <a:r>
                  <a:rPr lang="en-US" altLang="zh-CN" baseline="-25000">
                    <a:latin typeface="Times New Roman" panose="02020603050405020304" pitchFamily="18" charset="0"/>
                  </a:rPr>
                  <a:t>2</a:t>
                </a:r>
                <a:endParaRPr lang="en-US" altLang="zh-CN"/>
              </a:p>
            </p:txBody>
          </p:sp>
          <p:sp>
            <p:nvSpPr>
              <p:cNvPr id="76" name="Line 15">
                <a:extLst>
                  <a:ext uri="{FF2B5EF4-FFF2-40B4-BE49-F238E27FC236}">
                    <a16:creationId xmlns:a16="http://schemas.microsoft.com/office/drawing/2014/main" id="{9ACFE650-A205-4B3F-971F-41969B0CFCC3}"/>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6">
                <a:extLst>
                  <a:ext uri="{FF2B5EF4-FFF2-40B4-BE49-F238E27FC236}">
                    <a16:creationId xmlns:a16="http://schemas.microsoft.com/office/drawing/2014/main" id="{3BD4FD88-E594-4163-A0C9-C2C1C7B2AA36}"/>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7">
                <a:extLst>
                  <a:ext uri="{FF2B5EF4-FFF2-40B4-BE49-F238E27FC236}">
                    <a16:creationId xmlns:a16="http://schemas.microsoft.com/office/drawing/2014/main" id="{48345FD2-5EF3-4821-9ADA-34CAD86F5B7D}"/>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18">
                <a:extLst>
                  <a:ext uri="{FF2B5EF4-FFF2-40B4-BE49-F238E27FC236}">
                    <a16:creationId xmlns:a16="http://schemas.microsoft.com/office/drawing/2014/main" id="{EFBB4862-5CBF-410B-98A5-16BF43F59B6F}"/>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19">
                <a:extLst>
                  <a:ext uri="{FF2B5EF4-FFF2-40B4-BE49-F238E27FC236}">
                    <a16:creationId xmlns:a16="http://schemas.microsoft.com/office/drawing/2014/main" id="{37BB3FEA-D15A-48D4-8DAA-A6C2F45A877F}"/>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0">
                <a:extLst>
                  <a:ext uri="{FF2B5EF4-FFF2-40B4-BE49-F238E27FC236}">
                    <a16:creationId xmlns:a16="http://schemas.microsoft.com/office/drawing/2014/main" id="{9A1E5F5B-8666-4A45-905F-9C839E8E6B86}"/>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1">
                <a:extLst>
                  <a:ext uri="{FF2B5EF4-FFF2-40B4-BE49-F238E27FC236}">
                    <a16:creationId xmlns:a16="http://schemas.microsoft.com/office/drawing/2014/main" id="{BC30B9DA-4712-4BF1-8272-80C7C77CFEB3}"/>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22">
                <a:extLst>
                  <a:ext uri="{FF2B5EF4-FFF2-40B4-BE49-F238E27FC236}">
                    <a16:creationId xmlns:a16="http://schemas.microsoft.com/office/drawing/2014/main" id="{AFD5AE01-339E-447C-A118-69B088AA33FE}"/>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23">
                <a:extLst>
                  <a:ext uri="{FF2B5EF4-FFF2-40B4-BE49-F238E27FC236}">
                    <a16:creationId xmlns:a16="http://schemas.microsoft.com/office/drawing/2014/main" id="{936A9AA4-7461-4FA0-8520-1E4F3CC05BD3}"/>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24">
                <a:extLst>
                  <a:ext uri="{FF2B5EF4-FFF2-40B4-BE49-F238E27FC236}">
                    <a16:creationId xmlns:a16="http://schemas.microsoft.com/office/drawing/2014/main" id="{B7C52BFD-DDC9-4EC3-85ED-DCC503B50898}"/>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25">
                <a:extLst>
                  <a:ext uri="{FF2B5EF4-FFF2-40B4-BE49-F238E27FC236}">
                    <a16:creationId xmlns:a16="http://schemas.microsoft.com/office/drawing/2014/main" id="{EF19E01B-6549-4FE8-B8AD-0F105B694CF3}"/>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Line 26">
                <a:extLst>
                  <a:ext uri="{FF2B5EF4-FFF2-40B4-BE49-F238E27FC236}">
                    <a16:creationId xmlns:a16="http://schemas.microsoft.com/office/drawing/2014/main" id="{A63894AA-455E-412A-8704-CF4CCB423CDB}"/>
                  </a:ext>
                </a:extLst>
              </p:cNvPr>
              <p:cNvSpPr>
                <a:spLocks noChangeShapeType="1"/>
              </p:cNvSpPr>
              <p:nvPr/>
            </p:nvSpPr>
            <p:spPr bwMode="auto">
              <a:xfrm>
                <a:off x="4867275" y="359886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27">
                <a:extLst>
                  <a:ext uri="{FF2B5EF4-FFF2-40B4-BE49-F238E27FC236}">
                    <a16:creationId xmlns:a16="http://schemas.microsoft.com/office/drawing/2014/main" id="{6762778B-FBCF-4017-B870-3461C13A07E6}"/>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28">
                <a:extLst>
                  <a:ext uri="{FF2B5EF4-FFF2-40B4-BE49-F238E27FC236}">
                    <a16:creationId xmlns:a16="http://schemas.microsoft.com/office/drawing/2014/main" id="{A4FEF310-36B4-494B-B472-1D5E433D6368}"/>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29">
                <a:extLst>
                  <a:ext uri="{FF2B5EF4-FFF2-40B4-BE49-F238E27FC236}">
                    <a16:creationId xmlns:a16="http://schemas.microsoft.com/office/drawing/2014/main" id="{4F0349A8-3778-4B5E-B023-855CFAD737F8}"/>
                  </a:ext>
                </a:extLst>
              </p:cNvPr>
              <p:cNvSpPr>
                <a:spLocks noChangeShapeType="1"/>
              </p:cNvSpPr>
              <p:nvPr/>
            </p:nvSpPr>
            <p:spPr bwMode="auto">
              <a:xfrm flipV="1">
                <a:off x="3074988" y="234950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0">
                <a:extLst>
                  <a:ext uri="{FF2B5EF4-FFF2-40B4-BE49-F238E27FC236}">
                    <a16:creationId xmlns:a16="http://schemas.microsoft.com/office/drawing/2014/main" id="{27D3D704-6E76-4EED-A736-3801B4418464}"/>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31">
                <a:extLst>
                  <a:ext uri="{FF2B5EF4-FFF2-40B4-BE49-F238E27FC236}">
                    <a16:creationId xmlns:a16="http://schemas.microsoft.com/office/drawing/2014/main" id="{09E7DEC4-20D9-47AE-B1B8-13E8EC65008D}"/>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32">
                <a:extLst>
                  <a:ext uri="{FF2B5EF4-FFF2-40B4-BE49-F238E27FC236}">
                    <a16:creationId xmlns:a16="http://schemas.microsoft.com/office/drawing/2014/main" id="{F43D41FF-D13D-4151-93D5-A1A1F55806B3}"/>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33">
                <a:extLst>
                  <a:ext uri="{FF2B5EF4-FFF2-40B4-BE49-F238E27FC236}">
                    <a16:creationId xmlns:a16="http://schemas.microsoft.com/office/drawing/2014/main" id="{CB468DFB-C5D4-438B-B105-D91924F348D1}"/>
                  </a:ext>
                </a:extLst>
              </p:cNvPr>
              <p:cNvSpPr>
                <a:spLocks noChangeShapeType="1"/>
              </p:cNvSpPr>
              <p:nvPr/>
            </p:nvSpPr>
            <p:spPr bwMode="auto">
              <a:xfrm>
                <a:off x="4843463" y="240347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34">
                <a:extLst>
                  <a:ext uri="{FF2B5EF4-FFF2-40B4-BE49-F238E27FC236}">
                    <a16:creationId xmlns:a16="http://schemas.microsoft.com/office/drawing/2014/main" id="{C082A2A0-8CC8-456C-9B8A-1742E62C44B1}"/>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Text Box 35">
                <a:extLst>
                  <a:ext uri="{FF2B5EF4-FFF2-40B4-BE49-F238E27FC236}">
                    <a16:creationId xmlns:a16="http://schemas.microsoft.com/office/drawing/2014/main" id="{FB970BED-0380-43D4-8F20-CFB9908C3877}"/>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2</a:t>
                </a:r>
              </a:p>
            </p:txBody>
          </p:sp>
          <p:sp>
            <p:nvSpPr>
              <p:cNvPr id="97" name="Text Box 36">
                <a:extLst>
                  <a:ext uri="{FF2B5EF4-FFF2-40B4-BE49-F238E27FC236}">
                    <a16:creationId xmlns:a16="http://schemas.microsoft.com/office/drawing/2014/main" id="{61BA6AFA-C672-421D-AE39-09AB019948B4}"/>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5</a:t>
                </a:r>
              </a:p>
            </p:txBody>
          </p:sp>
          <p:sp>
            <p:nvSpPr>
              <p:cNvPr id="98" name="Text Box 37">
                <a:extLst>
                  <a:ext uri="{FF2B5EF4-FFF2-40B4-BE49-F238E27FC236}">
                    <a16:creationId xmlns:a16="http://schemas.microsoft.com/office/drawing/2014/main" id="{0152A3AD-7A67-4FA6-9283-C0640EA68B06}"/>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a:t>
                </a:r>
              </a:p>
            </p:txBody>
          </p:sp>
          <p:sp>
            <p:nvSpPr>
              <p:cNvPr id="99" name="Text Box 38">
                <a:extLst>
                  <a:ext uri="{FF2B5EF4-FFF2-40B4-BE49-F238E27FC236}">
                    <a16:creationId xmlns:a16="http://schemas.microsoft.com/office/drawing/2014/main" id="{526AAA91-ED03-4287-AAD1-D1508151A1E1}"/>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12</a:t>
                </a:r>
                <a:endParaRPr lang="en-US" altLang="zh-CN"/>
              </a:p>
            </p:txBody>
          </p:sp>
          <p:sp>
            <p:nvSpPr>
              <p:cNvPr id="100" name="Text Box 39">
                <a:extLst>
                  <a:ext uri="{FF2B5EF4-FFF2-40B4-BE49-F238E27FC236}">
                    <a16:creationId xmlns:a16="http://schemas.microsoft.com/office/drawing/2014/main" id="{4F8CBF0D-F2D6-492D-AE9F-D2554AA93AEB}"/>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14</a:t>
                </a:r>
              </a:p>
            </p:txBody>
          </p:sp>
          <p:sp>
            <p:nvSpPr>
              <p:cNvPr id="101" name="Text Box 40">
                <a:extLst>
                  <a:ext uri="{FF2B5EF4-FFF2-40B4-BE49-F238E27FC236}">
                    <a16:creationId xmlns:a16="http://schemas.microsoft.com/office/drawing/2014/main" id="{3A51B4AF-B230-4FE7-82B2-319F6A9F643C}"/>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10</a:t>
                </a:r>
              </a:p>
            </p:txBody>
          </p:sp>
          <p:sp>
            <p:nvSpPr>
              <p:cNvPr id="102" name="Text Box 41">
                <a:extLst>
                  <a:ext uri="{FF2B5EF4-FFF2-40B4-BE49-F238E27FC236}">
                    <a16:creationId xmlns:a16="http://schemas.microsoft.com/office/drawing/2014/main" id="{A559251A-0A22-42B4-8688-B5F7DDFC0D91}"/>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6</a:t>
                </a:r>
              </a:p>
            </p:txBody>
          </p:sp>
          <p:sp>
            <p:nvSpPr>
              <p:cNvPr id="103" name="Text Box 42">
                <a:extLst>
                  <a:ext uri="{FF2B5EF4-FFF2-40B4-BE49-F238E27FC236}">
                    <a16:creationId xmlns:a16="http://schemas.microsoft.com/office/drawing/2014/main" id="{B9076C44-3E52-4AC9-B5F5-B0778D4B6C64}"/>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104" name="Text Box 43">
                <a:extLst>
                  <a:ext uri="{FF2B5EF4-FFF2-40B4-BE49-F238E27FC236}">
                    <a16:creationId xmlns:a16="http://schemas.microsoft.com/office/drawing/2014/main" id="{91F6A142-8C27-46F9-B3CE-CDCEE6EE8F5D}"/>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4</a:t>
                </a:r>
              </a:p>
            </p:txBody>
          </p:sp>
          <p:sp>
            <p:nvSpPr>
              <p:cNvPr id="105" name="Text Box 44">
                <a:extLst>
                  <a:ext uri="{FF2B5EF4-FFF2-40B4-BE49-F238E27FC236}">
                    <a16:creationId xmlns:a16="http://schemas.microsoft.com/office/drawing/2014/main" id="{1F8C8EEA-D82E-4E33-9303-A2BD035C3724}"/>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13</a:t>
                </a:r>
              </a:p>
            </p:txBody>
          </p:sp>
          <p:sp>
            <p:nvSpPr>
              <p:cNvPr id="106" name="Text Box 45">
                <a:extLst>
                  <a:ext uri="{FF2B5EF4-FFF2-40B4-BE49-F238E27FC236}">
                    <a16:creationId xmlns:a16="http://schemas.microsoft.com/office/drawing/2014/main" id="{A4AB083D-8A41-4BD7-9140-E289DDD772D6}"/>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11</a:t>
                </a:r>
              </a:p>
            </p:txBody>
          </p:sp>
          <p:sp>
            <p:nvSpPr>
              <p:cNvPr id="107" name="Text Box 46">
                <a:extLst>
                  <a:ext uri="{FF2B5EF4-FFF2-40B4-BE49-F238E27FC236}">
                    <a16:creationId xmlns:a16="http://schemas.microsoft.com/office/drawing/2014/main" id="{2E5C2AD3-73AD-41C3-A0E0-E0F8A5CF7FC5}"/>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12</a:t>
                </a:r>
              </a:p>
            </p:txBody>
          </p:sp>
          <p:sp>
            <p:nvSpPr>
              <p:cNvPr id="108" name="Text Box 47">
                <a:extLst>
                  <a:ext uri="{FF2B5EF4-FFF2-40B4-BE49-F238E27FC236}">
                    <a16:creationId xmlns:a16="http://schemas.microsoft.com/office/drawing/2014/main" id="{39B63639-ADA3-4818-8823-7106B393B62C}"/>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3</a:t>
                </a:r>
              </a:p>
            </p:txBody>
          </p:sp>
          <p:sp>
            <p:nvSpPr>
              <p:cNvPr id="109" name="Text Box 48">
                <a:extLst>
                  <a:ext uri="{FF2B5EF4-FFF2-40B4-BE49-F238E27FC236}">
                    <a16:creationId xmlns:a16="http://schemas.microsoft.com/office/drawing/2014/main" id="{5C840ED5-CE24-4278-B558-5E6EE76E2B4C}"/>
                  </a:ext>
                </a:extLst>
              </p:cNvPr>
              <p:cNvSpPr txBox="1">
                <a:spLocks noChangeArrowheads="1"/>
              </p:cNvSpPr>
              <p:nvPr/>
            </p:nvSpPr>
            <p:spPr bwMode="auto">
              <a:xfrm>
                <a:off x="4867275" y="25622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9</a:t>
                </a:r>
              </a:p>
            </p:txBody>
          </p:sp>
          <p:sp>
            <p:nvSpPr>
              <p:cNvPr id="110" name="Text Box 49">
                <a:extLst>
                  <a:ext uri="{FF2B5EF4-FFF2-40B4-BE49-F238E27FC236}">
                    <a16:creationId xmlns:a16="http://schemas.microsoft.com/office/drawing/2014/main" id="{5A9A0313-F7F2-491D-8E70-BD84D59F380C}"/>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6</a:t>
                </a:r>
              </a:p>
            </p:txBody>
          </p:sp>
          <p:sp>
            <p:nvSpPr>
              <p:cNvPr id="111" name="Text Box 50">
                <a:extLst>
                  <a:ext uri="{FF2B5EF4-FFF2-40B4-BE49-F238E27FC236}">
                    <a16:creationId xmlns:a16="http://schemas.microsoft.com/office/drawing/2014/main" id="{7D4559D1-3B20-40CE-B0AE-10C54704F84A}"/>
                  </a:ext>
                </a:extLst>
              </p:cNvPr>
              <p:cNvSpPr txBox="1">
                <a:spLocks noChangeArrowheads="1"/>
              </p:cNvSpPr>
              <p:nvPr/>
            </p:nvSpPr>
            <p:spPr bwMode="auto">
              <a:xfrm>
                <a:off x="5011738" y="36512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5</a:t>
                </a:r>
              </a:p>
            </p:txBody>
          </p:sp>
          <p:sp>
            <p:nvSpPr>
              <p:cNvPr id="112" name="Text Box 51">
                <a:extLst>
                  <a:ext uri="{FF2B5EF4-FFF2-40B4-BE49-F238E27FC236}">
                    <a16:creationId xmlns:a16="http://schemas.microsoft.com/office/drawing/2014/main" id="{3098518A-5BE9-4DD1-B33B-962D840447F2}"/>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8</a:t>
                </a:r>
              </a:p>
            </p:txBody>
          </p:sp>
          <p:sp>
            <p:nvSpPr>
              <p:cNvPr id="113" name="Text Box 52">
                <a:extLst>
                  <a:ext uri="{FF2B5EF4-FFF2-40B4-BE49-F238E27FC236}">
                    <a16:creationId xmlns:a16="http://schemas.microsoft.com/office/drawing/2014/main" id="{9CA985F6-556F-4E23-81E3-2824F9A73B49}"/>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10</a:t>
                </a:r>
              </a:p>
            </p:txBody>
          </p:sp>
          <p:sp>
            <p:nvSpPr>
              <p:cNvPr id="114" name="Text Box 53">
                <a:extLst>
                  <a:ext uri="{FF2B5EF4-FFF2-40B4-BE49-F238E27FC236}">
                    <a16:creationId xmlns:a16="http://schemas.microsoft.com/office/drawing/2014/main" id="{3A713304-A894-4855-AB22-BC335C12F075}"/>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5</a:t>
                </a:r>
              </a:p>
            </p:txBody>
          </p:sp>
          <p:sp>
            <p:nvSpPr>
              <p:cNvPr id="115" name="Text Box 54">
                <a:extLst>
                  <a:ext uri="{FF2B5EF4-FFF2-40B4-BE49-F238E27FC236}">
                    <a16:creationId xmlns:a16="http://schemas.microsoft.com/office/drawing/2014/main" id="{1B4F6411-3DC7-4540-89D6-77045F27BC05}"/>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2</a:t>
                </a: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410D8A4-EC77-42D7-BB4D-2F8C4D79785A}"/>
              </a:ext>
            </a:extLst>
          </p:cNvPr>
          <p:cNvSpPr>
            <a:spLocks noGrp="1" noChangeArrowheads="1"/>
          </p:cNvSpPr>
          <p:nvPr>
            <p:ph type="title"/>
          </p:nvPr>
        </p:nvSpPr>
        <p:spPr/>
        <p:txBody>
          <a:bodyPr/>
          <a:lstStyle/>
          <a:p>
            <a:pPr eaLnBrk="1" hangingPunct="1"/>
            <a:r>
              <a:rPr lang="zh-CN" altLang="en-US" dirty="0"/>
              <a:t>基本方程</a:t>
            </a:r>
            <a:r>
              <a:rPr lang="en-US" altLang="zh-CN" dirty="0"/>
              <a:t>(</a:t>
            </a:r>
            <a:r>
              <a:rPr lang="zh-CN" altLang="en-US" dirty="0"/>
              <a:t>逆序解法</a:t>
            </a:r>
            <a:r>
              <a:rPr lang="en-US" altLang="zh-CN" dirty="0"/>
              <a:t>)</a:t>
            </a:r>
            <a:endParaRPr lang="zh-CN" altLang="en-US"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52C01DD-34B4-4534-A04D-31B3EDB1588F}"/>
                  </a:ext>
                </a:extLst>
              </p:cNvPr>
              <p:cNvSpPr txBox="1"/>
              <p:nvPr/>
            </p:nvSpPr>
            <p:spPr>
              <a:xfrm>
                <a:off x="142275" y="4365012"/>
                <a:ext cx="2815001"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5</m:t>
                              </m:r>
                            </m:sub>
                          </m:sSub>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𝐸</m:t>
                          </m:r>
                        </m:e>
                      </m:d>
                      <m:r>
                        <a:rPr lang="en-US" altLang="zh-CN" sz="3200" b="0" i="1" smtClean="0">
                          <a:latin typeface="Cambria Math" panose="02040503050406030204" pitchFamily="18" charset="0"/>
                        </a:rPr>
                        <m:t>=0</m:t>
                      </m:r>
                    </m:oMath>
                  </m:oMathPara>
                </a14:m>
                <a:endParaRPr lang="zh-CN" altLang="en-US" sz="3200" dirty="0"/>
              </a:p>
            </p:txBody>
          </p:sp>
        </mc:Choice>
        <mc:Fallback xmlns="">
          <p:sp>
            <p:nvSpPr>
              <p:cNvPr id="5" name="文本框 4">
                <a:extLst>
                  <a:ext uri="{FF2B5EF4-FFF2-40B4-BE49-F238E27FC236}">
                    <a16:creationId xmlns:a16="http://schemas.microsoft.com/office/drawing/2014/main" id="{B52C01DD-34B4-4534-A04D-31B3EDB1588F}"/>
                  </a:ext>
                </a:extLst>
              </p:cNvPr>
              <p:cNvSpPr txBox="1">
                <a:spLocks noRot="1" noChangeAspect="1" noMove="1" noResize="1" noEditPoints="1" noAdjustHandles="1" noChangeArrowheads="1" noChangeShapeType="1" noTextEdit="1"/>
              </p:cNvSpPr>
              <p:nvPr/>
            </p:nvSpPr>
            <p:spPr>
              <a:xfrm>
                <a:off x="142275" y="4365012"/>
                <a:ext cx="2815001" cy="584775"/>
              </a:xfrm>
              <a:prstGeom prst="rect">
                <a:avLst/>
              </a:prstGeom>
              <a:blipFill>
                <a:blip r:embed="rId2"/>
                <a:stretch>
                  <a:fillRect/>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917288F3-8B9E-49A2-97A3-43F41BCE5143}"/>
              </a:ext>
            </a:extLst>
          </p:cNvPr>
          <p:cNvGrpSpPr/>
          <p:nvPr/>
        </p:nvGrpSpPr>
        <p:grpSpPr>
          <a:xfrm>
            <a:off x="179513" y="1086995"/>
            <a:ext cx="5125844" cy="3134093"/>
            <a:chOff x="179512" y="1086995"/>
            <a:chExt cx="7145157" cy="3514725"/>
          </a:xfrm>
        </p:grpSpPr>
        <p:grpSp>
          <p:nvGrpSpPr>
            <p:cNvPr id="53" name="组合 167">
              <a:extLst>
                <a:ext uri="{FF2B5EF4-FFF2-40B4-BE49-F238E27FC236}">
                  <a16:creationId xmlns:a16="http://schemas.microsoft.com/office/drawing/2014/main" id="{62D76B02-02B0-4E2E-98D8-A9F1F083A653}"/>
                </a:ext>
              </a:extLst>
            </p:cNvPr>
            <p:cNvGrpSpPr>
              <a:grpSpLocks/>
            </p:cNvGrpSpPr>
            <p:nvPr/>
          </p:nvGrpSpPr>
          <p:grpSpPr bwMode="auto">
            <a:xfrm>
              <a:off x="179512" y="1086995"/>
              <a:ext cx="7145157" cy="3514725"/>
              <a:chOff x="1281093" y="1412776"/>
              <a:chExt cx="7146767" cy="4536504"/>
            </a:xfrm>
          </p:grpSpPr>
          <p:sp>
            <p:nvSpPr>
              <p:cNvPr id="54" name="文本框 157">
                <a:extLst>
                  <a:ext uri="{FF2B5EF4-FFF2-40B4-BE49-F238E27FC236}">
                    <a16:creationId xmlns:a16="http://schemas.microsoft.com/office/drawing/2014/main" id="{F6F0CDA6-C872-498D-A50E-BA157765325D}"/>
                  </a:ext>
                </a:extLst>
              </p:cNvPr>
              <p:cNvSpPr txBox="1">
                <a:spLocks noChangeArrowheads="1"/>
              </p:cNvSpPr>
              <p:nvPr/>
            </p:nvSpPr>
            <p:spPr bwMode="auto">
              <a:xfrm>
                <a:off x="128109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1</a:t>
                </a:r>
                <a:endParaRPr lang="zh-CN" altLang="en-US" sz="1400" b="1"/>
              </a:p>
            </p:txBody>
          </p:sp>
          <p:sp>
            <p:nvSpPr>
              <p:cNvPr id="55" name="文本框 158">
                <a:extLst>
                  <a:ext uri="{FF2B5EF4-FFF2-40B4-BE49-F238E27FC236}">
                    <a16:creationId xmlns:a16="http://schemas.microsoft.com/office/drawing/2014/main" id="{767A5123-C596-4DD1-91AE-879A25E98825}"/>
                  </a:ext>
                </a:extLst>
              </p:cNvPr>
              <p:cNvSpPr txBox="1">
                <a:spLocks noChangeArrowheads="1"/>
              </p:cNvSpPr>
              <p:nvPr/>
            </p:nvSpPr>
            <p:spPr bwMode="auto">
              <a:xfrm>
                <a:off x="2823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2</a:t>
                </a:r>
                <a:endParaRPr lang="zh-CN" altLang="en-US" sz="1400" b="1"/>
              </a:p>
            </p:txBody>
          </p:sp>
          <p:sp>
            <p:nvSpPr>
              <p:cNvPr id="56" name="文本框 159">
                <a:extLst>
                  <a:ext uri="{FF2B5EF4-FFF2-40B4-BE49-F238E27FC236}">
                    <a16:creationId xmlns:a16="http://schemas.microsoft.com/office/drawing/2014/main" id="{7028B3F2-4745-4CAE-A062-73E6FFF71AC7}"/>
                  </a:ext>
                </a:extLst>
              </p:cNvPr>
              <p:cNvSpPr txBox="1">
                <a:spLocks noChangeArrowheads="1"/>
              </p:cNvSpPr>
              <p:nvPr/>
            </p:nvSpPr>
            <p:spPr bwMode="auto">
              <a:xfrm>
                <a:off x="457023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3</a:t>
                </a:r>
                <a:endParaRPr lang="zh-CN" altLang="en-US" sz="1400" b="1"/>
              </a:p>
            </p:txBody>
          </p:sp>
          <p:sp>
            <p:nvSpPr>
              <p:cNvPr id="57" name="文本框 160">
                <a:extLst>
                  <a:ext uri="{FF2B5EF4-FFF2-40B4-BE49-F238E27FC236}">
                    <a16:creationId xmlns:a16="http://schemas.microsoft.com/office/drawing/2014/main" id="{B04FD00D-C358-4733-AF41-54A8059E0C8B}"/>
                  </a:ext>
                </a:extLst>
              </p:cNvPr>
              <p:cNvSpPr txBox="1">
                <a:spLocks noChangeArrowheads="1"/>
              </p:cNvSpPr>
              <p:nvPr/>
            </p:nvSpPr>
            <p:spPr bwMode="auto">
              <a:xfrm>
                <a:off x="6244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4</a:t>
                </a:r>
                <a:endParaRPr lang="zh-CN" altLang="en-US" sz="1400" b="1"/>
              </a:p>
            </p:txBody>
          </p:sp>
          <p:sp>
            <p:nvSpPr>
              <p:cNvPr id="58" name="文本框 161">
                <a:extLst>
                  <a:ext uri="{FF2B5EF4-FFF2-40B4-BE49-F238E27FC236}">
                    <a16:creationId xmlns:a16="http://schemas.microsoft.com/office/drawing/2014/main" id="{78E516FA-C238-4C30-8117-7181D6C9AF4B}"/>
                  </a:ext>
                </a:extLst>
              </p:cNvPr>
              <p:cNvSpPr txBox="1">
                <a:spLocks noChangeArrowheads="1"/>
              </p:cNvSpPr>
              <p:nvPr/>
            </p:nvSpPr>
            <p:spPr bwMode="auto">
              <a:xfrm>
                <a:off x="7531176"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5</a:t>
                </a:r>
                <a:endParaRPr lang="zh-CN" altLang="en-US" sz="1400" b="1"/>
              </a:p>
            </p:txBody>
          </p:sp>
          <p:cxnSp>
            <p:nvCxnSpPr>
              <p:cNvPr id="59" name="直接连接符 58">
                <a:extLst>
                  <a:ext uri="{FF2B5EF4-FFF2-40B4-BE49-F238E27FC236}">
                    <a16:creationId xmlns:a16="http://schemas.microsoft.com/office/drawing/2014/main" id="{7D0355CC-B1B6-4416-9133-A8E4189964B5}"/>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D714960F-1958-4004-BA16-CE02059893EB}"/>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8D21216-3295-4975-B956-262140EC8DDF}"/>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3C3B10C-81D6-4D22-9351-1B4FE6B1D3F9}"/>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5" name="组合 1">
              <a:extLst>
                <a:ext uri="{FF2B5EF4-FFF2-40B4-BE49-F238E27FC236}">
                  <a16:creationId xmlns:a16="http://schemas.microsoft.com/office/drawing/2014/main" id="{F0B2A3BA-8200-4AD2-8BD6-C9E29EB259B8}"/>
                </a:ext>
              </a:extLst>
            </p:cNvPr>
            <p:cNvGrpSpPr>
              <a:grpSpLocks/>
            </p:cNvGrpSpPr>
            <p:nvPr/>
          </p:nvGrpSpPr>
          <p:grpSpPr bwMode="auto">
            <a:xfrm>
              <a:off x="352980" y="1896905"/>
              <a:ext cx="6696075" cy="2535251"/>
              <a:chOff x="1187450" y="1898650"/>
              <a:chExt cx="6696075" cy="3222625"/>
            </a:xfrm>
          </p:grpSpPr>
          <p:sp>
            <p:nvSpPr>
              <p:cNvPr id="66" name="Oval 5">
                <a:extLst>
                  <a:ext uri="{FF2B5EF4-FFF2-40B4-BE49-F238E27FC236}">
                    <a16:creationId xmlns:a16="http://schemas.microsoft.com/office/drawing/2014/main" id="{B843706A-2529-45DB-8621-D44C22AF4CAC}"/>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1</a:t>
                </a:r>
              </a:p>
            </p:txBody>
          </p:sp>
          <p:sp>
            <p:nvSpPr>
              <p:cNvPr id="67" name="Oval 6">
                <a:extLst>
                  <a:ext uri="{FF2B5EF4-FFF2-40B4-BE49-F238E27FC236}">
                    <a16:creationId xmlns:a16="http://schemas.microsoft.com/office/drawing/2014/main" id="{44422404-073F-427D-8CC9-69E00C5615E8}"/>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3</a:t>
                </a:r>
                <a:endParaRPr lang="en-US" altLang="zh-CN" sz="1400"/>
              </a:p>
            </p:txBody>
          </p:sp>
          <p:sp>
            <p:nvSpPr>
              <p:cNvPr id="68" name="Oval 7">
                <a:extLst>
                  <a:ext uri="{FF2B5EF4-FFF2-40B4-BE49-F238E27FC236}">
                    <a16:creationId xmlns:a16="http://schemas.microsoft.com/office/drawing/2014/main" id="{B53B0F59-667B-4FDE-AF14-E2F3D7638C92}"/>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D</a:t>
                </a:r>
                <a:r>
                  <a:rPr lang="en-US" altLang="zh-CN" sz="1400" baseline="-25000">
                    <a:latin typeface="Times New Roman" panose="02020603050405020304" pitchFamily="18" charset="0"/>
                  </a:rPr>
                  <a:t>1</a:t>
                </a:r>
              </a:p>
            </p:txBody>
          </p:sp>
          <p:sp>
            <p:nvSpPr>
              <p:cNvPr id="69" name="Oval 8">
                <a:extLst>
                  <a:ext uri="{FF2B5EF4-FFF2-40B4-BE49-F238E27FC236}">
                    <a16:creationId xmlns:a16="http://schemas.microsoft.com/office/drawing/2014/main" id="{2FD0BB59-B661-4FC6-9E90-9DCC8A0D8F6A}"/>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A</a:t>
                </a:r>
              </a:p>
            </p:txBody>
          </p:sp>
          <p:sp>
            <p:nvSpPr>
              <p:cNvPr id="70" name="Oval 9">
                <a:extLst>
                  <a:ext uri="{FF2B5EF4-FFF2-40B4-BE49-F238E27FC236}">
                    <a16:creationId xmlns:a16="http://schemas.microsoft.com/office/drawing/2014/main" id="{8CE2E3C1-DE7D-43C4-8D8F-E9670DC9856E}"/>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1</a:t>
                </a:r>
                <a:endParaRPr lang="en-US" altLang="zh-CN" sz="1400"/>
              </a:p>
            </p:txBody>
          </p:sp>
          <p:sp>
            <p:nvSpPr>
              <p:cNvPr id="71" name="Oval 10">
                <a:extLst>
                  <a:ext uri="{FF2B5EF4-FFF2-40B4-BE49-F238E27FC236}">
                    <a16:creationId xmlns:a16="http://schemas.microsoft.com/office/drawing/2014/main" id="{BA3C4B6C-98B6-4487-AE01-3175DCCB54F2}"/>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3</a:t>
                </a:r>
                <a:endParaRPr lang="en-US" altLang="zh-CN" sz="1400"/>
              </a:p>
            </p:txBody>
          </p:sp>
          <p:sp>
            <p:nvSpPr>
              <p:cNvPr id="72" name="Oval 11">
                <a:extLst>
                  <a:ext uri="{FF2B5EF4-FFF2-40B4-BE49-F238E27FC236}">
                    <a16:creationId xmlns:a16="http://schemas.microsoft.com/office/drawing/2014/main" id="{AB8F9DB6-6C91-4050-B105-ADD6C44A9492}"/>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2</a:t>
                </a:r>
                <a:endParaRPr lang="en-US" altLang="zh-CN" sz="1400"/>
              </a:p>
            </p:txBody>
          </p:sp>
          <p:sp>
            <p:nvSpPr>
              <p:cNvPr id="73" name="Oval 12">
                <a:extLst>
                  <a:ext uri="{FF2B5EF4-FFF2-40B4-BE49-F238E27FC236}">
                    <a16:creationId xmlns:a16="http://schemas.microsoft.com/office/drawing/2014/main" id="{228D351F-5A7A-4FD1-A4A9-85B1B856DA3A}"/>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D</a:t>
                </a:r>
                <a:r>
                  <a:rPr lang="en-US" altLang="zh-CN" sz="1400" baseline="-25000">
                    <a:latin typeface="Times New Roman" panose="02020603050405020304" pitchFamily="18" charset="0"/>
                  </a:rPr>
                  <a:t>2</a:t>
                </a:r>
                <a:endParaRPr lang="en-US" altLang="zh-CN" sz="1400"/>
              </a:p>
            </p:txBody>
          </p:sp>
          <p:sp>
            <p:nvSpPr>
              <p:cNvPr id="74" name="Oval 13">
                <a:extLst>
                  <a:ext uri="{FF2B5EF4-FFF2-40B4-BE49-F238E27FC236}">
                    <a16:creationId xmlns:a16="http://schemas.microsoft.com/office/drawing/2014/main" id="{97693D58-847D-4C2F-9C72-26E45C85BC43}"/>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E</a:t>
                </a:r>
                <a:endParaRPr lang="en-US" altLang="zh-CN" sz="1400"/>
              </a:p>
            </p:txBody>
          </p:sp>
          <p:sp>
            <p:nvSpPr>
              <p:cNvPr id="75" name="Oval 14">
                <a:extLst>
                  <a:ext uri="{FF2B5EF4-FFF2-40B4-BE49-F238E27FC236}">
                    <a16:creationId xmlns:a16="http://schemas.microsoft.com/office/drawing/2014/main" id="{3DDB5D2A-7BF9-4DC2-834B-99FB4A9941CC}"/>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2</a:t>
                </a:r>
                <a:endParaRPr lang="en-US" altLang="zh-CN" sz="1400"/>
              </a:p>
            </p:txBody>
          </p:sp>
          <p:sp>
            <p:nvSpPr>
              <p:cNvPr id="76" name="Line 15">
                <a:extLst>
                  <a:ext uri="{FF2B5EF4-FFF2-40B4-BE49-F238E27FC236}">
                    <a16:creationId xmlns:a16="http://schemas.microsoft.com/office/drawing/2014/main" id="{9ACFE650-A205-4B3F-971F-41969B0CFCC3}"/>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7" name="Line 16">
                <a:extLst>
                  <a:ext uri="{FF2B5EF4-FFF2-40B4-BE49-F238E27FC236}">
                    <a16:creationId xmlns:a16="http://schemas.microsoft.com/office/drawing/2014/main" id="{3BD4FD88-E594-4163-A0C9-C2C1C7B2AA36}"/>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8" name="Line 17">
                <a:extLst>
                  <a:ext uri="{FF2B5EF4-FFF2-40B4-BE49-F238E27FC236}">
                    <a16:creationId xmlns:a16="http://schemas.microsoft.com/office/drawing/2014/main" id="{48345FD2-5EF3-4821-9ADA-34CAD86F5B7D}"/>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9" name="Line 18">
                <a:extLst>
                  <a:ext uri="{FF2B5EF4-FFF2-40B4-BE49-F238E27FC236}">
                    <a16:creationId xmlns:a16="http://schemas.microsoft.com/office/drawing/2014/main" id="{EFBB4862-5CBF-410B-98A5-16BF43F59B6F}"/>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0" name="Line 19">
                <a:extLst>
                  <a:ext uri="{FF2B5EF4-FFF2-40B4-BE49-F238E27FC236}">
                    <a16:creationId xmlns:a16="http://schemas.microsoft.com/office/drawing/2014/main" id="{37BB3FEA-D15A-48D4-8DAA-A6C2F45A877F}"/>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1" name="Line 20">
                <a:extLst>
                  <a:ext uri="{FF2B5EF4-FFF2-40B4-BE49-F238E27FC236}">
                    <a16:creationId xmlns:a16="http://schemas.microsoft.com/office/drawing/2014/main" id="{9A1E5F5B-8666-4A45-905F-9C839E8E6B86}"/>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2" name="Line 21">
                <a:extLst>
                  <a:ext uri="{FF2B5EF4-FFF2-40B4-BE49-F238E27FC236}">
                    <a16:creationId xmlns:a16="http://schemas.microsoft.com/office/drawing/2014/main" id="{BC30B9DA-4712-4BF1-8272-80C7C77CFEB3}"/>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3" name="Line 22">
                <a:extLst>
                  <a:ext uri="{FF2B5EF4-FFF2-40B4-BE49-F238E27FC236}">
                    <a16:creationId xmlns:a16="http://schemas.microsoft.com/office/drawing/2014/main" id="{AFD5AE01-339E-447C-A118-69B088AA33FE}"/>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4" name="Line 23">
                <a:extLst>
                  <a:ext uri="{FF2B5EF4-FFF2-40B4-BE49-F238E27FC236}">
                    <a16:creationId xmlns:a16="http://schemas.microsoft.com/office/drawing/2014/main" id="{936A9AA4-7461-4FA0-8520-1E4F3CC05BD3}"/>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5" name="Line 24">
                <a:extLst>
                  <a:ext uri="{FF2B5EF4-FFF2-40B4-BE49-F238E27FC236}">
                    <a16:creationId xmlns:a16="http://schemas.microsoft.com/office/drawing/2014/main" id="{B7C52BFD-DDC9-4EC3-85ED-DCC503B50898}"/>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6" name="Line 25">
                <a:extLst>
                  <a:ext uri="{FF2B5EF4-FFF2-40B4-BE49-F238E27FC236}">
                    <a16:creationId xmlns:a16="http://schemas.microsoft.com/office/drawing/2014/main" id="{EF19E01B-6549-4FE8-B8AD-0F105B694CF3}"/>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7" name="Line 26">
                <a:extLst>
                  <a:ext uri="{FF2B5EF4-FFF2-40B4-BE49-F238E27FC236}">
                    <a16:creationId xmlns:a16="http://schemas.microsoft.com/office/drawing/2014/main" id="{A63894AA-455E-412A-8704-CF4CCB423CDB}"/>
                  </a:ext>
                </a:extLst>
              </p:cNvPr>
              <p:cNvSpPr>
                <a:spLocks noChangeShapeType="1"/>
              </p:cNvSpPr>
              <p:nvPr/>
            </p:nvSpPr>
            <p:spPr bwMode="auto">
              <a:xfrm>
                <a:off x="4867275" y="359886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8" name="Line 27">
                <a:extLst>
                  <a:ext uri="{FF2B5EF4-FFF2-40B4-BE49-F238E27FC236}">
                    <a16:creationId xmlns:a16="http://schemas.microsoft.com/office/drawing/2014/main" id="{6762778B-FBCF-4017-B870-3461C13A07E6}"/>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9" name="Line 28">
                <a:extLst>
                  <a:ext uri="{FF2B5EF4-FFF2-40B4-BE49-F238E27FC236}">
                    <a16:creationId xmlns:a16="http://schemas.microsoft.com/office/drawing/2014/main" id="{A4FEF310-36B4-494B-B472-1D5E433D6368}"/>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0" name="Line 29">
                <a:extLst>
                  <a:ext uri="{FF2B5EF4-FFF2-40B4-BE49-F238E27FC236}">
                    <a16:creationId xmlns:a16="http://schemas.microsoft.com/office/drawing/2014/main" id="{4F0349A8-3778-4B5E-B023-855CFAD737F8}"/>
                  </a:ext>
                </a:extLst>
              </p:cNvPr>
              <p:cNvSpPr>
                <a:spLocks noChangeShapeType="1"/>
              </p:cNvSpPr>
              <p:nvPr/>
            </p:nvSpPr>
            <p:spPr bwMode="auto">
              <a:xfrm flipV="1">
                <a:off x="3074988" y="234950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1" name="Line 30">
                <a:extLst>
                  <a:ext uri="{FF2B5EF4-FFF2-40B4-BE49-F238E27FC236}">
                    <a16:creationId xmlns:a16="http://schemas.microsoft.com/office/drawing/2014/main" id="{27D3D704-6E76-4EED-A736-3801B4418464}"/>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2" name="Line 31">
                <a:extLst>
                  <a:ext uri="{FF2B5EF4-FFF2-40B4-BE49-F238E27FC236}">
                    <a16:creationId xmlns:a16="http://schemas.microsoft.com/office/drawing/2014/main" id="{09E7DEC4-20D9-47AE-B1B8-13E8EC65008D}"/>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3" name="Line 32">
                <a:extLst>
                  <a:ext uri="{FF2B5EF4-FFF2-40B4-BE49-F238E27FC236}">
                    <a16:creationId xmlns:a16="http://schemas.microsoft.com/office/drawing/2014/main" id="{F43D41FF-D13D-4151-93D5-A1A1F55806B3}"/>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4" name="Line 33">
                <a:extLst>
                  <a:ext uri="{FF2B5EF4-FFF2-40B4-BE49-F238E27FC236}">
                    <a16:creationId xmlns:a16="http://schemas.microsoft.com/office/drawing/2014/main" id="{CB468DFB-C5D4-438B-B105-D91924F348D1}"/>
                  </a:ext>
                </a:extLst>
              </p:cNvPr>
              <p:cNvSpPr>
                <a:spLocks noChangeShapeType="1"/>
              </p:cNvSpPr>
              <p:nvPr/>
            </p:nvSpPr>
            <p:spPr bwMode="auto">
              <a:xfrm>
                <a:off x="4843463" y="240347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5" name="Line 34">
                <a:extLst>
                  <a:ext uri="{FF2B5EF4-FFF2-40B4-BE49-F238E27FC236}">
                    <a16:creationId xmlns:a16="http://schemas.microsoft.com/office/drawing/2014/main" id="{C082A2A0-8CC8-456C-9B8A-1742E62C44B1}"/>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6" name="Text Box 35">
                <a:extLst>
                  <a:ext uri="{FF2B5EF4-FFF2-40B4-BE49-F238E27FC236}">
                    <a16:creationId xmlns:a16="http://schemas.microsoft.com/office/drawing/2014/main" id="{FB970BED-0380-43D4-8F20-CFB9908C3877}"/>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2</a:t>
                </a:r>
              </a:p>
            </p:txBody>
          </p:sp>
          <p:sp>
            <p:nvSpPr>
              <p:cNvPr id="97" name="Text Box 36">
                <a:extLst>
                  <a:ext uri="{FF2B5EF4-FFF2-40B4-BE49-F238E27FC236}">
                    <a16:creationId xmlns:a16="http://schemas.microsoft.com/office/drawing/2014/main" id="{61BA6AFA-C672-421D-AE39-09AB019948B4}"/>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5</a:t>
                </a:r>
              </a:p>
            </p:txBody>
          </p:sp>
          <p:sp>
            <p:nvSpPr>
              <p:cNvPr id="98" name="Text Box 37">
                <a:extLst>
                  <a:ext uri="{FF2B5EF4-FFF2-40B4-BE49-F238E27FC236}">
                    <a16:creationId xmlns:a16="http://schemas.microsoft.com/office/drawing/2014/main" id="{0152A3AD-7A67-4FA6-9283-C0640EA68B06}"/>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a:t>
                </a:r>
              </a:p>
            </p:txBody>
          </p:sp>
          <p:sp>
            <p:nvSpPr>
              <p:cNvPr id="99" name="Text Box 38">
                <a:extLst>
                  <a:ext uri="{FF2B5EF4-FFF2-40B4-BE49-F238E27FC236}">
                    <a16:creationId xmlns:a16="http://schemas.microsoft.com/office/drawing/2014/main" id="{526AAA91-ED03-4287-AAD1-D1508151A1E1}"/>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12</a:t>
                </a:r>
                <a:endParaRPr lang="en-US" altLang="zh-CN" sz="1400"/>
              </a:p>
            </p:txBody>
          </p:sp>
          <p:sp>
            <p:nvSpPr>
              <p:cNvPr id="100" name="Text Box 39">
                <a:extLst>
                  <a:ext uri="{FF2B5EF4-FFF2-40B4-BE49-F238E27FC236}">
                    <a16:creationId xmlns:a16="http://schemas.microsoft.com/office/drawing/2014/main" id="{4F8CBF0D-F2D6-492D-AE9F-D2554AA93AEB}"/>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14</a:t>
                </a:r>
              </a:p>
            </p:txBody>
          </p:sp>
          <p:sp>
            <p:nvSpPr>
              <p:cNvPr id="101" name="Text Box 40">
                <a:extLst>
                  <a:ext uri="{FF2B5EF4-FFF2-40B4-BE49-F238E27FC236}">
                    <a16:creationId xmlns:a16="http://schemas.microsoft.com/office/drawing/2014/main" id="{3A51B4AF-B230-4FE7-82B2-319F6A9F643C}"/>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10</a:t>
                </a:r>
              </a:p>
            </p:txBody>
          </p:sp>
          <p:sp>
            <p:nvSpPr>
              <p:cNvPr id="102" name="Text Box 41">
                <a:extLst>
                  <a:ext uri="{FF2B5EF4-FFF2-40B4-BE49-F238E27FC236}">
                    <a16:creationId xmlns:a16="http://schemas.microsoft.com/office/drawing/2014/main" id="{A559251A-0A22-42B4-8688-B5F7DDFC0D91}"/>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6</a:t>
                </a:r>
              </a:p>
            </p:txBody>
          </p:sp>
          <p:sp>
            <p:nvSpPr>
              <p:cNvPr id="103" name="Text Box 42">
                <a:extLst>
                  <a:ext uri="{FF2B5EF4-FFF2-40B4-BE49-F238E27FC236}">
                    <a16:creationId xmlns:a16="http://schemas.microsoft.com/office/drawing/2014/main" id="{B9076C44-3E52-4AC9-B5F5-B0778D4B6C64}"/>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04" name="Text Box 43">
                <a:extLst>
                  <a:ext uri="{FF2B5EF4-FFF2-40B4-BE49-F238E27FC236}">
                    <a16:creationId xmlns:a16="http://schemas.microsoft.com/office/drawing/2014/main" id="{91F6A142-8C27-46F9-B3CE-CDCEE6EE8F5D}"/>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4</a:t>
                </a:r>
              </a:p>
            </p:txBody>
          </p:sp>
          <p:sp>
            <p:nvSpPr>
              <p:cNvPr id="105" name="Text Box 44">
                <a:extLst>
                  <a:ext uri="{FF2B5EF4-FFF2-40B4-BE49-F238E27FC236}">
                    <a16:creationId xmlns:a16="http://schemas.microsoft.com/office/drawing/2014/main" id="{1F8C8EEA-D82E-4E33-9303-A2BD035C3724}"/>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13</a:t>
                </a:r>
              </a:p>
            </p:txBody>
          </p:sp>
          <p:sp>
            <p:nvSpPr>
              <p:cNvPr id="106" name="Text Box 45">
                <a:extLst>
                  <a:ext uri="{FF2B5EF4-FFF2-40B4-BE49-F238E27FC236}">
                    <a16:creationId xmlns:a16="http://schemas.microsoft.com/office/drawing/2014/main" id="{A4AB083D-8A41-4BD7-9140-E289DDD772D6}"/>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11</a:t>
                </a:r>
              </a:p>
            </p:txBody>
          </p:sp>
          <p:sp>
            <p:nvSpPr>
              <p:cNvPr id="107" name="Text Box 46">
                <a:extLst>
                  <a:ext uri="{FF2B5EF4-FFF2-40B4-BE49-F238E27FC236}">
                    <a16:creationId xmlns:a16="http://schemas.microsoft.com/office/drawing/2014/main" id="{2E5C2AD3-73AD-41C3-A0E0-E0F8A5CF7FC5}"/>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12</a:t>
                </a:r>
              </a:p>
            </p:txBody>
          </p:sp>
          <p:sp>
            <p:nvSpPr>
              <p:cNvPr id="108" name="Text Box 47">
                <a:extLst>
                  <a:ext uri="{FF2B5EF4-FFF2-40B4-BE49-F238E27FC236}">
                    <a16:creationId xmlns:a16="http://schemas.microsoft.com/office/drawing/2014/main" id="{39B63639-ADA3-4818-8823-7106B393B62C}"/>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3</a:t>
                </a:r>
              </a:p>
            </p:txBody>
          </p:sp>
          <p:sp>
            <p:nvSpPr>
              <p:cNvPr id="109" name="Text Box 48">
                <a:extLst>
                  <a:ext uri="{FF2B5EF4-FFF2-40B4-BE49-F238E27FC236}">
                    <a16:creationId xmlns:a16="http://schemas.microsoft.com/office/drawing/2014/main" id="{5C840ED5-CE24-4278-B558-5E6EE76E2B4C}"/>
                  </a:ext>
                </a:extLst>
              </p:cNvPr>
              <p:cNvSpPr txBox="1">
                <a:spLocks noChangeArrowheads="1"/>
              </p:cNvSpPr>
              <p:nvPr/>
            </p:nvSpPr>
            <p:spPr bwMode="auto">
              <a:xfrm>
                <a:off x="4867275" y="25622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9</a:t>
                </a:r>
              </a:p>
            </p:txBody>
          </p:sp>
          <p:sp>
            <p:nvSpPr>
              <p:cNvPr id="110" name="Text Box 49">
                <a:extLst>
                  <a:ext uri="{FF2B5EF4-FFF2-40B4-BE49-F238E27FC236}">
                    <a16:creationId xmlns:a16="http://schemas.microsoft.com/office/drawing/2014/main" id="{5A9A0313-F7F2-491D-8E70-BD84D59F380C}"/>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6</a:t>
                </a:r>
              </a:p>
            </p:txBody>
          </p:sp>
          <p:sp>
            <p:nvSpPr>
              <p:cNvPr id="111" name="Text Box 50">
                <a:extLst>
                  <a:ext uri="{FF2B5EF4-FFF2-40B4-BE49-F238E27FC236}">
                    <a16:creationId xmlns:a16="http://schemas.microsoft.com/office/drawing/2014/main" id="{7D4559D1-3B20-40CE-B0AE-10C54704F84A}"/>
                  </a:ext>
                </a:extLst>
              </p:cNvPr>
              <p:cNvSpPr txBox="1">
                <a:spLocks noChangeArrowheads="1"/>
              </p:cNvSpPr>
              <p:nvPr/>
            </p:nvSpPr>
            <p:spPr bwMode="auto">
              <a:xfrm>
                <a:off x="5011738" y="36512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2" name="Text Box 51">
                <a:extLst>
                  <a:ext uri="{FF2B5EF4-FFF2-40B4-BE49-F238E27FC236}">
                    <a16:creationId xmlns:a16="http://schemas.microsoft.com/office/drawing/2014/main" id="{3098518A-5BE9-4DD1-B33B-962D840447F2}"/>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8</a:t>
                </a:r>
              </a:p>
            </p:txBody>
          </p:sp>
          <p:sp>
            <p:nvSpPr>
              <p:cNvPr id="113" name="Text Box 52">
                <a:extLst>
                  <a:ext uri="{FF2B5EF4-FFF2-40B4-BE49-F238E27FC236}">
                    <a16:creationId xmlns:a16="http://schemas.microsoft.com/office/drawing/2014/main" id="{9CA985F6-556F-4E23-81E3-2824F9A73B49}"/>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14" name="Text Box 53">
                <a:extLst>
                  <a:ext uri="{FF2B5EF4-FFF2-40B4-BE49-F238E27FC236}">
                    <a16:creationId xmlns:a16="http://schemas.microsoft.com/office/drawing/2014/main" id="{3A713304-A894-4855-AB22-BC335C12F075}"/>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5" name="Text Box 54">
                <a:extLst>
                  <a:ext uri="{FF2B5EF4-FFF2-40B4-BE49-F238E27FC236}">
                    <a16:creationId xmlns:a16="http://schemas.microsoft.com/office/drawing/2014/main" id="{1B4F6411-3DC7-4540-89D6-77045F27BC05}"/>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2</a:t>
                </a:r>
              </a:p>
            </p:txBody>
          </p:sp>
        </p:grpSp>
      </p:gr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2C6C8D23-F9E9-4C9B-AC25-D4F712CF2F24}"/>
                  </a:ext>
                </a:extLst>
              </p:cNvPr>
              <p:cNvSpPr txBox="1"/>
              <p:nvPr/>
            </p:nvSpPr>
            <p:spPr>
              <a:xfrm>
                <a:off x="127317" y="4990197"/>
                <a:ext cx="9277668" cy="8854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4</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𝐷</m:t>
                              </m:r>
                            </m:e>
                            <m:sub>
                              <m:r>
                                <a:rPr lang="en-US" altLang="zh-CN" sz="3200" b="0" i="1" smtClean="0">
                                  <a:latin typeface="Cambria Math" panose="02040503050406030204" pitchFamily="18" charset="0"/>
                                </a:rPr>
                                <m:t>1</m:t>
                              </m:r>
                            </m:sub>
                          </m:sSub>
                        </m:e>
                      </m:d>
                      <m:r>
                        <a:rPr lang="en-US" altLang="zh-CN" sz="3200" b="0" i="1" smtClean="0">
                          <a:latin typeface="Cambria Math" panose="02040503050406030204" pitchFamily="18" charset="0"/>
                        </a:rPr>
                        <m:t>=</m:t>
                      </m:r>
                      <m:limLow>
                        <m:limLowPr>
                          <m:ctrlPr>
                            <a:rPr lang="zh-CN" altLang="en-US" sz="3200" i="1">
                              <a:solidFill>
                                <a:srgbClr val="000000"/>
                              </a:solidFill>
                              <a:latin typeface="Cambria Math" panose="02040503050406030204" pitchFamily="18" charset="0"/>
                            </a:rPr>
                          </m:ctrlPr>
                        </m:limLowPr>
                        <m:e>
                          <m:r>
                            <m:rPr>
                              <m:nor/>
                            </m:rPr>
                            <a:rPr lang="zh-CN" altLang="en-US" sz="3200">
                              <a:solidFill>
                                <a:srgbClr val="000000"/>
                              </a:solidFill>
                              <a:latin typeface="Cambria Math" panose="02040503050406030204" pitchFamily="18" charset="0"/>
                            </a:rPr>
                            <m:t>opt</m:t>
                          </m:r>
                        </m:e>
                        <m:lim>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𝐷</m:t>
                          </m:r>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𝐷</m:t>
                                  </m:r>
                                </m:e>
                                <m:sub>
                                  <m:r>
                                    <a:rPr lang="en-US" altLang="zh-CN" sz="3200" b="0" i="1" smtClean="0">
                                      <a:solidFill>
                                        <a:srgbClr val="000000"/>
                                      </a:solidFill>
                                      <a:latin typeface="Cambria Math" panose="02040503050406030204" pitchFamily="18" charset="0"/>
                                    </a:rPr>
                                    <m:t>1</m:t>
                                  </m:r>
                                </m:sub>
                              </m:sSub>
                            </m:e>
                          </m:d>
                        </m:lim>
                      </m:limLow>
                      <m:r>
                        <a:rPr lang="zh-CN" altLang="en-US" sz="3200" i="1">
                          <a:solidFill>
                            <a:srgbClr val="000000"/>
                          </a:solidFill>
                          <a:latin typeface="Cambria Math" panose="02040503050406030204" pitchFamily="18" charset="0"/>
                        </a:rPr>
                        <m:t> [</m:t>
                      </m:r>
                      <m:r>
                        <a:rPr lang="en-US" altLang="zh-CN" sz="3200" b="1" i="1">
                          <a:solidFill>
                            <a:srgbClr val="000000"/>
                          </a:solidFill>
                          <a:latin typeface="Cambria Math" panose="02040503050406030204" pitchFamily="18" charset="0"/>
                        </a:rPr>
                        <m:t>𝒗</m:t>
                      </m:r>
                      <m:r>
                        <a:rPr lang="zh-CN" altLang="en-US" sz="3200" i="1">
                          <a:solidFill>
                            <a:srgbClr val="000000"/>
                          </a:solidFill>
                          <a:latin typeface="Cambria Math" panose="02040503050406030204" pitchFamily="18" charset="0"/>
                        </a:rPr>
                        <m:t> (</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𝐷</m:t>
                          </m:r>
                        </m:e>
                        <m:sub>
                          <m:r>
                            <a:rPr lang="en-US" altLang="zh-CN" sz="3200" b="0" i="1" smtClean="0">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𝒖</m:t>
                      </m:r>
                      <m:r>
                        <a:rPr lang="en-US" altLang="zh-CN" sz="3200" b="1" i="1">
                          <a:solidFill>
                            <a:srgbClr val="000000"/>
                          </a:solidFill>
                          <a:latin typeface="Cambria Math" panose="02040503050406030204" pitchFamily="18" charset="0"/>
                        </a:rPr>
                        <m:t>(</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𝐷</m:t>
                          </m:r>
                        </m:e>
                        <m:sub>
                          <m:r>
                            <a:rPr lang="en-US" altLang="zh-CN" sz="3200" b="0" i="1" smtClean="0">
                              <a:solidFill>
                                <a:srgbClr val="000000"/>
                              </a:solidFill>
                              <a:latin typeface="Cambria Math" panose="02040503050406030204" pitchFamily="18" charset="0"/>
                            </a:rPr>
                            <m:t>1</m:t>
                          </m:r>
                        </m:sub>
                      </m:sSub>
                      <m:r>
                        <a:rPr lang="en-US" altLang="zh-CN" sz="3200" b="1"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𝑓</m:t>
                      </m:r>
                      <m:r>
                        <a:rPr lang="zh-CN" altLang="en-US"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sSub>
                        <m:sSubPr>
                          <m:ctrlPr>
                            <a:rPr lang="en-US" altLang="zh-CN" sz="3200" i="1">
                              <a:solidFill>
                                <a:srgbClr val="000000"/>
                              </a:solidFill>
                              <a:latin typeface="Cambria Math" panose="02040503050406030204" pitchFamily="18" charset="0"/>
                            </a:rPr>
                          </m:ctrlPr>
                        </m:sSubPr>
                        <m:e>
                          <m:r>
                            <a:rPr lang="en-US" altLang="zh-CN" sz="3200" i="1">
                              <a:solidFill>
                                <a:srgbClr val="000000"/>
                              </a:solidFill>
                              <a:latin typeface="Cambria Math" panose="02040503050406030204" pitchFamily="18" charset="0"/>
                            </a:rPr>
                            <m:t>𝐷</m:t>
                          </m:r>
                        </m:e>
                        <m:sub>
                          <m:r>
                            <a:rPr lang="en-US" altLang="zh-CN" sz="3200" i="1">
                              <a:solidFill>
                                <a:srgbClr val="000000"/>
                              </a:solidFill>
                              <a:latin typeface="Cambria Math" panose="02040503050406030204" pitchFamily="18" charset="0"/>
                            </a:rPr>
                            <m:t>1</m:t>
                          </m:r>
                        </m:sub>
                      </m:sSub>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117" name="文本框 116">
                <a:extLst>
                  <a:ext uri="{FF2B5EF4-FFF2-40B4-BE49-F238E27FC236}">
                    <a16:creationId xmlns:a16="http://schemas.microsoft.com/office/drawing/2014/main" id="{2C6C8D23-F9E9-4C9B-AC25-D4F712CF2F24}"/>
                  </a:ext>
                </a:extLst>
              </p:cNvPr>
              <p:cNvSpPr txBox="1">
                <a:spLocks noRot="1" noChangeAspect="1" noMove="1" noResize="1" noEditPoints="1" noAdjustHandles="1" noChangeArrowheads="1" noChangeShapeType="1" noTextEdit="1"/>
              </p:cNvSpPr>
              <p:nvPr/>
            </p:nvSpPr>
            <p:spPr>
              <a:xfrm>
                <a:off x="127317" y="4990197"/>
                <a:ext cx="9277668" cy="88549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72B9465-FBFF-4AF5-8CE7-B54D23BBAACB}"/>
                  </a:ext>
                </a:extLst>
              </p:cNvPr>
              <p:cNvSpPr/>
              <p:nvPr/>
            </p:nvSpPr>
            <p:spPr>
              <a:xfrm>
                <a:off x="484874" y="6014448"/>
                <a:ext cx="251132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sSub>
                            <m:sSubPr>
                              <m:ctrlPr>
                                <a:rPr lang="en-US" altLang="zh-CN" sz="3200" b="0" i="1" smtClean="0">
                                  <a:solidFill>
                                    <a:srgbClr val="000000"/>
                                  </a:solidFill>
                                  <a:latin typeface="Cambria Math" panose="02040503050406030204" pitchFamily="18" charset="0"/>
                                </a:rPr>
                              </m:ctrlPr>
                            </m:sSubPr>
                            <m:e>
                              <m:r>
                                <a:rPr lang="en-US" altLang="zh-CN" sz="3200" i="1">
                                  <a:solidFill>
                                    <a:srgbClr val="000000"/>
                                  </a:solidFill>
                                  <a:latin typeface="Cambria Math" panose="02040503050406030204" pitchFamily="18" charset="0"/>
                                </a:rPr>
                                <m:t>𝐷</m:t>
                              </m:r>
                            </m:e>
                            <m:sub>
                              <m:r>
                                <a:rPr lang="en-US" altLang="zh-CN" sz="3200" b="0" i="1" smtClean="0">
                                  <a:solidFill>
                                    <a:srgbClr val="000000"/>
                                  </a:solidFill>
                                  <a:latin typeface="Cambria Math" panose="02040503050406030204" pitchFamily="18" charset="0"/>
                                </a:rPr>
                                <m:t>1</m:t>
                              </m:r>
                            </m:sub>
                          </m:sSub>
                        </m:e>
                      </m:d>
                      <m:r>
                        <a:rPr lang="en-US" altLang="zh-CN" sz="3200" b="0" i="1" smtClean="0">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𝐸</m:t>
                      </m:r>
                      <m:r>
                        <a:rPr lang="en-US" altLang="zh-CN" sz="3200" b="0" i="1" smtClean="0">
                          <a:solidFill>
                            <a:srgbClr val="000000"/>
                          </a:solidFill>
                          <a:latin typeface="Cambria Math" panose="02040503050406030204" pitchFamily="18" charset="0"/>
                        </a:rPr>
                        <m:t>}</m:t>
                      </m:r>
                    </m:oMath>
                  </m:oMathPara>
                </a14:m>
                <a:endParaRPr lang="zh-CN" altLang="en-US" sz="3200" dirty="0"/>
              </a:p>
            </p:txBody>
          </p:sp>
        </mc:Choice>
        <mc:Fallback xmlns="">
          <p:sp>
            <p:nvSpPr>
              <p:cNvPr id="8" name="矩形 7">
                <a:extLst>
                  <a:ext uri="{FF2B5EF4-FFF2-40B4-BE49-F238E27FC236}">
                    <a16:creationId xmlns:a16="http://schemas.microsoft.com/office/drawing/2014/main" id="{C72B9465-FBFF-4AF5-8CE7-B54D23BBAACB}"/>
                  </a:ext>
                </a:extLst>
              </p:cNvPr>
              <p:cNvSpPr>
                <a:spLocks noRot="1" noChangeAspect="1" noMove="1" noResize="1" noEditPoints="1" noAdjustHandles="1" noChangeArrowheads="1" noChangeShapeType="1" noTextEdit="1"/>
              </p:cNvSpPr>
              <p:nvPr/>
            </p:nvSpPr>
            <p:spPr>
              <a:xfrm>
                <a:off x="484874" y="6014448"/>
                <a:ext cx="2511329"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D4ACB5D-B924-44B9-96F8-FAEA4083A765}"/>
                  </a:ext>
                </a:extLst>
              </p:cNvPr>
              <p:cNvSpPr/>
              <p:nvPr/>
            </p:nvSpPr>
            <p:spPr>
              <a:xfrm>
                <a:off x="3158058" y="5993071"/>
                <a:ext cx="445282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4</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𝐷</m:t>
                              </m:r>
                            </m:e>
                            <m:sub>
                              <m:r>
                                <a:rPr lang="en-US" altLang="zh-CN" sz="3200" b="0" i="1" smtClean="0">
                                  <a:latin typeface="Cambria Math" panose="02040503050406030204" pitchFamily="18" charset="0"/>
                                </a:rPr>
                                <m:t>1</m:t>
                              </m:r>
                            </m:sub>
                          </m:sSub>
                        </m:e>
                      </m:d>
                      <m:r>
                        <a:rPr lang="en-US" altLang="zh-CN" sz="3200" b="0" i="1" smtClean="0">
                          <a:latin typeface="Cambria Math" panose="02040503050406030204" pitchFamily="18" charset="0"/>
                        </a:rPr>
                        <m:t>=5+0=5</m:t>
                      </m:r>
                    </m:oMath>
                  </m:oMathPara>
                </a14:m>
                <a:endParaRPr lang="zh-CN" altLang="en-US" sz="3200" dirty="0"/>
              </a:p>
            </p:txBody>
          </p:sp>
        </mc:Choice>
        <mc:Fallback xmlns="">
          <p:sp>
            <p:nvSpPr>
              <p:cNvPr id="9" name="矩形 8">
                <a:extLst>
                  <a:ext uri="{FF2B5EF4-FFF2-40B4-BE49-F238E27FC236}">
                    <a16:creationId xmlns:a16="http://schemas.microsoft.com/office/drawing/2014/main" id="{FD4ACB5D-B924-44B9-96F8-FAEA4083A765}"/>
                  </a:ext>
                </a:extLst>
              </p:cNvPr>
              <p:cNvSpPr>
                <a:spLocks noRot="1" noChangeAspect="1" noMove="1" noResize="1" noEditPoints="1" noAdjustHandles="1" noChangeArrowheads="1" noChangeShapeType="1" noTextEdit="1"/>
              </p:cNvSpPr>
              <p:nvPr/>
            </p:nvSpPr>
            <p:spPr>
              <a:xfrm>
                <a:off x="3158058" y="5993071"/>
                <a:ext cx="4452822" cy="584775"/>
              </a:xfrm>
              <a:prstGeom prst="rect">
                <a:avLst/>
              </a:prstGeom>
              <a:blipFill>
                <a:blip r:embed="rId5"/>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749FE1E8-1EC1-4910-BC47-9513FFB72621}"/>
              </a:ext>
            </a:extLst>
          </p:cNvPr>
          <p:cNvSpPr txBox="1"/>
          <p:nvPr/>
        </p:nvSpPr>
        <p:spPr>
          <a:xfrm>
            <a:off x="3827289" y="1894864"/>
            <a:ext cx="312906" cy="369332"/>
          </a:xfrm>
          <a:prstGeom prst="rect">
            <a:avLst/>
          </a:prstGeom>
          <a:solidFill>
            <a:srgbClr val="FFFF00"/>
          </a:solidFill>
        </p:spPr>
        <p:txBody>
          <a:bodyPr wrap="none" rtlCol="0">
            <a:spAutoFit/>
          </a:bodyPr>
          <a:lstStyle/>
          <a:p>
            <a:r>
              <a:rPr lang="en-US" altLang="zh-CN" b="1" dirty="0"/>
              <a:t>5</a:t>
            </a:r>
            <a:endParaRPr lang="zh-CN" altLang="en-US" b="1" dirty="0"/>
          </a:p>
        </p:txBody>
      </p:sp>
      <p:sp>
        <p:nvSpPr>
          <p:cNvPr id="116" name="文本框 115">
            <a:extLst>
              <a:ext uri="{FF2B5EF4-FFF2-40B4-BE49-F238E27FC236}">
                <a16:creationId xmlns:a16="http://schemas.microsoft.com/office/drawing/2014/main" id="{248DE699-5323-471E-B57B-AB53ADDDF576}"/>
              </a:ext>
            </a:extLst>
          </p:cNvPr>
          <p:cNvSpPr txBox="1"/>
          <p:nvPr/>
        </p:nvSpPr>
        <p:spPr>
          <a:xfrm>
            <a:off x="3827289" y="2837110"/>
            <a:ext cx="312906" cy="369332"/>
          </a:xfrm>
          <a:prstGeom prst="rect">
            <a:avLst/>
          </a:prstGeom>
          <a:solidFill>
            <a:srgbClr val="FFFF00"/>
          </a:solidFill>
        </p:spPr>
        <p:txBody>
          <a:bodyPr wrap="none" rtlCol="0">
            <a:spAutoFit/>
          </a:bodyPr>
          <a:lstStyle/>
          <a:p>
            <a:r>
              <a:rPr lang="en-US" altLang="zh-CN" b="1" dirty="0"/>
              <a:t>2</a:t>
            </a:r>
            <a:endParaRPr lang="zh-CN" altLang="en-US" b="1" dirty="0"/>
          </a:p>
        </p:txBody>
      </p:sp>
    </p:spTree>
    <p:extLst>
      <p:ext uri="{BB962C8B-B14F-4D97-AF65-F5344CB8AC3E}">
        <p14:creationId xmlns:p14="http://schemas.microsoft.com/office/powerpoint/2010/main" val="1176195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410D8A4-EC77-42D7-BB4D-2F8C4D79785A}"/>
              </a:ext>
            </a:extLst>
          </p:cNvPr>
          <p:cNvSpPr>
            <a:spLocks noGrp="1" noChangeArrowheads="1"/>
          </p:cNvSpPr>
          <p:nvPr>
            <p:ph type="title"/>
          </p:nvPr>
        </p:nvSpPr>
        <p:spPr/>
        <p:txBody>
          <a:bodyPr/>
          <a:lstStyle/>
          <a:p>
            <a:pPr eaLnBrk="1" hangingPunct="1"/>
            <a:r>
              <a:rPr lang="zh-CN" altLang="en-US" dirty="0"/>
              <a:t>基本方程</a:t>
            </a:r>
            <a:r>
              <a:rPr lang="en-US" altLang="zh-CN" dirty="0"/>
              <a:t>(</a:t>
            </a:r>
            <a:r>
              <a:rPr lang="zh-CN" altLang="en-US" dirty="0"/>
              <a:t>逆序解法</a:t>
            </a:r>
            <a:r>
              <a:rPr lang="en-US" altLang="zh-CN" dirty="0"/>
              <a:t>)</a:t>
            </a:r>
            <a:endParaRPr lang="zh-CN" altLang="en-US" dirty="0"/>
          </a:p>
        </p:txBody>
      </p:sp>
      <p:grpSp>
        <p:nvGrpSpPr>
          <p:cNvPr id="6" name="组合 5">
            <a:extLst>
              <a:ext uri="{FF2B5EF4-FFF2-40B4-BE49-F238E27FC236}">
                <a16:creationId xmlns:a16="http://schemas.microsoft.com/office/drawing/2014/main" id="{917288F3-8B9E-49A2-97A3-43F41BCE5143}"/>
              </a:ext>
            </a:extLst>
          </p:cNvPr>
          <p:cNvGrpSpPr/>
          <p:nvPr/>
        </p:nvGrpSpPr>
        <p:grpSpPr>
          <a:xfrm>
            <a:off x="179513" y="1086995"/>
            <a:ext cx="5125844" cy="3134093"/>
            <a:chOff x="179512" y="1086995"/>
            <a:chExt cx="7145157" cy="3514725"/>
          </a:xfrm>
        </p:grpSpPr>
        <p:grpSp>
          <p:nvGrpSpPr>
            <p:cNvPr id="53" name="组合 167">
              <a:extLst>
                <a:ext uri="{FF2B5EF4-FFF2-40B4-BE49-F238E27FC236}">
                  <a16:creationId xmlns:a16="http://schemas.microsoft.com/office/drawing/2014/main" id="{62D76B02-02B0-4E2E-98D8-A9F1F083A653}"/>
                </a:ext>
              </a:extLst>
            </p:cNvPr>
            <p:cNvGrpSpPr>
              <a:grpSpLocks/>
            </p:cNvGrpSpPr>
            <p:nvPr/>
          </p:nvGrpSpPr>
          <p:grpSpPr bwMode="auto">
            <a:xfrm>
              <a:off x="179512" y="1086995"/>
              <a:ext cx="7145157" cy="3514725"/>
              <a:chOff x="1281093" y="1412776"/>
              <a:chExt cx="7146767" cy="4536504"/>
            </a:xfrm>
          </p:grpSpPr>
          <p:sp>
            <p:nvSpPr>
              <p:cNvPr id="54" name="文本框 157">
                <a:extLst>
                  <a:ext uri="{FF2B5EF4-FFF2-40B4-BE49-F238E27FC236}">
                    <a16:creationId xmlns:a16="http://schemas.microsoft.com/office/drawing/2014/main" id="{F6F0CDA6-C872-498D-A50E-BA157765325D}"/>
                  </a:ext>
                </a:extLst>
              </p:cNvPr>
              <p:cNvSpPr txBox="1">
                <a:spLocks noChangeArrowheads="1"/>
              </p:cNvSpPr>
              <p:nvPr/>
            </p:nvSpPr>
            <p:spPr bwMode="auto">
              <a:xfrm>
                <a:off x="128109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1</a:t>
                </a:r>
                <a:endParaRPr lang="zh-CN" altLang="en-US" sz="1400" b="1"/>
              </a:p>
            </p:txBody>
          </p:sp>
          <p:sp>
            <p:nvSpPr>
              <p:cNvPr id="55" name="文本框 158">
                <a:extLst>
                  <a:ext uri="{FF2B5EF4-FFF2-40B4-BE49-F238E27FC236}">
                    <a16:creationId xmlns:a16="http://schemas.microsoft.com/office/drawing/2014/main" id="{767A5123-C596-4DD1-91AE-879A25E98825}"/>
                  </a:ext>
                </a:extLst>
              </p:cNvPr>
              <p:cNvSpPr txBox="1">
                <a:spLocks noChangeArrowheads="1"/>
              </p:cNvSpPr>
              <p:nvPr/>
            </p:nvSpPr>
            <p:spPr bwMode="auto">
              <a:xfrm>
                <a:off x="2823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2</a:t>
                </a:r>
                <a:endParaRPr lang="zh-CN" altLang="en-US" sz="1400" b="1"/>
              </a:p>
            </p:txBody>
          </p:sp>
          <p:sp>
            <p:nvSpPr>
              <p:cNvPr id="56" name="文本框 159">
                <a:extLst>
                  <a:ext uri="{FF2B5EF4-FFF2-40B4-BE49-F238E27FC236}">
                    <a16:creationId xmlns:a16="http://schemas.microsoft.com/office/drawing/2014/main" id="{7028B3F2-4745-4CAE-A062-73E6FFF71AC7}"/>
                  </a:ext>
                </a:extLst>
              </p:cNvPr>
              <p:cNvSpPr txBox="1">
                <a:spLocks noChangeArrowheads="1"/>
              </p:cNvSpPr>
              <p:nvPr/>
            </p:nvSpPr>
            <p:spPr bwMode="auto">
              <a:xfrm>
                <a:off x="457023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3</a:t>
                </a:r>
                <a:endParaRPr lang="zh-CN" altLang="en-US" sz="1400" b="1"/>
              </a:p>
            </p:txBody>
          </p:sp>
          <p:sp>
            <p:nvSpPr>
              <p:cNvPr id="57" name="文本框 160">
                <a:extLst>
                  <a:ext uri="{FF2B5EF4-FFF2-40B4-BE49-F238E27FC236}">
                    <a16:creationId xmlns:a16="http://schemas.microsoft.com/office/drawing/2014/main" id="{B04FD00D-C358-4733-AF41-54A8059E0C8B}"/>
                  </a:ext>
                </a:extLst>
              </p:cNvPr>
              <p:cNvSpPr txBox="1">
                <a:spLocks noChangeArrowheads="1"/>
              </p:cNvSpPr>
              <p:nvPr/>
            </p:nvSpPr>
            <p:spPr bwMode="auto">
              <a:xfrm>
                <a:off x="6244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4</a:t>
                </a:r>
                <a:endParaRPr lang="zh-CN" altLang="en-US" sz="1400" b="1"/>
              </a:p>
            </p:txBody>
          </p:sp>
          <p:sp>
            <p:nvSpPr>
              <p:cNvPr id="58" name="文本框 161">
                <a:extLst>
                  <a:ext uri="{FF2B5EF4-FFF2-40B4-BE49-F238E27FC236}">
                    <a16:creationId xmlns:a16="http://schemas.microsoft.com/office/drawing/2014/main" id="{78E516FA-C238-4C30-8117-7181D6C9AF4B}"/>
                  </a:ext>
                </a:extLst>
              </p:cNvPr>
              <p:cNvSpPr txBox="1">
                <a:spLocks noChangeArrowheads="1"/>
              </p:cNvSpPr>
              <p:nvPr/>
            </p:nvSpPr>
            <p:spPr bwMode="auto">
              <a:xfrm>
                <a:off x="7531176"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5</a:t>
                </a:r>
                <a:endParaRPr lang="zh-CN" altLang="en-US" sz="1400" b="1"/>
              </a:p>
            </p:txBody>
          </p:sp>
          <p:cxnSp>
            <p:nvCxnSpPr>
              <p:cNvPr id="59" name="直接连接符 58">
                <a:extLst>
                  <a:ext uri="{FF2B5EF4-FFF2-40B4-BE49-F238E27FC236}">
                    <a16:creationId xmlns:a16="http://schemas.microsoft.com/office/drawing/2014/main" id="{7D0355CC-B1B6-4416-9133-A8E4189964B5}"/>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D714960F-1958-4004-BA16-CE02059893EB}"/>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8D21216-3295-4975-B956-262140EC8DDF}"/>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3C3B10C-81D6-4D22-9351-1B4FE6B1D3F9}"/>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5" name="组合 1">
              <a:extLst>
                <a:ext uri="{FF2B5EF4-FFF2-40B4-BE49-F238E27FC236}">
                  <a16:creationId xmlns:a16="http://schemas.microsoft.com/office/drawing/2014/main" id="{F0B2A3BA-8200-4AD2-8BD6-C9E29EB259B8}"/>
                </a:ext>
              </a:extLst>
            </p:cNvPr>
            <p:cNvGrpSpPr>
              <a:grpSpLocks/>
            </p:cNvGrpSpPr>
            <p:nvPr/>
          </p:nvGrpSpPr>
          <p:grpSpPr bwMode="auto">
            <a:xfrm>
              <a:off x="352980" y="1896905"/>
              <a:ext cx="6696075" cy="2535251"/>
              <a:chOff x="1187450" y="1898650"/>
              <a:chExt cx="6696075" cy="3222625"/>
            </a:xfrm>
          </p:grpSpPr>
          <p:sp>
            <p:nvSpPr>
              <p:cNvPr id="66" name="Oval 5">
                <a:extLst>
                  <a:ext uri="{FF2B5EF4-FFF2-40B4-BE49-F238E27FC236}">
                    <a16:creationId xmlns:a16="http://schemas.microsoft.com/office/drawing/2014/main" id="{B843706A-2529-45DB-8621-D44C22AF4CAC}"/>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1</a:t>
                </a:r>
              </a:p>
            </p:txBody>
          </p:sp>
          <p:sp>
            <p:nvSpPr>
              <p:cNvPr id="67" name="Oval 6">
                <a:extLst>
                  <a:ext uri="{FF2B5EF4-FFF2-40B4-BE49-F238E27FC236}">
                    <a16:creationId xmlns:a16="http://schemas.microsoft.com/office/drawing/2014/main" id="{44422404-073F-427D-8CC9-69E00C5615E8}"/>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3</a:t>
                </a:r>
                <a:endParaRPr lang="en-US" altLang="zh-CN" sz="1400"/>
              </a:p>
            </p:txBody>
          </p:sp>
          <p:sp>
            <p:nvSpPr>
              <p:cNvPr id="68" name="Oval 7">
                <a:extLst>
                  <a:ext uri="{FF2B5EF4-FFF2-40B4-BE49-F238E27FC236}">
                    <a16:creationId xmlns:a16="http://schemas.microsoft.com/office/drawing/2014/main" id="{B53B0F59-667B-4FDE-AF14-E2F3D7638C92}"/>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dirty="0">
                    <a:latin typeface="Times New Roman" panose="02020603050405020304" pitchFamily="18" charset="0"/>
                  </a:rPr>
                  <a:t>D</a:t>
                </a:r>
                <a:r>
                  <a:rPr lang="en-US" altLang="zh-CN" sz="1400" baseline="-25000" dirty="0">
                    <a:latin typeface="Times New Roman" panose="02020603050405020304" pitchFamily="18" charset="0"/>
                  </a:rPr>
                  <a:t>1</a:t>
                </a:r>
              </a:p>
            </p:txBody>
          </p:sp>
          <p:sp>
            <p:nvSpPr>
              <p:cNvPr id="69" name="Oval 8">
                <a:extLst>
                  <a:ext uri="{FF2B5EF4-FFF2-40B4-BE49-F238E27FC236}">
                    <a16:creationId xmlns:a16="http://schemas.microsoft.com/office/drawing/2014/main" id="{2FD0BB59-B661-4FC6-9E90-9DCC8A0D8F6A}"/>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A</a:t>
                </a:r>
              </a:p>
            </p:txBody>
          </p:sp>
          <p:sp>
            <p:nvSpPr>
              <p:cNvPr id="70" name="Oval 9">
                <a:extLst>
                  <a:ext uri="{FF2B5EF4-FFF2-40B4-BE49-F238E27FC236}">
                    <a16:creationId xmlns:a16="http://schemas.microsoft.com/office/drawing/2014/main" id="{8CE2E3C1-DE7D-43C4-8D8F-E9670DC9856E}"/>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1</a:t>
                </a:r>
                <a:endParaRPr lang="en-US" altLang="zh-CN" sz="1400"/>
              </a:p>
            </p:txBody>
          </p:sp>
          <p:sp>
            <p:nvSpPr>
              <p:cNvPr id="71" name="Oval 10">
                <a:extLst>
                  <a:ext uri="{FF2B5EF4-FFF2-40B4-BE49-F238E27FC236}">
                    <a16:creationId xmlns:a16="http://schemas.microsoft.com/office/drawing/2014/main" id="{BA3C4B6C-98B6-4487-AE01-3175DCCB54F2}"/>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3</a:t>
                </a:r>
                <a:endParaRPr lang="en-US" altLang="zh-CN" sz="1400"/>
              </a:p>
            </p:txBody>
          </p:sp>
          <p:sp>
            <p:nvSpPr>
              <p:cNvPr id="72" name="Oval 11">
                <a:extLst>
                  <a:ext uri="{FF2B5EF4-FFF2-40B4-BE49-F238E27FC236}">
                    <a16:creationId xmlns:a16="http://schemas.microsoft.com/office/drawing/2014/main" id="{AB8F9DB6-6C91-4050-B105-ADD6C44A9492}"/>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2</a:t>
                </a:r>
                <a:endParaRPr lang="en-US" altLang="zh-CN" sz="1400"/>
              </a:p>
            </p:txBody>
          </p:sp>
          <p:sp>
            <p:nvSpPr>
              <p:cNvPr id="73" name="Oval 12">
                <a:extLst>
                  <a:ext uri="{FF2B5EF4-FFF2-40B4-BE49-F238E27FC236}">
                    <a16:creationId xmlns:a16="http://schemas.microsoft.com/office/drawing/2014/main" id="{228D351F-5A7A-4FD1-A4A9-85B1B856DA3A}"/>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D</a:t>
                </a:r>
                <a:r>
                  <a:rPr lang="en-US" altLang="zh-CN" sz="1400" baseline="-25000">
                    <a:latin typeface="Times New Roman" panose="02020603050405020304" pitchFamily="18" charset="0"/>
                  </a:rPr>
                  <a:t>2</a:t>
                </a:r>
                <a:endParaRPr lang="en-US" altLang="zh-CN" sz="1400"/>
              </a:p>
            </p:txBody>
          </p:sp>
          <p:sp>
            <p:nvSpPr>
              <p:cNvPr id="74" name="Oval 13">
                <a:extLst>
                  <a:ext uri="{FF2B5EF4-FFF2-40B4-BE49-F238E27FC236}">
                    <a16:creationId xmlns:a16="http://schemas.microsoft.com/office/drawing/2014/main" id="{97693D58-847D-4C2F-9C72-26E45C85BC43}"/>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E</a:t>
                </a:r>
                <a:endParaRPr lang="en-US" altLang="zh-CN" sz="1400"/>
              </a:p>
            </p:txBody>
          </p:sp>
          <p:sp>
            <p:nvSpPr>
              <p:cNvPr id="75" name="Oval 14">
                <a:extLst>
                  <a:ext uri="{FF2B5EF4-FFF2-40B4-BE49-F238E27FC236}">
                    <a16:creationId xmlns:a16="http://schemas.microsoft.com/office/drawing/2014/main" id="{3DDB5D2A-7BF9-4DC2-834B-99FB4A9941CC}"/>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2</a:t>
                </a:r>
                <a:endParaRPr lang="en-US" altLang="zh-CN" sz="1400"/>
              </a:p>
            </p:txBody>
          </p:sp>
          <p:sp>
            <p:nvSpPr>
              <p:cNvPr id="76" name="Line 15">
                <a:extLst>
                  <a:ext uri="{FF2B5EF4-FFF2-40B4-BE49-F238E27FC236}">
                    <a16:creationId xmlns:a16="http://schemas.microsoft.com/office/drawing/2014/main" id="{9ACFE650-A205-4B3F-971F-41969B0CFCC3}"/>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7" name="Line 16">
                <a:extLst>
                  <a:ext uri="{FF2B5EF4-FFF2-40B4-BE49-F238E27FC236}">
                    <a16:creationId xmlns:a16="http://schemas.microsoft.com/office/drawing/2014/main" id="{3BD4FD88-E594-4163-A0C9-C2C1C7B2AA36}"/>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8" name="Line 17">
                <a:extLst>
                  <a:ext uri="{FF2B5EF4-FFF2-40B4-BE49-F238E27FC236}">
                    <a16:creationId xmlns:a16="http://schemas.microsoft.com/office/drawing/2014/main" id="{48345FD2-5EF3-4821-9ADA-34CAD86F5B7D}"/>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9" name="Line 18">
                <a:extLst>
                  <a:ext uri="{FF2B5EF4-FFF2-40B4-BE49-F238E27FC236}">
                    <a16:creationId xmlns:a16="http://schemas.microsoft.com/office/drawing/2014/main" id="{EFBB4862-5CBF-410B-98A5-16BF43F59B6F}"/>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0" name="Line 19">
                <a:extLst>
                  <a:ext uri="{FF2B5EF4-FFF2-40B4-BE49-F238E27FC236}">
                    <a16:creationId xmlns:a16="http://schemas.microsoft.com/office/drawing/2014/main" id="{37BB3FEA-D15A-48D4-8DAA-A6C2F45A877F}"/>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1" name="Line 20">
                <a:extLst>
                  <a:ext uri="{FF2B5EF4-FFF2-40B4-BE49-F238E27FC236}">
                    <a16:creationId xmlns:a16="http://schemas.microsoft.com/office/drawing/2014/main" id="{9A1E5F5B-8666-4A45-905F-9C839E8E6B86}"/>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2" name="Line 21">
                <a:extLst>
                  <a:ext uri="{FF2B5EF4-FFF2-40B4-BE49-F238E27FC236}">
                    <a16:creationId xmlns:a16="http://schemas.microsoft.com/office/drawing/2014/main" id="{BC30B9DA-4712-4BF1-8272-80C7C77CFEB3}"/>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3" name="Line 22">
                <a:extLst>
                  <a:ext uri="{FF2B5EF4-FFF2-40B4-BE49-F238E27FC236}">
                    <a16:creationId xmlns:a16="http://schemas.microsoft.com/office/drawing/2014/main" id="{AFD5AE01-339E-447C-A118-69B088AA33FE}"/>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4" name="Line 23">
                <a:extLst>
                  <a:ext uri="{FF2B5EF4-FFF2-40B4-BE49-F238E27FC236}">
                    <a16:creationId xmlns:a16="http://schemas.microsoft.com/office/drawing/2014/main" id="{936A9AA4-7461-4FA0-8520-1E4F3CC05BD3}"/>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5" name="Line 24">
                <a:extLst>
                  <a:ext uri="{FF2B5EF4-FFF2-40B4-BE49-F238E27FC236}">
                    <a16:creationId xmlns:a16="http://schemas.microsoft.com/office/drawing/2014/main" id="{B7C52BFD-DDC9-4EC3-85ED-DCC503B50898}"/>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6" name="Line 25">
                <a:extLst>
                  <a:ext uri="{FF2B5EF4-FFF2-40B4-BE49-F238E27FC236}">
                    <a16:creationId xmlns:a16="http://schemas.microsoft.com/office/drawing/2014/main" id="{EF19E01B-6549-4FE8-B8AD-0F105B694CF3}"/>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7" name="Line 26">
                <a:extLst>
                  <a:ext uri="{FF2B5EF4-FFF2-40B4-BE49-F238E27FC236}">
                    <a16:creationId xmlns:a16="http://schemas.microsoft.com/office/drawing/2014/main" id="{A63894AA-455E-412A-8704-CF4CCB423CDB}"/>
                  </a:ext>
                </a:extLst>
              </p:cNvPr>
              <p:cNvSpPr>
                <a:spLocks noChangeShapeType="1"/>
              </p:cNvSpPr>
              <p:nvPr/>
            </p:nvSpPr>
            <p:spPr bwMode="auto">
              <a:xfrm>
                <a:off x="4867275" y="359886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8" name="Line 27">
                <a:extLst>
                  <a:ext uri="{FF2B5EF4-FFF2-40B4-BE49-F238E27FC236}">
                    <a16:creationId xmlns:a16="http://schemas.microsoft.com/office/drawing/2014/main" id="{6762778B-FBCF-4017-B870-3461C13A07E6}"/>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9" name="Line 28">
                <a:extLst>
                  <a:ext uri="{FF2B5EF4-FFF2-40B4-BE49-F238E27FC236}">
                    <a16:creationId xmlns:a16="http://schemas.microsoft.com/office/drawing/2014/main" id="{A4FEF310-36B4-494B-B472-1D5E433D6368}"/>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0" name="Line 29">
                <a:extLst>
                  <a:ext uri="{FF2B5EF4-FFF2-40B4-BE49-F238E27FC236}">
                    <a16:creationId xmlns:a16="http://schemas.microsoft.com/office/drawing/2014/main" id="{4F0349A8-3778-4B5E-B023-855CFAD737F8}"/>
                  </a:ext>
                </a:extLst>
              </p:cNvPr>
              <p:cNvSpPr>
                <a:spLocks noChangeShapeType="1"/>
              </p:cNvSpPr>
              <p:nvPr/>
            </p:nvSpPr>
            <p:spPr bwMode="auto">
              <a:xfrm flipV="1">
                <a:off x="3074988" y="234950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1" name="Line 30">
                <a:extLst>
                  <a:ext uri="{FF2B5EF4-FFF2-40B4-BE49-F238E27FC236}">
                    <a16:creationId xmlns:a16="http://schemas.microsoft.com/office/drawing/2014/main" id="{27D3D704-6E76-4EED-A736-3801B4418464}"/>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2" name="Line 31">
                <a:extLst>
                  <a:ext uri="{FF2B5EF4-FFF2-40B4-BE49-F238E27FC236}">
                    <a16:creationId xmlns:a16="http://schemas.microsoft.com/office/drawing/2014/main" id="{09E7DEC4-20D9-47AE-B1B8-13E8EC65008D}"/>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3" name="Line 32">
                <a:extLst>
                  <a:ext uri="{FF2B5EF4-FFF2-40B4-BE49-F238E27FC236}">
                    <a16:creationId xmlns:a16="http://schemas.microsoft.com/office/drawing/2014/main" id="{F43D41FF-D13D-4151-93D5-A1A1F55806B3}"/>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4" name="Line 33">
                <a:extLst>
                  <a:ext uri="{FF2B5EF4-FFF2-40B4-BE49-F238E27FC236}">
                    <a16:creationId xmlns:a16="http://schemas.microsoft.com/office/drawing/2014/main" id="{CB468DFB-C5D4-438B-B105-D91924F348D1}"/>
                  </a:ext>
                </a:extLst>
              </p:cNvPr>
              <p:cNvSpPr>
                <a:spLocks noChangeShapeType="1"/>
              </p:cNvSpPr>
              <p:nvPr/>
            </p:nvSpPr>
            <p:spPr bwMode="auto">
              <a:xfrm>
                <a:off x="4843463" y="240347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5" name="Line 34">
                <a:extLst>
                  <a:ext uri="{FF2B5EF4-FFF2-40B4-BE49-F238E27FC236}">
                    <a16:creationId xmlns:a16="http://schemas.microsoft.com/office/drawing/2014/main" id="{C082A2A0-8CC8-456C-9B8A-1742E62C44B1}"/>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6" name="Text Box 35">
                <a:extLst>
                  <a:ext uri="{FF2B5EF4-FFF2-40B4-BE49-F238E27FC236}">
                    <a16:creationId xmlns:a16="http://schemas.microsoft.com/office/drawing/2014/main" id="{FB970BED-0380-43D4-8F20-CFB9908C3877}"/>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2</a:t>
                </a:r>
              </a:p>
            </p:txBody>
          </p:sp>
          <p:sp>
            <p:nvSpPr>
              <p:cNvPr id="97" name="Text Box 36">
                <a:extLst>
                  <a:ext uri="{FF2B5EF4-FFF2-40B4-BE49-F238E27FC236}">
                    <a16:creationId xmlns:a16="http://schemas.microsoft.com/office/drawing/2014/main" id="{61BA6AFA-C672-421D-AE39-09AB019948B4}"/>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5</a:t>
                </a:r>
              </a:p>
            </p:txBody>
          </p:sp>
          <p:sp>
            <p:nvSpPr>
              <p:cNvPr id="98" name="Text Box 37">
                <a:extLst>
                  <a:ext uri="{FF2B5EF4-FFF2-40B4-BE49-F238E27FC236}">
                    <a16:creationId xmlns:a16="http://schemas.microsoft.com/office/drawing/2014/main" id="{0152A3AD-7A67-4FA6-9283-C0640EA68B06}"/>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a:t>
                </a:r>
              </a:p>
            </p:txBody>
          </p:sp>
          <p:sp>
            <p:nvSpPr>
              <p:cNvPr id="99" name="Text Box 38">
                <a:extLst>
                  <a:ext uri="{FF2B5EF4-FFF2-40B4-BE49-F238E27FC236}">
                    <a16:creationId xmlns:a16="http://schemas.microsoft.com/office/drawing/2014/main" id="{526AAA91-ED03-4287-AAD1-D1508151A1E1}"/>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12</a:t>
                </a:r>
                <a:endParaRPr lang="en-US" altLang="zh-CN" sz="1400"/>
              </a:p>
            </p:txBody>
          </p:sp>
          <p:sp>
            <p:nvSpPr>
              <p:cNvPr id="100" name="Text Box 39">
                <a:extLst>
                  <a:ext uri="{FF2B5EF4-FFF2-40B4-BE49-F238E27FC236}">
                    <a16:creationId xmlns:a16="http://schemas.microsoft.com/office/drawing/2014/main" id="{4F8CBF0D-F2D6-492D-AE9F-D2554AA93AEB}"/>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14</a:t>
                </a:r>
              </a:p>
            </p:txBody>
          </p:sp>
          <p:sp>
            <p:nvSpPr>
              <p:cNvPr id="101" name="Text Box 40">
                <a:extLst>
                  <a:ext uri="{FF2B5EF4-FFF2-40B4-BE49-F238E27FC236}">
                    <a16:creationId xmlns:a16="http://schemas.microsoft.com/office/drawing/2014/main" id="{3A51B4AF-B230-4FE7-82B2-319F6A9F643C}"/>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10</a:t>
                </a:r>
              </a:p>
            </p:txBody>
          </p:sp>
          <p:sp>
            <p:nvSpPr>
              <p:cNvPr id="102" name="Text Box 41">
                <a:extLst>
                  <a:ext uri="{FF2B5EF4-FFF2-40B4-BE49-F238E27FC236}">
                    <a16:creationId xmlns:a16="http://schemas.microsoft.com/office/drawing/2014/main" id="{A559251A-0A22-42B4-8688-B5F7DDFC0D91}"/>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6</a:t>
                </a:r>
              </a:p>
            </p:txBody>
          </p:sp>
          <p:sp>
            <p:nvSpPr>
              <p:cNvPr id="103" name="Text Box 42">
                <a:extLst>
                  <a:ext uri="{FF2B5EF4-FFF2-40B4-BE49-F238E27FC236}">
                    <a16:creationId xmlns:a16="http://schemas.microsoft.com/office/drawing/2014/main" id="{B9076C44-3E52-4AC9-B5F5-B0778D4B6C64}"/>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04" name="Text Box 43">
                <a:extLst>
                  <a:ext uri="{FF2B5EF4-FFF2-40B4-BE49-F238E27FC236}">
                    <a16:creationId xmlns:a16="http://schemas.microsoft.com/office/drawing/2014/main" id="{91F6A142-8C27-46F9-B3CE-CDCEE6EE8F5D}"/>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4</a:t>
                </a:r>
              </a:p>
            </p:txBody>
          </p:sp>
          <p:sp>
            <p:nvSpPr>
              <p:cNvPr id="105" name="Text Box 44">
                <a:extLst>
                  <a:ext uri="{FF2B5EF4-FFF2-40B4-BE49-F238E27FC236}">
                    <a16:creationId xmlns:a16="http://schemas.microsoft.com/office/drawing/2014/main" id="{1F8C8EEA-D82E-4E33-9303-A2BD035C3724}"/>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13</a:t>
                </a:r>
              </a:p>
            </p:txBody>
          </p:sp>
          <p:sp>
            <p:nvSpPr>
              <p:cNvPr id="106" name="Text Box 45">
                <a:extLst>
                  <a:ext uri="{FF2B5EF4-FFF2-40B4-BE49-F238E27FC236}">
                    <a16:creationId xmlns:a16="http://schemas.microsoft.com/office/drawing/2014/main" id="{A4AB083D-8A41-4BD7-9140-E289DDD772D6}"/>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11</a:t>
                </a:r>
              </a:p>
            </p:txBody>
          </p:sp>
          <p:sp>
            <p:nvSpPr>
              <p:cNvPr id="107" name="Text Box 46">
                <a:extLst>
                  <a:ext uri="{FF2B5EF4-FFF2-40B4-BE49-F238E27FC236}">
                    <a16:creationId xmlns:a16="http://schemas.microsoft.com/office/drawing/2014/main" id="{2E5C2AD3-73AD-41C3-A0E0-E0F8A5CF7FC5}"/>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12</a:t>
                </a:r>
              </a:p>
            </p:txBody>
          </p:sp>
          <p:sp>
            <p:nvSpPr>
              <p:cNvPr id="108" name="Text Box 47">
                <a:extLst>
                  <a:ext uri="{FF2B5EF4-FFF2-40B4-BE49-F238E27FC236}">
                    <a16:creationId xmlns:a16="http://schemas.microsoft.com/office/drawing/2014/main" id="{39B63639-ADA3-4818-8823-7106B393B62C}"/>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3</a:t>
                </a:r>
              </a:p>
            </p:txBody>
          </p:sp>
          <p:sp>
            <p:nvSpPr>
              <p:cNvPr id="109" name="Text Box 48">
                <a:extLst>
                  <a:ext uri="{FF2B5EF4-FFF2-40B4-BE49-F238E27FC236}">
                    <a16:creationId xmlns:a16="http://schemas.microsoft.com/office/drawing/2014/main" id="{5C840ED5-CE24-4278-B558-5E6EE76E2B4C}"/>
                  </a:ext>
                </a:extLst>
              </p:cNvPr>
              <p:cNvSpPr txBox="1">
                <a:spLocks noChangeArrowheads="1"/>
              </p:cNvSpPr>
              <p:nvPr/>
            </p:nvSpPr>
            <p:spPr bwMode="auto">
              <a:xfrm>
                <a:off x="4867275" y="25622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9</a:t>
                </a:r>
              </a:p>
            </p:txBody>
          </p:sp>
          <p:sp>
            <p:nvSpPr>
              <p:cNvPr id="110" name="Text Box 49">
                <a:extLst>
                  <a:ext uri="{FF2B5EF4-FFF2-40B4-BE49-F238E27FC236}">
                    <a16:creationId xmlns:a16="http://schemas.microsoft.com/office/drawing/2014/main" id="{5A9A0313-F7F2-491D-8E70-BD84D59F380C}"/>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6</a:t>
                </a:r>
              </a:p>
            </p:txBody>
          </p:sp>
          <p:sp>
            <p:nvSpPr>
              <p:cNvPr id="111" name="Text Box 50">
                <a:extLst>
                  <a:ext uri="{FF2B5EF4-FFF2-40B4-BE49-F238E27FC236}">
                    <a16:creationId xmlns:a16="http://schemas.microsoft.com/office/drawing/2014/main" id="{7D4559D1-3B20-40CE-B0AE-10C54704F84A}"/>
                  </a:ext>
                </a:extLst>
              </p:cNvPr>
              <p:cNvSpPr txBox="1">
                <a:spLocks noChangeArrowheads="1"/>
              </p:cNvSpPr>
              <p:nvPr/>
            </p:nvSpPr>
            <p:spPr bwMode="auto">
              <a:xfrm>
                <a:off x="5011738" y="36512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2" name="Text Box 51">
                <a:extLst>
                  <a:ext uri="{FF2B5EF4-FFF2-40B4-BE49-F238E27FC236}">
                    <a16:creationId xmlns:a16="http://schemas.microsoft.com/office/drawing/2014/main" id="{3098518A-5BE9-4DD1-B33B-962D840447F2}"/>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8</a:t>
                </a:r>
              </a:p>
            </p:txBody>
          </p:sp>
          <p:sp>
            <p:nvSpPr>
              <p:cNvPr id="113" name="Text Box 52">
                <a:extLst>
                  <a:ext uri="{FF2B5EF4-FFF2-40B4-BE49-F238E27FC236}">
                    <a16:creationId xmlns:a16="http://schemas.microsoft.com/office/drawing/2014/main" id="{9CA985F6-556F-4E23-81E3-2824F9A73B49}"/>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14" name="Text Box 53">
                <a:extLst>
                  <a:ext uri="{FF2B5EF4-FFF2-40B4-BE49-F238E27FC236}">
                    <a16:creationId xmlns:a16="http://schemas.microsoft.com/office/drawing/2014/main" id="{3A713304-A894-4855-AB22-BC335C12F075}"/>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5" name="Text Box 54">
                <a:extLst>
                  <a:ext uri="{FF2B5EF4-FFF2-40B4-BE49-F238E27FC236}">
                    <a16:creationId xmlns:a16="http://schemas.microsoft.com/office/drawing/2014/main" id="{1B4F6411-3DC7-4540-89D6-77045F27BC05}"/>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2</a:t>
                </a:r>
              </a:p>
            </p:txBody>
          </p:sp>
        </p:grpSp>
      </p:gr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2C6C8D23-F9E9-4C9B-AC25-D4F712CF2F24}"/>
                  </a:ext>
                </a:extLst>
              </p:cNvPr>
              <p:cNvSpPr txBox="1"/>
              <p:nvPr/>
            </p:nvSpPr>
            <p:spPr>
              <a:xfrm>
                <a:off x="127317" y="4368895"/>
                <a:ext cx="9398277" cy="8854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3</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𝐶</m:t>
                              </m:r>
                            </m:e>
                            <m:sub>
                              <m:r>
                                <a:rPr lang="en-US" altLang="zh-CN" sz="3200" b="0" i="1" smtClean="0">
                                  <a:latin typeface="Cambria Math" panose="02040503050406030204" pitchFamily="18" charset="0"/>
                                </a:rPr>
                                <m:t>1</m:t>
                              </m:r>
                            </m:sub>
                          </m:sSub>
                        </m:e>
                      </m:d>
                      <m:r>
                        <a:rPr lang="en-US" altLang="zh-CN" sz="3200" b="0" i="1" smtClean="0">
                          <a:latin typeface="Cambria Math" panose="02040503050406030204" pitchFamily="18" charset="0"/>
                        </a:rPr>
                        <m:t>=</m:t>
                      </m:r>
                      <m:limLow>
                        <m:limLowPr>
                          <m:ctrlPr>
                            <a:rPr lang="zh-CN" altLang="en-US" sz="3200" i="1">
                              <a:solidFill>
                                <a:srgbClr val="000000"/>
                              </a:solidFill>
                              <a:latin typeface="Cambria Math" panose="02040503050406030204" pitchFamily="18" charset="0"/>
                            </a:rPr>
                          </m:ctrlPr>
                        </m:limLowPr>
                        <m:e>
                          <m:r>
                            <m:rPr>
                              <m:nor/>
                            </m:rPr>
                            <a:rPr lang="zh-CN" altLang="en-US" sz="3200">
                              <a:solidFill>
                                <a:srgbClr val="000000"/>
                              </a:solidFill>
                              <a:latin typeface="Cambria Math" panose="02040503050406030204" pitchFamily="18" charset="0"/>
                            </a:rPr>
                            <m:t>opt</m:t>
                          </m:r>
                        </m:e>
                        <m:lim>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𝐶</m:t>
                              </m:r>
                            </m:e>
                            <m:sub>
                              <m:r>
                                <a:rPr lang="en-US" altLang="zh-CN" sz="3200" b="0" i="1" smtClean="0">
                                  <a:latin typeface="Cambria Math" panose="02040503050406030204" pitchFamily="18" charset="0"/>
                                </a:rPr>
                                <m:t>1</m:t>
                              </m:r>
                            </m:sub>
                          </m:sSub>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𝐶</m:t>
                                  </m:r>
                                </m:e>
                                <m:sub>
                                  <m:r>
                                    <a:rPr lang="en-US" altLang="zh-CN" sz="3200" b="0" i="1" smtClean="0">
                                      <a:latin typeface="Cambria Math" panose="02040503050406030204" pitchFamily="18" charset="0"/>
                                    </a:rPr>
                                    <m:t>1</m:t>
                                  </m:r>
                                </m:sub>
                              </m:sSub>
                            </m:e>
                          </m:d>
                        </m:lim>
                      </m:limLow>
                      <m:r>
                        <a:rPr lang="zh-CN" altLang="en-US" sz="3200" i="1">
                          <a:solidFill>
                            <a:srgbClr val="000000"/>
                          </a:solidFill>
                          <a:latin typeface="Cambria Math" panose="02040503050406030204" pitchFamily="18" charset="0"/>
                        </a:rPr>
                        <m:t> [</m:t>
                      </m:r>
                      <m:r>
                        <a:rPr lang="en-US" altLang="zh-CN" sz="3200" b="1" i="1">
                          <a:solidFill>
                            <a:srgbClr val="000000"/>
                          </a:solidFill>
                          <a:latin typeface="Cambria Math" panose="02040503050406030204" pitchFamily="18" charset="0"/>
                        </a:rPr>
                        <m:t>𝒗</m:t>
                      </m:r>
                      <m:r>
                        <a:rPr lang="zh-CN" altLang="en-US" sz="3200" i="1">
                          <a:solidFill>
                            <a:srgbClr val="000000"/>
                          </a:solidFill>
                          <a:latin typeface="Cambria Math" panose="02040503050406030204" pitchFamily="18" charset="0"/>
                        </a:rPr>
                        <m:t> (</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𝐶</m:t>
                          </m:r>
                        </m:e>
                        <m:sub>
                          <m:r>
                            <a:rPr lang="en-US" altLang="zh-CN" sz="3200" b="0" i="1" smtClean="0">
                              <a:latin typeface="Cambria Math" panose="02040503050406030204" pitchFamily="18" charset="0"/>
                            </a:rPr>
                            <m:t>1</m:t>
                          </m:r>
                        </m:sub>
                      </m:sSub>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𝒖</m:t>
                      </m:r>
                      <m:r>
                        <a:rPr lang="en-US" altLang="zh-CN" sz="3200" b="1" i="1">
                          <a:solidFill>
                            <a:srgbClr val="000000"/>
                          </a:solidFill>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𝐶</m:t>
                          </m:r>
                        </m:e>
                        <m:sub>
                          <m:r>
                            <a:rPr lang="en-US" altLang="zh-CN" sz="3200" b="0" i="1" smtClean="0">
                              <a:latin typeface="Cambria Math" panose="02040503050406030204" pitchFamily="18" charset="0"/>
                            </a:rPr>
                            <m:t>1</m:t>
                          </m:r>
                        </m:sub>
                      </m:sSub>
                      <m:r>
                        <a:rPr lang="en-US" altLang="zh-CN" sz="3200" b="1"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𝑓</m:t>
                      </m:r>
                      <m:r>
                        <a:rPr lang="zh-CN" altLang="en-US"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𝐶</m:t>
                          </m:r>
                        </m:e>
                        <m:sub>
                          <m:r>
                            <a:rPr lang="en-US" altLang="zh-CN" sz="3200" b="0" i="1" smtClean="0">
                              <a:latin typeface="Cambria Math" panose="02040503050406030204" pitchFamily="18" charset="0"/>
                            </a:rPr>
                            <m:t>1</m:t>
                          </m:r>
                        </m:sub>
                      </m:sSub>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117" name="文本框 116">
                <a:extLst>
                  <a:ext uri="{FF2B5EF4-FFF2-40B4-BE49-F238E27FC236}">
                    <a16:creationId xmlns:a16="http://schemas.microsoft.com/office/drawing/2014/main" id="{2C6C8D23-F9E9-4C9B-AC25-D4F712CF2F24}"/>
                  </a:ext>
                </a:extLst>
              </p:cNvPr>
              <p:cNvSpPr txBox="1">
                <a:spLocks noRot="1" noChangeAspect="1" noMove="1" noResize="1" noEditPoints="1" noAdjustHandles="1" noChangeArrowheads="1" noChangeShapeType="1" noTextEdit="1"/>
              </p:cNvSpPr>
              <p:nvPr/>
            </p:nvSpPr>
            <p:spPr>
              <a:xfrm>
                <a:off x="127317" y="4368895"/>
                <a:ext cx="9398277" cy="88549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72B9465-FBFF-4AF5-8CE7-B54D23BBAACB}"/>
                  </a:ext>
                </a:extLst>
              </p:cNvPr>
              <p:cNvSpPr/>
              <p:nvPr/>
            </p:nvSpPr>
            <p:spPr>
              <a:xfrm>
                <a:off x="251312" y="5294693"/>
                <a:ext cx="3243965"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𝐶</m:t>
                              </m:r>
                            </m:e>
                            <m:sub>
                              <m:r>
                                <a:rPr lang="en-US" altLang="zh-CN" sz="3200" b="0" i="1" smtClean="0">
                                  <a:latin typeface="Cambria Math" panose="02040503050406030204" pitchFamily="18" charset="0"/>
                                </a:rPr>
                                <m:t>1</m:t>
                              </m:r>
                            </m:sub>
                          </m:sSub>
                        </m:e>
                      </m:d>
                      <m:r>
                        <a:rPr lang="en-US" altLang="zh-CN" sz="3200" b="0" i="1" smtClean="0">
                          <a:solidFill>
                            <a:srgbClr val="000000"/>
                          </a:solidFill>
                          <a:latin typeface="Cambria Math" panose="02040503050406030204" pitchFamily="18" charset="0"/>
                        </a:rPr>
                        <m:t>={</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𝐷</m:t>
                          </m:r>
                        </m:e>
                        <m:sub>
                          <m:r>
                            <a:rPr lang="en-US" altLang="zh-CN" sz="3200" b="0" i="1" smtClean="0">
                              <a:solidFill>
                                <a:srgbClr val="000000"/>
                              </a:solidFill>
                              <a:latin typeface="Cambria Math" panose="02040503050406030204" pitchFamily="18" charset="0"/>
                            </a:rPr>
                            <m:t>1</m:t>
                          </m:r>
                        </m:sub>
                      </m:sSub>
                      <m:r>
                        <a:rPr lang="en-US" altLang="zh-CN" sz="3200" b="0" i="1" smtClean="0">
                          <a:solidFill>
                            <a:srgbClr val="000000"/>
                          </a:solidFill>
                          <a:latin typeface="Cambria Math" panose="02040503050406030204" pitchFamily="18" charset="0"/>
                        </a:rPr>
                        <m:t>,</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𝐷</m:t>
                          </m:r>
                        </m:e>
                        <m:sub>
                          <m:r>
                            <a:rPr lang="en-US" altLang="zh-CN" sz="3200" b="0" i="1" smtClean="0">
                              <a:solidFill>
                                <a:srgbClr val="000000"/>
                              </a:solidFill>
                              <a:latin typeface="Cambria Math" panose="02040503050406030204" pitchFamily="18" charset="0"/>
                            </a:rPr>
                            <m:t>2</m:t>
                          </m:r>
                        </m:sub>
                      </m:sSub>
                      <m:r>
                        <a:rPr lang="en-US" altLang="zh-CN" sz="3200" b="0" i="1" smtClean="0">
                          <a:solidFill>
                            <a:srgbClr val="000000"/>
                          </a:solidFill>
                          <a:latin typeface="Cambria Math" panose="02040503050406030204" pitchFamily="18" charset="0"/>
                        </a:rPr>
                        <m:t>}</m:t>
                      </m:r>
                    </m:oMath>
                  </m:oMathPara>
                </a14:m>
                <a:endParaRPr lang="zh-CN" altLang="en-US" sz="3200" dirty="0"/>
              </a:p>
            </p:txBody>
          </p:sp>
        </mc:Choice>
        <mc:Fallback xmlns="">
          <p:sp>
            <p:nvSpPr>
              <p:cNvPr id="8" name="矩形 7">
                <a:extLst>
                  <a:ext uri="{FF2B5EF4-FFF2-40B4-BE49-F238E27FC236}">
                    <a16:creationId xmlns:a16="http://schemas.microsoft.com/office/drawing/2014/main" id="{C72B9465-FBFF-4AF5-8CE7-B54D23BBAACB}"/>
                  </a:ext>
                </a:extLst>
              </p:cNvPr>
              <p:cNvSpPr>
                <a:spLocks noRot="1" noChangeAspect="1" noMove="1" noResize="1" noEditPoints="1" noAdjustHandles="1" noChangeArrowheads="1" noChangeShapeType="1" noTextEdit="1"/>
              </p:cNvSpPr>
              <p:nvPr/>
            </p:nvSpPr>
            <p:spPr>
              <a:xfrm>
                <a:off x="251312" y="5294693"/>
                <a:ext cx="3243965"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D4ACB5D-B924-44B9-96F8-FAEA4083A765}"/>
                  </a:ext>
                </a:extLst>
              </p:cNvPr>
              <p:cNvSpPr/>
              <p:nvPr/>
            </p:nvSpPr>
            <p:spPr>
              <a:xfrm>
                <a:off x="127317" y="5936998"/>
                <a:ext cx="6452985"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3</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𝐶</m:t>
                              </m:r>
                            </m:e>
                            <m:sub>
                              <m:r>
                                <a:rPr lang="en-US" altLang="zh-CN" sz="3200" b="0" i="1" smtClean="0">
                                  <a:latin typeface="Cambria Math" panose="02040503050406030204" pitchFamily="18" charset="0"/>
                                </a:rPr>
                                <m:t>1</m:t>
                              </m:r>
                            </m:sub>
                          </m:sSub>
                        </m:e>
                      </m:d>
                      <m:r>
                        <a:rPr lang="en-US" altLang="zh-CN" sz="3200" b="0" i="1" smtClean="0">
                          <a:latin typeface="Cambria Math" panose="02040503050406030204" pitchFamily="18" charset="0"/>
                        </a:rPr>
                        <m:t>=</m:t>
                      </m:r>
                      <m:func>
                        <m:funcPr>
                          <m:ctrlPr>
                            <a:rPr lang="en-US" altLang="zh-CN" sz="3200" b="0" i="1" smtClean="0">
                              <a:latin typeface="Cambria Math" panose="02040503050406030204" pitchFamily="18" charset="0"/>
                            </a:rPr>
                          </m:ctrlPr>
                        </m:funcPr>
                        <m:fName>
                          <m:r>
                            <m:rPr>
                              <m:sty m:val="p"/>
                            </m:rPr>
                            <a:rPr lang="en-US" altLang="zh-CN" sz="3200" b="0" i="0" smtClean="0">
                              <a:latin typeface="Cambria Math" panose="02040503050406030204" pitchFamily="18" charset="0"/>
                            </a:rPr>
                            <m:t>min</m:t>
                          </m:r>
                        </m:fName>
                        <m:e>
                          <m:r>
                            <a:rPr lang="en-US" altLang="zh-CN" sz="3200" b="0" i="1" smtClean="0">
                              <a:latin typeface="Cambria Math" panose="02040503050406030204" pitchFamily="18" charset="0"/>
                            </a:rPr>
                            <m:t>{3+5,9+2}</m:t>
                          </m:r>
                        </m:e>
                      </m:func>
                      <m:r>
                        <a:rPr lang="en-US" altLang="zh-CN" sz="3200" b="0" i="1" smtClean="0">
                          <a:latin typeface="Cambria Math" panose="02040503050406030204" pitchFamily="18" charset="0"/>
                        </a:rPr>
                        <m:t>=8</m:t>
                      </m:r>
                    </m:oMath>
                  </m:oMathPara>
                </a14:m>
                <a:endParaRPr lang="zh-CN" altLang="en-US" sz="3200" dirty="0"/>
              </a:p>
            </p:txBody>
          </p:sp>
        </mc:Choice>
        <mc:Fallback xmlns="">
          <p:sp>
            <p:nvSpPr>
              <p:cNvPr id="9" name="矩形 8">
                <a:extLst>
                  <a:ext uri="{FF2B5EF4-FFF2-40B4-BE49-F238E27FC236}">
                    <a16:creationId xmlns:a16="http://schemas.microsoft.com/office/drawing/2014/main" id="{FD4ACB5D-B924-44B9-96F8-FAEA4083A765}"/>
                  </a:ext>
                </a:extLst>
              </p:cNvPr>
              <p:cNvSpPr>
                <a:spLocks noRot="1" noChangeAspect="1" noMove="1" noResize="1" noEditPoints="1" noAdjustHandles="1" noChangeArrowheads="1" noChangeShapeType="1" noTextEdit="1"/>
              </p:cNvSpPr>
              <p:nvPr/>
            </p:nvSpPr>
            <p:spPr>
              <a:xfrm>
                <a:off x="127317" y="5936998"/>
                <a:ext cx="6452985" cy="584775"/>
              </a:xfrm>
              <a:prstGeom prst="rect">
                <a:avLst/>
              </a:prstGeom>
              <a:blipFill>
                <a:blip r:embed="rId4"/>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749FE1E8-1EC1-4910-BC47-9513FFB72621}"/>
              </a:ext>
            </a:extLst>
          </p:cNvPr>
          <p:cNvSpPr txBox="1"/>
          <p:nvPr/>
        </p:nvSpPr>
        <p:spPr>
          <a:xfrm>
            <a:off x="3827289" y="1894864"/>
            <a:ext cx="312906" cy="369332"/>
          </a:xfrm>
          <a:prstGeom prst="rect">
            <a:avLst/>
          </a:prstGeom>
          <a:solidFill>
            <a:srgbClr val="FFFF00"/>
          </a:solidFill>
        </p:spPr>
        <p:txBody>
          <a:bodyPr wrap="none" rtlCol="0">
            <a:spAutoFit/>
          </a:bodyPr>
          <a:lstStyle/>
          <a:p>
            <a:r>
              <a:rPr lang="en-US" altLang="zh-CN" b="1" dirty="0"/>
              <a:t>5</a:t>
            </a:r>
            <a:endParaRPr lang="zh-CN" altLang="en-US" b="1" dirty="0"/>
          </a:p>
        </p:txBody>
      </p:sp>
      <p:sp>
        <p:nvSpPr>
          <p:cNvPr id="116" name="文本框 115">
            <a:extLst>
              <a:ext uri="{FF2B5EF4-FFF2-40B4-BE49-F238E27FC236}">
                <a16:creationId xmlns:a16="http://schemas.microsoft.com/office/drawing/2014/main" id="{248DE699-5323-471E-B57B-AB53ADDDF576}"/>
              </a:ext>
            </a:extLst>
          </p:cNvPr>
          <p:cNvSpPr txBox="1"/>
          <p:nvPr/>
        </p:nvSpPr>
        <p:spPr>
          <a:xfrm>
            <a:off x="3827289" y="2837110"/>
            <a:ext cx="312906" cy="369332"/>
          </a:xfrm>
          <a:prstGeom prst="rect">
            <a:avLst/>
          </a:prstGeom>
          <a:solidFill>
            <a:srgbClr val="FFFF00"/>
          </a:solidFill>
        </p:spPr>
        <p:txBody>
          <a:bodyPr wrap="none" rtlCol="0">
            <a:spAutoFit/>
          </a:bodyPr>
          <a:lstStyle/>
          <a:p>
            <a:r>
              <a:rPr lang="en-US" altLang="zh-CN" b="1" dirty="0"/>
              <a:t>2</a:t>
            </a:r>
            <a:endParaRPr lang="zh-CN" altLang="en-US" b="1" dirty="0"/>
          </a:p>
        </p:txBody>
      </p:sp>
      <p:sp>
        <p:nvSpPr>
          <p:cNvPr id="118" name="文本框 117">
            <a:extLst>
              <a:ext uri="{FF2B5EF4-FFF2-40B4-BE49-F238E27FC236}">
                <a16:creationId xmlns:a16="http://schemas.microsoft.com/office/drawing/2014/main" id="{3000498B-86A3-4889-9DF5-776CD485EBB7}"/>
              </a:ext>
            </a:extLst>
          </p:cNvPr>
          <p:cNvSpPr txBox="1"/>
          <p:nvPr/>
        </p:nvSpPr>
        <p:spPr>
          <a:xfrm>
            <a:off x="2460494" y="1535719"/>
            <a:ext cx="312906" cy="369332"/>
          </a:xfrm>
          <a:prstGeom prst="rect">
            <a:avLst/>
          </a:prstGeom>
          <a:solidFill>
            <a:srgbClr val="FFFF00"/>
          </a:solidFill>
        </p:spPr>
        <p:txBody>
          <a:bodyPr wrap="none" rtlCol="0">
            <a:spAutoFit/>
          </a:bodyPr>
          <a:lstStyle/>
          <a:p>
            <a:r>
              <a:rPr lang="en-US" altLang="zh-CN" b="1" dirty="0"/>
              <a:t>8</a:t>
            </a:r>
            <a:endParaRPr lang="zh-CN" altLang="en-US" b="1" dirty="0"/>
          </a:p>
        </p:txBody>
      </p:sp>
      <p:sp>
        <p:nvSpPr>
          <p:cNvPr id="119" name="文本框 118">
            <a:extLst>
              <a:ext uri="{FF2B5EF4-FFF2-40B4-BE49-F238E27FC236}">
                <a16:creationId xmlns:a16="http://schemas.microsoft.com/office/drawing/2014/main" id="{98995A31-98BC-4D24-AD9D-D673E993C975}"/>
              </a:ext>
            </a:extLst>
          </p:cNvPr>
          <p:cNvSpPr txBox="1"/>
          <p:nvPr/>
        </p:nvSpPr>
        <p:spPr>
          <a:xfrm>
            <a:off x="2496955" y="2376263"/>
            <a:ext cx="312906" cy="369332"/>
          </a:xfrm>
          <a:prstGeom prst="rect">
            <a:avLst/>
          </a:prstGeom>
          <a:solidFill>
            <a:srgbClr val="FFFF00"/>
          </a:solidFill>
        </p:spPr>
        <p:txBody>
          <a:bodyPr wrap="none" rtlCol="0">
            <a:spAutoFit/>
          </a:bodyPr>
          <a:lstStyle/>
          <a:p>
            <a:r>
              <a:rPr lang="en-US" altLang="zh-CN" b="1" dirty="0"/>
              <a:t>7</a:t>
            </a:r>
            <a:endParaRPr lang="zh-CN" altLang="en-US" b="1" dirty="0"/>
          </a:p>
        </p:txBody>
      </p:sp>
      <p:sp>
        <p:nvSpPr>
          <p:cNvPr id="120" name="文本框 119">
            <a:extLst>
              <a:ext uri="{FF2B5EF4-FFF2-40B4-BE49-F238E27FC236}">
                <a16:creationId xmlns:a16="http://schemas.microsoft.com/office/drawing/2014/main" id="{551FBC84-8757-44EE-9BB0-7251CF2F320A}"/>
              </a:ext>
            </a:extLst>
          </p:cNvPr>
          <p:cNvSpPr txBox="1"/>
          <p:nvPr/>
        </p:nvSpPr>
        <p:spPr>
          <a:xfrm>
            <a:off x="2487500" y="3244334"/>
            <a:ext cx="441146" cy="369332"/>
          </a:xfrm>
          <a:prstGeom prst="rect">
            <a:avLst/>
          </a:prstGeom>
          <a:solidFill>
            <a:srgbClr val="FFFF00"/>
          </a:solidFill>
        </p:spPr>
        <p:txBody>
          <a:bodyPr wrap="none" rtlCol="0">
            <a:spAutoFit/>
          </a:bodyPr>
          <a:lstStyle/>
          <a:p>
            <a:r>
              <a:rPr lang="en-US" altLang="zh-CN" b="1" dirty="0"/>
              <a:t>12</a:t>
            </a:r>
            <a:endParaRPr lang="zh-CN" altLang="en-US" b="1" dirty="0"/>
          </a:p>
        </p:txBody>
      </p:sp>
    </p:spTree>
    <p:extLst>
      <p:ext uri="{BB962C8B-B14F-4D97-AF65-F5344CB8AC3E}">
        <p14:creationId xmlns:p14="http://schemas.microsoft.com/office/powerpoint/2010/main" val="2728542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410D8A4-EC77-42D7-BB4D-2F8C4D79785A}"/>
              </a:ext>
            </a:extLst>
          </p:cNvPr>
          <p:cNvSpPr>
            <a:spLocks noGrp="1" noChangeArrowheads="1"/>
          </p:cNvSpPr>
          <p:nvPr>
            <p:ph type="title"/>
          </p:nvPr>
        </p:nvSpPr>
        <p:spPr/>
        <p:txBody>
          <a:bodyPr/>
          <a:lstStyle/>
          <a:p>
            <a:pPr eaLnBrk="1" hangingPunct="1"/>
            <a:r>
              <a:rPr lang="zh-CN" altLang="en-US" dirty="0"/>
              <a:t>基本方程</a:t>
            </a:r>
            <a:r>
              <a:rPr lang="en-US" altLang="zh-CN" dirty="0"/>
              <a:t>(</a:t>
            </a:r>
            <a:r>
              <a:rPr lang="zh-CN" altLang="en-US" dirty="0"/>
              <a:t>逆序解法</a:t>
            </a:r>
            <a:r>
              <a:rPr lang="en-US" altLang="zh-CN" dirty="0"/>
              <a:t>)</a:t>
            </a:r>
            <a:endParaRPr lang="zh-CN" altLang="en-US" dirty="0"/>
          </a:p>
        </p:txBody>
      </p:sp>
      <p:grpSp>
        <p:nvGrpSpPr>
          <p:cNvPr id="6" name="组合 5">
            <a:extLst>
              <a:ext uri="{FF2B5EF4-FFF2-40B4-BE49-F238E27FC236}">
                <a16:creationId xmlns:a16="http://schemas.microsoft.com/office/drawing/2014/main" id="{917288F3-8B9E-49A2-97A3-43F41BCE5143}"/>
              </a:ext>
            </a:extLst>
          </p:cNvPr>
          <p:cNvGrpSpPr/>
          <p:nvPr/>
        </p:nvGrpSpPr>
        <p:grpSpPr>
          <a:xfrm>
            <a:off x="179513" y="1086995"/>
            <a:ext cx="5125844" cy="3134093"/>
            <a:chOff x="179512" y="1086995"/>
            <a:chExt cx="7145157" cy="3514725"/>
          </a:xfrm>
        </p:grpSpPr>
        <p:grpSp>
          <p:nvGrpSpPr>
            <p:cNvPr id="53" name="组合 167">
              <a:extLst>
                <a:ext uri="{FF2B5EF4-FFF2-40B4-BE49-F238E27FC236}">
                  <a16:creationId xmlns:a16="http://schemas.microsoft.com/office/drawing/2014/main" id="{62D76B02-02B0-4E2E-98D8-A9F1F083A653}"/>
                </a:ext>
              </a:extLst>
            </p:cNvPr>
            <p:cNvGrpSpPr>
              <a:grpSpLocks/>
            </p:cNvGrpSpPr>
            <p:nvPr/>
          </p:nvGrpSpPr>
          <p:grpSpPr bwMode="auto">
            <a:xfrm>
              <a:off x="179512" y="1086995"/>
              <a:ext cx="7145157" cy="3514725"/>
              <a:chOff x="1281093" y="1412776"/>
              <a:chExt cx="7146767" cy="4536504"/>
            </a:xfrm>
          </p:grpSpPr>
          <p:sp>
            <p:nvSpPr>
              <p:cNvPr id="54" name="文本框 157">
                <a:extLst>
                  <a:ext uri="{FF2B5EF4-FFF2-40B4-BE49-F238E27FC236}">
                    <a16:creationId xmlns:a16="http://schemas.microsoft.com/office/drawing/2014/main" id="{F6F0CDA6-C872-498D-A50E-BA157765325D}"/>
                  </a:ext>
                </a:extLst>
              </p:cNvPr>
              <p:cNvSpPr txBox="1">
                <a:spLocks noChangeArrowheads="1"/>
              </p:cNvSpPr>
              <p:nvPr/>
            </p:nvSpPr>
            <p:spPr bwMode="auto">
              <a:xfrm>
                <a:off x="128109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1</a:t>
                </a:r>
                <a:endParaRPr lang="zh-CN" altLang="en-US" sz="1400" b="1"/>
              </a:p>
            </p:txBody>
          </p:sp>
          <p:sp>
            <p:nvSpPr>
              <p:cNvPr id="55" name="文本框 158">
                <a:extLst>
                  <a:ext uri="{FF2B5EF4-FFF2-40B4-BE49-F238E27FC236}">
                    <a16:creationId xmlns:a16="http://schemas.microsoft.com/office/drawing/2014/main" id="{767A5123-C596-4DD1-91AE-879A25E98825}"/>
                  </a:ext>
                </a:extLst>
              </p:cNvPr>
              <p:cNvSpPr txBox="1">
                <a:spLocks noChangeArrowheads="1"/>
              </p:cNvSpPr>
              <p:nvPr/>
            </p:nvSpPr>
            <p:spPr bwMode="auto">
              <a:xfrm>
                <a:off x="2823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2</a:t>
                </a:r>
                <a:endParaRPr lang="zh-CN" altLang="en-US" sz="1400" b="1"/>
              </a:p>
            </p:txBody>
          </p:sp>
          <p:sp>
            <p:nvSpPr>
              <p:cNvPr id="56" name="文本框 159">
                <a:extLst>
                  <a:ext uri="{FF2B5EF4-FFF2-40B4-BE49-F238E27FC236}">
                    <a16:creationId xmlns:a16="http://schemas.microsoft.com/office/drawing/2014/main" id="{7028B3F2-4745-4CAE-A062-73E6FFF71AC7}"/>
                  </a:ext>
                </a:extLst>
              </p:cNvPr>
              <p:cNvSpPr txBox="1">
                <a:spLocks noChangeArrowheads="1"/>
              </p:cNvSpPr>
              <p:nvPr/>
            </p:nvSpPr>
            <p:spPr bwMode="auto">
              <a:xfrm>
                <a:off x="457023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3</a:t>
                </a:r>
                <a:endParaRPr lang="zh-CN" altLang="en-US" sz="1400" b="1"/>
              </a:p>
            </p:txBody>
          </p:sp>
          <p:sp>
            <p:nvSpPr>
              <p:cNvPr id="57" name="文本框 160">
                <a:extLst>
                  <a:ext uri="{FF2B5EF4-FFF2-40B4-BE49-F238E27FC236}">
                    <a16:creationId xmlns:a16="http://schemas.microsoft.com/office/drawing/2014/main" id="{B04FD00D-C358-4733-AF41-54A8059E0C8B}"/>
                  </a:ext>
                </a:extLst>
              </p:cNvPr>
              <p:cNvSpPr txBox="1">
                <a:spLocks noChangeArrowheads="1"/>
              </p:cNvSpPr>
              <p:nvPr/>
            </p:nvSpPr>
            <p:spPr bwMode="auto">
              <a:xfrm>
                <a:off x="6244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4</a:t>
                </a:r>
                <a:endParaRPr lang="zh-CN" altLang="en-US" sz="1400" b="1"/>
              </a:p>
            </p:txBody>
          </p:sp>
          <p:sp>
            <p:nvSpPr>
              <p:cNvPr id="58" name="文本框 161">
                <a:extLst>
                  <a:ext uri="{FF2B5EF4-FFF2-40B4-BE49-F238E27FC236}">
                    <a16:creationId xmlns:a16="http://schemas.microsoft.com/office/drawing/2014/main" id="{78E516FA-C238-4C30-8117-7181D6C9AF4B}"/>
                  </a:ext>
                </a:extLst>
              </p:cNvPr>
              <p:cNvSpPr txBox="1">
                <a:spLocks noChangeArrowheads="1"/>
              </p:cNvSpPr>
              <p:nvPr/>
            </p:nvSpPr>
            <p:spPr bwMode="auto">
              <a:xfrm>
                <a:off x="7531176"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5</a:t>
                </a:r>
                <a:endParaRPr lang="zh-CN" altLang="en-US" sz="1400" b="1"/>
              </a:p>
            </p:txBody>
          </p:sp>
          <p:cxnSp>
            <p:nvCxnSpPr>
              <p:cNvPr id="59" name="直接连接符 58">
                <a:extLst>
                  <a:ext uri="{FF2B5EF4-FFF2-40B4-BE49-F238E27FC236}">
                    <a16:creationId xmlns:a16="http://schemas.microsoft.com/office/drawing/2014/main" id="{7D0355CC-B1B6-4416-9133-A8E4189964B5}"/>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D714960F-1958-4004-BA16-CE02059893EB}"/>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8D21216-3295-4975-B956-262140EC8DDF}"/>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3C3B10C-81D6-4D22-9351-1B4FE6B1D3F9}"/>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5" name="组合 1">
              <a:extLst>
                <a:ext uri="{FF2B5EF4-FFF2-40B4-BE49-F238E27FC236}">
                  <a16:creationId xmlns:a16="http://schemas.microsoft.com/office/drawing/2014/main" id="{F0B2A3BA-8200-4AD2-8BD6-C9E29EB259B8}"/>
                </a:ext>
              </a:extLst>
            </p:cNvPr>
            <p:cNvGrpSpPr>
              <a:grpSpLocks/>
            </p:cNvGrpSpPr>
            <p:nvPr/>
          </p:nvGrpSpPr>
          <p:grpSpPr bwMode="auto">
            <a:xfrm>
              <a:off x="352980" y="1896905"/>
              <a:ext cx="6696075" cy="2535251"/>
              <a:chOff x="1187450" y="1898650"/>
              <a:chExt cx="6696075" cy="3222625"/>
            </a:xfrm>
          </p:grpSpPr>
          <p:sp>
            <p:nvSpPr>
              <p:cNvPr id="66" name="Oval 5">
                <a:extLst>
                  <a:ext uri="{FF2B5EF4-FFF2-40B4-BE49-F238E27FC236}">
                    <a16:creationId xmlns:a16="http://schemas.microsoft.com/office/drawing/2014/main" id="{B843706A-2529-45DB-8621-D44C22AF4CAC}"/>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1</a:t>
                </a:r>
              </a:p>
            </p:txBody>
          </p:sp>
          <p:sp>
            <p:nvSpPr>
              <p:cNvPr id="67" name="Oval 6">
                <a:extLst>
                  <a:ext uri="{FF2B5EF4-FFF2-40B4-BE49-F238E27FC236}">
                    <a16:creationId xmlns:a16="http://schemas.microsoft.com/office/drawing/2014/main" id="{44422404-073F-427D-8CC9-69E00C5615E8}"/>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3</a:t>
                </a:r>
                <a:endParaRPr lang="en-US" altLang="zh-CN" sz="1400"/>
              </a:p>
            </p:txBody>
          </p:sp>
          <p:sp>
            <p:nvSpPr>
              <p:cNvPr id="68" name="Oval 7">
                <a:extLst>
                  <a:ext uri="{FF2B5EF4-FFF2-40B4-BE49-F238E27FC236}">
                    <a16:creationId xmlns:a16="http://schemas.microsoft.com/office/drawing/2014/main" id="{B53B0F59-667B-4FDE-AF14-E2F3D7638C92}"/>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dirty="0">
                    <a:latin typeface="Times New Roman" panose="02020603050405020304" pitchFamily="18" charset="0"/>
                  </a:rPr>
                  <a:t>D</a:t>
                </a:r>
                <a:r>
                  <a:rPr lang="en-US" altLang="zh-CN" sz="1400" baseline="-25000" dirty="0">
                    <a:latin typeface="Times New Roman" panose="02020603050405020304" pitchFamily="18" charset="0"/>
                  </a:rPr>
                  <a:t>1</a:t>
                </a:r>
              </a:p>
            </p:txBody>
          </p:sp>
          <p:sp>
            <p:nvSpPr>
              <p:cNvPr id="69" name="Oval 8">
                <a:extLst>
                  <a:ext uri="{FF2B5EF4-FFF2-40B4-BE49-F238E27FC236}">
                    <a16:creationId xmlns:a16="http://schemas.microsoft.com/office/drawing/2014/main" id="{2FD0BB59-B661-4FC6-9E90-9DCC8A0D8F6A}"/>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A</a:t>
                </a:r>
              </a:p>
            </p:txBody>
          </p:sp>
          <p:sp>
            <p:nvSpPr>
              <p:cNvPr id="70" name="Oval 9">
                <a:extLst>
                  <a:ext uri="{FF2B5EF4-FFF2-40B4-BE49-F238E27FC236}">
                    <a16:creationId xmlns:a16="http://schemas.microsoft.com/office/drawing/2014/main" id="{8CE2E3C1-DE7D-43C4-8D8F-E9670DC9856E}"/>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1</a:t>
                </a:r>
                <a:endParaRPr lang="en-US" altLang="zh-CN" sz="1400"/>
              </a:p>
            </p:txBody>
          </p:sp>
          <p:sp>
            <p:nvSpPr>
              <p:cNvPr id="71" name="Oval 10">
                <a:extLst>
                  <a:ext uri="{FF2B5EF4-FFF2-40B4-BE49-F238E27FC236}">
                    <a16:creationId xmlns:a16="http://schemas.microsoft.com/office/drawing/2014/main" id="{BA3C4B6C-98B6-4487-AE01-3175DCCB54F2}"/>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3</a:t>
                </a:r>
                <a:endParaRPr lang="en-US" altLang="zh-CN" sz="1400"/>
              </a:p>
            </p:txBody>
          </p:sp>
          <p:sp>
            <p:nvSpPr>
              <p:cNvPr id="72" name="Oval 11">
                <a:extLst>
                  <a:ext uri="{FF2B5EF4-FFF2-40B4-BE49-F238E27FC236}">
                    <a16:creationId xmlns:a16="http://schemas.microsoft.com/office/drawing/2014/main" id="{AB8F9DB6-6C91-4050-B105-ADD6C44A9492}"/>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2</a:t>
                </a:r>
                <a:endParaRPr lang="en-US" altLang="zh-CN" sz="1400"/>
              </a:p>
            </p:txBody>
          </p:sp>
          <p:sp>
            <p:nvSpPr>
              <p:cNvPr id="73" name="Oval 12">
                <a:extLst>
                  <a:ext uri="{FF2B5EF4-FFF2-40B4-BE49-F238E27FC236}">
                    <a16:creationId xmlns:a16="http://schemas.microsoft.com/office/drawing/2014/main" id="{228D351F-5A7A-4FD1-A4A9-85B1B856DA3A}"/>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D</a:t>
                </a:r>
                <a:r>
                  <a:rPr lang="en-US" altLang="zh-CN" sz="1400" baseline="-25000">
                    <a:latin typeface="Times New Roman" panose="02020603050405020304" pitchFamily="18" charset="0"/>
                  </a:rPr>
                  <a:t>2</a:t>
                </a:r>
                <a:endParaRPr lang="en-US" altLang="zh-CN" sz="1400"/>
              </a:p>
            </p:txBody>
          </p:sp>
          <p:sp>
            <p:nvSpPr>
              <p:cNvPr id="74" name="Oval 13">
                <a:extLst>
                  <a:ext uri="{FF2B5EF4-FFF2-40B4-BE49-F238E27FC236}">
                    <a16:creationId xmlns:a16="http://schemas.microsoft.com/office/drawing/2014/main" id="{97693D58-847D-4C2F-9C72-26E45C85BC43}"/>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E</a:t>
                </a:r>
                <a:endParaRPr lang="en-US" altLang="zh-CN" sz="1400"/>
              </a:p>
            </p:txBody>
          </p:sp>
          <p:sp>
            <p:nvSpPr>
              <p:cNvPr id="75" name="Oval 14">
                <a:extLst>
                  <a:ext uri="{FF2B5EF4-FFF2-40B4-BE49-F238E27FC236}">
                    <a16:creationId xmlns:a16="http://schemas.microsoft.com/office/drawing/2014/main" id="{3DDB5D2A-7BF9-4DC2-834B-99FB4A9941CC}"/>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2</a:t>
                </a:r>
                <a:endParaRPr lang="en-US" altLang="zh-CN" sz="1400"/>
              </a:p>
            </p:txBody>
          </p:sp>
          <p:sp>
            <p:nvSpPr>
              <p:cNvPr id="76" name="Line 15">
                <a:extLst>
                  <a:ext uri="{FF2B5EF4-FFF2-40B4-BE49-F238E27FC236}">
                    <a16:creationId xmlns:a16="http://schemas.microsoft.com/office/drawing/2014/main" id="{9ACFE650-A205-4B3F-971F-41969B0CFCC3}"/>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7" name="Line 16">
                <a:extLst>
                  <a:ext uri="{FF2B5EF4-FFF2-40B4-BE49-F238E27FC236}">
                    <a16:creationId xmlns:a16="http://schemas.microsoft.com/office/drawing/2014/main" id="{3BD4FD88-E594-4163-A0C9-C2C1C7B2AA36}"/>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8" name="Line 17">
                <a:extLst>
                  <a:ext uri="{FF2B5EF4-FFF2-40B4-BE49-F238E27FC236}">
                    <a16:creationId xmlns:a16="http://schemas.microsoft.com/office/drawing/2014/main" id="{48345FD2-5EF3-4821-9ADA-34CAD86F5B7D}"/>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9" name="Line 18">
                <a:extLst>
                  <a:ext uri="{FF2B5EF4-FFF2-40B4-BE49-F238E27FC236}">
                    <a16:creationId xmlns:a16="http://schemas.microsoft.com/office/drawing/2014/main" id="{EFBB4862-5CBF-410B-98A5-16BF43F59B6F}"/>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0" name="Line 19">
                <a:extLst>
                  <a:ext uri="{FF2B5EF4-FFF2-40B4-BE49-F238E27FC236}">
                    <a16:creationId xmlns:a16="http://schemas.microsoft.com/office/drawing/2014/main" id="{37BB3FEA-D15A-48D4-8DAA-A6C2F45A877F}"/>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1" name="Line 20">
                <a:extLst>
                  <a:ext uri="{FF2B5EF4-FFF2-40B4-BE49-F238E27FC236}">
                    <a16:creationId xmlns:a16="http://schemas.microsoft.com/office/drawing/2014/main" id="{9A1E5F5B-8666-4A45-905F-9C839E8E6B86}"/>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2" name="Line 21">
                <a:extLst>
                  <a:ext uri="{FF2B5EF4-FFF2-40B4-BE49-F238E27FC236}">
                    <a16:creationId xmlns:a16="http://schemas.microsoft.com/office/drawing/2014/main" id="{BC30B9DA-4712-4BF1-8272-80C7C77CFEB3}"/>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3" name="Line 22">
                <a:extLst>
                  <a:ext uri="{FF2B5EF4-FFF2-40B4-BE49-F238E27FC236}">
                    <a16:creationId xmlns:a16="http://schemas.microsoft.com/office/drawing/2014/main" id="{AFD5AE01-339E-447C-A118-69B088AA33FE}"/>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4" name="Line 23">
                <a:extLst>
                  <a:ext uri="{FF2B5EF4-FFF2-40B4-BE49-F238E27FC236}">
                    <a16:creationId xmlns:a16="http://schemas.microsoft.com/office/drawing/2014/main" id="{936A9AA4-7461-4FA0-8520-1E4F3CC05BD3}"/>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5" name="Line 24">
                <a:extLst>
                  <a:ext uri="{FF2B5EF4-FFF2-40B4-BE49-F238E27FC236}">
                    <a16:creationId xmlns:a16="http://schemas.microsoft.com/office/drawing/2014/main" id="{B7C52BFD-DDC9-4EC3-85ED-DCC503B50898}"/>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6" name="Line 25">
                <a:extLst>
                  <a:ext uri="{FF2B5EF4-FFF2-40B4-BE49-F238E27FC236}">
                    <a16:creationId xmlns:a16="http://schemas.microsoft.com/office/drawing/2014/main" id="{EF19E01B-6549-4FE8-B8AD-0F105B694CF3}"/>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7" name="Line 26">
                <a:extLst>
                  <a:ext uri="{FF2B5EF4-FFF2-40B4-BE49-F238E27FC236}">
                    <a16:creationId xmlns:a16="http://schemas.microsoft.com/office/drawing/2014/main" id="{A63894AA-455E-412A-8704-CF4CCB423CDB}"/>
                  </a:ext>
                </a:extLst>
              </p:cNvPr>
              <p:cNvSpPr>
                <a:spLocks noChangeShapeType="1"/>
              </p:cNvSpPr>
              <p:nvPr/>
            </p:nvSpPr>
            <p:spPr bwMode="auto">
              <a:xfrm>
                <a:off x="4867275" y="359886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8" name="Line 27">
                <a:extLst>
                  <a:ext uri="{FF2B5EF4-FFF2-40B4-BE49-F238E27FC236}">
                    <a16:creationId xmlns:a16="http://schemas.microsoft.com/office/drawing/2014/main" id="{6762778B-FBCF-4017-B870-3461C13A07E6}"/>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9" name="Line 28">
                <a:extLst>
                  <a:ext uri="{FF2B5EF4-FFF2-40B4-BE49-F238E27FC236}">
                    <a16:creationId xmlns:a16="http://schemas.microsoft.com/office/drawing/2014/main" id="{A4FEF310-36B4-494B-B472-1D5E433D6368}"/>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0" name="Line 29">
                <a:extLst>
                  <a:ext uri="{FF2B5EF4-FFF2-40B4-BE49-F238E27FC236}">
                    <a16:creationId xmlns:a16="http://schemas.microsoft.com/office/drawing/2014/main" id="{4F0349A8-3778-4B5E-B023-855CFAD737F8}"/>
                  </a:ext>
                </a:extLst>
              </p:cNvPr>
              <p:cNvSpPr>
                <a:spLocks noChangeShapeType="1"/>
              </p:cNvSpPr>
              <p:nvPr/>
            </p:nvSpPr>
            <p:spPr bwMode="auto">
              <a:xfrm flipV="1">
                <a:off x="3074988" y="234950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1" name="Line 30">
                <a:extLst>
                  <a:ext uri="{FF2B5EF4-FFF2-40B4-BE49-F238E27FC236}">
                    <a16:creationId xmlns:a16="http://schemas.microsoft.com/office/drawing/2014/main" id="{27D3D704-6E76-4EED-A736-3801B4418464}"/>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2" name="Line 31">
                <a:extLst>
                  <a:ext uri="{FF2B5EF4-FFF2-40B4-BE49-F238E27FC236}">
                    <a16:creationId xmlns:a16="http://schemas.microsoft.com/office/drawing/2014/main" id="{09E7DEC4-20D9-47AE-B1B8-13E8EC65008D}"/>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3" name="Line 32">
                <a:extLst>
                  <a:ext uri="{FF2B5EF4-FFF2-40B4-BE49-F238E27FC236}">
                    <a16:creationId xmlns:a16="http://schemas.microsoft.com/office/drawing/2014/main" id="{F43D41FF-D13D-4151-93D5-A1A1F55806B3}"/>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4" name="Line 33">
                <a:extLst>
                  <a:ext uri="{FF2B5EF4-FFF2-40B4-BE49-F238E27FC236}">
                    <a16:creationId xmlns:a16="http://schemas.microsoft.com/office/drawing/2014/main" id="{CB468DFB-C5D4-438B-B105-D91924F348D1}"/>
                  </a:ext>
                </a:extLst>
              </p:cNvPr>
              <p:cNvSpPr>
                <a:spLocks noChangeShapeType="1"/>
              </p:cNvSpPr>
              <p:nvPr/>
            </p:nvSpPr>
            <p:spPr bwMode="auto">
              <a:xfrm>
                <a:off x="4843463" y="240347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5" name="Line 34">
                <a:extLst>
                  <a:ext uri="{FF2B5EF4-FFF2-40B4-BE49-F238E27FC236}">
                    <a16:creationId xmlns:a16="http://schemas.microsoft.com/office/drawing/2014/main" id="{C082A2A0-8CC8-456C-9B8A-1742E62C44B1}"/>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6" name="Text Box 35">
                <a:extLst>
                  <a:ext uri="{FF2B5EF4-FFF2-40B4-BE49-F238E27FC236}">
                    <a16:creationId xmlns:a16="http://schemas.microsoft.com/office/drawing/2014/main" id="{FB970BED-0380-43D4-8F20-CFB9908C3877}"/>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2</a:t>
                </a:r>
              </a:p>
            </p:txBody>
          </p:sp>
          <p:sp>
            <p:nvSpPr>
              <p:cNvPr id="97" name="Text Box 36">
                <a:extLst>
                  <a:ext uri="{FF2B5EF4-FFF2-40B4-BE49-F238E27FC236}">
                    <a16:creationId xmlns:a16="http://schemas.microsoft.com/office/drawing/2014/main" id="{61BA6AFA-C672-421D-AE39-09AB019948B4}"/>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5</a:t>
                </a:r>
              </a:p>
            </p:txBody>
          </p:sp>
          <p:sp>
            <p:nvSpPr>
              <p:cNvPr id="98" name="Text Box 37">
                <a:extLst>
                  <a:ext uri="{FF2B5EF4-FFF2-40B4-BE49-F238E27FC236}">
                    <a16:creationId xmlns:a16="http://schemas.microsoft.com/office/drawing/2014/main" id="{0152A3AD-7A67-4FA6-9283-C0640EA68B06}"/>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a:t>
                </a:r>
              </a:p>
            </p:txBody>
          </p:sp>
          <p:sp>
            <p:nvSpPr>
              <p:cNvPr id="99" name="Text Box 38">
                <a:extLst>
                  <a:ext uri="{FF2B5EF4-FFF2-40B4-BE49-F238E27FC236}">
                    <a16:creationId xmlns:a16="http://schemas.microsoft.com/office/drawing/2014/main" id="{526AAA91-ED03-4287-AAD1-D1508151A1E1}"/>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12</a:t>
                </a:r>
                <a:endParaRPr lang="en-US" altLang="zh-CN" sz="1400"/>
              </a:p>
            </p:txBody>
          </p:sp>
          <p:sp>
            <p:nvSpPr>
              <p:cNvPr id="100" name="Text Box 39">
                <a:extLst>
                  <a:ext uri="{FF2B5EF4-FFF2-40B4-BE49-F238E27FC236}">
                    <a16:creationId xmlns:a16="http://schemas.microsoft.com/office/drawing/2014/main" id="{4F8CBF0D-F2D6-492D-AE9F-D2554AA93AEB}"/>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14</a:t>
                </a:r>
              </a:p>
            </p:txBody>
          </p:sp>
          <p:sp>
            <p:nvSpPr>
              <p:cNvPr id="101" name="Text Box 40">
                <a:extLst>
                  <a:ext uri="{FF2B5EF4-FFF2-40B4-BE49-F238E27FC236}">
                    <a16:creationId xmlns:a16="http://schemas.microsoft.com/office/drawing/2014/main" id="{3A51B4AF-B230-4FE7-82B2-319F6A9F643C}"/>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10</a:t>
                </a:r>
              </a:p>
            </p:txBody>
          </p:sp>
          <p:sp>
            <p:nvSpPr>
              <p:cNvPr id="102" name="Text Box 41">
                <a:extLst>
                  <a:ext uri="{FF2B5EF4-FFF2-40B4-BE49-F238E27FC236}">
                    <a16:creationId xmlns:a16="http://schemas.microsoft.com/office/drawing/2014/main" id="{A559251A-0A22-42B4-8688-B5F7DDFC0D91}"/>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6</a:t>
                </a:r>
              </a:p>
            </p:txBody>
          </p:sp>
          <p:sp>
            <p:nvSpPr>
              <p:cNvPr id="103" name="Text Box 42">
                <a:extLst>
                  <a:ext uri="{FF2B5EF4-FFF2-40B4-BE49-F238E27FC236}">
                    <a16:creationId xmlns:a16="http://schemas.microsoft.com/office/drawing/2014/main" id="{B9076C44-3E52-4AC9-B5F5-B0778D4B6C64}"/>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04" name="Text Box 43">
                <a:extLst>
                  <a:ext uri="{FF2B5EF4-FFF2-40B4-BE49-F238E27FC236}">
                    <a16:creationId xmlns:a16="http://schemas.microsoft.com/office/drawing/2014/main" id="{91F6A142-8C27-46F9-B3CE-CDCEE6EE8F5D}"/>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4</a:t>
                </a:r>
              </a:p>
            </p:txBody>
          </p:sp>
          <p:sp>
            <p:nvSpPr>
              <p:cNvPr id="105" name="Text Box 44">
                <a:extLst>
                  <a:ext uri="{FF2B5EF4-FFF2-40B4-BE49-F238E27FC236}">
                    <a16:creationId xmlns:a16="http://schemas.microsoft.com/office/drawing/2014/main" id="{1F8C8EEA-D82E-4E33-9303-A2BD035C3724}"/>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13</a:t>
                </a:r>
              </a:p>
            </p:txBody>
          </p:sp>
          <p:sp>
            <p:nvSpPr>
              <p:cNvPr id="106" name="Text Box 45">
                <a:extLst>
                  <a:ext uri="{FF2B5EF4-FFF2-40B4-BE49-F238E27FC236}">
                    <a16:creationId xmlns:a16="http://schemas.microsoft.com/office/drawing/2014/main" id="{A4AB083D-8A41-4BD7-9140-E289DDD772D6}"/>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11</a:t>
                </a:r>
              </a:p>
            </p:txBody>
          </p:sp>
          <p:sp>
            <p:nvSpPr>
              <p:cNvPr id="107" name="Text Box 46">
                <a:extLst>
                  <a:ext uri="{FF2B5EF4-FFF2-40B4-BE49-F238E27FC236}">
                    <a16:creationId xmlns:a16="http://schemas.microsoft.com/office/drawing/2014/main" id="{2E5C2AD3-73AD-41C3-A0E0-E0F8A5CF7FC5}"/>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12</a:t>
                </a:r>
              </a:p>
            </p:txBody>
          </p:sp>
          <p:sp>
            <p:nvSpPr>
              <p:cNvPr id="108" name="Text Box 47">
                <a:extLst>
                  <a:ext uri="{FF2B5EF4-FFF2-40B4-BE49-F238E27FC236}">
                    <a16:creationId xmlns:a16="http://schemas.microsoft.com/office/drawing/2014/main" id="{39B63639-ADA3-4818-8823-7106B393B62C}"/>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3</a:t>
                </a:r>
              </a:p>
            </p:txBody>
          </p:sp>
          <p:sp>
            <p:nvSpPr>
              <p:cNvPr id="109" name="Text Box 48">
                <a:extLst>
                  <a:ext uri="{FF2B5EF4-FFF2-40B4-BE49-F238E27FC236}">
                    <a16:creationId xmlns:a16="http://schemas.microsoft.com/office/drawing/2014/main" id="{5C840ED5-CE24-4278-B558-5E6EE76E2B4C}"/>
                  </a:ext>
                </a:extLst>
              </p:cNvPr>
              <p:cNvSpPr txBox="1">
                <a:spLocks noChangeArrowheads="1"/>
              </p:cNvSpPr>
              <p:nvPr/>
            </p:nvSpPr>
            <p:spPr bwMode="auto">
              <a:xfrm>
                <a:off x="4867275" y="25622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9</a:t>
                </a:r>
              </a:p>
            </p:txBody>
          </p:sp>
          <p:sp>
            <p:nvSpPr>
              <p:cNvPr id="110" name="Text Box 49">
                <a:extLst>
                  <a:ext uri="{FF2B5EF4-FFF2-40B4-BE49-F238E27FC236}">
                    <a16:creationId xmlns:a16="http://schemas.microsoft.com/office/drawing/2014/main" id="{5A9A0313-F7F2-491D-8E70-BD84D59F380C}"/>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6</a:t>
                </a:r>
              </a:p>
            </p:txBody>
          </p:sp>
          <p:sp>
            <p:nvSpPr>
              <p:cNvPr id="111" name="Text Box 50">
                <a:extLst>
                  <a:ext uri="{FF2B5EF4-FFF2-40B4-BE49-F238E27FC236}">
                    <a16:creationId xmlns:a16="http://schemas.microsoft.com/office/drawing/2014/main" id="{7D4559D1-3B20-40CE-B0AE-10C54704F84A}"/>
                  </a:ext>
                </a:extLst>
              </p:cNvPr>
              <p:cNvSpPr txBox="1">
                <a:spLocks noChangeArrowheads="1"/>
              </p:cNvSpPr>
              <p:nvPr/>
            </p:nvSpPr>
            <p:spPr bwMode="auto">
              <a:xfrm>
                <a:off x="5011738" y="36512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2" name="Text Box 51">
                <a:extLst>
                  <a:ext uri="{FF2B5EF4-FFF2-40B4-BE49-F238E27FC236}">
                    <a16:creationId xmlns:a16="http://schemas.microsoft.com/office/drawing/2014/main" id="{3098518A-5BE9-4DD1-B33B-962D840447F2}"/>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8</a:t>
                </a:r>
              </a:p>
            </p:txBody>
          </p:sp>
          <p:sp>
            <p:nvSpPr>
              <p:cNvPr id="113" name="Text Box 52">
                <a:extLst>
                  <a:ext uri="{FF2B5EF4-FFF2-40B4-BE49-F238E27FC236}">
                    <a16:creationId xmlns:a16="http://schemas.microsoft.com/office/drawing/2014/main" id="{9CA985F6-556F-4E23-81E3-2824F9A73B49}"/>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14" name="Text Box 53">
                <a:extLst>
                  <a:ext uri="{FF2B5EF4-FFF2-40B4-BE49-F238E27FC236}">
                    <a16:creationId xmlns:a16="http://schemas.microsoft.com/office/drawing/2014/main" id="{3A713304-A894-4855-AB22-BC335C12F075}"/>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5" name="Text Box 54">
                <a:extLst>
                  <a:ext uri="{FF2B5EF4-FFF2-40B4-BE49-F238E27FC236}">
                    <a16:creationId xmlns:a16="http://schemas.microsoft.com/office/drawing/2014/main" id="{1B4F6411-3DC7-4540-89D6-77045F27BC05}"/>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2</a:t>
                </a:r>
              </a:p>
            </p:txBody>
          </p:sp>
        </p:grpSp>
      </p:gr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2C6C8D23-F9E9-4C9B-AC25-D4F712CF2F24}"/>
                  </a:ext>
                </a:extLst>
              </p:cNvPr>
              <p:cNvSpPr txBox="1"/>
              <p:nvPr/>
            </p:nvSpPr>
            <p:spPr>
              <a:xfrm>
                <a:off x="127317" y="4368895"/>
                <a:ext cx="9398277" cy="8854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2</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e>
                      </m:d>
                      <m:r>
                        <a:rPr lang="en-US" altLang="zh-CN" sz="3200" b="0" i="1" smtClean="0">
                          <a:latin typeface="Cambria Math" panose="02040503050406030204" pitchFamily="18" charset="0"/>
                        </a:rPr>
                        <m:t>=</m:t>
                      </m:r>
                      <m:limLow>
                        <m:limLowPr>
                          <m:ctrlPr>
                            <a:rPr lang="zh-CN" altLang="en-US" sz="3200" i="1">
                              <a:solidFill>
                                <a:srgbClr val="000000"/>
                              </a:solidFill>
                              <a:latin typeface="Cambria Math" panose="02040503050406030204" pitchFamily="18" charset="0"/>
                            </a:rPr>
                          </m:ctrlPr>
                        </m:limLowPr>
                        <m:e>
                          <m:r>
                            <m:rPr>
                              <m:nor/>
                            </m:rPr>
                            <a:rPr lang="zh-CN" altLang="en-US" sz="3200">
                              <a:solidFill>
                                <a:srgbClr val="000000"/>
                              </a:solidFill>
                              <a:latin typeface="Cambria Math" panose="02040503050406030204" pitchFamily="18" charset="0"/>
                            </a:rPr>
                            <m:t>opt</m:t>
                          </m:r>
                        </m:e>
                        <m:lim>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e>
                          </m:d>
                        </m:lim>
                      </m:limLow>
                      <m:r>
                        <a:rPr lang="zh-CN" altLang="en-US" sz="3200" i="1">
                          <a:solidFill>
                            <a:srgbClr val="000000"/>
                          </a:solidFill>
                          <a:latin typeface="Cambria Math" panose="02040503050406030204" pitchFamily="18" charset="0"/>
                        </a:rPr>
                        <m:t> [</m:t>
                      </m:r>
                      <m:r>
                        <a:rPr lang="en-US" altLang="zh-CN" sz="3200" b="1" i="1">
                          <a:solidFill>
                            <a:srgbClr val="000000"/>
                          </a:solidFill>
                          <a:latin typeface="Cambria Math" panose="02040503050406030204" pitchFamily="18" charset="0"/>
                        </a:rPr>
                        <m:t>𝒗</m:t>
                      </m:r>
                      <m:r>
                        <a:rPr lang="zh-CN" altLang="en-US" sz="3200" i="1">
                          <a:solidFill>
                            <a:srgbClr val="000000"/>
                          </a:solidFill>
                          <a:latin typeface="Cambria Math" panose="02040503050406030204" pitchFamily="18" charset="0"/>
                        </a:rPr>
                        <m:t> (</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𝒖</m:t>
                      </m:r>
                      <m:r>
                        <a:rPr lang="en-US" altLang="zh-CN" sz="3200" b="1" i="1">
                          <a:solidFill>
                            <a:srgbClr val="000000"/>
                          </a:solidFill>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r>
                        <a:rPr lang="en-US" altLang="zh-CN" sz="3200" b="1"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𝑓</m:t>
                      </m:r>
                      <m:r>
                        <a:rPr lang="zh-CN" altLang="en-US"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117" name="文本框 116">
                <a:extLst>
                  <a:ext uri="{FF2B5EF4-FFF2-40B4-BE49-F238E27FC236}">
                    <a16:creationId xmlns:a16="http://schemas.microsoft.com/office/drawing/2014/main" id="{2C6C8D23-F9E9-4C9B-AC25-D4F712CF2F24}"/>
                  </a:ext>
                </a:extLst>
              </p:cNvPr>
              <p:cNvSpPr txBox="1">
                <a:spLocks noRot="1" noChangeAspect="1" noMove="1" noResize="1" noEditPoints="1" noAdjustHandles="1" noChangeArrowheads="1" noChangeShapeType="1" noTextEdit="1"/>
              </p:cNvSpPr>
              <p:nvPr/>
            </p:nvSpPr>
            <p:spPr>
              <a:xfrm>
                <a:off x="127317" y="4368895"/>
                <a:ext cx="9398277" cy="88549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72B9465-FBFF-4AF5-8CE7-B54D23BBAACB}"/>
                  </a:ext>
                </a:extLst>
              </p:cNvPr>
              <p:cNvSpPr/>
              <p:nvPr/>
            </p:nvSpPr>
            <p:spPr>
              <a:xfrm>
                <a:off x="251312" y="5294693"/>
                <a:ext cx="3761863"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e>
                      </m:d>
                      <m:r>
                        <a:rPr lang="en-US" altLang="zh-CN" sz="3200" b="0" i="1" smtClean="0">
                          <a:solidFill>
                            <a:srgbClr val="000000"/>
                          </a:solidFill>
                          <a:latin typeface="Cambria Math" panose="02040503050406030204" pitchFamily="18" charset="0"/>
                        </a:rPr>
                        <m:t>={</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𝐶</m:t>
                          </m:r>
                        </m:e>
                        <m:sub>
                          <m:r>
                            <a:rPr lang="en-US" altLang="zh-CN" sz="3200" b="0" i="1" smtClean="0">
                              <a:solidFill>
                                <a:srgbClr val="000000"/>
                              </a:solidFill>
                              <a:latin typeface="Cambria Math" panose="02040503050406030204" pitchFamily="18" charset="0"/>
                            </a:rPr>
                            <m:t>1</m:t>
                          </m:r>
                        </m:sub>
                      </m:sSub>
                      <m:r>
                        <a:rPr lang="en-US" altLang="zh-CN" sz="3200" b="0" i="1" smtClean="0">
                          <a:solidFill>
                            <a:srgbClr val="000000"/>
                          </a:solidFill>
                          <a:latin typeface="Cambria Math" panose="02040503050406030204" pitchFamily="18" charset="0"/>
                        </a:rPr>
                        <m:t>,</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𝐶</m:t>
                          </m:r>
                        </m:e>
                        <m:sub>
                          <m:r>
                            <a:rPr lang="en-US" altLang="zh-CN" sz="3200" b="0" i="1" smtClean="0">
                              <a:solidFill>
                                <a:srgbClr val="000000"/>
                              </a:solidFill>
                              <a:latin typeface="Cambria Math" panose="02040503050406030204" pitchFamily="18" charset="0"/>
                            </a:rPr>
                            <m:t>2</m:t>
                          </m:r>
                        </m:sub>
                      </m:sSub>
                      <m:r>
                        <a:rPr lang="en-US" altLang="zh-CN" sz="3200" b="0" i="1" smtClean="0">
                          <a:solidFill>
                            <a:srgbClr val="000000"/>
                          </a:solidFill>
                          <a:latin typeface="Cambria Math" panose="02040503050406030204" pitchFamily="18" charset="0"/>
                        </a:rPr>
                        <m:t>,</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𝐶</m:t>
                          </m:r>
                        </m:e>
                        <m:sub>
                          <m:r>
                            <a:rPr lang="en-US" altLang="zh-CN" sz="3200" b="0" i="1" smtClean="0">
                              <a:solidFill>
                                <a:srgbClr val="000000"/>
                              </a:solidFill>
                              <a:latin typeface="Cambria Math" panose="02040503050406030204" pitchFamily="18" charset="0"/>
                            </a:rPr>
                            <m:t>3</m:t>
                          </m:r>
                        </m:sub>
                      </m:sSub>
                      <m:r>
                        <a:rPr lang="en-US" altLang="zh-CN" sz="3200" b="0" i="1" smtClean="0">
                          <a:solidFill>
                            <a:srgbClr val="000000"/>
                          </a:solidFill>
                          <a:latin typeface="Cambria Math" panose="02040503050406030204" pitchFamily="18" charset="0"/>
                        </a:rPr>
                        <m:t>}</m:t>
                      </m:r>
                    </m:oMath>
                  </m:oMathPara>
                </a14:m>
                <a:endParaRPr lang="zh-CN" altLang="en-US" sz="3200" dirty="0"/>
              </a:p>
            </p:txBody>
          </p:sp>
        </mc:Choice>
        <mc:Fallback xmlns="">
          <p:sp>
            <p:nvSpPr>
              <p:cNvPr id="8" name="矩形 7">
                <a:extLst>
                  <a:ext uri="{FF2B5EF4-FFF2-40B4-BE49-F238E27FC236}">
                    <a16:creationId xmlns:a16="http://schemas.microsoft.com/office/drawing/2014/main" id="{C72B9465-FBFF-4AF5-8CE7-B54D23BBAACB}"/>
                  </a:ext>
                </a:extLst>
              </p:cNvPr>
              <p:cNvSpPr>
                <a:spLocks noRot="1" noChangeAspect="1" noMove="1" noResize="1" noEditPoints="1" noAdjustHandles="1" noChangeArrowheads="1" noChangeShapeType="1" noTextEdit="1"/>
              </p:cNvSpPr>
              <p:nvPr/>
            </p:nvSpPr>
            <p:spPr>
              <a:xfrm>
                <a:off x="251312" y="5294693"/>
                <a:ext cx="3761863"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D4ACB5D-B924-44B9-96F8-FAEA4083A765}"/>
                  </a:ext>
                </a:extLst>
              </p:cNvPr>
              <p:cNvSpPr/>
              <p:nvPr/>
            </p:nvSpPr>
            <p:spPr>
              <a:xfrm>
                <a:off x="127317" y="5936998"/>
                <a:ext cx="864993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2</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e>
                      </m:d>
                      <m:r>
                        <a:rPr lang="en-US" altLang="zh-CN" sz="3200" b="0" i="1" smtClean="0">
                          <a:latin typeface="Cambria Math" panose="02040503050406030204" pitchFamily="18" charset="0"/>
                        </a:rPr>
                        <m:t>=</m:t>
                      </m:r>
                      <m:func>
                        <m:funcPr>
                          <m:ctrlPr>
                            <a:rPr lang="en-US" altLang="zh-CN" sz="3200" b="0" i="1" smtClean="0">
                              <a:latin typeface="Cambria Math" panose="02040503050406030204" pitchFamily="18" charset="0"/>
                            </a:rPr>
                          </m:ctrlPr>
                        </m:funcPr>
                        <m:fName>
                          <m:r>
                            <m:rPr>
                              <m:sty m:val="p"/>
                            </m:rPr>
                            <a:rPr lang="en-US" altLang="zh-CN" sz="3200" b="0" i="0" smtClean="0">
                              <a:latin typeface="Cambria Math" panose="02040503050406030204" pitchFamily="18" charset="0"/>
                            </a:rPr>
                            <m:t>min</m:t>
                          </m:r>
                        </m:fName>
                        <m:e>
                          <m:r>
                            <a:rPr lang="en-US" altLang="zh-CN" sz="3200" b="0" i="1" smtClean="0">
                              <a:latin typeface="Cambria Math" panose="02040503050406030204" pitchFamily="18" charset="0"/>
                            </a:rPr>
                            <m:t>{12+8,14+7,10+12}</m:t>
                          </m:r>
                        </m:e>
                      </m:func>
                      <m:r>
                        <a:rPr lang="en-US" altLang="zh-CN" sz="3200" b="0" i="1" smtClean="0">
                          <a:latin typeface="Cambria Math" panose="02040503050406030204" pitchFamily="18" charset="0"/>
                        </a:rPr>
                        <m:t>=20</m:t>
                      </m:r>
                    </m:oMath>
                  </m:oMathPara>
                </a14:m>
                <a:endParaRPr lang="zh-CN" altLang="en-US" sz="3200" dirty="0"/>
              </a:p>
            </p:txBody>
          </p:sp>
        </mc:Choice>
        <mc:Fallback xmlns="">
          <p:sp>
            <p:nvSpPr>
              <p:cNvPr id="9" name="矩形 8">
                <a:extLst>
                  <a:ext uri="{FF2B5EF4-FFF2-40B4-BE49-F238E27FC236}">
                    <a16:creationId xmlns:a16="http://schemas.microsoft.com/office/drawing/2014/main" id="{FD4ACB5D-B924-44B9-96F8-FAEA4083A765}"/>
                  </a:ext>
                </a:extLst>
              </p:cNvPr>
              <p:cNvSpPr>
                <a:spLocks noRot="1" noChangeAspect="1" noMove="1" noResize="1" noEditPoints="1" noAdjustHandles="1" noChangeArrowheads="1" noChangeShapeType="1" noTextEdit="1"/>
              </p:cNvSpPr>
              <p:nvPr/>
            </p:nvSpPr>
            <p:spPr>
              <a:xfrm>
                <a:off x="127317" y="5936998"/>
                <a:ext cx="8649932" cy="584775"/>
              </a:xfrm>
              <a:prstGeom prst="rect">
                <a:avLst/>
              </a:prstGeom>
              <a:blipFill>
                <a:blip r:embed="rId4"/>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749FE1E8-1EC1-4910-BC47-9513FFB72621}"/>
              </a:ext>
            </a:extLst>
          </p:cNvPr>
          <p:cNvSpPr txBox="1"/>
          <p:nvPr/>
        </p:nvSpPr>
        <p:spPr>
          <a:xfrm>
            <a:off x="3827289" y="1894864"/>
            <a:ext cx="312906" cy="369332"/>
          </a:xfrm>
          <a:prstGeom prst="rect">
            <a:avLst/>
          </a:prstGeom>
          <a:solidFill>
            <a:srgbClr val="FFFF00"/>
          </a:solidFill>
        </p:spPr>
        <p:txBody>
          <a:bodyPr wrap="none" rtlCol="0">
            <a:spAutoFit/>
          </a:bodyPr>
          <a:lstStyle/>
          <a:p>
            <a:r>
              <a:rPr lang="en-US" altLang="zh-CN" b="1" dirty="0"/>
              <a:t>5</a:t>
            </a:r>
            <a:endParaRPr lang="zh-CN" altLang="en-US" b="1" dirty="0"/>
          </a:p>
        </p:txBody>
      </p:sp>
      <p:sp>
        <p:nvSpPr>
          <p:cNvPr id="116" name="文本框 115">
            <a:extLst>
              <a:ext uri="{FF2B5EF4-FFF2-40B4-BE49-F238E27FC236}">
                <a16:creationId xmlns:a16="http://schemas.microsoft.com/office/drawing/2014/main" id="{248DE699-5323-471E-B57B-AB53ADDDF576}"/>
              </a:ext>
            </a:extLst>
          </p:cNvPr>
          <p:cNvSpPr txBox="1"/>
          <p:nvPr/>
        </p:nvSpPr>
        <p:spPr>
          <a:xfrm>
            <a:off x="3827289" y="2837110"/>
            <a:ext cx="312906" cy="369332"/>
          </a:xfrm>
          <a:prstGeom prst="rect">
            <a:avLst/>
          </a:prstGeom>
          <a:solidFill>
            <a:srgbClr val="FFFF00"/>
          </a:solidFill>
        </p:spPr>
        <p:txBody>
          <a:bodyPr wrap="none" rtlCol="0">
            <a:spAutoFit/>
          </a:bodyPr>
          <a:lstStyle/>
          <a:p>
            <a:r>
              <a:rPr lang="en-US" altLang="zh-CN" b="1" dirty="0"/>
              <a:t>2</a:t>
            </a:r>
            <a:endParaRPr lang="zh-CN" altLang="en-US" b="1" dirty="0"/>
          </a:p>
        </p:txBody>
      </p:sp>
      <p:sp>
        <p:nvSpPr>
          <p:cNvPr id="118" name="文本框 117">
            <a:extLst>
              <a:ext uri="{FF2B5EF4-FFF2-40B4-BE49-F238E27FC236}">
                <a16:creationId xmlns:a16="http://schemas.microsoft.com/office/drawing/2014/main" id="{3000498B-86A3-4889-9DF5-776CD485EBB7}"/>
              </a:ext>
            </a:extLst>
          </p:cNvPr>
          <p:cNvSpPr txBox="1"/>
          <p:nvPr/>
        </p:nvSpPr>
        <p:spPr>
          <a:xfrm>
            <a:off x="2460494" y="1535719"/>
            <a:ext cx="312906" cy="369332"/>
          </a:xfrm>
          <a:prstGeom prst="rect">
            <a:avLst/>
          </a:prstGeom>
          <a:solidFill>
            <a:srgbClr val="FFFF00"/>
          </a:solidFill>
        </p:spPr>
        <p:txBody>
          <a:bodyPr wrap="none" rtlCol="0">
            <a:spAutoFit/>
          </a:bodyPr>
          <a:lstStyle/>
          <a:p>
            <a:r>
              <a:rPr lang="en-US" altLang="zh-CN" b="1" dirty="0"/>
              <a:t>8</a:t>
            </a:r>
            <a:endParaRPr lang="zh-CN" altLang="en-US" b="1" dirty="0"/>
          </a:p>
        </p:txBody>
      </p:sp>
      <p:sp>
        <p:nvSpPr>
          <p:cNvPr id="119" name="文本框 118">
            <a:extLst>
              <a:ext uri="{FF2B5EF4-FFF2-40B4-BE49-F238E27FC236}">
                <a16:creationId xmlns:a16="http://schemas.microsoft.com/office/drawing/2014/main" id="{98995A31-98BC-4D24-AD9D-D673E993C975}"/>
              </a:ext>
            </a:extLst>
          </p:cNvPr>
          <p:cNvSpPr txBox="1"/>
          <p:nvPr/>
        </p:nvSpPr>
        <p:spPr>
          <a:xfrm>
            <a:off x="2496955" y="2376263"/>
            <a:ext cx="312906" cy="369332"/>
          </a:xfrm>
          <a:prstGeom prst="rect">
            <a:avLst/>
          </a:prstGeom>
          <a:solidFill>
            <a:srgbClr val="FFFF00"/>
          </a:solidFill>
        </p:spPr>
        <p:txBody>
          <a:bodyPr wrap="none" rtlCol="0">
            <a:spAutoFit/>
          </a:bodyPr>
          <a:lstStyle/>
          <a:p>
            <a:r>
              <a:rPr lang="en-US" altLang="zh-CN" b="1" dirty="0"/>
              <a:t>7</a:t>
            </a:r>
            <a:endParaRPr lang="zh-CN" altLang="en-US" b="1" dirty="0"/>
          </a:p>
        </p:txBody>
      </p:sp>
      <p:sp>
        <p:nvSpPr>
          <p:cNvPr id="120" name="文本框 119">
            <a:extLst>
              <a:ext uri="{FF2B5EF4-FFF2-40B4-BE49-F238E27FC236}">
                <a16:creationId xmlns:a16="http://schemas.microsoft.com/office/drawing/2014/main" id="{551FBC84-8757-44EE-9BB0-7251CF2F320A}"/>
              </a:ext>
            </a:extLst>
          </p:cNvPr>
          <p:cNvSpPr txBox="1"/>
          <p:nvPr/>
        </p:nvSpPr>
        <p:spPr>
          <a:xfrm>
            <a:off x="2487500" y="3244334"/>
            <a:ext cx="441146" cy="369332"/>
          </a:xfrm>
          <a:prstGeom prst="rect">
            <a:avLst/>
          </a:prstGeom>
          <a:solidFill>
            <a:srgbClr val="FFFF00"/>
          </a:solidFill>
        </p:spPr>
        <p:txBody>
          <a:bodyPr wrap="none" rtlCol="0">
            <a:spAutoFit/>
          </a:bodyPr>
          <a:lstStyle/>
          <a:p>
            <a:r>
              <a:rPr lang="en-US" altLang="zh-CN" b="1" dirty="0"/>
              <a:t>12</a:t>
            </a:r>
            <a:endParaRPr lang="zh-CN" altLang="en-US" b="1" dirty="0"/>
          </a:p>
        </p:txBody>
      </p:sp>
      <p:sp>
        <p:nvSpPr>
          <p:cNvPr id="121" name="文本框 120">
            <a:extLst>
              <a:ext uri="{FF2B5EF4-FFF2-40B4-BE49-F238E27FC236}">
                <a16:creationId xmlns:a16="http://schemas.microsoft.com/office/drawing/2014/main" id="{344D06AE-BCC3-479B-B52A-8E9B408CE547}"/>
              </a:ext>
            </a:extLst>
          </p:cNvPr>
          <p:cNvSpPr txBox="1"/>
          <p:nvPr/>
        </p:nvSpPr>
        <p:spPr>
          <a:xfrm>
            <a:off x="1228206" y="1535719"/>
            <a:ext cx="441146" cy="369332"/>
          </a:xfrm>
          <a:prstGeom prst="rect">
            <a:avLst/>
          </a:prstGeom>
          <a:solidFill>
            <a:srgbClr val="FFFF00"/>
          </a:solidFill>
        </p:spPr>
        <p:txBody>
          <a:bodyPr wrap="none" rtlCol="0">
            <a:spAutoFit/>
          </a:bodyPr>
          <a:lstStyle/>
          <a:p>
            <a:r>
              <a:rPr lang="en-US" altLang="zh-CN" b="1" dirty="0"/>
              <a:t>20</a:t>
            </a:r>
            <a:endParaRPr lang="zh-CN" altLang="en-US" b="1" dirty="0"/>
          </a:p>
        </p:txBody>
      </p:sp>
      <p:sp>
        <p:nvSpPr>
          <p:cNvPr id="122" name="文本框 121">
            <a:extLst>
              <a:ext uri="{FF2B5EF4-FFF2-40B4-BE49-F238E27FC236}">
                <a16:creationId xmlns:a16="http://schemas.microsoft.com/office/drawing/2014/main" id="{0D25596D-3BAA-4F88-8FEE-B80ACCCB98F5}"/>
              </a:ext>
            </a:extLst>
          </p:cNvPr>
          <p:cNvSpPr txBox="1"/>
          <p:nvPr/>
        </p:nvSpPr>
        <p:spPr>
          <a:xfrm>
            <a:off x="1191493" y="2449737"/>
            <a:ext cx="441146" cy="369332"/>
          </a:xfrm>
          <a:prstGeom prst="rect">
            <a:avLst/>
          </a:prstGeom>
          <a:solidFill>
            <a:srgbClr val="FFFF00"/>
          </a:solidFill>
        </p:spPr>
        <p:txBody>
          <a:bodyPr wrap="none" rtlCol="0">
            <a:spAutoFit/>
          </a:bodyPr>
          <a:lstStyle/>
          <a:p>
            <a:r>
              <a:rPr lang="en-US" altLang="zh-CN" b="1" dirty="0"/>
              <a:t>14</a:t>
            </a:r>
            <a:endParaRPr lang="zh-CN" altLang="en-US" b="1" dirty="0"/>
          </a:p>
        </p:txBody>
      </p:sp>
      <p:sp>
        <p:nvSpPr>
          <p:cNvPr id="123" name="文本框 122">
            <a:extLst>
              <a:ext uri="{FF2B5EF4-FFF2-40B4-BE49-F238E27FC236}">
                <a16:creationId xmlns:a16="http://schemas.microsoft.com/office/drawing/2014/main" id="{8BC46184-16CE-42DF-8DED-707E2481E17A}"/>
              </a:ext>
            </a:extLst>
          </p:cNvPr>
          <p:cNvSpPr txBox="1"/>
          <p:nvPr/>
        </p:nvSpPr>
        <p:spPr>
          <a:xfrm>
            <a:off x="1054811" y="3281429"/>
            <a:ext cx="441146" cy="369332"/>
          </a:xfrm>
          <a:prstGeom prst="rect">
            <a:avLst/>
          </a:prstGeom>
          <a:solidFill>
            <a:srgbClr val="FFFF00"/>
          </a:solidFill>
        </p:spPr>
        <p:txBody>
          <a:bodyPr wrap="none" rtlCol="0">
            <a:spAutoFit/>
          </a:bodyPr>
          <a:lstStyle/>
          <a:p>
            <a:r>
              <a:rPr lang="en-US" altLang="zh-CN" b="1" dirty="0"/>
              <a:t>19</a:t>
            </a:r>
            <a:endParaRPr lang="zh-CN" altLang="en-US" b="1" dirty="0"/>
          </a:p>
        </p:txBody>
      </p:sp>
    </p:spTree>
    <p:extLst>
      <p:ext uri="{BB962C8B-B14F-4D97-AF65-F5344CB8AC3E}">
        <p14:creationId xmlns:p14="http://schemas.microsoft.com/office/powerpoint/2010/main" val="3306074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410D8A4-EC77-42D7-BB4D-2F8C4D79785A}"/>
              </a:ext>
            </a:extLst>
          </p:cNvPr>
          <p:cNvSpPr>
            <a:spLocks noGrp="1" noChangeArrowheads="1"/>
          </p:cNvSpPr>
          <p:nvPr>
            <p:ph type="title"/>
          </p:nvPr>
        </p:nvSpPr>
        <p:spPr/>
        <p:txBody>
          <a:bodyPr/>
          <a:lstStyle/>
          <a:p>
            <a:pPr eaLnBrk="1" hangingPunct="1"/>
            <a:r>
              <a:rPr lang="zh-CN" altLang="en-US" dirty="0"/>
              <a:t>基本方程</a:t>
            </a:r>
            <a:r>
              <a:rPr lang="en-US" altLang="zh-CN" dirty="0"/>
              <a:t>(</a:t>
            </a:r>
            <a:r>
              <a:rPr lang="zh-CN" altLang="en-US" dirty="0"/>
              <a:t>逆序解法</a:t>
            </a:r>
            <a:r>
              <a:rPr lang="en-US" altLang="zh-CN" dirty="0"/>
              <a:t>)</a:t>
            </a:r>
            <a:endParaRPr lang="zh-CN" altLang="en-US" dirty="0"/>
          </a:p>
        </p:txBody>
      </p:sp>
      <p:grpSp>
        <p:nvGrpSpPr>
          <p:cNvPr id="6" name="组合 5">
            <a:extLst>
              <a:ext uri="{FF2B5EF4-FFF2-40B4-BE49-F238E27FC236}">
                <a16:creationId xmlns:a16="http://schemas.microsoft.com/office/drawing/2014/main" id="{917288F3-8B9E-49A2-97A3-43F41BCE5143}"/>
              </a:ext>
            </a:extLst>
          </p:cNvPr>
          <p:cNvGrpSpPr/>
          <p:nvPr/>
        </p:nvGrpSpPr>
        <p:grpSpPr>
          <a:xfrm>
            <a:off x="179513" y="1086995"/>
            <a:ext cx="5125844" cy="3134093"/>
            <a:chOff x="179512" y="1086995"/>
            <a:chExt cx="7145157" cy="3514725"/>
          </a:xfrm>
        </p:grpSpPr>
        <p:grpSp>
          <p:nvGrpSpPr>
            <p:cNvPr id="53" name="组合 167">
              <a:extLst>
                <a:ext uri="{FF2B5EF4-FFF2-40B4-BE49-F238E27FC236}">
                  <a16:creationId xmlns:a16="http://schemas.microsoft.com/office/drawing/2014/main" id="{62D76B02-02B0-4E2E-98D8-A9F1F083A653}"/>
                </a:ext>
              </a:extLst>
            </p:cNvPr>
            <p:cNvGrpSpPr>
              <a:grpSpLocks/>
            </p:cNvGrpSpPr>
            <p:nvPr/>
          </p:nvGrpSpPr>
          <p:grpSpPr bwMode="auto">
            <a:xfrm>
              <a:off x="179512" y="1086995"/>
              <a:ext cx="7145157" cy="3514725"/>
              <a:chOff x="1281093" y="1412776"/>
              <a:chExt cx="7146767" cy="4536504"/>
            </a:xfrm>
          </p:grpSpPr>
          <p:sp>
            <p:nvSpPr>
              <p:cNvPr id="54" name="文本框 157">
                <a:extLst>
                  <a:ext uri="{FF2B5EF4-FFF2-40B4-BE49-F238E27FC236}">
                    <a16:creationId xmlns:a16="http://schemas.microsoft.com/office/drawing/2014/main" id="{F6F0CDA6-C872-498D-A50E-BA157765325D}"/>
                  </a:ext>
                </a:extLst>
              </p:cNvPr>
              <p:cNvSpPr txBox="1">
                <a:spLocks noChangeArrowheads="1"/>
              </p:cNvSpPr>
              <p:nvPr/>
            </p:nvSpPr>
            <p:spPr bwMode="auto">
              <a:xfrm>
                <a:off x="128109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1</a:t>
                </a:r>
                <a:endParaRPr lang="zh-CN" altLang="en-US" sz="1400" b="1"/>
              </a:p>
            </p:txBody>
          </p:sp>
          <p:sp>
            <p:nvSpPr>
              <p:cNvPr id="55" name="文本框 158">
                <a:extLst>
                  <a:ext uri="{FF2B5EF4-FFF2-40B4-BE49-F238E27FC236}">
                    <a16:creationId xmlns:a16="http://schemas.microsoft.com/office/drawing/2014/main" id="{767A5123-C596-4DD1-91AE-879A25E98825}"/>
                  </a:ext>
                </a:extLst>
              </p:cNvPr>
              <p:cNvSpPr txBox="1">
                <a:spLocks noChangeArrowheads="1"/>
              </p:cNvSpPr>
              <p:nvPr/>
            </p:nvSpPr>
            <p:spPr bwMode="auto">
              <a:xfrm>
                <a:off x="2823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2</a:t>
                </a:r>
                <a:endParaRPr lang="zh-CN" altLang="en-US" sz="1400" b="1"/>
              </a:p>
            </p:txBody>
          </p:sp>
          <p:sp>
            <p:nvSpPr>
              <p:cNvPr id="56" name="文本框 159">
                <a:extLst>
                  <a:ext uri="{FF2B5EF4-FFF2-40B4-BE49-F238E27FC236}">
                    <a16:creationId xmlns:a16="http://schemas.microsoft.com/office/drawing/2014/main" id="{7028B3F2-4745-4CAE-A062-73E6FFF71AC7}"/>
                  </a:ext>
                </a:extLst>
              </p:cNvPr>
              <p:cNvSpPr txBox="1">
                <a:spLocks noChangeArrowheads="1"/>
              </p:cNvSpPr>
              <p:nvPr/>
            </p:nvSpPr>
            <p:spPr bwMode="auto">
              <a:xfrm>
                <a:off x="457023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3</a:t>
                </a:r>
                <a:endParaRPr lang="zh-CN" altLang="en-US" sz="1400" b="1"/>
              </a:p>
            </p:txBody>
          </p:sp>
          <p:sp>
            <p:nvSpPr>
              <p:cNvPr id="57" name="文本框 160">
                <a:extLst>
                  <a:ext uri="{FF2B5EF4-FFF2-40B4-BE49-F238E27FC236}">
                    <a16:creationId xmlns:a16="http://schemas.microsoft.com/office/drawing/2014/main" id="{B04FD00D-C358-4733-AF41-54A8059E0C8B}"/>
                  </a:ext>
                </a:extLst>
              </p:cNvPr>
              <p:cNvSpPr txBox="1">
                <a:spLocks noChangeArrowheads="1"/>
              </p:cNvSpPr>
              <p:nvPr/>
            </p:nvSpPr>
            <p:spPr bwMode="auto">
              <a:xfrm>
                <a:off x="6244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4</a:t>
                </a:r>
                <a:endParaRPr lang="zh-CN" altLang="en-US" sz="1400" b="1"/>
              </a:p>
            </p:txBody>
          </p:sp>
          <p:sp>
            <p:nvSpPr>
              <p:cNvPr id="58" name="文本框 161">
                <a:extLst>
                  <a:ext uri="{FF2B5EF4-FFF2-40B4-BE49-F238E27FC236}">
                    <a16:creationId xmlns:a16="http://schemas.microsoft.com/office/drawing/2014/main" id="{78E516FA-C238-4C30-8117-7181D6C9AF4B}"/>
                  </a:ext>
                </a:extLst>
              </p:cNvPr>
              <p:cNvSpPr txBox="1">
                <a:spLocks noChangeArrowheads="1"/>
              </p:cNvSpPr>
              <p:nvPr/>
            </p:nvSpPr>
            <p:spPr bwMode="auto">
              <a:xfrm>
                <a:off x="7531176"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5</a:t>
                </a:r>
                <a:endParaRPr lang="zh-CN" altLang="en-US" sz="1400" b="1"/>
              </a:p>
            </p:txBody>
          </p:sp>
          <p:cxnSp>
            <p:nvCxnSpPr>
              <p:cNvPr id="59" name="直接连接符 58">
                <a:extLst>
                  <a:ext uri="{FF2B5EF4-FFF2-40B4-BE49-F238E27FC236}">
                    <a16:creationId xmlns:a16="http://schemas.microsoft.com/office/drawing/2014/main" id="{7D0355CC-B1B6-4416-9133-A8E4189964B5}"/>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D714960F-1958-4004-BA16-CE02059893EB}"/>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8D21216-3295-4975-B956-262140EC8DDF}"/>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3C3B10C-81D6-4D22-9351-1B4FE6B1D3F9}"/>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5" name="组合 1">
              <a:extLst>
                <a:ext uri="{FF2B5EF4-FFF2-40B4-BE49-F238E27FC236}">
                  <a16:creationId xmlns:a16="http://schemas.microsoft.com/office/drawing/2014/main" id="{F0B2A3BA-8200-4AD2-8BD6-C9E29EB259B8}"/>
                </a:ext>
              </a:extLst>
            </p:cNvPr>
            <p:cNvGrpSpPr>
              <a:grpSpLocks/>
            </p:cNvGrpSpPr>
            <p:nvPr/>
          </p:nvGrpSpPr>
          <p:grpSpPr bwMode="auto">
            <a:xfrm>
              <a:off x="352980" y="1896905"/>
              <a:ext cx="6696075" cy="2535251"/>
              <a:chOff x="1187450" y="1898650"/>
              <a:chExt cx="6696075" cy="3222625"/>
            </a:xfrm>
          </p:grpSpPr>
          <p:sp>
            <p:nvSpPr>
              <p:cNvPr id="66" name="Oval 5">
                <a:extLst>
                  <a:ext uri="{FF2B5EF4-FFF2-40B4-BE49-F238E27FC236}">
                    <a16:creationId xmlns:a16="http://schemas.microsoft.com/office/drawing/2014/main" id="{B843706A-2529-45DB-8621-D44C22AF4CAC}"/>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1</a:t>
                </a:r>
              </a:p>
            </p:txBody>
          </p:sp>
          <p:sp>
            <p:nvSpPr>
              <p:cNvPr id="67" name="Oval 6">
                <a:extLst>
                  <a:ext uri="{FF2B5EF4-FFF2-40B4-BE49-F238E27FC236}">
                    <a16:creationId xmlns:a16="http://schemas.microsoft.com/office/drawing/2014/main" id="{44422404-073F-427D-8CC9-69E00C5615E8}"/>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3</a:t>
                </a:r>
                <a:endParaRPr lang="en-US" altLang="zh-CN" sz="1400"/>
              </a:p>
            </p:txBody>
          </p:sp>
          <p:sp>
            <p:nvSpPr>
              <p:cNvPr id="68" name="Oval 7">
                <a:extLst>
                  <a:ext uri="{FF2B5EF4-FFF2-40B4-BE49-F238E27FC236}">
                    <a16:creationId xmlns:a16="http://schemas.microsoft.com/office/drawing/2014/main" id="{B53B0F59-667B-4FDE-AF14-E2F3D7638C92}"/>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dirty="0">
                    <a:latin typeface="Times New Roman" panose="02020603050405020304" pitchFamily="18" charset="0"/>
                  </a:rPr>
                  <a:t>D</a:t>
                </a:r>
                <a:r>
                  <a:rPr lang="en-US" altLang="zh-CN" sz="1400" baseline="-25000" dirty="0">
                    <a:latin typeface="Times New Roman" panose="02020603050405020304" pitchFamily="18" charset="0"/>
                  </a:rPr>
                  <a:t>1</a:t>
                </a:r>
              </a:p>
            </p:txBody>
          </p:sp>
          <p:sp>
            <p:nvSpPr>
              <p:cNvPr id="69" name="Oval 8">
                <a:extLst>
                  <a:ext uri="{FF2B5EF4-FFF2-40B4-BE49-F238E27FC236}">
                    <a16:creationId xmlns:a16="http://schemas.microsoft.com/office/drawing/2014/main" id="{2FD0BB59-B661-4FC6-9E90-9DCC8A0D8F6A}"/>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A</a:t>
                </a:r>
              </a:p>
            </p:txBody>
          </p:sp>
          <p:sp>
            <p:nvSpPr>
              <p:cNvPr id="70" name="Oval 9">
                <a:extLst>
                  <a:ext uri="{FF2B5EF4-FFF2-40B4-BE49-F238E27FC236}">
                    <a16:creationId xmlns:a16="http://schemas.microsoft.com/office/drawing/2014/main" id="{8CE2E3C1-DE7D-43C4-8D8F-E9670DC9856E}"/>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1</a:t>
                </a:r>
                <a:endParaRPr lang="en-US" altLang="zh-CN" sz="1400"/>
              </a:p>
            </p:txBody>
          </p:sp>
          <p:sp>
            <p:nvSpPr>
              <p:cNvPr id="71" name="Oval 10">
                <a:extLst>
                  <a:ext uri="{FF2B5EF4-FFF2-40B4-BE49-F238E27FC236}">
                    <a16:creationId xmlns:a16="http://schemas.microsoft.com/office/drawing/2014/main" id="{BA3C4B6C-98B6-4487-AE01-3175DCCB54F2}"/>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3</a:t>
                </a:r>
                <a:endParaRPr lang="en-US" altLang="zh-CN" sz="1400"/>
              </a:p>
            </p:txBody>
          </p:sp>
          <p:sp>
            <p:nvSpPr>
              <p:cNvPr id="72" name="Oval 11">
                <a:extLst>
                  <a:ext uri="{FF2B5EF4-FFF2-40B4-BE49-F238E27FC236}">
                    <a16:creationId xmlns:a16="http://schemas.microsoft.com/office/drawing/2014/main" id="{AB8F9DB6-6C91-4050-B105-ADD6C44A9492}"/>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2</a:t>
                </a:r>
                <a:endParaRPr lang="en-US" altLang="zh-CN" sz="1400"/>
              </a:p>
            </p:txBody>
          </p:sp>
          <p:sp>
            <p:nvSpPr>
              <p:cNvPr id="73" name="Oval 12">
                <a:extLst>
                  <a:ext uri="{FF2B5EF4-FFF2-40B4-BE49-F238E27FC236}">
                    <a16:creationId xmlns:a16="http://schemas.microsoft.com/office/drawing/2014/main" id="{228D351F-5A7A-4FD1-A4A9-85B1B856DA3A}"/>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D</a:t>
                </a:r>
                <a:r>
                  <a:rPr lang="en-US" altLang="zh-CN" sz="1400" baseline="-25000">
                    <a:latin typeface="Times New Roman" panose="02020603050405020304" pitchFamily="18" charset="0"/>
                  </a:rPr>
                  <a:t>2</a:t>
                </a:r>
                <a:endParaRPr lang="en-US" altLang="zh-CN" sz="1400"/>
              </a:p>
            </p:txBody>
          </p:sp>
          <p:sp>
            <p:nvSpPr>
              <p:cNvPr id="74" name="Oval 13">
                <a:extLst>
                  <a:ext uri="{FF2B5EF4-FFF2-40B4-BE49-F238E27FC236}">
                    <a16:creationId xmlns:a16="http://schemas.microsoft.com/office/drawing/2014/main" id="{97693D58-847D-4C2F-9C72-26E45C85BC43}"/>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E</a:t>
                </a:r>
                <a:endParaRPr lang="en-US" altLang="zh-CN" sz="1400"/>
              </a:p>
            </p:txBody>
          </p:sp>
          <p:sp>
            <p:nvSpPr>
              <p:cNvPr id="75" name="Oval 14">
                <a:extLst>
                  <a:ext uri="{FF2B5EF4-FFF2-40B4-BE49-F238E27FC236}">
                    <a16:creationId xmlns:a16="http://schemas.microsoft.com/office/drawing/2014/main" id="{3DDB5D2A-7BF9-4DC2-834B-99FB4A9941CC}"/>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2</a:t>
                </a:r>
                <a:endParaRPr lang="en-US" altLang="zh-CN" sz="1400"/>
              </a:p>
            </p:txBody>
          </p:sp>
          <p:sp>
            <p:nvSpPr>
              <p:cNvPr id="76" name="Line 15">
                <a:extLst>
                  <a:ext uri="{FF2B5EF4-FFF2-40B4-BE49-F238E27FC236}">
                    <a16:creationId xmlns:a16="http://schemas.microsoft.com/office/drawing/2014/main" id="{9ACFE650-A205-4B3F-971F-41969B0CFCC3}"/>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7" name="Line 16">
                <a:extLst>
                  <a:ext uri="{FF2B5EF4-FFF2-40B4-BE49-F238E27FC236}">
                    <a16:creationId xmlns:a16="http://schemas.microsoft.com/office/drawing/2014/main" id="{3BD4FD88-E594-4163-A0C9-C2C1C7B2AA36}"/>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8" name="Line 17">
                <a:extLst>
                  <a:ext uri="{FF2B5EF4-FFF2-40B4-BE49-F238E27FC236}">
                    <a16:creationId xmlns:a16="http://schemas.microsoft.com/office/drawing/2014/main" id="{48345FD2-5EF3-4821-9ADA-34CAD86F5B7D}"/>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9" name="Line 18">
                <a:extLst>
                  <a:ext uri="{FF2B5EF4-FFF2-40B4-BE49-F238E27FC236}">
                    <a16:creationId xmlns:a16="http://schemas.microsoft.com/office/drawing/2014/main" id="{EFBB4862-5CBF-410B-98A5-16BF43F59B6F}"/>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0" name="Line 19">
                <a:extLst>
                  <a:ext uri="{FF2B5EF4-FFF2-40B4-BE49-F238E27FC236}">
                    <a16:creationId xmlns:a16="http://schemas.microsoft.com/office/drawing/2014/main" id="{37BB3FEA-D15A-48D4-8DAA-A6C2F45A877F}"/>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1" name="Line 20">
                <a:extLst>
                  <a:ext uri="{FF2B5EF4-FFF2-40B4-BE49-F238E27FC236}">
                    <a16:creationId xmlns:a16="http://schemas.microsoft.com/office/drawing/2014/main" id="{9A1E5F5B-8666-4A45-905F-9C839E8E6B86}"/>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2" name="Line 21">
                <a:extLst>
                  <a:ext uri="{FF2B5EF4-FFF2-40B4-BE49-F238E27FC236}">
                    <a16:creationId xmlns:a16="http://schemas.microsoft.com/office/drawing/2014/main" id="{BC30B9DA-4712-4BF1-8272-80C7C77CFEB3}"/>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3" name="Line 22">
                <a:extLst>
                  <a:ext uri="{FF2B5EF4-FFF2-40B4-BE49-F238E27FC236}">
                    <a16:creationId xmlns:a16="http://schemas.microsoft.com/office/drawing/2014/main" id="{AFD5AE01-339E-447C-A118-69B088AA33FE}"/>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4" name="Line 23">
                <a:extLst>
                  <a:ext uri="{FF2B5EF4-FFF2-40B4-BE49-F238E27FC236}">
                    <a16:creationId xmlns:a16="http://schemas.microsoft.com/office/drawing/2014/main" id="{936A9AA4-7461-4FA0-8520-1E4F3CC05BD3}"/>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5" name="Line 24">
                <a:extLst>
                  <a:ext uri="{FF2B5EF4-FFF2-40B4-BE49-F238E27FC236}">
                    <a16:creationId xmlns:a16="http://schemas.microsoft.com/office/drawing/2014/main" id="{B7C52BFD-DDC9-4EC3-85ED-DCC503B50898}"/>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6" name="Line 25">
                <a:extLst>
                  <a:ext uri="{FF2B5EF4-FFF2-40B4-BE49-F238E27FC236}">
                    <a16:creationId xmlns:a16="http://schemas.microsoft.com/office/drawing/2014/main" id="{EF19E01B-6549-4FE8-B8AD-0F105B694CF3}"/>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7" name="Line 26">
                <a:extLst>
                  <a:ext uri="{FF2B5EF4-FFF2-40B4-BE49-F238E27FC236}">
                    <a16:creationId xmlns:a16="http://schemas.microsoft.com/office/drawing/2014/main" id="{A63894AA-455E-412A-8704-CF4CCB423CDB}"/>
                  </a:ext>
                </a:extLst>
              </p:cNvPr>
              <p:cNvSpPr>
                <a:spLocks noChangeShapeType="1"/>
              </p:cNvSpPr>
              <p:nvPr/>
            </p:nvSpPr>
            <p:spPr bwMode="auto">
              <a:xfrm>
                <a:off x="4867275" y="359886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8" name="Line 27">
                <a:extLst>
                  <a:ext uri="{FF2B5EF4-FFF2-40B4-BE49-F238E27FC236}">
                    <a16:creationId xmlns:a16="http://schemas.microsoft.com/office/drawing/2014/main" id="{6762778B-FBCF-4017-B870-3461C13A07E6}"/>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9" name="Line 28">
                <a:extLst>
                  <a:ext uri="{FF2B5EF4-FFF2-40B4-BE49-F238E27FC236}">
                    <a16:creationId xmlns:a16="http://schemas.microsoft.com/office/drawing/2014/main" id="{A4FEF310-36B4-494B-B472-1D5E433D6368}"/>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0" name="Line 29">
                <a:extLst>
                  <a:ext uri="{FF2B5EF4-FFF2-40B4-BE49-F238E27FC236}">
                    <a16:creationId xmlns:a16="http://schemas.microsoft.com/office/drawing/2014/main" id="{4F0349A8-3778-4B5E-B023-855CFAD737F8}"/>
                  </a:ext>
                </a:extLst>
              </p:cNvPr>
              <p:cNvSpPr>
                <a:spLocks noChangeShapeType="1"/>
              </p:cNvSpPr>
              <p:nvPr/>
            </p:nvSpPr>
            <p:spPr bwMode="auto">
              <a:xfrm flipV="1">
                <a:off x="3074988" y="234950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1" name="Line 30">
                <a:extLst>
                  <a:ext uri="{FF2B5EF4-FFF2-40B4-BE49-F238E27FC236}">
                    <a16:creationId xmlns:a16="http://schemas.microsoft.com/office/drawing/2014/main" id="{27D3D704-6E76-4EED-A736-3801B4418464}"/>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2" name="Line 31">
                <a:extLst>
                  <a:ext uri="{FF2B5EF4-FFF2-40B4-BE49-F238E27FC236}">
                    <a16:creationId xmlns:a16="http://schemas.microsoft.com/office/drawing/2014/main" id="{09E7DEC4-20D9-47AE-B1B8-13E8EC65008D}"/>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3" name="Line 32">
                <a:extLst>
                  <a:ext uri="{FF2B5EF4-FFF2-40B4-BE49-F238E27FC236}">
                    <a16:creationId xmlns:a16="http://schemas.microsoft.com/office/drawing/2014/main" id="{F43D41FF-D13D-4151-93D5-A1A1F55806B3}"/>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4" name="Line 33">
                <a:extLst>
                  <a:ext uri="{FF2B5EF4-FFF2-40B4-BE49-F238E27FC236}">
                    <a16:creationId xmlns:a16="http://schemas.microsoft.com/office/drawing/2014/main" id="{CB468DFB-C5D4-438B-B105-D91924F348D1}"/>
                  </a:ext>
                </a:extLst>
              </p:cNvPr>
              <p:cNvSpPr>
                <a:spLocks noChangeShapeType="1"/>
              </p:cNvSpPr>
              <p:nvPr/>
            </p:nvSpPr>
            <p:spPr bwMode="auto">
              <a:xfrm>
                <a:off x="4843463" y="240347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5" name="Line 34">
                <a:extLst>
                  <a:ext uri="{FF2B5EF4-FFF2-40B4-BE49-F238E27FC236}">
                    <a16:creationId xmlns:a16="http://schemas.microsoft.com/office/drawing/2014/main" id="{C082A2A0-8CC8-456C-9B8A-1742E62C44B1}"/>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6" name="Text Box 35">
                <a:extLst>
                  <a:ext uri="{FF2B5EF4-FFF2-40B4-BE49-F238E27FC236}">
                    <a16:creationId xmlns:a16="http://schemas.microsoft.com/office/drawing/2014/main" id="{FB970BED-0380-43D4-8F20-CFB9908C3877}"/>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2</a:t>
                </a:r>
              </a:p>
            </p:txBody>
          </p:sp>
          <p:sp>
            <p:nvSpPr>
              <p:cNvPr id="97" name="Text Box 36">
                <a:extLst>
                  <a:ext uri="{FF2B5EF4-FFF2-40B4-BE49-F238E27FC236}">
                    <a16:creationId xmlns:a16="http://schemas.microsoft.com/office/drawing/2014/main" id="{61BA6AFA-C672-421D-AE39-09AB019948B4}"/>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5</a:t>
                </a:r>
              </a:p>
            </p:txBody>
          </p:sp>
          <p:sp>
            <p:nvSpPr>
              <p:cNvPr id="98" name="Text Box 37">
                <a:extLst>
                  <a:ext uri="{FF2B5EF4-FFF2-40B4-BE49-F238E27FC236}">
                    <a16:creationId xmlns:a16="http://schemas.microsoft.com/office/drawing/2014/main" id="{0152A3AD-7A67-4FA6-9283-C0640EA68B06}"/>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a:t>
                </a:r>
              </a:p>
            </p:txBody>
          </p:sp>
          <p:sp>
            <p:nvSpPr>
              <p:cNvPr id="99" name="Text Box 38">
                <a:extLst>
                  <a:ext uri="{FF2B5EF4-FFF2-40B4-BE49-F238E27FC236}">
                    <a16:creationId xmlns:a16="http://schemas.microsoft.com/office/drawing/2014/main" id="{526AAA91-ED03-4287-AAD1-D1508151A1E1}"/>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12</a:t>
                </a:r>
                <a:endParaRPr lang="en-US" altLang="zh-CN" sz="1400"/>
              </a:p>
            </p:txBody>
          </p:sp>
          <p:sp>
            <p:nvSpPr>
              <p:cNvPr id="100" name="Text Box 39">
                <a:extLst>
                  <a:ext uri="{FF2B5EF4-FFF2-40B4-BE49-F238E27FC236}">
                    <a16:creationId xmlns:a16="http://schemas.microsoft.com/office/drawing/2014/main" id="{4F8CBF0D-F2D6-492D-AE9F-D2554AA93AEB}"/>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14</a:t>
                </a:r>
              </a:p>
            </p:txBody>
          </p:sp>
          <p:sp>
            <p:nvSpPr>
              <p:cNvPr id="101" name="Text Box 40">
                <a:extLst>
                  <a:ext uri="{FF2B5EF4-FFF2-40B4-BE49-F238E27FC236}">
                    <a16:creationId xmlns:a16="http://schemas.microsoft.com/office/drawing/2014/main" id="{3A51B4AF-B230-4FE7-82B2-319F6A9F643C}"/>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10</a:t>
                </a:r>
              </a:p>
            </p:txBody>
          </p:sp>
          <p:sp>
            <p:nvSpPr>
              <p:cNvPr id="102" name="Text Box 41">
                <a:extLst>
                  <a:ext uri="{FF2B5EF4-FFF2-40B4-BE49-F238E27FC236}">
                    <a16:creationId xmlns:a16="http://schemas.microsoft.com/office/drawing/2014/main" id="{A559251A-0A22-42B4-8688-B5F7DDFC0D91}"/>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6</a:t>
                </a:r>
              </a:p>
            </p:txBody>
          </p:sp>
          <p:sp>
            <p:nvSpPr>
              <p:cNvPr id="103" name="Text Box 42">
                <a:extLst>
                  <a:ext uri="{FF2B5EF4-FFF2-40B4-BE49-F238E27FC236}">
                    <a16:creationId xmlns:a16="http://schemas.microsoft.com/office/drawing/2014/main" id="{B9076C44-3E52-4AC9-B5F5-B0778D4B6C64}"/>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04" name="Text Box 43">
                <a:extLst>
                  <a:ext uri="{FF2B5EF4-FFF2-40B4-BE49-F238E27FC236}">
                    <a16:creationId xmlns:a16="http://schemas.microsoft.com/office/drawing/2014/main" id="{91F6A142-8C27-46F9-B3CE-CDCEE6EE8F5D}"/>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4</a:t>
                </a:r>
              </a:p>
            </p:txBody>
          </p:sp>
          <p:sp>
            <p:nvSpPr>
              <p:cNvPr id="105" name="Text Box 44">
                <a:extLst>
                  <a:ext uri="{FF2B5EF4-FFF2-40B4-BE49-F238E27FC236}">
                    <a16:creationId xmlns:a16="http://schemas.microsoft.com/office/drawing/2014/main" id="{1F8C8EEA-D82E-4E33-9303-A2BD035C3724}"/>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13</a:t>
                </a:r>
              </a:p>
            </p:txBody>
          </p:sp>
          <p:sp>
            <p:nvSpPr>
              <p:cNvPr id="106" name="Text Box 45">
                <a:extLst>
                  <a:ext uri="{FF2B5EF4-FFF2-40B4-BE49-F238E27FC236}">
                    <a16:creationId xmlns:a16="http://schemas.microsoft.com/office/drawing/2014/main" id="{A4AB083D-8A41-4BD7-9140-E289DDD772D6}"/>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11</a:t>
                </a:r>
              </a:p>
            </p:txBody>
          </p:sp>
          <p:sp>
            <p:nvSpPr>
              <p:cNvPr id="107" name="Text Box 46">
                <a:extLst>
                  <a:ext uri="{FF2B5EF4-FFF2-40B4-BE49-F238E27FC236}">
                    <a16:creationId xmlns:a16="http://schemas.microsoft.com/office/drawing/2014/main" id="{2E5C2AD3-73AD-41C3-A0E0-E0F8A5CF7FC5}"/>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12</a:t>
                </a:r>
              </a:p>
            </p:txBody>
          </p:sp>
          <p:sp>
            <p:nvSpPr>
              <p:cNvPr id="108" name="Text Box 47">
                <a:extLst>
                  <a:ext uri="{FF2B5EF4-FFF2-40B4-BE49-F238E27FC236}">
                    <a16:creationId xmlns:a16="http://schemas.microsoft.com/office/drawing/2014/main" id="{39B63639-ADA3-4818-8823-7106B393B62C}"/>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3</a:t>
                </a:r>
              </a:p>
            </p:txBody>
          </p:sp>
          <p:sp>
            <p:nvSpPr>
              <p:cNvPr id="109" name="Text Box 48">
                <a:extLst>
                  <a:ext uri="{FF2B5EF4-FFF2-40B4-BE49-F238E27FC236}">
                    <a16:creationId xmlns:a16="http://schemas.microsoft.com/office/drawing/2014/main" id="{5C840ED5-CE24-4278-B558-5E6EE76E2B4C}"/>
                  </a:ext>
                </a:extLst>
              </p:cNvPr>
              <p:cNvSpPr txBox="1">
                <a:spLocks noChangeArrowheads="1"/>
              </p:cNvSpPr>
              <p:nvPr/>
            </p:nvSpPr>
            <p:spPr bwMode="auto">
              <a:xfrm>
                <a:off x="4867275" y="25622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9</a:t>
                </a:r>
              </a:p>
            </p:txBody>
          </p:sp>
          <p:sp>
            <p:nvSpPr>
              <p:cNvPr id="110" name="Text Box 49">
                <a:extLst>
                  <a:ext uri="{FF2B5EF4-FFF2-40B4-BE49-F238E27FC236}">
                    <a16:creationId xmlns:a16="http://schemas.microsoft.com/office/drawing/2014/main" id="{5A9A0313-F7F2-491D-8E70-BD84D59F380C}"/>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6</a:t>
                </a:r>
              </a:p>
            </p:txBody>
          </p:sp>
          <p:sp>
            <p:nvSpPr>
              <p:cNvPr id="111" name="Text Box 50">
                <a:extLst>
                  <a:ext uri="{FF2B5EF4-FFF2-40B4-BE49-F238E27FC236}">
                    <a16:creationId xmlns:a16="http://schemas.microsoft.com/office/drawing/2014/main" id="{7D4559D1-3B20-40CE-B0AE-10C54704F84A}"/>
                  </a:ext>
                </a:extLst>
              </p:cNvPr>
              <p:cNvSpPr txBox="1">
                <a:spLocks noChangeArrowheads="1"/>
              </p:cNvSpPr>
              <p:nvPr/>
            </p:nvSpPr>
            <p:spPr bwMode="auto">
              <a:xfrm>
                <a:off x="5011738" y="36512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2" name="Text Box 51">
                <a:extLst>
                  <a:ext uri="{FF2B5EF4-FFF2-40B4-BE49-F238E27FC236}">
                    <a16:creationId xmlns:a16="http://schemas.microsoft.com/office/drawing/2014/main" id="{3098518A-5BE9-4DD1-B33B-962D840447F2}"/>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8</a:t>
                </a:r>
              </a:p>
            </p:txBody>
          </p:sp>
          <p:sp>
            <p:nvSpPr>
              <p:cNvPr id="113" name="Text Box 52">
                <a:extLst>
                  <a:ext uri="{FF2B5EF4-FFF2-40B4-BE49-F238E27FC236}">
                    <a16:creationId xmlns:a16="http://schemas.microsoft.com/office/drawing/2014/main" id="{9CA985F6-556F-4E23-81E3-2824F9A73B49}"/>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14" name="Text Box 53">
                <a:extLst>
                  <a:ext uri="{FF2B5EF4-FFF2-40B4-BE49-F238E27FC236}">
                    <a16:creationId xmlns:a16="http://schemas.microsoft.com/office/drawing/2014/main" id="{3A713304-A894-4855-AB22-BC335C12F075}"/>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5" name="Text Box 54">
                <a:extLst>
                  <a:ext uri="{FF2B5EF4-FFF2-40B4-BE49-F238E27FC236}">
                    <a16:creationId xmlns:a16="http://schemas.microsoft.com/office/drawing/2014/main" id="{1B4F6411-3DC7-4540-89D6-77045F27BC05}"/>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2</a:t>
                </a:r>
              </a:p>
            </p:txBody>
          </p:sp>
        </p:grpSp>
      </p:gr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2C6C8D23-F9E9-4C9B-AC25-D4F712CF2F24}"/>
                  </a:ext>
                </a:extLst>
              </p:cNvPr>
              <p:cNvSpPr txBox="1"/>
              <p:nvPr/>
            </p:nvSpPr>
            <p:spPr>
              <a:xfrm>
                <a:off x="127317" y="4368895"/>
                <a:ext cx="8520217" cy="8854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1</m:t>
                              </m:r>
                            </m:sub>
                          </m:sSub>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𝐴</m:t>
                          </m:r>
                        </m:e>
                      </m:d>
                      <m:r>
                        <a:rPr lang="en-US" altLang="zh-CN" sz="3200" b="0" i="1" smtClean="0">
                          <a:latin typeface="Cambria Math" panose="02040503050406030204" pitchFamily="18" charset="0"/>
                        </a:rPr>
                        <m:t>=</m:t>
                      </m:r>
                      <m:limLow>
                        <m:limLowPr>
                          <m:ctrlPr>
                            <a:rPr lang="zh-CN" altLang="en-US" sz="3200" i="1">
                              <a:solidFill>
                                <a:srgbClr val="000000"/>
                              </a:solidFill>
                              <a:latin typeface="Cambria Math" panose="02040503050406030204" pitchFamily="18" charset="0"/>
                            </a:rPr>
                          </m:ctrlPr>
                        </m:limLowPr>
                        <m:e>
                          <m:r>
                            <m:rPr>
                              <m:nor/>
                            </m:rPr>
                            <a:rPr lang="zh-CN" altLang="en-US" sz="3200">
                              <a:solidFill>
                                <a:srgbClr val="000000"/>
                              </a:solidFill>
                              <a:latin typeface="Cambria Math" panose="02040503050406030204" pitchFamily="18" charset="0"/>
                            </a:rPr>
                            <m:t>opt</m:t>
                          </m:r>
                        </m:e>
                        <m:lim>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r>
                            <a:rPr lang="en-US" altLang="zh-CN" sz="3200" b="0" i="1" smtClean="0">
                              <a:latin typeface="Cambria Math" panose="02040503050406030204" pitchFamily="18" charset="0"/>
                            </a:rPr>
                            <m:t>𝐴</m:t>
                          </m:r>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r>
                                <a:rPr lang="en-US" altLang="zh-CN" sz="3200" b="0" i="1" smtClean="0">
                                  <a:latin typeface="Cambria Math" panose="02040503050406030204" pitchFamily="18" charset="0"/>
                                </a:rPr>
                                <m:t>𝐴</m:t>
                              </m:r>
                            </m:e>
                          </m:d>
                        </m:lim>
                      </m:limLow>
                      <m:r>
                        <a:rPr lang="zh-CN" altLang="en-US" sz="3200" i="1">
                          <a:solidFill>
                            <a:srgbClr val="000000"/>
                          </a:solidFill>
                          <a:latin typeface="Cambria Math" panose="02040503050406030204" pitchFamily="18" charset="0"/>
                        </a:rPr>
                        <m:t> [</m:t>
                      </m:r>
                      <m:r>
                        <a:rPr lang="en-US" altLang="zh-CN" sz="3200" b="1" i="1">
                          <a:solidFill>
                            <a:srgbClr val="000000"/>
                          </a:solidFill>
                          <a:latin typeface="Cambria Math" panose="02040503050406030204" pitchFamily="18" charset="0"/>
                        </a:rPr>
                        <m:t>𝒗</m:t>
                      </m:r>
                      <m:r>
                        <a:rPr lang="zh-CN" altLang="en-US" sz="3200" i="1">
                          <a:solidFill>
                            <a:srgbClr val="000000"/>
                          </a:solidFill>
                          <a:latin typeface="Cambria Math" panose="02040503050406030204" pitchFamily="18" charset="0"/>
                        </a:rPr>
                        <m:t> (</m:t>
                      </m:r>
                      <m:r>
                        <a:rPr lang="en-US" altLang="zh-CN" sz="3200" b="0" i="1" smtClean="0">
                          <a:latin typeface="Cambria Math" panose="02040503050406030204" pitchFamily="18" charset="0"/>
                        </a:rPr>
                        <m:t>𝐴</m:t>
                      </m:r>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𝒖</m:t>
                      </m:r>
                      <m:r>
                        <a:rPr lang="en-US" altLang="zh-CN" sz="3200" b="1" i="1">
                          <a:solidFill>
                            <a:srgbClr val="000000"/>
                          </a:solidFill>
                          <a:latin typeface="Cambria Math" panose="02040503050406030204" pitchFamily="18" charset="0"/>
                        </a:rPr>
                        <m:t>(</m:t>
                      </m:r>
                      <m:r>
                        <a:rPr lang="en-US" altLang="zh-CN" sz="3200" b="0" i="1" smtClean="0">
                          <a:latin typeface="Cambria Math" panose="02040503050406030204" pitchFamily="18" charset="0"/>
                        </a:rPr>
                        <m:t>𝐴</m:t>
                      </m:r>
                      <m:r>
                        <a:rPr lang="en-US" altLang="zh-CN" sz="3200" b="1"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𝑓</m:t>
                      </m:r>
                      <m:r>
                        <a:rPr lang="zh-CN" altLang="en-US"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r>
                        <a:rPr lang="en-US" altLang="zh-CN" sz="3200" b="0" i="1" smtClean="0">
                          <a:latin typeface="Cambria Math" panose="02040503050406030204" pitchFamily="18" charset="0"/>
                        </a:rPr>
                        <m:t>𝐴</m:t>
                      </m:r>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117" name="文本框 116">
                <a:extLst>
                  <a:ext uri="{FF2B5EF4-FFF2-40B4-BE49-F238E27FC236}">
                    <a16:creationId xmlns:a16="http://schemas.microsoft.com/office/drawing/2014/main" id="{2C6C8D23-F9E9-4C9B-AC25-D4F712CF2F24}"/>
                  </a:ext>
                </a:extLst>
              </p:cNvPr>
              <p:cNvSpPr txBox="1">
                <a:spLocks noRot="1" noChangeAspect="1" noMove="1" noResize="1" noEditPoints="1" noAdjustHandles="1" noChangeArrowheads="1" noChangeShapeType="1" noTextEdit="1"/>
              </p:cNvSpPr>
              <p:nvPr/>
            </p:nvSpPr>
            <p:spPr>
              <a:xfrm>
                <a:off x="127317" y="4368895"/>
                <a:ext cx="8520217" cy="88549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72B9465-FBFF-4AF5-8CE7-B54D23BBAACB}"/>
                  </a:ext>
                </a:extLst>
              </p:cNvPr>
              <p:cNvSpPr/>
              <p:nvPr/>
            </p:nvSpPr>
            <p:spPr>
              <a:xfrm>
                <a:off x="251312" y="5294693"/>
                <a:ext cx="382200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𝐶</m:t>
                              </m:r>
                            </m:e>
                            <m:sub>
                              <m:r>
                                <a:rPr lang="en-US" altLang="zh-CN" sz="3200" b="0" i="1" smtClean="0">
                                  <a:latin typeface="Cambria Math" panose="02040503050406030204" pitchFamily="18" charset="0"/>
                                </a:rPr>
                                <m:t>1</m:t>
                              </m:r>
                            </m:sub>
                          </m:sSub>
                        </m:e>
                      </m:d>
                      <m:r>
                        <a:rPr lang="en-US" altLang="zh-CN" sz="3200" b="0" i="1" smtClean="0">
                          <a:solidFill>
                            <a:srgbClr val="000000"/>
                          </a:solidFill>
                          <a:latin typeface="Cambria Math" panose="02040503050406030204" pitchFamily="18" charset="0"/>
                        </a:rPr>
                        <m:t>={</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𝐵</m:t>
                          </m:r>
                        </m:e>
                        <m:sub>
                          <m:r>
                            <a:rPr lang="en-US" altLang="zh-CN" sz="3200" b="0" i="1" smtClean="0">
                              <a:solidFill>
                                <a:srgbClr val="000000"/>
                              </a:solidFill>
                              <a:latin typeface="Cambria Math" panose="02040503050406030204" pitchFamily="18" charset="0"/>
                            </a:rPr>
                            <m:t>1</m:t>
                          </m:r>
                        </m:sub>
                      </m:sSub>
                      <m:r>
                        <a:rPr lang="en-US" altLang="zh-CN" sz="3200" b="0" i="1" smtClean="0">
                          <a:solidFill>
                            <a:srgbClr val="000000"/>
                          </a:solidFill>
                          <a:latin typeface="Cambria Math" panose="02040503050406030204" pitchFamily="18" charset="0"/>
                        </a:rPr>
                        <m:t>,</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𝐵</m:t>
                          </m:r>
                        </m:e>
                        <m:sub>
                          <m:r>
                            <a:rPr lang="en-US" altLang="zh-CN" sz="3200" b="0" i="1" smtClean="0">
                              <a:solidFill>
                                <a:srgbClr val="000000"/>
                              </a:solidFill>
                              <a:latin typeface="Cambria Math" panose="02040503050406030204" pitchFamily="18" charset="0"/>
                            </a:rPr>
                            <m:t>2</m:t>
                          </m:r>
                        </m:sub>
                      </m:sSub>
                      <m:r>
                        <a:rPr lang="en-US" altLang="zh-CN" sz="3200" b="0" i="1" smtClean="0">
                          <a:solidFill>
                            <a:srgbClr val="000000"/>
                          </a:solidFill>
                          <a:latin typeface="Cambria Math" panose="02040503050406030204" pitchFamily="18" charset="0"/>
                        </a:rPr>
                        <m:t>,</m:t>
                      </m:r>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𝐵</m:t>
                          </m:r>
                        </m:e>
                        <m:sub>
                          <m:r>
                            <a:rPr lang="en-US" altLang="zh-CN" sz="3200" b="0" i="1" smtClean="0">
                              <a:solidFill>
                                <a:srgbClr val="000000"/>
                              </a:solidFill>
                              <a:latin typeface="Cambria Math" panose="02040503050406030204" pitchFamily="18" charset="0"/>
                            </a:rPr>
                            <m:t>3</m:t>
                          </m:r>
                        </m:sub>
                      </m:sSub>
                      <m:r>
                        <a:rPr lang="en-US" altLang="zh-CN" sz="3200" b="0" i="1" smtClean="0">
                          <a:solidFill>
                            <a:srgbClr val="000000"/>
                          </a:solidFill>
                          <a:latin typeface="Cambria Math" panose="02040503050406030204" pitchFamily="18" charset="0"/>
                        </a:rPr>
                        <m:t>}</m:t>
                      </m:r>
                    </m:oMath>
                  </m:oMathPara>
                </a14:m>
                <a:endParaRPr lang="zh-CN" altLang="en-US" sz="3200" dirty="0"/>
              </a:p>
            </p:txBody>
          </p:sp>
        </mc:Choice>
        <mc:Fallback xmlns="">
          <p:sp>
            <p:nvSpPr>
              <p:cNvPr id="8" name="矩形 7">
                <a:extLst>
                  <a:ext uri="{FF2B5EF4-FFF2-40B4-BE49-F238E27FC236}">
                    <a16:creationId xmlns:a16="http://schemas.microsoft.com/office/drawing/2014/main" id="{C72B9465-FBFF-4AF5-8CE7-B54D23BBAACB}"/>
                  </a:ext>
                </a:extLst>
              </p:cNvPr>
              <p:cNvSpPr>
                <a:spLocks noRot="1" noChangeAspect="1" noMove="1" noResize="1" noEditPoints="1" noAdjustHandles="1" noChangeArrowheads="1" noChangeShapeType="1" noTextEdit="1"/>
              </p:cNvSpPr>
              <p:nvPr/>
            </p:nvSpPr>
            <p:spPr>
              <a:xfrm>
                <a:off x="251312" y="5294693"/>
                <a:ext cx="3822007"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D4ACB5D-B924-44B9-96F8-FAEA4083A765}"/>
                  </a:ext>
                </a:extLst>
              </p:cNvPr>
              <p:cNvSpPr/>
              <p:nvPr/>
            </p:nvSpPr>
            <p:spPr>
              <a:xfrm>
                <a:off x="127317" y="5936998"/>
                <a:ext cx="8244565"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1</m:t>
                              </m:r>
                            </m:sub>
                          </m:sSub>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𝐴</m:t>
                          </m:r>
                        </m:e>
                      </m:d>
                      <m:r>
                        <a:rPr lang="en-US" altLang="zh-CN" sz="3200" b="0" i="1" smtClean="0">
                          <a:latin typeface="Cambria Math" panose="02040503050406030204" pitchFamily="18" charset="0"/>
                        </a:rPr>
                        <m:t>=</m:t>
                      </m:r>
                      <m:func>
                        <m:funcPr>
                          <m:ctrlPr>
                            <a:rPr lang="en-US" altLang="zh-CN" sz="3200" b="0" i="1" smtClean="0">
                              <a:latin typeface="Cambria Math" panose="02040503050406030204" pitchFamily="18" charset="0"/>
                            </a:rPr>
                          </m:ctrlPr>
                        </m:funcPr>
                        <m:fName>
                          <m:r>
                            <m:rPr>
                              <m:sty m:val="p"/>
                            </m:rPr>
                            <a:rPr lang="en-US" altLang="zh-CN" sz="3200" b="0" i="0" smtClean="0">
                              <a:latin typeface="Cambria Math" panose="02040503050406030204" pitchFamily="18" charset="0"/>
                            </a:rPr>
                            <m:t>min</m:t>
                          </m:r>
                        </m:fName>
                        <m:e>
                          <m:r>
                            <a:rPr lang="en-US" altLang="zh-CN" sz="3200" b="0" i="1" smtClean="0">
                              <a:latin typeface="Cambria Math" panose="02040503050406030204" pitchFamily="18" charset="0"/>
                            </a:rPr>
                            <m:t>{2+20,5+14,1+19}</m:t>
                          </m:r>
                        </m:e>
                      </m:func>
                      <m:r>
                        <a:rPr lang="en-US" altLang="zh-CN" sz="3200" b="0" i="1" smtClean="0">
                          <a:latin typeface="Cambria Math" panose="02040503050406030204" pitchFamily="18" charset="0"/>
                        </a:rPr>
                        <m:t>=19</m:t>
                      </m:r>
                    </m:oMath>
                  </m:oMathPara>
                </a14:m>
                <a:endParaRPr lang="zh-CN" altLang="en-US" sz="3200" dirty="0"/>
              </a:p>
            </p:txBody>
          </p:sp>
        </mc:Choice>
        <mc:Fallback xmlns="">
          <p:sp>
            <p:nvSpPr>
              <p:cNvPr id="9" name="矩形 8">
                <a:extLst>
                  <a:ext uri="{FF2B5EF4-FFF2-40B4-BE49-F238E27FC236}">
                    <a16:creationId xmlns:a16="http://schemas.microsoft.com/office/drawing/2014/main" id="{FD4ACB5D-B924-44B9-96F8-FAEA4083A765}"/>
                  </a:ext>
                </a:extLst>
              </p:cNvPr>
              <p:cNvSpPr>
                <a:spLocks noRot="1" noChangeAspect="1" noMove="1" noResize="1" noEditPoints="1" noAdjustHandles="1" noChangeArrowheads="1" noChangeShapeType="1" noTextEdit="1"/>
              </p:cNvSpPr>
              <p:nvPr/>
            </p:nvSpPr>
            <p:spPr>
              <a:xfrm>
                <a:off x="127317" y="5936998"/>
                <a:ext cx="8244565" cy="584775"/>
              </a:xfrm>
              <a:prstGeom prst="rect">
                <a:avLst/>
              </a:prstGeom>
              <a:blipFill>
                <a:blip r:embed="rId4"/>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749FE1E8-1EC1-4910-BC47-9513FFB72621}"/>
              </a:ext>
            </a:extLst>
          </p:cNvPr>
          <p:cNvSpPr txBox="1"/>
          <p:nvPr/>
        </p:nvSpPr>
        <p:spPr>
          <a:xfrm>
            <a:off x="3827289" y="1894864"/>
            <a:ext cx="312906" cy="369332"/>
          </a:xfrm>
          <a:prstGeom prst="rect">
            <a:avLst/>
          </a:prstGeom>
          <a:solidFill>
            <a:srgbClr val="FFFF00"/>
          </a:solidFill>
        </p:spPr>
        <p:txBody>
          <a:bodyPr wrap="none" rtlCol="0">
            <a:spAutoFit/>
          </a:bodyPr>
          <a:lstStyle/>
          <a:p>
            <a:r>
              <a:rPr lang="en-US" altLang="zh-CN" b="1" dirty="0"/>
              <a:t>5</a:t>
            </a:r>
            <a:endParaRPr lang="zh-CN" altLang="en-US" b="1" dirty="0"/>
          </a:p>
        </p:txBody>
      </p:sp>
      <p:sp>
        <p:nvSpPr>
          <p:cNvPr id="116" name="文本框 115">
            <a:extLst>
              <a:ext uri="{FF2B5EF4-FFF2-40B4-BE49-F238E27FC236}">
                <a16:creationId xmlns:a16="http://schemas.microsoft.com/office/drawing/2014/main" id="{248DE699-5323-471E-B57B-AB53ADDDF576}"/>
              </a:ext>
            </a:extLst>
          </p:cNvPr>
          <p:cNvSpPr txBox="1"/>
          <p:nvPr/>
        </p:nvSpPr>
        <p:spPr>
          <a:xfrm>
            <a:off x="3827289" y="2837110"/>
            <a:ext cx="312906" cy="369332"/>
          </a:xfrm>
          <a:prstGeom prst="rect">
            <a:avLst/>
          </a:prstGeom>
          <a:solidFill>
            <a:srgbClr val="FFFF00"/>
          </a:solidFill>
        </p:spPr>
        <p:txBody>
          <a:bodyPr wrap="none" rtlCol="0">
            <a:spAutoFit/>
          </a:bodyPr>
          <a:lstStyle/>
          <a:p>
            <a:r>
              <a:rPr lang="en-US" altLang="zh-CN" b="1" dirty="0"/>
              <a:t>2</a:t>
            </a:r>
            <a:endParaRPr lang="zh-CN" altLang="en-US" b="1" dirty="0"/>
          </a:p>
        </p:txBody>
      </p:sp>
      <p:sp>
        <p:nvSpPr>
          <p:cNvPr id="118" name="文本框 117">
            <a:extLst>
              <a:ext uri="{FF2B5EF4-FFF2-40B4-BE49-F238E27FC236}">
                <a16:creationId xmlns:a16="http://schemas.microsoft.com/office/drawing/2014/main" id="{3000498B-86A3-4889-9DF5-776CD485EBB7}"/>
              </a:ext>
            </a:extLst>
          </p:cNvPr>
          <p:cNvSpPr txBox="1"/>
          <p:nvPr/>
        </p:nvSpPr>
        <p:spPr>
          <a:xfrm>
            <a:off x="2460494" y="1535719"/>
            <a:ext cx="312906" cy="369332"/>
          </a:xfrm>
          <a:prstGeom prst="rect">
            <a:avLst/>
          </a:prstGeom>
          <a:solidFill>
            <a:srgbClr val="FFFF00"/>
          </a:solidFill>
        </p:spPr>
        <p:txBody>
          <a:bodyPr wrap="none" rtlCol="0">
            <a:spAutoFit/>
          </a:bodyPr>
          <a:lstStyle/>
          <a:p>
            <a:r>
              <a:rPr lang="en-US" altLang="zh-CN" b="1" dirty="0"/>
              <a:t>8</a:t>
            </a:r>
            <a:endParaRPr lang="zh-CN" altLang="en-US" b="1" dirty="0"/>
          </a:p>
        </p:txBody>
      </p:sp>
      <p:sp>
        <p:nvSpPr>
          <p:cNvPr id="119" name="文本框 118">
            <a:extLst>
              <a:ext uri="{FF2B5EF4-FFF2-40B4-BE49-F238E27FC236}">
                <a16:creationId xmlns:a16="http://schemas.microsoft.com/office/drawing/2014/main" id="{98995A31-98BC-4D24-AD9D-D673E993C975}"/>
              </a:ext>
            </a:extLst>
          </p:cNvPr>
          <p:cNvSpPr txBox="1"/>
          <p:nvPr/>
        </p:nvSpPr>
        <p:spPr>
          <a:xfrm>
            <a:off x="2496955" y="2376263"/>
            <a:ext cx="312906" cy="369332"/>
          </a:xfrm>
          <a:prstGeom prst="rect">
            <a:avLst/>
          </a:prstGeom>
          <a:solidFill>
            <a:srgbClr val="FFFF00"/>
          </a:solidFill>
        </p:spPr>
        <p:txBody>
          <a:bodyPr wrap="none" rtlCol="0">
            <a:spAutoFit/>
          </a:bodyPr>
          <a:lstStyle/>
          <a:p>
            <a:r>
              <a:rPr lang="en-US" altLang="zh-CN" b="1" dirty="0"/>
              <a:t>7</a:t>
            </a:r>
            <a:endParaRPr lang="zh-CN" altLang="en-US" b="1" dirty="0"/>
          </a:p>
        </p:txBody>
      </p:sp>
      <p:sp>
        <p:nvSpPr>
          <p:cNvPr id="120" name="文本框 119">
            <a:extLst>
              <a:ext uri="{FF2B5EF4-FFF2-40B4-BE49-F238E27FC236}">
                <a16:creationId xmlns:a16="http://schemas.microsoft.com/office/drawing/2014/main" id="{551FBC84-8757-44EE-9BB0-7251CF2F320A}"/>
              </a:ext>
            </a:extLst>
          </p:cNvPr>
          <p:cNvSpPr txBox="1"/>
          <p:nvPr/>
        </p:nvSpPr>
        <p:spPr>
          <a:xfrm>
            <a:off x="2487500" y="3244334"/>
            <a:ext cx="441146" cy="369332"/>
          </a:xfrm>
          <a:prstGeom prst="rect">
            <a:avLst/>
          </a:prstGeom>
          <a:solidFill>
            <a:srgbClr val="FFFF00"/>
          </a:solidFill>
        </p:spPr>
        <p:txBody>
          <a:bodyPr wrap="none" rtlCol="0">
            <a:spAutoFit/>
          </a:bodyPr>
          <a:lstStyle/>
          <a:p>
            <a:r>
              <a:rPr lang="en-US" altLang="zh-CN" b="1" dirty="0"/>
              <a:t>12</a:t>
            </a:r>
            <a:endParaRPr lang="zh-CN" altLang="en-US" b="1" dirty="0"/>
          </a:p>
        </p:txBody>
      </p:sp>
      <p:sp>
        <p:nvSpPr>
          <p:cNvPr id="121" name="文本框 120">
            <a:extLst>
              <a:ext uri="{FF2B5EF4-FFF2-40B4-BE49-F238E27FC236}">
                <a16:creationId xmlns:a16="http://schemas.microsoft.com/office/drawing/2014/main" id="{6C771152-22E6-4383-BAFC-5E2D9AE2B198}"/>
              </a:ext>
            </a:extLst>
          </p:cNvPr>
          <p:cNvSpPr txBox="1"/>
          <p:nvPr/>
        </p:nvSpPr>
        <p:spPr>
          <a:xfrm>
            <a:off x="1228206" y="1535719"/>
            <a:ext cx="441146" cy="369332"/>
          </a:xfrm>
          <a:prstGeom prst="rect">
            <a:avLst/>
          </a:prstGeom>
          <a:solidFill>
            <a:srgbClr val="FFFF00"/>
          </a:solidFill>
        </p:spPr>
        <p:txBody>
          <a:bodyPr wrap="none" rtlCol="0">
            <a:spAutoFit/>
          </a:bodyPr>
          <a:lstStyle/>
          <a:p>
            <a:r>
              <a:rPr lang="en-US" altLang="zh-CN" b="1" dirty="0"/>
              <a:t>20</a:t>
            </a:r>
            <a:endParaRPr lang="zh-CN" altLang="en-US" b="1" dirty="0"/>
          </a:p>
        </p:txBody>
      </p:sp>
      <p:sp>
        <p:nvSpPr>
          <p:cNvPr id="122" name="文本框 121">
            <a:extLst>
              <a:ext uri="{FF2B5EF4-FFF2-40B4-BE49-F238E27FC236}">
                <a16:creationId xmlns:a16="http://schemas.microsoft.com/office/drawing/2014/main" id="{4E4777C0-0D2C-488B-856D-F077C24119C6}"/>
              </a:ext>
            </a:extLst>
          </p:cNvPr>
          <p:cNvSpPr txBox="1"/>
          <p:nvPr/>
        </p:nvSpPr>
        <p:spPr>
          <a:xfrm>
            <a:off x="1191493" y="2449737"/>
            <a:ext cx="441146" cy="369332"/>
          </a:xfrm>
          <a:prstGeom prst="rect">
            <a:avLst/>
          </a:prstGeom>
          <a:solidFill>
            <a:srgbClr val="FFFF00"/>
          </a:solidFill>
        </p:spPr>
        <p:txBody>
          <a:bodyPr wrap="none" rtlCol="0">
            <a:spAutoFit/>
          </a:bodyPr>
          <a:lstStyle/>
          <a:p>
            <a:r>
              <a:rPr lang="en-US" altLang="zh-CN" b="1" dirty="0"/>
              <a:t>14</a:t>
            </a:r>
            <a:endParaRPr lang="zh-CN" altLang="en-US" b="1" dirty="0"/>
          </a:p>
        </p:txBody>
      </p:sp>
      <p:sp>
        <p:nvSpPr>
          <p:cNvPr id="123" name="文本框 122">
            <a:extLst>
              <a:ext uri="{FF2B5EF4-FFF2-40B4-BE49-F238E27FC236}">
                <a16:creationId xmlns:a16="http://schemas.microsoft.com/office/drawing/2014/main" id="{27057CEE-F5E5-452E-81B2-DE3D76F8ECDD}"/>
              </a:ext>
            </a:extLst>
          </p:cNvPr>
          <p:cNvSpPr txBox="1"/>
          <p:nvPr/>
        </p:nvSpPr>
        <p:spPr>
          <a:xfrm>
            <a:off x="1054811" y="3281429"/>
            <a:ext cx="441146" cy="369332"/>
          </a:xfrm>
          <a:prstGeom prst="rect">
            <a:avLst/>
          </a:prstGeom>
          <a:solidFill>
            <a:srgbClr val="FFFF00"/>
          </a:solidFill>
        </p:spPr>
        <p:txBody>
          <a:bodyPr wrap="none" rtlCol="0">
            <a:spAutoFit/>
          </a:bodyPr>
          <a:lstStyle/>
          <a:p>
            <a:r>
              <a:rPr lang="en-US" altLang="zh-CN" b="1" dirty="0"/>
              <a:t>19</a:t>
            </a:r>
            <a:endParaRPr lang="zh-CN" altLang="en-US" b="1" dirty="0"/>
          </a:p>
        </p:txBody>
      </p:sp>
      <p:sp>
        <p:nvSpPr>
          <p:cNvPr id="124" name="文本框 123">
            <a:extLst>
              <a:ext uri="{FF2B5EF4-FFF2-40B4-BE49-F238E27FC236}">
                <a16:creationId xmlns:a16="http://schemas.microsoft.com/office/drawing/2014/main" id="{DF32DDDB-C3F4-4155-B832-0FEB15428059}"/>
              </a:ext>
            </a:extLst>
          </p:cNvPr>
          <p:cNvSpPr txBox="1"/>
          <p:nvPr/>
        </p:nvSpPr>
        <p:spPr>
          <a:xfrm>
            <a:off x="59832" y="2449737"/>
            <a:ext cx="441146" cy="369332"/>
          </a:xfrm>
          <a:prstGeom prst="rect">
            <a:avLst/>
          </a:prstGeom>
          <a:solidFill>
            <a:srgbClr val="FFFF00"/>
          </a:solidFill>
        </p:spPr>
        <p:txBody>
          <a:bodyPr wrap="none" rtlCol="0">
            <a:spAutoFit/>
          </a:bodyPr>
          <a:lstStyle/>
          <a:p>
            <a:r>
              <a:rPr lang="en-US" altLang="zh-CN" b="1" dirty="0"/>
              <a:t>19</a:t>
            </a:r>
            <a:endParaRPr lang="zh-CN" altLang="en-US" b="1" dirty="0"/>
          </a:p>
        </p:txBody>
      </p:sp>
    </p:spTree>
    <p:extLst>
      <p:ext uri="{BB962C8B-B14F-4D97-AF65-F5344CB8AC3E}">
        <p14:creationId xmlns:p14="http://schemas.microsoft.com/office/powerpoint/2010/main" val="363542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410D8A4-EC77-42D7-BB4D-2F8C4D79785A}"/>
              </a:ext>
            </a:extLst>
          </p:cNvPr>
          <p:cNvSpPr>
            <a:spLocks noGrp="1" noChangeArrowheads="1"/>
          </p:cNvSpPr>
          <p:nvPr>
            <p:ph type="title"/>
          </p:nvPr>
        </p:nvSpPr>
        <p:spPr/>
        <p:txBody>
          <a:bodyPr/>
          <a:lstStyle/>
          <a:p>
            <a:pPr eaLnBrk="1" hangingPunct="1"/>
            <a:r>
              <a:rPr lang="zh-CN" altLang="en-US" dirty="0"/>
              <a:t>基本方程</a:t>
            </a:r>
            <a:r>
              <a:rPr lang="en-US" altLang="zh-CN" dirty="0"/>
              <a:t>(</a:t>
            </a:r>
            <a:r>
              <a:rPr lang="zh-CN" altLang="en-US" dirty="0"/>
              <a:t>顺序解法</a:t>
            </a:r>
            <a:r>
              <a:rPr lang="en-US" altLang="zh-CN" dirty="0"/>
              <a:t>)</a:t>
            </a:r>
            <a:endParaRPr lang="zh-CN" altLang="en-US"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52C01DD-34B4-4534-A04D-31B3EDB1588F}"/>
                  </a:ext>
                </a:extLst>
              </p:cNvPr>
              <p:cNvSpPr txBox="1"/>
              <p:nvPr/>
            </p:nvSpPr>
            <p:spPr>
              <a:xfrm>
                <a:off x="142275" y="4365012"/>
                <a:ext cx="2796728"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1</m:t>
                              </m:r>
                            </m:sub>
                          </m:sSub>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𝐴</m:t>
                          </m:r>
                        </m:e>
                      </m:d>
                      <m:r>
                        <a:rPr lang="en-US" altLang="zh-CN" sz="3200" b="0" i="1" smtClean="0">
                          <a:latin typeface="Cambria Math" panose="02040503050406030204" pitchFamily="18" charset="0"/>
                        </a:rPr>
                        <m:t>=0</m:t>
                      </m:r>
                    </m:oMath>
                  </m:oMathPara>
                </a14:m>
                <a:endParaRPr lang="zh-CN" altLang="en-US" sz="3200" dirty="0"/>
              </a:p>
            </p:txBody>
          </p:sp>
        </mc:Choice>
        <mc:Fallback xmlns="">
          <p:sp>
            <p:nvSpPr>
              <p:cNvPr id="5" name="文本框 4">
                <a:extLst>
                  <a:ext uri="{FF2B5EF4-FFF2-40B4-BE49-F238E27FC236}">
                    <a16:creationId xmlns:a16="http://schemas.microsoft.com/office/drawing/2014/main" id="{B52C01DD-34B4-4534-A04D-31B3EDB1588F}"/>
                  </a:ext>
                </a:extLst>
              </p:cNvPr>
              <p:cNvSpPr txBox="1">
                <a:spLocks noRot="1" noChangeAspect="1" noMove="1" noResize="1" noEditPoints="1" noAdjustHandles="1" noChangeArrowheads="1" noChangeShapeType="1" noTextEdit="1"/>
              </p:cNvSpPr>
              <p:nvPr/>
            </p:nvSpPr>
            <p:spPr>
              <a:xfrm>
                <a:off x="142275" y="4365012"/>
                <a:ext cx="2796728" cy="584775"/>
              </a:xfrm>
              <a:prstGeom prst="rect">
                <a:avLst/>
              </a:prstGeom>
              <a:blipFill>
                <a:blip r:embed="rId2"/>
                <a:stretch>
                  <a:fillRect/>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917288F3-8B9E-49A2-97A3-43F41BCE5143}"/>
              </a:ext>
            </a:extLst>
          </p:cNvPr>
          <p:cNvGrpSpPr/>
          <p:nvPr/>
        </p:nvGrpSpPr>
        <p:grpSpPr>
          <a:xfrm>
            <a:off x="179513" y="1086995"/>
            <a:ext cx="5125844" cy="3134093"/>
            <a:chOff x="179512" y="1086995"/>
            <a:chExt cx="7145157" cy="3514725"/>
          </a:xfrm>
        </p:grpSpPr>
        <p:grpSp>
          <p:nvGrpSpPr>
            <p:cNvPr id="53" name="组合 167">
              <a:extLst>
                <a:ext uri="{FF2B5EF4-FFF2-40B4-BE49-F238E27FC236}">
                  <a16:creationId xmlns:a16="http://schemas.microsoft.com/office/drawing/2014/main" id="{62D76B02-02B0-4E2E-98D8-A9F1F083A653}"/>
                </a:ext>
              </a:extLst>
            </p:cNvPr>
            <p:cNvGrpSpPr>
              <a:grpSpLocks/>
            </p:cNvGrpSpPr>
            <p:nvPr/>
          </p:nvGrpSpPr>
          <p:grpSpPr bwMode="auto">
            <a:xfrm>
              <a:off x="179512" y="1086995"/>
              <a:ext cx="7145157" cy="3514725"/>
              <a:chOff x="1281093" y="1412776"/>
              <a:chExt cx="7146767" cy="4536504"/>
            </a:xfrm>
          </p:grpSpPr>
          <p:sp>
            <p:nvSpPr>
              <p:cNvPr id="54" name="文本框 157">
                <a:extLst>
                  <a:ext uri="{FF2B5EF4-FFF2-40B4-BE49-F238E27FC236}">
                    <a16:creationId xmlns:a16="http://schemas.microsoft.com/office/drawing/2014/main" id="{F6F0CDA6-C872-498D-A50E-BA157765325D}"/>
                  </a:ext>
                </a:extLst>
              </p:cNvPr>
              <p:cNvSpPr txBox="1">
                <a:spLocks noChangeArrowheads="1"/>
              </p:cNvSpPr>
              <p:nvPr/>
            </p:nvSpPr>
            <p:spPr bwMode="auto">
              <a:xfrm>
                <a:off x="128109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1</a:t>
                </a:r>
                <a:endParaRPr lang="zh-CN" altLang="en-US" sz="1400" b="1"/>
              </a:p>
            </p:txBody>
          </p:sp>
          <p:sp>
            <p:nvSpPr>
              <p:cNvPr id="55" name="文本框 158">
                <a:extLst>
                  <a:ext uri="{FF2B5EF4-FFF2-40B4-BE49-F238E27FC236}">
                    <a16:creationId xmlns:a16="http://schemas.microsoft.com/office/drawing/2014/main" id="{767A5123-C596-4DD1-91AE-879A25E98825}"/>
                  </a:ext>
                </a:extLst>
              </p:cNvPr>
              <p:cNvSpPr txBox="1">
                <a:spLocks noChangeArrowheads="1"/>
              </p:cNvSpPr>
              <p:nvPr/>
            </p:nvSpPr>
            <p:spPr bwMode="auto">
              <a:xfrm>
                <a:off x="2823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2</a:t>
                </a:r>
                <a:endParaRPr lang="zh-CN" altLang="en-US" sz="1400" b="1"/>
              </a:p>
            </p:txBody>
          </p:sp>
          <p:sp>
            <p:nvSpPr>
              <p:cNvPr id="56" name="文本框 159">
                <a:extLst>
                  <a:ext uri="{FF2B5EF4-FFF2-40B4-BE49-F238E27FC236}">
                    <a16:creationId xmlns:a16="http://schemas.microsoft.com/office/drawing/2014/main" id="{7028B3F2-4745-4CAE-A062-73E6FFF71AC7}"/>
                  </a:ext>
                </a:extLst>
              </p:cNvPr>
              <p:cNvSpPr txBox="1">
                <a:spLocks noChangeArrowheads="1"/>
              </p:cNvSpPr>
              <p:nvPr/>
            </p:nvSpPr>
            <p:spPr bwMode="auto">
              <a:xfrm>
                <a:off x="457023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3</a:t>
                </a:r>
                <a:endParaRPr lang="zh-CN" altLang="en-US" sz="1400" b="1"/>
              </a:p>
            </p:txBody>
          </p:sp>
          <p:sp>
            <p:nvSpPr>
              <p:cNvPr id="57" name="文本框 160">
                <a:extLst>
                  <a:ext uri="{FF2B5EF4-FFF2-40B4-BE49-F238E27FC236}">
                    <a16:creationId xmlns:a16="http://schemas.microsoft.com/office/drawing/2014/main" id="{B04FD00D-C358-4733-AF41-54A8059E0C8B}"/>
                  </a:ext>
                </a:extLst>
              </p:cNvPr>
              <p:cNvSpPr txBox="1">
                <a:spLocks noChangeArrowheads="1"/>
              </p:cNvSpPr>
              <p:nvPr/>
            </p:nvSpPr>
            <p:spPr bwMode="auto">
              <a:xfrm>
                <a:off x="6244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4</a:t>
                </a:r>
                <a:endParaRPr lang="zh-CN" altLang="en-US" sz="1400" b="1"/>
              </a:p>
            </p:txBody>
          </p:sp>
          <p:sp>
            <p:nvSpPr>
              <p:cNvPr id="58" name="文本框 161">
                <a:extLst>
                  <a:ext uri="{FF2B5EF4-FFF2-40B4-BE49-F238E27FC236}">
                    <a16:creationId xmlns:a16="http://schemas.microsoft.com/office/drawing/2014/main" id="{78E516FA-C238-4C30-8117-7181D6C9AF4B}"/>
                  </a:ext>
                </a:extLst>
              </p:cNvPr>
              <p:cNvSpPr txBox="1">
                <a:spLocks noChangeArrowheads="1"/>
              </p:cNvSpPr>
              <p:nvPr/>
            </p:nvSpPr>
            <p:spPr bwMode="auto">
              <a:xfrm>
                <a:off x="7531176"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5</a:t>
                </a:r>
                <a:endParaRPr lang="zh-CN" altLang="en-US" sz="1400" b="1"/>
              </a:p>
            </p:txBody>
          </p:sp>
          <p:cxnSp>
            <p:nvCxnSpPr>
              <p:cNvPr id="59" name="直接连接符 58">
                <a:extLst>
                  <a:ext uri="{FF2B5EF4-FFF2-40B4-BE49-F238E27FC236}">
                    <a16:creationId xmlns:a16="http://schemas.microsoft.com/office/drawing/2014/main" id="{7D0355CC-B1B6-4416-9133-A8E4189964B5}"/>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D714960F-1958-4004-BA16-CE02059893EB}"/>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8D21216-3295-4975-B956-262140EC8DDF}"/>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3C3B10C-81D6-4D22-9351-1B4FE6B1D3F9}"/>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5" name="组合 1">
              <a:extLst>
                <a:ext uri="{FF2B5EF4-FFF2-40B4-BE49-F238E27FC236}">
                  <a16:creationId xmlns:a16="http://schemas.microsoft.com/office/drawing/2014/main" id="{F0B2A3BA-8200-4AD2-8BD6-C9E29EB259B8}"/>
                </a:ext>
              </a:extLst>
            </p:cNvPr>
            <p:cNvGrpSpPr>
              <a:grpSpLocks/>
            </p:cNvGrpSpPr>
            <p:nvPr/>
          </p:nvGrpSpPr>
          <p:grpSpPr bwMode="auto">
            <a:xfrm>
              <a:off x="352980" y="1896905"/>
              <a:ext cx="6696075" cy="2535251"/>
              <a:chOff x="1187450" y="1898650"/>
              <a:chExt cx="6696075" cy="3222625"/>
            </a:xfrm>
          </p:grpSpPr>
          <p:sp>
            <p:nvSpPr>
              <p:cNvPr id="66" name="Oval 5">
                <a:extLst>
                  <a:ext uri="{FF2B5EF4-FFF2-40B4-BE49-F238E27FC236}">
                    <a16:creationId xmlns:a16="http://schemas.microsoft.com/office/drawing/2014/main" id="{B843706A-2529-45DB-8621-D44C22AF4CAC}"/>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1</a:t>
                </a:r>
              </a:p>
            </p:txBody>
          </p:sp>
          <p:sp>
            <p:nvSpPr>
              <p:cNvPr id="67" name="Oval 6">
                <a:extLst>
                  <a:ext uri="{FF2B5EF4-FFF2-40B4-BE49-F238E27FC236}">
                    <a16:creationId xmlns:a16="http://schemas.microsoft.com/office/drawing/2014/main" id="{44422404-073F-427D-8CC9-69E00C5615E8}"/>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3</a:t>
                </a:r>
                <a:endParaRPr lang="en-US" altLang="zh-CN" sz="1400"/>
              </a:p>
            </p:txBody>
          </p:sp>
          <p:sp>
            <p:nvSpPr>
              <p:cNvPr id="68" name="Oval 7">
                <a:extLst>
                  <a:ext uri="{FF2B5EF4-FFF2-40B4-BE49-F238E27FC236}">
                    <a16:creationId xmlns:a16="http://schemas.microsoft.com/office/drawing/2014/main" id="{B53B0F59-667B-4FDE-AF14-E2F3D7638C92}"/>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D</a:t>
                </a:r>
                <a:r>
                  <a:rPr lang="en-US" altLang="zh-CN" sz="1400" baseline="-25000">
                    <a:latin typeface="Times New Roman" panose="02020603050405020304" pitchFamily="18" charset="0"/>
                  </a:rPr>
                  <a:t>1</a:t>
                </a:r>
              </a:p>
            </p:txBody>
          </p:sp>
          <p:sp>
            <p:nvSpPr>
              <p:cNvPr id="69" name="Oval 8">
                <a:extLst>
                  <a:ext uri="{FF2B5EF4-FFF2-40B4-BE49-F238E27FC236}">
                    <a16:creationId xmlns:a16="http://schemas.microsoft.com/office/drawing/2014/main" id="{2FD0BB59-B661-4FC6-9E90-9DCC8A0D8F6A}"/>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A</a:t>
                </a:r>
              </a:p>
            </p:txBody>
          </p:sp>
          <p:sp>
            <p:nvSpPr>
              <p:cNvPr id="70" name="Oval 9">
                <a:extLst>
                  <a:ext uri="{FF2B5EF4-FFF2-40B4-BE49-F238E27FC236}">
                    <a16:creationId xmlns:a16="http://schemas.microsoft.com/office/drawing/2014/main" id="{8CE2E3C1-DE7D-43C4-8D8F-E9670DC9856E}"/>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1</a:t>
                </a:r>
                <a:endParaRPr lang="en-US" altLang="zh-CN" sz="1400"/>
              </a:p>
            </p:txBody>
          </p:sp>
          <p:sp>
            <p:nvSpPr>
              <p:cNvPr id="71" name="Oval 10">
                <a:extLst>
                  <a:ext uri="{FF2B5EF4-FFF2-40B4-BE49-F238E27FC236}">
                    <a16:creationId xmlns:a16="http://schemas.microsoft.com/office/drawing/2014/main" id="{BA3C4B6C-98B6-4487-AE01-3175DCCB54F2}"/>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3</a:t>
                </a:r>
                <a:endParaRPr lang="en-US" altLang="zh-CN" sz="1400"/>
              </a:p>
            </p:txBody>
          </p:sp>
          <p:sp>
            <p:nvSpPr>
              <p:cNvPr id="72" name="Oval 11">
                <a:extLst>
                  <a:ext uri="{FF2B5EF4-FFF2-40B4-BE49-F238E27FC236}">
                    <a16:creationId xmlns:a16="http://schemas.microsoft.com/office/drawing/2014/main" id="{AB8F9DB6-6C91-4050-B105-ADD6C44A9492}"/>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2</a:t>
                </a:r>
                <a:endParaRPr lang="en-US" altLang="zh-CN" sz="1400"/>
              </a:p>
            </p:txBody>
          </p:sp>
          <p:sp>
            <p:nvSpPr>
              <p:cNvPr id="73" name="Oval 12">
                <a:extLst>
                  <a:ext uri="{FF2B5EF4-FFF2-40B4-BE49-F238E27FC236}">
                    <a16:creationId xmlns:a16="http://schemas.microsoft.com/office/drawing/2014/main" id="{228D351F-5A7A-4FD1-A4A9-85B1B856DA3A}"/>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D</a:t>
                </a:r>
                <a:r>
                  <a:rPr lang="en-US" altLang="zh-CN" sz="1400" baseline="-25000">
                    <a:latin typeface="Times New Roman" panose="02020603050405020304" pitchFamily="18" charset="0"/>
                  </a:rPr>
                  <a:t>2</a:t>
                </a:r>
                <a:endParaRPr lang="en-US" altLang="zh-CN" sz="1400"/>
              </a:p>
            </p:txBody>
          </p:sp>
          <p:sp>
            <p:nvSpPr>
              <p:cNvPr id="74" name="Oval 13">
                <a:extLst>
                  <a:ext uri="{FF2B5EF4-FFF2-40B4-BE49-F238E27FC236}">
                    <a16:creationId xmlns:a16="http://schemas.microsoft.com/office/drawing/2014/main" id="{97693D58-847D-4C2F-9C72-26E45C85BC43}"/>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E</a:t>
                </a:r>
                <a:endParaRPr lang="en-US" altLang="zh-CN" sz="1400"/>
              </a:p>
            </p:txBody>
          </p:sp>
          <p:sp>
            <p:nvSpPr>
              <p:cNvPr id="75" name="Oval 14">
                <a:extLst>
                  <a:ext uri="{FF2B5EF4-FFF2-40B4-BE49-F238E27FC236}">
                    <a16:creationId xmlns:a16="http://schemas.microsoft.com/office/drawing/2014/main" id="{3DDB5D2A-7BF9-4DC2-834B-99FB4A9941CC}"/>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2</a:t>
                </a:r>
                <a:endParaRPr lang="en-US" altLang="zh-CN" sz="1400"/>
              </a:p>
            </p:txBody>
          </p:sp>
          <p:sp>
            <p:nvSpPr>
              <p:cNvPr id="76" name="Line 15">
                <a:extLst>
                  <a:ext uri="{FF2B5EF4-FFF2-40B4-BE49-F238E27FC236}">
                    <a16:creationId xmlns:a16="http://schemas.microsoft.com/office/drawing/2014/main" id="{9ACFE650-A205-4B3F-971F-41969B0CFCC3}"/>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7" name="Line 16">
                <a:extLst>
                  <a:ext uri="{FF2B5EF4-FFF2-40B4-BE49-F238E27FC236}">
                    <a16:creationId xmlns:a16="http://schemas.microsoft.com/office/drawing/2014/main" id="{3BD4FD88-E594-4163-A0C9-C2C1C7B2AA36}"/>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8" name="Line 17">
                <a:extLst>
                  <a:ext uri="{FF2B5EF4-FFF2-40B4-BE49-F238E27FC236}">
                    <a16:creationId xmlns:a16="http://schemas.microsoft.com/office/drawing/2014/main" id="{48345FD2-5EF3-4821-9ADA-34CAD86F5B7D}"/>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9" name="Line 18">
                <a:extLst>
                  <a:ext uri="{FF2B5EF4-FFF2-40B4-BE49-F238E27FC236}">
                    <a16:creationId xmlns:a16="http://schemas.microsoft.com/office/drawing/2014/main" id="{EFBB4862-5CBF-410B-98A5-16BF43F59B6F}"/>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0" name="Line 19">
                <a:extLst>
                  <a:ext uri="{FF2B5EF4-FFF2-40B4-BE49-F238E27FC236}">
                    <a16:creationId xmlns:a16="http://schemas.microsoft.com/office/drawing/2014/main" id="{37BB3FEA-D15A-48D4-8DAA-A6C2F45A877F}"/>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1" name="Line 20">
                <a:extLst>
                  <a:ext uri="{FF2B5EF4-FFF2-40B4-BE49-F238E27FC236}">
                    <a16:creationId xmlns:a16="http://schemas.microsoft.com/office/drawing/2014/main" id="{9A1E5F5B-8666-4A45-905F-9C839E8E6B86}"/>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2" name="Line 21">
                <a:extLst>
                  <a:ext uri="{FF2B5EF4-FFF2-40B4-BE49-F238E27FC236}">
                    <a16:creationId xmlns:a16="http://schemas.microsoft.com/office/drawing/2014/main" id="{BC30B9DA-4712-4BF1-8272-80C7C77CFEB3}"/>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3" name="Line 22">
                <a:extLst>
                  <a:ext uri="{FF2B5EF4-FFF2-40B4-BE49-F238E27FC236}">
                    <a16:creationId xmlns:a16="http://schemas.microsoft.com/office/drawing/2014/main" id="{AFD5AE01-339E-447C-A118-69B088AA33FE}"/>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4" name="Line 23">
                <a:extLst>
                  <a:ext uri="{FF2B5EF4-FFF2-40B4-BE49-F238E27FC236}">
                    <a16:creationId xmlns:a16="http://schemas.microsoft.com/office/drawing/2014/main" id="{936A9AA4-7461-4FA0-8520-1E4F3CC05BD3}"/>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5" name="Line 24">
                <a:extLst>
                  <a:ext uri="{FF2B5EF4-FFF2-40B4-BE49-F238E27FC236}">
                    <a16:creationId xmlns:a16="http://schemas.microsoft.com/office/drawing/2014/main" id="{B7C52BFD-DDC9-4EC3-85ED-DCC503B50898}"/>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6" name="Line 25">
                <a:extLst>
                  <a:ext uri="{FF2B5EF4-FFF2-40B4-BE49-F238E27FC236}">
                    <a16:creationId xmlns:a16="http://schemas.microsoft.com/office/drawing/2014/main" id="{EF19E01B-6549-4FE8-B8AD-0F105B694CF3}"/>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7" name="Line 26">
                <a:extLst>
                  <a:ext uri="{FF2B5EF4-FFF2-40B4-BE49-F238E27FC236}">
                    <a16:creationId xmlns:a16="http://schemas.microsoft.com/office/drawing/2014/main" id="{A63894AA-455E-412A-8704-CF4CCB423CDB}"/>
                  </a:ext>
                </a:extLst>
              </p:cNvPr>
              <p:cNvSpPr>
                <a:spLocks noChangeShapeType="1"/>
              </p:cNvSpPr>
              <p:nvPr/>
            </p:nvSpPr>
            <p:spPr bwMode="auto">
              <a:xfrm>
                <a:off x="4867275" y="359886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8" name="Line 27">
                <a:extLst>
                  <a:ext uri="{FF2B5EF4-FFF2-40B4-BE49-F238E27FC236}">
                    <a16:creationId xmlns:a16="http://schemas.microsoft.com/office/drawing/2014/main" id="{6762778B-FBCF-4017-B870-3461C13A07E6}"/>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9" name="Line 28">
                <a:extLst>
                  <a:ext uri="{FF2B5EF4-FFF2-40B4-BE49-F238E27FC236}">
                    <a16:creationId xmlns:a16="http://schemas.microsoft.com/office/drawing/2014/main" id="{A4FEF310-36B4-494B-B472-1D5E433D6368}"/>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0" name="Line 29">
                <a:extLst>
                  <a:ext uri="{FF2B5EF4-FFF2-40B4-BE49-F238E27FC236}">
                    <a16:creationId xmlns:a16="http://schemas.microsoft.com/office/drawing/2014/main" id="{4F0349A8-3778-4B5E-B023-855CFAD737F8}"/>
                  </a:ext>
                </a:extLst>
              </p:cNvPr>
              <p:cNvSpPr>
                <a:spLocks noChangeShapeType="1"/>
              </p:cNvSpPr>
              <p:nvPr/>
            </p:nvSpPr>
            <p:spPr bwMode="auto">
              <a:xfrm flipV="1">
                <a:off x="3074988" y="234950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1" name="Line 30">
                <a:extLst>
                  <a:ext uri="{FF2B5EF4-FFF2-40B4-BE49-F238E27FC236}">
                    <a16:creationId xmlns:a16="http://schemas.microsoft.com/office/drawing/2014/main" id="{27D3D704-6E76-4EED-A736-3801B4418464}"/>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2" name="Line 31">
                <a:extLst>
                  <a:ext uri="{FF2B5EF4-FFF2-40B4-BE49-F238E27FC236}">
                    <a16:creationId xmlns:a16="http://schemas.microsoft.com/office/drawing/2014/main" id="{09E7DEC4-20D9-47AE-B1B8-13E8EC65008D}"/>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3" name="Line 32">
                <a:extLst>
                  <a:ext uri="{FF2B5EF4-FFF2-40B4-BE49-F238E27FC236}">
                    <a16:creationId xmlns:a16="http://schemas.microsoft.com/office/drawing/2014/main" id="{F43D41FF-D13D-4151-93D5-A1A1F55806B3}"/>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4" name="Line 33">
                <a:extLst>
                  <a:ext uri="{FF2B5EF4-FFF2-40B4-BE49-F238E27FC236}">
                    <a16:creationId xmlns:a16="http://schemas.microsoft.com/office/drawing/2014/main" id="{CB468DFB-C5D4-438B-B105-D91924F348D1}"/>
                  </a:ext>
                </a:extLst>
              </p:cNvPr>
              <p:cNvSpPr>
                <a:spLocks noChangeShapeType="1"/>
              </p:cNvSpPr>
              <p:nvPr/>
            </p:nvSpPr>
            <p:spPr bwMode="auto">
              <a:xfrm>
                <a:off x="4843463" y="240347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5" name="Line 34">
                <a:extLst>
                  <a:ext uri="{FF2B5EF4-FFF2-40B4-BE49-F238E27FC236}">
                    <a16:creationId xmlns:a16="http://schemas.microsoft.com/office/drawing/2014/main" id="{C082A2A0-8CC8-456C-9B8A-1742E62C44B1}"/>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6" name="Text Box 35">
                <a:extLst>
                  <a:ext uri="{FF2B5EF4-FFF2-40B4-BE49-F238E27FC236}">
                    <a16:creationId xmlns:a16="http://schemas.microsoft.com/office/drawing/2014/main" id="{FB970BED-0380-43D4-8F20-CFB9908C3877}"/>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2</a:t>
                </a:r>
              </a:p>
            </p:txBody>
          </p:sp>
          <p:sp>
            <p:nvSpPr>
              <p:cNvPr id="97" name="Text Box 36">
                <a:extLst>
                  <a:ext uri="{FF2B5EF4-FFF2-40B4-BE49-F238E27FC236}">
                    <a16:creationId xmlns:a16="http://schemas.microsoft.com/office/drawing/2014/main" id="{61BA6AFA-C672-421D-AE39-09AB019948B4}"/>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5</a:t>
                </a:r>
              </a:p>
            </p:txBody>
          </p:sp>
          <p:sp>
            <p:nvSpPr>
              <p:cNvPr id="98" name="Text Box 37">
                <a:extLst>
                  <a:ext uri="{FF2B5EF4-FFF2-40B4-BE49-F238E27FC236}">
                    <a16:creationId xmlns:a16="http://schemas.microsoft.com/office/drawing/2014/main" id="{0152A3AD-7A67-4FA6-9283-C0640EA68B06}"/>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a:t>
                </a:r>
              </a:p>
            </p:txBody>
          </p:sp>
          <p:sp>
            <p:nvSpPr>
              <p:cNvPr id="99" name="Text Box 38">
                <a:extLst>
                  <a:ext uri="{FF2B5EF4-FFF2-40B4-BE49-F238E27FC236}">
                    <a16:creationId xmlns:a16="http://schemas.microsoft.com/office/drawing/2014/main" id="{526AAA91-ED03-4287-AAD1-D1508151A1E1}"/>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12</a:t>
                </a:r>
                <a:endParaRPr lang="en-US" altLang="zh-CN" sz="1400"/>
              </a:p>
            </p:txBody>
          </p:sp>
          <p:sp>
            <p:nvSpPr>
              <p:cNvPr id="100" name="Text Box 39">
                <a:extLst>
                  <a:ext uri="{FF2B5EF4-FFF2-40B4-BE49-F238E27FC236}">
                    <a16:creationId xmlns:a16="http://schemas.microsoft.com/office/drawing/2014/main" id="{4F8CBF0D-F2D6-492D-AE9F-D2554AA93AEB}"/>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14</a:t>
                </a:r>
              </a:p>
            </p:txBody>
          </p:sp>
          <p:sp>
            <p:nvSpPr>
              <p:cNvPr id="101" name="Text Box 40">
                <a:extLst>
                  <a:ext uri="{FF2B5EF4-FFF2-40B4-BE49-F238E27FC236}">
                    <a16:creationId xmlns:a16="http://schemas.microsoft.com/office/drawing/2014/main" id="{3A51B4AF-B230-4FE7-82B2-319F6A9F643C}"/>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10</a:t>
                </a:r>
              </a:p>
            </p:txBody>
          </p:sp>
          <p:sp>
            <p:nvSpPr>
              <p:cNvPr id="102" name="Text Box 41">
                <a:extLst>
                  <a:ext uri="{FF2B5EF4-FFF2-40B4-BE49-F238E27FC236}">
                    <a16:creationId xmlns:a16="http://schemas.microsoft.com/office/drawing/2014/main" id="{A559251A-0A22-42B4-8688-B5F7DDFC0D91}"/>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6</a:t>
                </a:r>
              </a:p>
            </p:txBody>
          </p:sp>
          <p:sp>
            <p:nvSpPr>
              <p:cNvPr id="103" name="Text Box 42">
                <a:extLst>
                  <a:ext uri="{FF2B5EF4-FFF2-40B4-BE49-F238E27FC236}">
                    <a16:creationId xmlns:a16="http://schemas.microsoft.com/office/drawing/2014/main" id="{B9076C44-3E52-4AC9-B5F5-B0778D4B6C64}"/>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04" name="Text Box 43">
                <a:extLst>
                  <a:ext uri="{FF2B5EF4-FFF2-40B4-BE49-F238E27FC236}">
                    <a16:creationId xmlns:a16="http://schemas.microsoft.com/office/drawing/2014/main" id="{91F6A142-8C27-46F9-B3CE-CDCEE6EE8F5D}"/>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4</a:t>
                </a:r>
              </a:p>
            </p:txBody>
          </p:sp>
          <p:sp>
            <p:nvSpPr>
              <p:cNvPr id="105" name="Text Box 44">
                <a:extLst>
                  <a:ext uri="{FF2B5EF4-FFF2-40B4-BE49-F238E27FC236}">
                    <a16:creationId xmlns:a16="http://schemas.microsoft.com/office/drawing/2014/main" id="{1F8C8EEA-D82E-4E33-9303-A2BD035C3724}"/>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13</a:t>
                </a:r>
              </a:p>
            </p:txBody>
          </p:sp>
          <p:sp>
            <p:nvSpPr>
              <p:cNvPr id="106" name="Text Box 45">
                <a:extLst>
                  <a:ext uri="{FF2B5EF4-FFF2-40B4-BE49-F238E27FC236}">
                    <a16:creationId xmlns:a16="http://schemas.microsoft.com/office/drawing/2014/main" id="{A4AB083D-8A41-4BD7-9140-E289DDD772D6}"/>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11</a:t>
                </a:r>
              </a:p>
            </p:txBody>
          </p:sp>
          <p:sp>
            <p:nvSpPr>
              <p:cNvPr id="107" name="Text Box 46">
                <a:extLst>
                  <a:ext uri="{FF2B5EF4-FFF2-40B4-BE49-F238E27FC236}">
                    <a16:creationId xmlns:a16="http://schemas.microsoft.com/office/drawing/2014/main" id="{2E5C2AD3-73AD-41C3-A0E0-E0F8A5CF7FC5}"/>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12</a:t>
                </a:r>
              </a:p>
            </p:txBody>
          </p:sp>
          <p:sp>
            <p:nvSpPr>
              <p:cNvPr id="108" name="Text Box 47">
                <a:extLst>
                  <a:ext uri="{FF2B5EF4-FFF2-40B4-BE49-F238E27FC236}">
                    <a16:creationId xmlns:a16="http://schemas.microsoft.com/office/drawing/2014/main" id="{39B63639-ADA3-4818-8823-7106B393B62C}"/>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3</a:t>
                </a:r>
              </a:p>
            </p:txBody>
          </p:sp>
          <p:sp>
            <p:nvSpPr>
              <p:cNvPr id="109" name="Text Box 48">
                <a:extLst>
                  <a:ext uri="{FF2B5EF4-FFF2-40B4-BE49-F238E27FC236}">
                    <a16:creationId xmlns:a16="http://schemas.microsoft.com/office/drawing/2014/main" id="{5C840ED5-CE24-4278-B558-5E6EE76E2B4C}"/>
                  </a:ext>
                </a:extLst>
              </p:cNvPr>
              <p:cNvSpPr txBox="1">
                <a:spLocks noChangeArrowheads="1"/>
              </p:cNvSpPr>
              <p:nvPr/>
            </p:nvSpPr>
            <p:spPr bwMode="auto">
              <a:xfrm>
                <a:off x="4867275" y="25622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9</a:t>
                </a:r>
              </a:p>
            </p:txBody>
          </p:sp>
          <p:sp>
            <p:nvSpPr>
              <p:cNvPr id="110" name="Text Box 49">
                <a:extLst>
                  <a:ext uri="{FF2B5EF4-FFF2-40B4-BE49-F238E27FC236}">
                    <a16:creationId xmlns:a16="http://schemas.microsoft.com/office/drawing/2014/main" id="{5A9A0313-F7F2-491D-8E70-BD84D59F380C}"/>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6</a:t>
                </a:r>
              </a:p>
            </p:txBody>
          </p:sp>
          <p:sp>
            <p:nvSpPr>
              <p:cNvPr id="111" name="Text Box 50">
                <a:extLst>
                  <a:ext uri="{FF2B5EF4-FFF2-40B4-BE49-F238E27FC236}">
                    <a16:creationId xmlns:a16="http://schemas.microsoft.com/office/drawing/2014/main" id="{7D4559D1-3B20-40CE-B0AE-10C54704F84A}"/>
                  </a:ext>
                </a:extLst>
              </p:cNvPr>
              <p:cNvSpPr txBox="1">
                <a:spLocks noChangeArrowheads="1"/>
              </p:cNvSpPr>
              <p:nvPr/>
            </p:nvSpPr>
            <p:spPr bwMode="auto">
              <a:xfrm>
                <a:off x="5011738" y="36512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2" name="Text Box 51">
                <a:extLst>
                  <a:ext uri="{FF2B5EF4-FFF2-40B4-BE49-F238E27FC236}">
                    <a16:creationId xmlns:a16="http://schemas.microsoft.com/office/drawing/2014/main" id="{3098518A-5BE9-4DD1-B33B-962D840447F2}"/>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8</a:t>
                </a:r>
              </a:p>
            </p:txBody>
          </p:sp>
          <p:sp>
            <p:nvSpPr>
              <p:cNvPr id="113" name="Text Box 52">
                <a:extLst>
                  <a:ext uri="{FF2B5EF4-FFF2-40B4-BE49-F238E27FC236}">
                    <a16:creationId xmlns:a16="http://schemas.microsoft.com/office/drawing/2014/main" id="{9CA985F6-556F-4E23-81E3-2824F9A73B49}"/>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14" name="Text Box 53">
                <a:extLst>
                  <a:ext uri="{FF2B5EF4-FFF2-40B4-BE49-F238E27FC236}">
                    <a16:creationId xmlns:a16="http://schemas.microsoft.com/office/drawing/2014/main" id="{3A713304-A894-4855-AB22-BC335C12F075}"/>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5" name="Text Box 54">
                <a:extLst>
                  <a:ext uri="{FF2B5EF4-FFF2-40B4-BE49-F238E27FC236}">
                    <a16:creationId xmlns:a16="http://schemas.microsoft.com/office/drawing/2014/main" id="{1B4F6411-3DC7-4540-89D6-77045F27BC05}"/>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2</a:t>
                </a:r>
              </a:p>
            </p:txBody>
          </p:sp>
        </p:grpSp>
      </p:gr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2C6C8D23-F9E9-4C9B-AC25-D4F712CF2F24}"/>
                  </a:ext>
                </a:extLst>
              </p:cNvPr>
              <p:cNvSpPr txBox="1"/>
              <p:nvPr/>
            </p:nvSpPr>
            <p:spPr>
              <a:xfrm>
                <a:off x="127317" y="4990197"/>
                <a:ext cx="9398277" cy="8854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2</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e>
                      </m:d>
                      <m:r>
                        <a:rPr lang="en-US" altLang="zh-CN" sz="3200" b="0" i="1" smtClean="0">
                          <a:latin typeface="Cambria Math" panose="02040503050406030204" pitchFamily="18" charset="0"/>
                        </a:rPr>
                        <m:t>=</m:t>
                      </m:r>
                      <m:limLow>
                        <m:limLowPr>
                          <m:ctrlPr>
                            <a:rPr lang="zh-CN" altLang="en-US" sz="3200" i="1">
                              <a:solidFill>
                                <a:srgbClr val="000000"/>
                              </a:solidFill>
                              <a:latin typeface="Cambria Math" panose="02040503050406030204" pitchFamily="18" charset="0"/>
                            </a:rPr>
                          </m:ctrlPr>
                        </m:limLowPr>
                        <m:e>
                          <m:r>
                            <m:rPr>
                              <m:nor/>
                            </m:rPr>
                            <a:rPr lang="zh-CN" altLang="en-US" sz="3200">
                              <a:solidFill>
                                <a:srgbClr val="000000"/>
                              </a:solidFill>
                              <a:latin typeface="Cambria Math" panose="02040503050406030204" pitchFamily="18" charset="0"/>
                            </a:rPr>
                            <m:t>opt</m:t>
                          </m:r>
                        </m:e>
                        <m:lim>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𝐷</m:t>
                          </m:r>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sSub>
                                <m:sSubPr>
                                  <m:ctrlPr>
                                    <a:rPr lang="en-US" altLang="zh-CN" sz="3200" b="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𝐷</m:t>
                                  </m:r>
                                </m:e>
                                <m:sub>
                                  <m:r>
                                    <a:rPr lang="en-US" altLang="zh-CN" sz="3200" b="0" i="1" smtClean="0">
                                      <a:solidFill>
                                        <a:srgbClr val="000000"/>
                                      </a:solidFill>
                                      <a:latin typeface="Cambria Math" panose="02040503050406030204" pitchFamily="18" charset="0"/>
                                    </a:rPr>
                                    <m:t>1</m:t>
                                  </m:r>
                                </m:sub>
                              </m:sSub>
                            </m:e>
                          </m:d>
                        </m:lim>
                      </m:limLow>
                      <m:r>
                        <a:rPr lang="zh-CN" altLang="en-US" sz="3200" i="1">
                          <a:solidFill>
                            <a:srgbClr val="000000"/>
                          </a:solidFill>
                          <a:latin typeface="Cambria Math" panose="02040503050406030204" pitchFamily="18" charset="0"/>
                        </a:rPr>
                        <m:t> [</m:t>
                      </m:r>
                      <m:r>
                        <a:rPr lang="en-US" altLang="zh-CN" sz="3200" b="1" i="1">
                          <a:solidFill>
                            <a:srgbClr val="000000"/>
                          </a:solidFill>
                          <a:latin typeface="Cambria Math" panose="02040503050406030204" pitchFamily="18" charset="0"/>
                        </a:rPr>
                        <m:t>𝒗</m:t>
                      </m:r>
                      <m:r>
                        <a:rPr lang="zh-CN" altLang="en-US" sz="3200" i="1">
                          <a:solidFill>
                            <a:srgbClr val="000000"/>
                          </a:solidFill>
                          <a:latin typeface="Cambria Math" panose="02040503050406030204" pitchFamily="18" charset="0"/>
                        </a:rPr>
                        <m:t> (</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r>
                        <a:rPr lang="zh-CN" altLang="en-US" sz="3200" i="1">
                          <a:solidFill>
                            <a:srgbClr val="000000"/>
                          </a:solidFill>
                          <a:latin typeface="Cambria Math" panose="02040503050406030204" pitchFamily="18" charset="0"/>
                        </a:rPr>
                        <m:t>,</m:t>
                      </m:r>
                      <m:r>
                        <a:rPr lang="en-US" altLang="zh-CN" sz="3200" b="1" i="1">
                          <a:solidFill>
                            <a:srgbClr val="000000"/>
                          </a:solidFill>
                          <a:latin typeface="Cambria Math" panose="02040503050406030204" pitchFamily="18" charset="0"/>
                        </a:rPr>
                        <m:t>𝒖</m:t>
                      </m:r>
                      <m:r>
                        <a:rPr lang="en-US" altLang="zh-CN" sz="3200" b="1" i="1">
                          <a:solidFill>
                            <a:srgbClr val="000000"/>
                          </a:solidFill>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r>
                        <a:rPr lang="en-US" altLang="zh-CN" sz="3200" b="1"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𝑓</m:t>
                      </m:r>
                      <m:r>
                        <a:rPr lang="zh-CN" altLang="en-US"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𝒖</m:t>
                      </m:r>
                      <m:r>
                        <a:rPr lang="en-US" altLang="zh-CN" sz="3200" i="1">
                          <a:solidFill>
                            <a:srgbClr val="000000"/>
                          </a:solidFill>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r>
                        <a:rPr lang="en-US" altLang="zh-CN"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117" name="文本框 116">
                <a:extLst>
                  <a:ext uri="{FF2B5EF4-FFF2-40B4-BE49-F238E27FC236}">
                    <a16:creationId xmlns:a16="http://schemas.microsoft.com/office/drawing/2014/main" id="{2C6C8D23-F9E9-4C9B-AC25-D4F712CF2F24}"/>
                  </a:ext>
                </a:extLst>
              </p:cNvPr>
              <p:cNvSpPr txBox="1">
                <a:spLocks noRot="1" noChangeAspect="1" noMove="1" noResize="1" noEditPoints="1" noAdjustHandles="1" noChangeArrowheads="1" noChangeShapeType="1" noTextEdit="1"/>
              </p:cNvSpPr>
              <p:nvPr/>
            </p:nvSpPr>
            <p:spPr>
              <a:xfrm>
                <a:off x="127317" y="4990197"/>
                <a:ext cx="9398277" cy="88549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72B9465-FBFF-4AF5-8CE7-B54D23BBAACB}"/>
                  </a:ext>
                </a:extLst>
              </p:cNvPr>
              <p:cNvSpPr/>
              <p:nvPr/>
            </p:nvSpPr>
            <p:spPr>
              <a:xfrm>
                <a:off x="484874" y="6014448"/>
                <a:ext cx="251132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000000"/>
                          </a:solidFill>
                          <a:latin typeface="Cambria Math" panose="02040503050406030204" pitchFamily="18" charset="0"/>
                        </a:rPr>
                        <m:t>𝑫</m:t>
                      </m:r>
                      <m:d>
                        <m:dPr>
                          <m:ctrlPr>
                            <a:rPr lang="zh-CN" altLang="en-US" sz="3200" i="1">
                              <a:solidFill>
                                <a:srgbClr val="000000"/>
                              </a:solidFill>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e>
                      </m:d>
                      <m:r>
                        <a:rPr lang="en-US" altLang="zh-CN" sz="3200" b="0" i="1" smtClean="0">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𝐴</m:t>
                      </m:r>
                      <m:r>
                        <a:rPr lang="en-US" altLang="zh-CN" sz="3200" b="0" i="1" smtClean="0">
                          <a:solidFill>
                            <a:srgbClr val="000000"/>
                          </a:solidFill>
                          <a:latin typeface="Cambria Math" panose="02040503050406030204" pitchFamily="18" charset="0"/>
                        </a:rPr>
                        <m:t>}</m:t>
                      </m:r>
                    </m:oMath>
                  </m:oMathPara>
                </a14:m>
                <a:endParaRPr lang="zh-CN" altLang="en-US" sz="3200" dirty="0"/>
              </a:p>
            </p:txBody>
          </p:sp>
        </mc:Choice>
        <mc:Fallback xmlns="">
          <p:sp>
            <p:nvSpPr>
              <p:cNvPr id="8" name="矩形 7">
                <a:extLst>
                  <a:ext uri="{FF2B5EF4-FFF2-40B4-BE49-F238E27FC236}">
                    <a16:creationId xmlns:a16="http://schemas.microsoft.com/office/drawing/2014/main" id="{C72B9465-FBFF-4AF5-8CE7-B54D23BBAACB}"/>
                  </a:ext>
                </a:extLst>
              </p:cNvPr>
              <p:cNvSpPr>
                <a:spLocks noRot="1" noChangeAspect="1" noMove="1" noResize="1" noEditPoints="1" noAdjustHandles="1" noChangeArrowheads="1" noChangeShapeType="1" noTextEdit="1"/>
              </p:cNvSpPr>
              <p:nvPr/>
            </p:nvSpPr>
            <p:spPr>
              <a:xfrm>
                <a:off x="484874" y="6014448"/>
                <a:ext cx="2511329"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D4ACB5D-B924-44B9-96F8-FAEA4083A765}"/>
                  </a:ext>
                </a:extLst>
              </p:cNvPr>
              <p:cNvSpPr/>
              <p:nvPr/>
            </p:nvSpPr>
            <p:spPr>
              <a:xfrm>
                <a:off x="3158058" y="5993071"/>
                <a:ext cx="445243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𝑓</m:t>
                      </m:r>
                      <m:d>
                        <m:dPr>
                          <m:ctrlPr>
                            <a:rPr lang="en-US" altLang="zh-CN" sz="3200" b="0" i="1" smtClean="0">
                              <a:latin typeface="Cambria Math" panose="02040503050406030204" pitchFamily="18" charset="0"/>
                            </a:rPr>
                          </m:ctrlPr>
                        </m:dPr>
                        <m:e>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b="0" i="1" smtClean="0">
                                  <a:latin typeface="Cambria Math" panose="02040503050406030204" pitchFamily="18" charset="0"/>
                                </a:rPr>
                                <m:t>2</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𝐵</m:t>
                              </m:r>
                            </m:e>
                            <m:sub>
                              <m:r>
                                <a:rPr lang="en-US" altLang="zh-CN" sz="3200" b="0" i="1" smtClean="0">
                                  <a:latin typeface="Cambria Math" panose="02040503050406030204" pitchFamily="18" charset="0"/>
                                </a:rPr>
                                <m:t>1</m:t>
                              </m:r>
                            </m:sub>
                          </m:sSub>
                        </m:e>
                      </m:d>
                      <m:r>
                        <a:rPr lang="en-US" altLang="zh-CN" sz="3200" b="0" i="1" smtClean="0">
                          <a:latin typeface="Cambria Math" panose="02040503050406030204" pitchFamily="18" charset="0"/>
                        </a:rPr>
                        <m:t>=2+0=2</m:t>
                      </m:r>
                    </m:oMath>
                  </m:oMathPara>
                </a14:m>
                <a:endParaRPr lang="zh-CN" altLang="en-US" sz="3200" dirty="0"/>
              </a:p>
            </p:txBody>
          </p:sp>
        </mc:Choice>
        <mc:Fallback xmlns="">
          <p:sp>
            <p:nvSpPr>
              <p:cNvPr id="9" name="矩形 8">
                <a:extLst>
                  <a:ext uri="{FF2B5EF4-FFF2-40B4-BE49-F238E27FC236}">
                    <a16:creationId xmlns:a16="http://schemas.microsoft.com/office/drawing/2014/main" id="{FD4ACB5D-B924-44B9-96F8-FAEA4083A765}"/>
                  </a:ext>
                </a:extLst>
              </p:cNvPr>
              <p:cNvSpPr>
                <a:spLocks noRot="1" noChangeAspect="1" noMove="1" noResize="1" noEditPoints="1" noAdjustHandles="1" noChangeArrowheads="1" noChangeShapeType="1" noTextEdit="1"/>
              </p:cNvSpPr>
              <p:nvPr/>
            </p:nvSpPr>
            <p:spPr>
              <a:xfrm>
                <a:off x="3158058" y="5993071"/>
                <a:ext cx="4452437" cy="584775"/>
              </a:xfrm>
              <a:prstGeom prst="rect">
                <a:avLst/>
              </a:prstGeom>
              <a:blipFill>
                <a:blip r:embed="rId5"/>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749FE1E8-1EC1-4910-BC47-9513FFB72621}"/>
              </a:ext>
            </a:extLst>
          </p:cNvPr>
          <p:cNvSpPr txBox="1"/>
          <p:nvPr/>
        </p:nvSpPr>
        <p:spPr>
          <a:xfrm>
            <a:off x="1102571" y="1550913"/>
            <a:ext cx="312906" cy="369332"/>
          </a:xfrm>
          <a:prstGeom prst="rect">
            <a:avLst/>
          </a:prstGeom>
          <a:solidFill>
            <a:srgbClr val="FFFF00"/>
          </a:solidFill>
        </p:spPr>
        <p:txBody>
          <a:bodyPr wrap="none" rtlCol="0">
            <a:spAutoFit/>
          </a:bodyPr>
          <a:lstStyle/>
          <a:p>
            <a:r>
              <a:rPr lang="en-US" altLang="zh-CN" b="1" dirty="0"/>
              <a:t>2</a:t>
            </a:r>
            <a:endParaRPr lang="zh-CN" altLang="en-US" b="1" dirty="0"/>
          </a:p>
        </p:txBody>
      </p:sp>
      <p:sp>
        <p:nvSpPr>
          <p:cNvPr id="116" name="文本框 115">
            <a:extLst>
              <a:ext uri="{FF2B5EF4-FFF2-40B4-BE49-F238E27FC236}">
                <a16:creationId xmlns:a16="http://schemas.microsoft.com/office/drawing/2014/main" id="{248DE699-5323-471E-B57B-AB53ADDDF576}"/>
              </a:ext>
            </a:extLst>
          </p:cNvPr>
          <p:cNvSpPr txBox="1"/>
          <p:nvPr/>
        </p:nvSpPr>
        <p:spPr>
          <a:xfrm>
            <a:off x="1102571" y="2493159"/>
            <a:ext cx="312906" cy="369332"/>
          </a:xfrm>
          <a:prstGeom prst="rect">
            <a:avLst/>
          </a:prstGeom>
          <a:solidFill>
            <a:srgbClr val="FFFF00"/>
          </a:solidFill>
        </p:spPr>
        <p:txBody>
          <a:bodyPr wrap="none" rtlCol="0">
            <a:spAutoFit/>
          </a:bodyPr>
          <a:lstStyle/>
          <a:p>
            <a:r>
              <a:rPr lang="en-US" altLang="zh-CN" b="1" dirty="0"/>
              <a:t>5</a:t>
            </a:r>
            <a:endParaRPr lang="zh-CN" altLang="en-US" b="1" dirty="0"/>
          </a:p>
        </p:txBody>
      </p:sp>
      <p:sp>
        <p:nvSpPr>
          <p:cNvPr id="118" name="文本框 117">
            <a:extLst>
              <a:ext uri="{FF2B5EF4-FFF2-40B4-BE49-F238E27FC236}">
                <a16:creationId xmlns:a16="http://schemas.microsoft.com/office/drawing/2014/main" id="{F03A6D36-3C36-4F82-AF05-92B735D32826}"/>
              </a:ext>
            </a:extLst>
          </p:cNvPr>
          <p:cNvSpPr txBox="1"/>
          <p:nvPr/>
        </p:nvSpPr>
        <p:spPr>
          <a:xfrm>
            <a:off x="1102571" y="3335278"/>
            <a:ext cx="312906" cy="369332"/>
          </a:xfrm>
          <a:prstGeom prst="rect">
            <a:avLst/>
          </a:prstGeom>
          <a:solidFill>
            <a:srgbClr val="FFFF00"/>
          </a:solidFill>
        </p:spPr>
        <p:txBody>
          <a:bodyPr wrap="none" rtlCol="0">
            <a:spAutoFit/>
          </a:bodyPr>
          <a:lstStyle/>
          <a:p>
            <a:r>
              <a:rPr lang="en-US" altLang="zh-CN" b="1" dirty="0"/>
              <a:t>1</a:t>
            </a:r>
            <a:endParaRPr lang="zh-CN" altLang="en-US" b="1" dirty="0"/>
          </a:p>
        </p:txBody>
      </p:sp>
    </p:spTree>
    <p:extLst>
      <p:ext uri="{BB962C8B-B14F-4D97-AF65-F5344CB8AC3E}">
        <p14:creationId xmlns:p14="http://schemas.microsoft.com/office/powerpoint/2010/main" val="3811044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410D8A4-EC77-42D7-BB4D-2F8C4D79785A}"/>
              </a:ext>
            </a:extLst>
          </p:cNvPr>
          <p:cNvSpPr>
            <a:spLocks noGrp="1" noChangeArrowheads="1"/>
          </p:cNvSpPr>
          <p:nvPr>
            <p:ph type="title"/>
          </p:nvPr>
        </p:nvSpPr>
        <p:spPr/>
        <p:txBody>
          <a:bodyPr/>
          <a:lstStyle/>
          <a:p>
            <a:pPr eaLnBrk="1" hangingPunct="1"/>
            <a:r>
              <a:rPr lang="zh-CN" altLang="en-US" dirty="0"/>
              <a:t>基本方程</a:t>
            </a:r>
            <a:r>
              <a:rPr lang="en-US" altLang="zh-CN" dirty="0"/>
              <a:t>(</a:t>
            </a:r>
            <a:r>
              <a:rPr lang="zh-CN" altLang="en-US" dirty="0"/>
              <a:t>顺序解法</a:t>
            </a:r>
            <a:r>
              <a:rPr lang="en-US" altLang="zh-CN" dirty="0"/>
              <a:t>)</a:t>
            </a:r>
            <a:endParaRPr lang="zh-CN" altLang="en-US" dirty="0"/>
          </a:p>
        </p:txBody>
      </p:sp>
      <p:grpSp>
        <p:nvGrpSpPr>
          <p:cNvPr id="6" name="组合 5">
            <a:extLst>
              <a:ext uri="{FF2B5EF4-FFF2-40B4-BE49-F238E27FC236}">
                <a16:creationId xmlns:a16="http://schemas.microsoft.com/office/drawing/2014/main" id="{917288F3-8B9E-49A2-97A3-43F41BCE5143}"/>
              </a:ext>
            </a:extLst>
          </p:cNvPr>
          <p:cNvGrpSpPr/>
          <p:nvPr/>
        </p:nvGrpSpPr>
        <p:grpSpPr>
          <a:xfrm>
            <a:off x="179513" y="1086995"/>
            <a:ext cx="5125844" cy="3134093"/>
            <a:chOff x="179512" y="1086995"/>
            <a:chExt cx="7145157" cy="3514725"/>
          </a:xfrm>
        </p:grpSpPr>
        <p:grpSp>
          <p:nvGrpSpPr>
            <p:cNvPr id="53" name="组合 167">
              <a:extLst>
                <a:ext uri="{FF2B5EF4-FFF2-40B4-BE49-F238E27FC236}">
                  <a16:creationId xmlns:a16="http://schemas.microsoft.com/office/drawing/2014/main" id="{62D76B02-02B0-4E2E-98D8-A9F1F083A653}"/>
                </a:ext>
              </a:extLst>
            </p:cNvPr>
            <p:cNvGrpSpPr>
              <a:grpSpLocks/>
            </p:cNvGrpSpPr>
            <p:nvPr/>
          </p:nvGrpSpPr>
          <p:grpSpPr bwMode="auto">
            <a:xfrm>
              <a:off x="179512" y="1086995"/>
              <a:ext cx="7145157" cy="3514725"/>
              <a:chOff x="1281093" y="1412776"/>
              <a:chExt cx="7146767" cy="4536504"/>
            </a:xfrm>
          </p:grpSpPr>
          <p:sp>
            <p:nvSpPr>
              <p:cNvPr id="54" name="文本框 157">
                <a:extLst>
                  <a:ext uri="{FF2B5EF4-FFF2-40B4-BE49-F238E27FC236}">
                    <a16:creationId xmlns:a16="http://schemas.microsoft.com/office/drawing/2014/main" id="{F6F0CDA6-C872-498D-A50E-BA157765325D}"/>
                  </a:ext>
                </a:extLst>
              </p:cNvPr>
              <p:cNvSpPr txBox="1">
                <a:spLocks noChangeArrowheads="1"/>
              </p:cNvSpPr>
              <p:nvPr/>
            </p:nvSpPr>
            <p:spPr bwMode="auto">
              <a:xfrm>
                <a:off x="128109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1</a:t>
                </a:r>
                <a:endParaRPr lang="zh-CN" altLang="en-US" sz="1400" b="1"/>
              </a:p>
            </p:txBody>
          </p:sp>
          <p:sp>
            <p:nvSpPr>
              <p:cNvPr id="55" name="文本框 158">
                <a:extLst>
                  <a:ext uri="{FF2B5EF4-FFF2-40B4-BE49-F238E27FC236}">
                    <a16:creationId xmlns:a16="http://schemas.microsoft.com/office/drawing/2014/main" id="{767A5123-C596-4DD1-91AE-879A25E98825}"/>
                  </a:ext>
                </a:extLst>
              </p:cNvPr>
              <p:cNvSpPr txBox="1">
                <a:spLocks noChangeArrowheads="1"/>
              </p:cNvSpPr>
              <p:nvPr/>
            </p:nvSpPr>
            <p:spPr bwMode="auto">
              <a:xfrm>
                <a:off x="2823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2</a:t>
                </a:r>
                <a:endParaRPr lang="zh-CN" altLang="en-US" sz="1400" b="1"/>
              </a:p>
            </p:txBody>
          </p:sp>
          <p:sp>
            <p:nvSpPr>
              <p:cNvPr id="56" name="文本框 159">
                <a:extLst>
                  <a:ext uri="{FF2B5EF4-FFF2-40B4-BE49-F238E27FC236}">
                    <a16:creationId xmlns:a16="http://schemas.microsoft.com/office/drawing/2014/main" id="{7028B3F2-4745-4CAE-A062-73E6FFF71AC7}"/>
                  </a:ext>
                </a:extLst>
              </p:cNvPr>
              <p:cNvSpPr txBox="1">
                <a:spLocks noChangeArrowheads="1"/>
              </p:cNvSpPr>
              <p:nvPr/>
            </p:nvSpPr>
            <p:spPr bwMode="auto">
              <a:xfrm>
                <a:off x="4570233"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3</a:t>
                </a:r>
                <a:endParaRPr lang="zh-CN" altLang="en-US" sz="1400" b="1"/>
              </a:p>
            </p:txBody>
          </p:sp>
          <p:sp>
            <p:nvSpPr>
              <p:cNvPr id="57" name="文本框 160">
                <a:extLst>
                  <a:ext uri="{FF2B5EF4-FFF2-40B4-BE49-F238E27FC236}">
                    <a16:creationId xmlns:a16="http://schemas.microsoft.com/office/drawing/2014/main" id="{B04FD00D-C358-4733-AF41-54A8059E0C8B}"/>
                  </a:ext>
                </a:extLst>
              </p:cNvPr>
              <p:cNvSpPr txBox="1">
                <a:spLocks noChangeArrowheads="1"/>
              </p:cNvSpPr>
              <p:nvPr/>
            </p:nvSpPr>
            <p:spPr bwMode="auto">
              <a:xfrm>
                <a:off x="6244348"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4</a:t>
                </a:r>
                <a:endParaRPr lang="zh-CN" altLang="en-US" sz="1400" b="1"/>
              </a:p>
            </p:txBody>
          </p:sp>
          <p:sp>
            <p:nvSpPr>
              <p:cNvPr id="58" name="文本框 161">
                <a:extLst>
                  <a:ext uri="{FF2B5EF4-FFF2-40B4-BE49-F238E27FC236}">
                    <a16:creationId xmlns:a16="http://schemas.microsoft.com/office/drawing/2014/main" id="{78E516FA-C238-4C30-8117-7181D6C9AF4B}"/>
                  </a:ext>
                </a:extLst>
              </p:cNvPr>
              <p:cNvSpPr txBox="1">
                <a:spLocks noChangeArrowheads="1"/>
              </p:cNvSpPr>
              <p:nvPr/>
            </p:nvSpPr>
            <p:spPr bwMode="auto">
              <a:xfrm>
                <a:off x="7531176" y="1725256"/>
                <a:ext cx="896684" cy="44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a:t>状态</a:t>
                </a:r>
                <a:r>
                  <a:rPr lang="en-US" altLang="zh-CN" sz="1400" b="1"/>
                  <a:t>5</a:t>
                </a:r>
                <a:endParaRPr lang="zh-CN" altLang="en-US" sz="1400" b="1"/>
              </a:p>
            </p:txBody>
          </p:sp>
          <p:cxnSp>
            <p:nvCxnSpPr>
              <p:cNvPr id="59" name="直接连接符 58">
                <a:extLst>
                  <a:ext uri="{FF2B5EF4-FFF2-40B4-BE49-F238E27FC236}">
                    <a16:creationId xmlns:a16="http://schemas.microsoft.com/office/drawing/2014/main" id="{7D0355CC-B1B6-4416-9133-A8E4189964B5}"/>
                  </a:ext>
                </a:extLst>
              </p:cNvPr>
              <p:cNvCxnSpPr/>
              <p:nvPr/>
            </p:nvCxnSpPr>
            <p:spPr>
              <a:xfrm>
                <a:off x="248468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D714960F-1958-4004-BA16-CE02059893EB}"/>
                  </a:ext>
                </a:extLst>
              </p:cNvPr>
              <p:cNvCxnSpPr/>
              <p:nvPr/>
            </p:nvCxnSpPr>
            <p:spPr>
              <a:xfrm>
                <a:off x="4139237"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8D21216-3295-4975-B956-262140EC8DDF}"/>
                  </a:ext>
                </a:extLst>
              </p:cNvPr>
              <p:cNvCxnSpPr/>
              <p:nvPr/>
            </p:nvCxnSpPr>
            <p:spPr>
              <a:xfrm>
                <a:off x="5795372"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3C3B10C-81D6-4D22-9351-1B4FE6B1D3F9}"/>
                  </a:ext>
                </a:extLst>
              </p:cNvPr>
              <p:cNvCxnSpPr/>
              <p:nvPr/>
            </p:nvCxnSpPr>
            <p:spPr>
              <a:xfrm>
                <a:off x="7287959" y="1412776"/>
                <a:ext cx="0" cy="4536504"/>
              </a:xfrm>
              <a:prstGeom prst="line">
                <a:avLst/>
              </a:prstGeom>
              <a:ln w="571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5" name="组合 1">
              <a:extLst>
                <a:ext uri="{FF2B5EF4-FFF2-40B4-BE49-F238E27FC236}">
                  <a16:creationId xmlns:a16="http://schemas.microsoft.com/office/drawing/2014/main" id="{F0B2A3BA-8200-4AD2-8BD6-C9E29EB259B8}"/>
                </a:ext>
              </a:extLst>
            </p:cNvPr>
            <p:cNvGrpSpPr>
              <a:grpSpLocks/>
            </p:cNvGrpSpPr>
            <p:nvPr/>
          </p:nvGrpSpPr>
          <p:grpSpPr bwMode="auto">
            <a:xfrm>
              <a:off x="352980" y="1896905"/>
              <a:ext cx="6696075" cy="2535251"/>
              <a:chOff x="1187450" y="1898650"/>
              <a:chExt cx="6696075" cy="3222625"/>
            </a:xfrm>
          </p:grpSpPr>
          <p:sp>
            <p:nvSpPr>
              <p:cNvPr id="66" name="Oval 5">
                <a:extLst>
                  <a:ext uri="{FF2B5EF4-FFF2-40B4-BE49-F238E27FC236}">
                    <a16:creationId xmlns:a16="http://schemas.microsoft.com/office/drawing/2014/main" id="{B843706A-2529-45DB-8621-D44C22AF4CAC}"/>
                  </a:ext>
                </a:extLst>
              </p:cNvPr>
              <p:cNvSpPr>
                <a:spLocks noChangeArrowheads="1"/>
              </p:cNvSpPr>
              <p:nvPr/>
            </p:nvSpPr>
            <p:spPr bwMode="auto">
              <a:xfrm>
                <a:off x="4406900" y="193198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1</a:t>
                </a:r>
              </a:p>
            </p:txBody>
          </p:sp>
          <p:sp>
            <p:nvSpPr>
              <p:cNvPr id="67" name="Oval 6">
                <a:extLst>
                  <a:ext uri="{FF2B5EF4-FFF2-40B4-BE49-F238E27FC236}">
                    <a16:creationId xmlns:a16="http://schemas.microsoft.com/office/drawing/2014/main" id="{44422404-073F-427D-8CC9-69E00C5615E8}"/>
                  </a:ext>
                </a:extLst>
              </p:cNvPr>
              <p:cNvSpPr>
                <a:spLocks noChangeArrowheads="1"/>
              </p:cNvSpPr>
              <p:nvPr/>
            </p:nvSpPr>
            <p:spPr bwMode="auto">
              <a:xfrm>
                <a:off x="4430713" y="4449763"/>
                <a:ext cx="509587"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3</a:t>
                </a:r>
                <a:endParaRPr lang="en-US" altLang="zh-CN" sz="1400"/>
              </a:p>
            </p:txBody>
          </p:sp>
          <p:sp>
            <p:nvSpPr>
              <p:cNvPr id="68" name="Oval 7">
                <a:extLst>
                  <a:ext uri="{FF2B5EF4-FFF2-40B4-BE49-F238E27FC236}">
                    <a16:creationId xmlns:a16="http://schemas.microsoft.com/office/drawing/2014/main" id="{B53B0F59-667B-4FDE-AF14-E2F3D7638C92}"/>
                  </a:ext>
                </a:extLst>
              </p:cNvPr>
              <p:cNvSpPr>
                <a:spLocks noChangeArrowheads="1"/>
              </p:cNvSpPr>
              <p:nvPr/>
            </p:nvSpPr>
            <p:spPr bwMode="auto">
              <a:xfrm>
                <a:off x="6016625" y="2568575"/>
                <a:ext cx="509588"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D</a:t>
                </a:r>
                <a:r>
                  <a:rPr lang="en-US" altLang="zh-CN" sz="1400" baseline="-25000">
                    <a:latin typeface="Times New Roman" panose="02020603050405020304" pitchFamily="18" charset="0"/>
                  </a:rPr>
                  <a:t>1</a:t>
                </a:r>
              </a:p>
            </p:txBody>
          </p:sp>
          <p:sp>
            <p:nvSpPr>
              <p:cNvPr id="69" name="Oval 8">
                <a:extLst>
                  <a:ext uri="{FF2B5EF4-FFF2-40B4-BE49-F238E27FC236}">
                    <a16:creationId xmlns:a16="http://schemas.microsoft.com/office/drawing/2014/main" id="{2FD0BB59-B661-4FC6-9E90-9DCC8A0D8F6A}"/>
                  </a:ext>
                </a:extLst>
              </p:cNvPr>
              <p:cNvSpPr>
                <a:spLocks noChangeArrowheads="1"/>
              </p:cNvSpPr>
              <p:nvPr/>
            </p:nvSpPr>
            <p:spPr bwMode="auto">
              <a:xfrm>
                <a:off x="1187450" y="3195638"/>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A</a:t>
                </a:r>
              </a:p>
            </p:txBody>
          </p:sp>
          <p:sp>
            <p:nvSpPr>
              <p:cNvPr id="70" name="Oval 9">
                <a:extLst>
                  <a:ext uri="{FF2B5EF4-FFF2-40B4-BE49-F238E27FC236}">
                    <a16:creationId xmlns:a16="http://schemas.microsoft.com/office/drawing/2014/main" id="{8CE2E3C1-DE7D-43C4-8D8F-E9670DC9856E}"/>
                  </a:ext>
                </a:extLst>
              </p:cNvPr>
              <p:cNvSpPr>
                <a:spLocks noChangeArrowheads="1"/>
              </p:cNvSpPr>
              <p:nvPr/>
            </p:nvSpPr>
            <p:spPr bwMode="auto">
              <a:xfrm>
                <a:off x="2611438" y="197167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1</a:t>
                </a:r>
                <a:endParaRPr lang="en-US" altLang="zh-CN" sz="1400"/>
              </a:p>
            </p:txBody>
          </p:sp>
          <p:sp>
            <p:nvSpPr>
              <p:cNvPr id="71" name="Oval 10">
                <a:extLst>
                  <a:ext uri="{FF2B5EF4-FFF2-40B4-BE49-F238E27FC236}">
                    <a16:creationId xmlns:a16="http://schemas.microsoft.com/office/drawing/2014/main" id="{BA3C4B6C-98B6-4487-AE01-3175DCCB54F2}"/>
                  </a:ext>
                </a:extLst>
              </p:cNvPr>
              <p:cNvSpPr>
                <a:spLocks noChangeArrowheads="1"/>
              </p:cNvSpPr>
              <p:nvPr/>
            </p:nvSpPr>
            <p:spPr bwMode="auto">
              <a:xfrm>
                <a:off x="2628900" y="4441825"/>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3</a:t>
                </a:r>
                <a:endParaRPr lang="en-US" altLang="zh-CN" sz="1400"/>
              </a:p>
            </p:txBody>
          </p:sp>
          <p:sp>
            <p:nvSpPr>
              <p:cNvPr id="72" name="Oval 11">
                <a:extLst>
                  <a:ext uri="{FF2B5EF4-FFF2-40B4-BE49-F238E27FC236}">
                    <a16:creationId xmlns:a16="http://schemas.microsoft.com/office/drawing/2014/main" id="{AB8F9DB6-6C91-4050-B105-ADD6C44A9492}"/>
                  </a:ext>
                </a:extLst>
              </p:cNvPr>
              <p:cNvSpPr>
                <a:spLocks noChangeArrowheads="1"/>
              </p:cNvSpPr>
              <p:nvPr/>
            </p:nvSpPr>
            <p:spPr bwMode="auto">
              <a:xfrm>
                <a:off x="2628900" y="3206750"/>
                <a:ext cx="508000" cy="557213"/>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B</a:t>
                </a:r>
                <a:r>
                  <a:rPr lang="en-US" altLang="zh-CN" sz="1400" baseline="-25000">
                    <a:latin typeface="Times New Roman" panose="02020603050405020304" pitchFamily="18" charset="0"/>
                  </a:rPr>
                  <a:t>2</a:t>
                </a:r>
                <a:endParaRPr lang="en-US" altLang="zh-CN" sz="1400"/>
              </a:p>
            </p:txBody>
          </p:sp>
          <p:sp>
            <p:nvSpPr>
              <p:cNvPr id="73" name="Oval 12">
                <a:extLst>
                  <a:ext uri="{FF2B5EF4-FFF2-40B4-BE49-F238E27FC236}">
                    <a16:creationId xmlns:a16="http://schemas.microsoft.com/office/drawing/2014/main" id="{228D351F-5A7A-4FD1-A4A9-85B1B856DA3A}"/>
                  </a:ext>
                </a:extLst>
              </p:cNvPr>
              <p:cNvSpPr>
                <a:spLocks noChangeArrowheads="1"/>
              </p:cNvSpPr>
              <p:nvPr/>
            </p:nvSpPr>
            <p:spPr bwMode="auto">
              <a:xfrm>
                <a:off x="6029325" y="3836988"/>
                <a:ext cx="508000" cy="558800"/>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D</a:t>
                </a:r>
                <a:r>
                  <a:rPr lang="en-US" altLang="zh-CN" sz="1400" baseline="-25000">
                    <a:latin typeface="Times New Roman" panose="02020603050405020304" pitchFamily="18" charset="0"/>
                  </a:rPr>
                  <a:t>2</a:t>
                </a:r>
                <a:endParaRPr lang="en-US" altLang="zh-CN" sz="1400"/>
              </a:p>
            </p:txBody>
          </p:sp>
          <p:sp>
            <p:nvSpPr>
              <p:cNvPr id="74" name="Oval 13">
                <a:extLst>
                  <a:ext uri="{FF2B5EF4-FFF2-40B4-BE49-F238E27FC236}">
                    <a16:creationId xmlns:a16="http://schemas.microsoft.com/office/drawing/2014/main" id="{97693D58-847D-4C2F-9C72-26E45C85BC43}"/>
                  </a:ext>
                </a:extLst>
              </p:cNvPr>
              <p:cNvSpPr>
                <a:spLocks noChangeArrowheads="1"/>
              </p:cNvSpPr>
              <p:nvPr/>
            </p:nvSpPr>
            <p:spPr bwMode="auto">
              <a:xfrm>
                <a:off x="7375525" y="31988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E</a:t>
                </a:r>
                <a:endParaRPr lang="en-US" altLang="zh-CN" sz="1400"/>
              </a:p>
            </p:txBody>
          </p:sp>
          <p:sp>
            <p:nvSpPr>
              <p:cNvPr id="75" name="Oval 14">
                <a:extLst>
                  <a:ext uri="{FF2B5EF4-FFF2-40B4-BE49-F238E27FC236}">
                    <a16:creationId xmlns:a16="http://schemas.microsoft.com/office/drawing/2014/main" id="{3DDB5D2A-7BF9-4DC2-834B-99FB4A9941CC}"/>
                  </a:ext>
                </a:extLst>
              </p:cNvPr>
              <p:cNvSpPr>
                <a:spLocks noChangeArrowheads="1"/>
              </p:cNvSpPr>
              <p:nvPr/>
            </p:nvSpPr>
            <p:spPr bwMode="auto">
              <a:xfrm>
                <a:off x="4406900" y="3173413"/>
                <a:ext cx="508000" cy="557212"/>
              </a:xfrm>
              <a:prstGeom prst="ellipse">
                <a:avLst/>
              </a:prstGeom>
              <a:solidFill>
                <a:srgbClr val="99CC00"/>
              </a:solidFill>
              <a:ln w="28575">
                <a:solidFill>
                  <a:srgbClr val="FF6600"/>
                </a:solidFill>
                <a:round/>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C</a:t>
                </a:r>
                <a:r>
                  <a:rPr lang="en-US" altLang="zh-CN" sz="1400" baseline="-25000">
                    <a:latin typeface="Times New Roman" panose="02020603050405020304" pitchFamily="18" charset="0"/>
                  </a:rPr>
                  <a:t>2</a:t>
                </a:r>
                <a:endParaRPr lang="en-US" altLang="zh-CN" sz="1400"/>
              </a:p>
            </p:txBody>
          </p:sp>
          <p:sp>
            <p:nvSpPr>
              <p:cNvPr id="76" name="Line 15">
                <a:extLst>
                  <a:ext uri="{FF2B5EF4-FFF2-40B4-BE49-F238E27FC236}">
                    <a16:creationId xmlns:a16="http://schemas.microsoft.com/office/drawing/2014/main" id="{9ACFE650-A205-4B3F-971F-41969B0CFCC3}"/>
                  </a:ext>
                </a:extLst>
              </p:cNvPr>
              <p:cNvSpPr>
                <a:spLocks noChangeShapeType="1"/>
              </p:cNvSpPr>
              <p:nvPr/>
            </p:nvSpPr>
            <p:spPr bwMode="auto">
              <a:xfrm flipV="1">
                <a:off x="1622425" y="2370138"/>
                <a:ext cx="1017588" cy="95567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7" name="Line 16">
                <a:extLst>
                  <a:ext uri="{FF2B5EF4-FFF2-40B4-BE49-F238E27FC236}">
                    <a16:creationId xmlns:a16="http://schemas.microsoft.com/office/drawing/2014/main" id="{3BD4FD88-E594-4163-A0C9-C2C1C7B2AA36}"/>
                  </a:ext>
                </a:extLst>
              </p:cNvPr>
              <p:cNvSpPr>
                <a:spLocks noChangeShapeType="1"/>
              </p:cNvSpPr>
              <p:nvPr/>
            </p:nvSpPr>
            <p:spPr bwMode="auto">
              <a:xfrm flipV="1">
                <a:off x="1695450" y="3486150"/>
                <a:ext cx="944563" cy="1428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8" name="Line 17">
                <a:extLst>
                  <a:ext uri="{FF2B5EF4-FFF2-40B4-BE49-F238E27FC236}">
                    <a16:creationId xmlns:a16="http://schemas.microsoft.com/office/drawing/2014/main" id="{48345FD2-5EF3-4821-9ADA-34CAD86F5B7D}"/>
                  </a:ext>
                </a:extLst>
              </p:cNvPr>
              <p:cNvSpPr>
                <a:spLocks noChangeShapeType="1"/>
              </p:cNvSpPr>
              <p:nvPr/>
            </p:nvSpPr>
            <p:spPr bwMode="auto">
              <a:xfrm>
                <a:off x="3148013" y="3486150"/>
                <a:ext cx="1258887"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79" name="Line 18">
                <a:extLst>
                  <a:ext uri="{FF2B5EF4-FFF2-40B4-BE49-F238E27FC236}">
                    <a16:creationId xmlns:a16="http://schemas.microsoft.com/office/drawing/2014/main" id="{EFBB4862-5CBF-410B-98A5-16BF43F59B6F}"/>
                  </a:ext>
                </a:extLst>
              </p:cNvPr>
              <p:cNvSpPr>
                <a:spLocks noChangeShapeType="1"/>
              </p:cNvSpPr>
              <p:nvPr/>
            </p:nvSpPr>
            <p:spPr bwMode="auto">
              <a:xfrm>
                <a:off x="1622425" y="3679825"/>
                <a:ext cx="1017588" cy="9207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0" name="Line 19">
                <a:extLst>
                  <a:ext uri="{FF2B5EF4-FFF2-40B4-BE49-F238E27FC236}">
                    <a16:creationId xmlns:a16="http://schemas.microsoft.com/office/drawing/2014/main" id="{37BB3FEA-D15A-48D4-8DAA-A6C2F45A877F}"/>
                  </a:ext>
                </a:extLst>
              </p:cNvPr>
              <p:cNvSpPr>
                <a:spLocks noChangeShapeType="1"/>
              </p:cNvSpPr>
              <p:nvPr/>
            </p:nvSpPr>
            <p:spPr bwMode="auto">
              <a:xfrm flipV="1">
                <a:off x="3148013" y="2190750"/>
                <a:ext cx="1235075" cy="206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1" name="Line 20">
                <a:extLst>
                  <a:ext uri="{FF2B5EF4-FFF2-40B4-BE49-F238E27FC236}">
                    <a16:creationId xmlns:a16="http://schemas.microsoft.com/office/drawing/2014/main" id="{9A1E5F5B-8666-4A45-905F-9C839E8E6B86}"/>
                  </a:ext>
                </a:extLst>
              </p:cNvPr>
              <p:cNvSpPr>
                <a:spLocks noChangeShapeType="1"/>
              </p:cNvSpPr>
              <p:nvPr/>
            </p:nvSpPr>
            <p:spPr bwMode="auto">
              <a:xfrm>
                <a:off x="3148013" y="4760913"/>
                <a:ext cx="1282700" cy="63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2" name="Line 21">
                <a:extLst>
                  <a:ext uri="{FF2B5EF4-FFF2-40B4-BE49-F238E27FC236}">
                    <a16:creationId xmlns:a16="http://schemas.microsoft.com/office/drawing/2014/main" id="{BC30B9DA-4712-4BF1-8272-80C7C77CFEB3}"/>
                  </a:ext>
                </a:extLst>
              </p:cNvPr>
              <p:cNvSpPr>
                <a:spLocks noChangeShapeType="1"/>
              </p:cNvSpPr>
              <p:nvPr/>
            </p:nvSpPr>
            <p:spPr bwMode="auto">
              <a:xfrm>
                <a:off x="4914900" y="2217738"/>
                <a:ext cx="1114425" cy="530225"/>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3" name="Line 22">
                <a:extLst>
                  <a:ext uri="{FF2B5EF4-FFF2-40B4-BE49-F238E27FC236}">
                    <a16:creationId xmlns:a16="http://schemas.microsoft.com/office/drawing/2014/main" id="{AFD5AE01-339E-447C-A118-69B088AA33FE}"/>
                  </a:ext>
                </a:extLst>
              </p:cNvPr>
              <p:cNvSpPr>
                <a:spLocks noChangeShapeType="1"/>
              </p:cNvSpPr>
              <p:nvPr/>
            </p:nvSpPr>
            <p:spPr bwMode="auto">
              <a:xfrm>
                <a:off x="6513513" y="2960688"/>
                <a:ext cx="895350" cy="4524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4" name="Line 23">
                <a:extLst>
                  <a:ext uri="{FF2B5EF4-FFF2-40B4-BE49-F238E27FC236}">
                    <a16:creationId xmlns:a16="http://schemas.microsoft.com/office/drawing/2014/main" id="{936A9AA4-7461-4FA0-8520-1E4F3CC05BD3}"/>
                  </a:ext>
                </a:extLst>
              </p:cNvPr>
              <p:cNvSpPr>
                <a:spLocks noChangeShapeType="1"/>
              </p:cNvSpPr>
              <p:nvPr/>
            </p:nvSpPr>
            <p:spPr bwMode="auto">
              <a:xfrm flipV="1">
                <a:off x="4914900" y="4235450"/>
                <a:ext cx="1138238" cy="4254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5" name="Line 24">
                <a:extLst>
                  <a:ext uri="{FF2B5EF4-FFF2-40B4-BE49-F238E27FC236}">
                    <a16:creationId xmlns:a16="http://schemas.microsoft.com/office/drawing/2014/main" id="{B7C52BFD-DDC9-4EC3-85ED-DCC503B50898}"/>
                  </a:ext>
                </a:extLst>
              </p:cNvPr>
              <p:cNvSpPr>
                <a:spLocks noChangeShapeType="1"/>
              </p:cNvSpPr>
              <p:nvPr/>
            </p:nvSpPr>
            <p:spPr bwMode="auto">
              <a:xfrm flipV="1">
                <a:off x="6513513" y="3624263"/>
                <a:ext cx="919162" cy="398462"/>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6" name="Line 25">
                <a:extLst>
                  <a:ext uri="{FF2B5EF4-FFF2-40B4-BE49-F238E27FC236}">
                    <a16:creationId xmlns:a16="http://schemas.microsoft.com/office/drawing/2014/main" id="{EF19E01B-6549-4FE8-B8AD-0F105B694CF3}"/>
                  </a:ext>
                </a:extLst>
              </p:cNvPr>
              <p:cNvSpPr>
                <a:spLocks noChangeShapeType="1"/>
              </p:cNvSpPr>
              <p:nvPr/>
            </p:nvSpPr>
            <p:spPr bwMode="auto">
              <a:xfrm flipV="1">
                <a:off x="4891088" y="2908300"/>
                <a:ext cx="1138237" cy="4238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7" name="Line 26">
                <a:extLst>
                  <a:ext uri="{FF2B5EF4-FFF2-40B4-BE49-F238E27FC236}">
                    <a16:creationId xmlns:a16="http://schemas.microsoft.com/office/drawing/2014/main" id="{A63894AA-455E-412A-8704-CF4CCB423CDB}"/>
                  </a:ext>
                </a:extLst>
              </p:cNvPr>
              <p:cNvSpPr>
                <a:spLocks noChangeShapeType="1"/>
              </p:cNvSpPr>
              <p:nvPr/>
            </p:nvSpPr>
            <p:spPr bwMode="auto">
              <a:xfrm>
                <a:off x="4867275" y="3598863"/>
                <a:ext cx="1112838" cy="477837"/>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8" name="Line 27">
                <a:extLst>
                  <a:ext uri="{FF2B5EF4-FFF2-40B4-BE49-F238E27FC236}">
                    <a16:creationId xmlns:a16="http://schemas.microsoft.com/office/drawing/2014/main" id="{6762778B-FBCF-4017-B870-3461C13A07E6}"/>
                  </a:ext>
                </a:extLst>
              </p:cNvPr>
              <p:cNvSpPr>
                <a:spLocks noChangeShapeType="1"/>
              </p:cNvSpPr>
              <p:nvPr/>
            </p:nvSpPr>
            <p:spPr bwMode="auto">
              <a:xfrm>
                <a:off x="3074988" y="2349500"/>
                <a:ext cx="13811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89" name="Line 28">
                <a:extLst>
                  <a:ext uri="{FF2B5EF4-FFF2-40B4-BE49-F238E27FC236}">
                    <a16:creationId xmlns:a16="http://schemas.microsoft.com/office/drawing/2014/main" id="{A4FEF310-36B4-494B-B472-1D5E433D6368}"/>
                  </a:ext>
                </a:extLst>
              </p:cNvPr>
              <p:cNvSpPr>
                <a:spLocks noChangeShapeType="1"/>
              </p:cNvSpPr>
              <p:nvPr/>
            </p:nvSpPr>
            <p:spPr bwMode="auto">
              <a:xfrm>
                <a:off x="3027363" y="2482850"/>
                <a:ext cx="1428750" cy="2044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0" name="Line 29">
                <a:extLst>
                  <a:ext uri="{FF2B5EF4-FFF2-40B4-BE49-F238E27FC236}">
                    <a16:creationId xmlns:a16="http://schemas.microsoft.com/office/drawing/2014/main" id="{4F0349A8-3778-4B5E-B023-855CFAD737F8}"/>
                  </a:ext>
                </a:extLst>
              </p:cNvPr>
              <p:cNvSpPr>
                <a:spLocks noChangeShapeType="1"/>
              </p:cNvSpPr>
              <p:nvPr/>
            </p:nvSpPr>
            <p:spPr bwMode="auto">
              <a:xfrm flipV="1">
                <a:off x="3074988" y="2349500"/>
                <a:ext cx="1331912" cy="97631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1" name="Line 30">
                <a:extLst>
                  <a:ext uri="{FF2B5EF4-FFF2-40B4-BE49-F238E27FC236}">
                    <a16:creationId xmlns:a16="http://schemas.microsoft.com/office/drawing/2014/main" id="{27D3D704-6E76-4EED-A736-3801B4418464}"/>
                  </a:ext>
                </a:extLst>
              </p:cNvPr>
              <p:cNvSpPr>
                <a:spLocks noChangeShapeType="1"/>
              </p:cNvSpPr>
              <p:nvPr/>
            </p:nvSpPr>
            <p:spPr bwMode="auto">
              <a:xfrm>
                <a:off x="3100388" y="3651250"/>
                <a:ext cx="1330325" cy="98266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2" name="Line 31">
                <a:extLst>
                  <a:ext uri="{FF2B5EF4-FFF2-40B4-BE49-F238E27FC236}">
                    <a16:creationId xmlns:a16="http://schemas.microsoft.com/office/drawing/2014/main" id="{09E7DEC4-20D9-47AE-B1B8-13E8EC65008D}"/>
                  </a:ext>
                </a:extLst>
              </p:cNvPr>
              <p:cNvSpPr>
                <a:spLocks noChangeShapeType="1"/>
              </p:cNvSpPr>
              <p:nvPr/>
            </p:nvSpPr>
            <p:spPr bwMode="auto">
              <a:xfrm flipV="1">
                <a:off x="3051175" y="2449513"/>
                <a:ext cx="1476375" cy="202565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3" name="Line 32">
                <a:extLst>
                  <a:ext uri="{FF2B5EF4-FFF2-40B4-BE49-F238E27FC236}">
                    <a16:creationId xmlns:a16="http://schemas.microsoft.com/office/drawing/2014/main" id="{F43D41FF-D13D-4151-93D5-A1A1F55806B3}"/>
                  </a:ext>
                </a:extLst>
              </p:cNvPr>
              <p:cNvSpPr>
                <a:spLocks noChangeShapeType="1"/>
              </p:cNvSpPr>
              <p:nvPr/>
            </p:nvSpPr>
            <p:spPr bwMode="auto">
              <a:xfrm flipV="1">
                <a:off x="3148013" y="3571875"/>
                <a:ext cx="1308100" cy="10287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4" name="Line 33">
                <a:extLst>
                  <a:ext uri="{FF2B5EF4-FFF2-40B4-BE49-F238E27FC236}">
                    <a16:creationId xmlns:a16="http://schemas.microsoft.com/office/drawing/2014/main" id="{CB468DFB-C5D4-438B-B105-D91924F348D1}"/>
                  </a:ext>
                </a:extLst>
              </p:cNvPr>
              <p:cNvSpPr>
                <a:spLocks noChangeShapeType="1"/>
              </p:cNvSpPr>
              <p:nvPr/>
            </p:nvSpPr>
            <p:spPr bwMode="auto">
              <a:xfrm>
                <a:off x="4843463" y="2403475"/>
                <a:ext cx="1282700" cy="1481138"/>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5" name="Line 34">
                <a:extLst>
                  <a:ext uri="{FF2B5EF4-FFF2-40B4-BE49-F238E27FC236}">
                    <a16:creationId xmlns:a16="http://schemas.microsoft.com/office/drawing/2014/main" id="{C082A2A0-8CC8-456C-9B8A-1742E62C44B1}"/>
                  </a:ext>
                </a:extLst>
              </p:cNvPr>
              <p:cNvSpPr>
                <a:spLocks noChangeShapeType="1"/>
              </p:cNvSpPr>
              <p:nvPr/>
            </p:nvSpPr>
            <p:spPr bwMode="auto">
              <a:xfrm flipV="1">
                <a:off x="4867275" y="3067050"/>
                <a:ext cx="1235075" cy="1435100"/>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6" name="Text Box 35">
                <a:extLst>
                  <a:ext uri="{FF2B5EF4-FFF2-40B4-BE49-F238E27FC236}">
                    <a16:creationId xmlns:a16="http://schemas.microsoft.com/office/drawing/2014/main" id="{FB970BED-0380-43D4-8F20-CFB9908C3877}"/>
                  </a:ext>
                </a:extLst>
              </p:cNvPr>
              <p:cNvSpPr txBox="1">
                <a:spLocks noChangeArrowheads="1"/>
              </p:cNvSpPr>
              <p:nvPr/>
            </p:nvSpPr>
            <p:spPr bwMode="auto">
              <a:xfrm>
                <a:off x="1849438" y="2678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2</a:t>
                </a:r>
              </a:p>
            </p:txBody>
          </p:sp>
          <p:sp>
            <p:nvSpPr>
              <p:cNvPr id="97" name="Text Box 36">
                <a:extLst>
                  <a:ext uri="{FF2B5EF4-FFF2-40B4-BE49-F238E27FC236}">
                    <a16:creationId xmlns:a16="http://schemas.microsoft.com/office/drawing/2014/main" id="{61BA6AFA-C672-421D-AE39-09AB019948B4}"/>
                  </a:ext>
                </a:extLst>
              </p:cNvPr>
              <p:cNvSpPr txBox="1">
                <a:spLocks noChangeArrowheads="1"/>
              </p:cNvSpPr>
              <p:nvPr/>
            </p:nvSpPr>
            <p:spPr bwMode="auto">
              <a:xfrm>
                <a:off x="1835150" y="325437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5</a:t>
                </a:r>
              </a:p>
            </p:txBody>
          </p:sp>
          <p:sp>
            <p:nvSpPr>
              <p:cNvPr id="98" name="Text Box 37">
                <a:extLst>
                  <a:ext uri="{FF2B5EF4-FFF2-40B4-BE49-F238E27FC236}">
                    <a16:creationId xmlns:a16="http://schemas.microsoft.com/office/drawing/2014/main" id="{0152A3AD-7A67-4FA6-9283-C0640EA68B06}"/>
                  </a:ext>
                </a:extLst>
              </p:cNvPr>
              <p:cNvSpPr txBox="1">
                <a:spLocks noChangeArrowheads="1"/>
              </p:cNvSpPr>
              <p:nvPr/>
            </p:nvSpPr>
            <p:spPr bwMode="auto">
              <a:xfrm>
                <a:off x="1768475" y="39973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a:t>
                </a:r>
              </a:p>
            </p:txBody>
          </p:sp>
          <p:sp>
            <p:nvSpPr>
              <p:cNvPr id="99" name="Text Box 38">
                <a:extLst>
                  <a:ext uri="{FF2B5EF4-FFF2-40B4-BE49-F238E27FC236}">
                    <a16:creationId xmlns:a16="http://schemas.microsoft.com/office/drawing/2014/main" id="{526AAA91-ED03-4287-AAD1-D1508151A1E1}"/>
                  </a:ext>
                </a:extLst>
              </p:cNvPr>
              <p:cNvSpPr txBox="1">
                <a:spLocks noChangeArrowheads="1"/>
              </p:cNvSpPr>
              <p:nvPr/>
            </p:nvSpPr>
            <p:spPr bwMode="auto">
              <a:xfrm>
                <a:off x="3360738" y="1898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12</a:t>
                </a:r>
                <a:endParaRPr lang="en-US" altLang="zh-CN" sz="1400"/>
              </a:p>
            </p:txBody>
          </p:sp>
          <p:sp>
            <p:nvSpPr>
              <p:cNvPr id="100" name="Text Box 39">
                <a:extLst>
                  <a:ext uri="{FF2B5EF4-FFF2-40B4-BE49-F238E27FC236}">
                    <a16:creationId xmlns:a16="http://schemas.microsoft.com/office/drawing/2014/main" id="{4F8CBF0D-F2D6-492D-AE9F-D2554AA93AEB}"/>
                  </a:ext>
                </a:extLst>
              </p:cNvPr>
              <p:cNvSpPr txBox="1">
                <a:spLocks noChangeArrowheads="1"/>
              </p:cNvSpPr>
              <p:nvPr/>
            </p:nvSpPr>
            <p:spPr bwMode="auto">
              <a:xfrm>
                <a:off x="3294063" y="229711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14</a:t>
                </a:r>
              </a:p>
            </p:txBody>
          </p:sp>
          <p:sp>
            <p:nvSpPr>
              <p:cNvPr id="101" name="Text Box 40">
                <a:extLst>
                  <a:ext uri="{FF2B5EF4-FFF2-40B4-BE49-F238E27FC236}">
                    <a16:creationId xmlns:a16="http://schemas.microsoft.com/office/drawing/2014/main" id="{3A51B4AF-B230-4FE7-82B2-319F6A9F643C}"/>
                  </a:ext>
                </a:extLst>
              </p:cNvPr>
              <p:cNvSpPr txBox="1">
                <a:spLocks noChangeArrowheads="1"/>
              </p:cNvSpPr>
              <p:nvPr/>
            </p:nvSpPr>
            <p:spPr bwMode="auto">
              <a:xfrm>
                <a:off x="3073400" y="2641600"/>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10</a:t>
                </a:r>
              </a:p>
            </p:txBody>
          </p:sp>
          <p:sp>
            <p:nvSpPr>
              <p:cNvPr id="102" name="Text Box 41">
                <a:extLst>
                  <a:ext uri="{FF2B5EF4-FFF2-40B4-BE49-F238E27FC236}">
                    <a16:creationId xmlns:a16="http://schemas.microsoft.com/office/drawing/2014/main" id="{A559251A-0A22-42B4-8688-B5F7DDFC0D91}"/>
                  </a:ext>
                </a:extLst>
              </p:cNvPr>
              <p:cNvSpPr txBox="1">
                <a:spLocks noChangeArrowheads="1"/>
              </p:cNvSpPr>
              <p:nvPr/>
            </p:nvSpPr>
            <p:spPr bwMode="auto">
              <a:xfrm>
                <a:off x="310038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6</a:t>
                </a:r>
              </a:p>
            </p:txBody>
          </p:sp>
          <p:sp>
            <p:nvSpPr>
              <p:cNvPr id="103" name="Text Box 42">
                <a:extLst>
                  <a:ext uri="{FF2B5EF4-FFF2-40B4-BE49-F238E27FC236}">
                    <a16:creationId xmlns:a16="http://schemas.microsoft.com/office/drawing/2014/main" id="{B9076C44-3E52-4AC9-B5F5-B0778D4B6C64}"/>
                  </a:ext>
                </a:extLst>
              </p:cNvPr>
              <p:cNvSpPr txBox="1">
                <a:spLocks noChangeArrowheads="1"/>
              </p:cNvSpPr>
              <p:nvPr/>
            </p:nvSpPr>
            <p:spPr bwMode="auto">
              <a:xfrm>
                <a:off x="3221038" y="33861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04" name="Text Box 43">
                <a:extLst>
                  <a:ext uri="{FF2B5EF4-FFF2-40B4-BE49-F238E27FC236}">
                    <a16:creationId xmlns:a16="http://schemas.microsoft.com/office/drawing/2014/main" id="{91F6A142-8C27-46F9-B3CE-CDCEE6EE8F5D}"/>
                  </a:ext>
                </a:extLst>
              </p:cNvPr>
              <p:cNvSpPr txBox="1">
                <a:spLocks noChangeArrowheads="1"/>
              </p:cNvSpPr>
              <p:nvPr/>
            </p:nvSpPr>
            <p:spPr bwMode="auto">
              <a:xfrm>
                <a:off x="3074988" y="3757613"/>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Times New Roman" panose="02020603050405020304" pitchFamily="18" charset="0"/>
                  </a:rPr>
                  <a:t>4</a:t>
                </a:r>
              </a:p>
            </p:txBody>
          </p:sp>
          <p:sp>
            <p:nvSpPr>
              <p:cNvPr id="105" name="Text Box 44">
                <a:extLst>
                  <a:ext uri="{FF2B5EF4-FFF2-40B4-BE49-F238E27FC236}">
                    <a16:creationId xmlns:a16="http://schemas.microsoft.com/office/drawing/2014/main" id="{1F8C8EEA-D82E-4E33-9303-A2BD035C3724}"/>
                  </a:ext>
                </a:extLst>
              </p:cNvPr>
              <p:cNvSpPr txBox="1">
                <a:spLocks noChangeArrowheads="1"/>
              </p:cNvSpPr>
              <p:nvPr/>
            </p:nvSpPr>
            <p:spPr bwMode="auto">
              <a:xfrm>
                <a:off x="3001963" y="4103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13</a:t>
                </a:r>
              </a:p>
            </p:txBody>
          </p:sp>
          <p:sp>
            <p:nvSpPr>
              <p:cNvPr id="106" name="Text Box 45">
                <a:extLst>
                  <a:ext uri="{FF2B5EF4-FFF2-40B4-BE49-F238E27FC236}">
                    <a16:creationId xmlns:a16="http://schemas.microsoft.com/office/drawing/2014/main" id="{A4AB083D-8A41-4BD7-9140-E289DDD772D6}"/>
                  </a:ext>
                </a:extLst>
              </p:cNvPr>
              <p:cNvSpPr txBox="1">
                <a:spLocks noChangeArrowheads="1"/>
              </p:cNvSpPr>
              <p:nvPr/>
            </p:nvSpPr>
            <p:spPr bwMode="auto">
              <a:xfrm>
                <a:off x="3221038" y="48196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11</a:t>
                </a:r>
              </a:p>
            </p:txBody>
          </p:sp>
          <p:sp>
            <p:nvSpPr>
              <p:cNvPr id="107" name="Text Box 46">
                <a:extLst>
                  <a:ext uri="{FF2B5EF4-FFF2-40B4-BE49-F238E27FC236}">
                    <a16:creationId xmlns:a16="http://schemas.microsoft.com/office/drawing/2014/main" id="{2E5C2AD3-73AD-41C3-A0E0-E0F8A5CF7FC5}"/>
                  </a:ext>
                </a:extLst>
              </p:cNvPr>
              <p:cNvSpPr txBox="1">
                <a:spLocks noChangeArrowheads="1"/>
              </p:cNvSpPr>
              <p:nvPr/>
            </p:nvSpPr>
            <p:spPr bwMode="auto">
              <a:xfrm>
                <a:off x="3268663" y="4368800"/>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12</a:t>
                </a:r>
              </a:p>
            </p:txBody>
          </p:sp>
          <p:sp>
            <p:nvSpPr>
              <p:cNvPr id="108" name="Text Box 47">
                <a:extLst>
                  <a:ext uri="{FF2B5EF4-FFF2-40B4-BE49-F238E27FC236}">
                    <a16:creationId xmlns:a16="http://schemas.microsoft.com/office/drawing/2014/main" id="{39B63639-ADA3-4818-8823-7106B393B62C}"/>
                  </a:ext>
                </a:extLst>
              </p:cNvPr>
              <p:cNvSpPr txBox="1">
                <a:spLocks noChangeArrowheads="1"/>
              </p:cNvSpPr>
              <p:nvPr/>
            </p:nvSpPr>
            <p:spPr bwMode="auto">
              <a:xfrm>
                <a:off x="5084763" y="1978025"/>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3</a:t>
                </a:r>
              </a:p>
            </p:txBody>
          </p:sp>
          <p:sp>
            <p:nvSpPr>
              <p:cNvPr id="109" name="Text Box 48">
                <a:extLst>
                  <a:ext uri="{FF2B5EF4-FFF2-40B4-BE49-F238E27FC236}">
                    <a16:creationId xmlns:a16="http://schemas.microsoft.com/office/drawing/2014/main" id="{5C840ED5-CE24-4278-B558-5E6EE76E2B4C}"/>
                  </a:ext>
                </a:extLst>
              </p:cNvPr>
              <p:cNvSpPr txBox="1">
                <a:spLocks noChangeArrowheads="1"/>
              </p:cNvSpPr>
              <p:nvPr/>
            </p:nvSpPr>
            <p:spPr bwMode="auto">
              <a:xfrm>
                <a:off x="4867275" y="2562225"/>
                <a:ext cx="2746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9</a:t>
                </a:r>
              </a:p>
            </p:txBody>
          </p:sp>
          <p:sp>
            <p:nvSpPr>
              <p:cNvPr id="110" name="Text Box 49">
                <a:extLst>
                  <a:ext uri="{FF2B5EF4-FFF2-40B4-BE49-F238E27FC236}">
                    <a16:creationId xmlns:a16="http://schemas.microsoft.com/office/drawing/2014/main" id="{5A9A0313-F7F2-491D-8E70-BD84D59F380C}"/>
                  </a:ext>
                </a:extLst>
              </p:cNvPr>
              <p:cNvSpPr txBox="1">
                <a:spLocks noChangeArrowheads="1"/>
              </p:cNvSpPr>
              <p:nvPr/>
            </p:nvSpPr>
            <p:spPr bwMode="auto">
              <a:xfrm>
                <a:off x="5011738" y="296068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6</a:t>
                </a:r>
              </a:p>
            </p:txBody>
          </p:sp>
          <p:sp>
            <p:nvSpPr>
              <p:cNvPr id="111" name="Text Box 50">
                <a:extLst>
                  <a:ext uri="{FF2B5EF4-FFF2-40B4-BE49-F238E27FC236}">
                    <a16:creationId xmlns:a16="http://schemas.microsoft.com/office/drawing/2014/main" id="{7D4559D1-3B20-40CE-B0AE-10C54704F84A}"/>
                  </a:ext>
                </a:extLst>
              </p:cNvPr>
              <p:cNvSpPr txBox="1">
                <a:spLocks noChangeArrowheads="1"/>
              </p:cNvSpPr>
              <p:nvPr/>
            </p:nvSpPr>
            <p:spPr bwMode="auto">
              <a:xfrm>
                <a:off x="5011738" y="36512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2" name="Text Box 51">
                <a:extLst>
                  <a:ext uri="{FF2B5EF4-FFF2-40B4-BE49-F238E27FC236}">
                    <a16:creationId xmlns:a16="http://schemas.microsoft.com/office/drawing/2014/main" id="{3098518A-5BE9-4DD1-B33B-962D840447F2}"/>
                  </a:ext>
                </a:extLst>
              </p:cNvPr>
              <p:cNvSpPr txBox="1">
                <a:spLocks noChangeArrowheads="1"/>
              </p:cNvSpPr>
              <p:nvPr/>
            </p:nvSpPr>
            <p:spPr bwMode="auto">
              <a:xfrm>
                <a:off x="4943475" y="4130675"/>
                <a:ext cx="2762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8</a:t>
                </a:r>
              </a:p>
            </p:txBody>
          </p:sp>
          <p:sp>
            <p:nvSpPr>
              <p:cNvPr id="113" name="Text Box 52">
                <a:extLst>
                  <a:ext uri="{FF2B5EF4-FFF2-40B4-BE49-F238E27FC236}">
                    <a16:creationId xmlns:a16="http://schemas.microsoft.com/office/drawing/2014/main" id="{9CA985F6-556F-4E23-81E3-2824F9A73B49}"/>
                  </a:ext>
                </a:extLst>
              </p:cNvPr>
              <p:cNvSpPr txBox="1">
                <a:spLocks noChangeArrowheads="1"/>
              </p:cNvSpPr>
              <p:nvPr/>
            </p:nvSpPr>
            <p:spPr bwMode="auto">
              <a:xfrm>
                <a:off x="5018088" y="44910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10</a:t>
                </a:r>
              </a:p>
            </p:txBody>
          </p:sp>
          <p:sp>
            <p:nvSpPr>
              <p:cNvPr id="114" name="Text Box 53">
                <a:extLst>
                  <a:ext uri="{FF2B5EF4-FFF2-40B4-BE49-F238E27FC236}">
                    <a16:creationId xmlns:a16="http://schemas.microsoft.com/office/drawing/2014/main" id="{3A713304-A894-4855-AB22-BC335C12F075}"/>
                  </a:ext>
                </a:extLst>
              </p:cNvPr>
              <p:cNvSpPr txBox="1">
                <a:spLocks noChangeArrowheads="1"/>
              </p:cNvSpPr>
              <p:nvPr/>
            </p:nvSpPr>
            <p:spPr bwMode="auto">
              <a:xfrm>
                <a:off x="6659563" y="2801938"/>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5</a:t>
                </a:r>
              </a:p>
            </p:txBody>
          </p:sp>
          <p:sp>
            <p:nvSpPr>
              <p:cNvPr id="115" name="Text Box 54">
                <a:extLst>
                  <a:ext uri="{FF2B5EF4-FFF2-40B4-BE49-F238E27FC236}">
                    <a16:creationId xmlns:a16="http://schemas.microsoft.com/office/drawing/2014/main" id="{1B4F6411-3DC7-4540-89D6-77045F27BC05}"/>
                  </a:ext>
                </a:extLst>
              </p:cNvPr>
              <p:cNvSpPr txBox="1">
                <a:spLocks noChangeArrowheads="1"/>
              </p:cNvSpPr>
              <p:nvPr/>
            </p:nvSpPr>
            <p:spPr bwMode="auto">
              <a:xfrm>
                <a:off x="6659563" y="3890963"/>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2</a:t>
                </a:r>
              </a:p>
            </p:txBody>
          </p:sp>
        </p:grpSp>
      </p:grpSp>
      <p:sp>
        <p:nvSpPr>
          <p:cNvPr id="10" name="文本框 9">
            <a:extLst>
              <a:ext uri="{FF2B5EF4-FFF2-40B4-BE49-F238E27FC236}">
                <a16:creationId xmlns:a16="http://schemas.microsoft.com/office/drawing/2014/main" id="{749FE1E8-1EC1-4910-BC47-9513FFB72621}"/>
              </a:ext>
            </a:extLst>
          </p:cNvPr>
          <p:cNvSpPr txBox="1"/>
          <p:nvPr/>
        </p:nvSpPr>
        <p:spPr>
          <a:xfrm>
            <a:off x="1102571" y="1550913"/>
            <a:ext cx="312906" cy="369332"/>
          </a:xfrm>
          <a:prstGeom prst="rect">
            <a:avLst/>
          </a:prstGeom>
          <a:solidFill>
            <a:srgbClr val="FFFF00"/>
          </a:solidFill>
        </p:spPr>
        <p:txBody>
          <a:bodyPr wrap="none" rtlCol="0">
            <a:spAutoFit/>
          </a:bodyPr>
          <a:lstStyle/>
          <a:p>
            <a:r>
              <a:rPr lang="en-US" altLang="zh-CN" b="1" dirty="0"/>
              <a:t>2</a:t>
            </a:r>
            <a:endParaRPr lang="zh-CN" altLang="en-US" b="1" dirty="0"/>
          </a:p>
        </p:txBody>
      </p:sp>
      <p:sp>
        <p:nvSpPr>
          <p:cNvPr id="116" name="文本框 115">
            <a:extLst>
              <a:ext uri="{FF2B5EF4-FFF2-40B4-BE49-F238E27FC236}">
                <a16:creationId xmlns:a16="http://schemas.microsoft.com/office/drawing/2014/main" id="{248DE699-5323-471E-B57B-AB53ADDDF576}"/>
              </a:ext>
            </a:extLst>
          </p:cNvPr>
          <p:cNvSpPr txBox="1"/>
          <p:nvPr/>
        </p:nvSpPr>
        <p:spPr>
          <a:xfrm>
            <a:off x="1102571" y="2493159"/>
            <a:ext cx="312906" cy="369332"/>
          </a:xfrm>
          <a:prstGeom prst="rect">
            <a:avLst/>
          </a:prstGeom>
          <a:solidFill>
            <a:srgbClr val="FFFF00"/>
          </a:solidFill>
        </p:spPr>
        <p:txBody>
          <a:bodyPr wrap="none" rtlCol="0">
            <a:spAutoFit/>
          </a:bodyPr>
          <a:lstStyle/>
          <a:p>
            <a:r>
              <a:rPr lang="en-US" altLang="zh-CN" b="1" dirty="0"/>
              <a:t>5</a:t>
            </a:r>
            <a:endParaRPr lang="zh-CN" altLang="en-US" b="1" dirty="0"/>
          </a:p>
        </p:txBody>
      </p:sp>
      <p:sp>
        <p:nvSpPr>
          <p:cNvPr id="118" name="文本框 117">
            <a:extLst>
              <a:ext uri="{FF2B5EF4-FFF2-40B4-BE49-F238E27FC236}">
                <a16:creationId xmlns:a16="http://schemas.microsoft.com/office/drawing/2014/main" id="{F03A6D36-3C36-4F82-AF05-92B735D32826}"/>
              </a:ext>
            </a:extLst>
          </p:cNvPr>
          <p:cNvSpPr txBox="1"/>
          <p:nvPr/>
        </p:nvSpPr>
        <p:spPr>
          <a:xfrm>
            <a:off x="1102571" y="3335278"/>
            <a:ext cx="312906" cy="369332"/>
          </a:xfrm>
          <a:prstGeom prst="rect">
            <a:avLst/>
          </a:prstGeom>
          <a:solidFill>
            <a:srgbClr val="FFFF00"/>
          </a:solidFill>
        </p:spPr>
        <p:txBody>
          <a:bodyPr wrap="none" rtlCol="0">
            <a:spAutoFit/>
          </a:bodyPr>
          <a:lstStyle/>
          <a:p>
            <a:r>
              <a:rPr lang="en-US" altLang="zh-CN" b="1" dirty="0"/>
              <a:t>1</a:t>
            </a:r>
            <a:endParaRPr lang="zh-CN" altLang="en-US" b="1" dirty="0"/>
          </a:p>
        </p:txBody>
      </p:sp>
      <p:grpSp>
        <p:nvGrpSpPr>
          <p:cNvPr id="2" name="组合 1">
            <a:extLst>
              <a:ext uri="{FF2B5EF4-FFF2-40B4-BE49-F238E27FC236}">
                <a16:creationId xmlns:a16="http://schemas.microsoft.com/office/drawing/2014/main" id="{2E5E255A-A74B-48D8-83BE-1B9745B0778D}"/>
              </a:ext>
            </a:extLst>
          </p:cNvPr>
          <p:cNvGrpSpPr/>
          <p:nvPr/>
        </p:nvGrpSpPr>
        <p:grpSpPr>
          <a:xfrm>
            <a:off x="2423423" y="1550913"/>
            <a:ext cx="441146" cy="2117143"/>
            <a:chOff x="2423423" y="1550913"/>
            <a:chExt cx="441146" cy="2117143"/>
          </a:xfrm>
        </p:grpSpPr>
        <p:sp>
          <p:nvSpPr>
            <p:cNvPr id="119" name="文本框 118">
              <a:extLst>
                <a:ext uri="{FF2B5EF4-FFF2-40B4-BE49-F238E27FC236}">
                  <a16:creationId xmlns:a16="http://schemas.microsoft.com/office/drawing/2014/main" id="{DDF254F5-E123-445E-9C34-1DC1485541D7}"/>
                </a:ext>
              </a:extLst>
            </p:cNvPr>
            <p:cNvSpPr txBox="1"/>
            <p:nvPr/>
          </p:nvSpPr>
          <p:spPr>
            <a:xfrm>
              <a:off x="2423423" y="1550913"/>
              <a:ext cx="428387" cy="369332"/>
            </a:xfrm>
            <a:prstGeom prst="rect">
              <a:avLst/>
            </a:prstGeom>
            <a:solidFill>
              <a:srgbClr val="FFFF00"/>
            </a:solidFill>
          </p:spPr>
          <p:txBody>
            <a:bodyPr wrap="none" rtlCol="0">
              <a:spAutoFit/>
            </a:bodyPr>
            <a:lstStyle/>
            <a:p>
              <a:r>
                <a:rPr lang="en-US" altLang="zh-CN" b="1" dirty="0"/>
                <a:t>11</a:t>
              </a:r>
              <a:endParaRPr lang="zh-CN" altLang="en-US" b="1" dirty="0"/>
            </a:p>
          </p:txBody>
        </p:sp>
        <p:sp>
          <p:nvSpPr>
            <p:cNvPr id="120" name="文本框 119">
              <a:extLst>
                <a:ext uri="{FF2B5EF4-FFF2-40B4-BE49-F238E27FC236}">
                  <a16:creationId xmlns:a16="http://schemas.microsoft.com/office/drawing/2014/main" id="{6F3E5D87-7B12-44C1-9E70-716D539F8E17}"/>
                </a:ext>
              </a:extLst>
            </p:cNvPr>
            <p:cNvSpPr txBox="1"/>
            <p:nvPr/>
          </p:nvSpPr>
          <p:spPr>
            <a:xfrm>
              <a:off x="2423423" y="2429334"/>
              <a:ext cx="441146" cy="369332"/>
            </a:xfrm>
            <a:prstGeom prst="rect">
              <a:avLst/>
            </a:prstGeom>
            <a:solidFill>
              <a:srgbClr val="FFFF00"/>
            </a:solidFill>
          </p:spPr>
          <p:txBody>
            <a:bodyPr wrap="none" rtlCol="0">
              <a:spAutoFit/>
            </a:bodyPr>
            <a:lstStyle/>
            <a:p>
              <a:r>
                <a:rPr lang="en-US" altLang="zh-CN" b="1" dirty="0"/>
                <a:t>13</a:t>
              </a:r>
              <a:endParaRPr lang="zh-CN" altLang="en-US" b="1" dirty="0"/>
            </a:p>
          </p:txBody>
        </p:sp>
        <p:sp>
          <p:nvSpPr>
            <p:cNvPr id="121" name="文本框 120">
              <a:extLst>
                <a:ext uri="{FF2B5EF4-FFF2-40B4-BE49-F238E27FC236}">
                  <a16:creationId xmlns:a16="http://schemas.microsoft.com/office/drawing/2014/main" id="{B61481AF-BA25-489A-8DA6-78FEF8B988CE}"/>
                </a:ext>
              </a:extLst>
            </p:cNvPr>
            <p:cNvSpPr txBox="1"/>
            <p:nvPr/>
          </p:nvSpPr>
          <p:spPr>
            <a:xfrm>
              <a:off x="2423423" y="3298724"/>
              <a:ext cx="312906" cy="369332"/>
            </a:xfrm>
            <a:prstGeom prst="rect">
              <a:avLst/>
            </a:prstGeom>
            <a:solidFill>
              <a:srgbClr val="FFFF00"/>
            </a:solidFill>
          </p:spPr>
          <p:txBody>
            <a:bodyPr wrap="none" rtlCol="0">
              <a:spAutoFit/>
            </a:bodyPr>
            <a:lstStyle/>
            <a:p>
              <a:r>
                <a:rPr lang="en-US" altLang="zh-CN" b="1" dirty="0"/>
                <a:t>9</a:t>
              </a:r>
              <a:endParaRPr lang="zh-CN" altLang="en-US" b="1" dirty="0"/>
            </a:p>
          </p:txBody>
        </p:sp>
      </p:grpSp>
      <p:grpSp>
        <p:nvGrpSpPr>
          <p:cNvPr id="3" name="组合 2">
            <a:extLst>
              <a:ext uri="{FF2B5EF4-FFF2-40B4-BE49-F238E27FC236}">
                <a16:creationId xmlns:a16="http://schemas.microsoft.com/office/drawing/2014/main" id="{B667066C-F55C-4103-9C0D-10C9539E4B31}"/>
              </a:ext>
            </a:extLst>
          </p:cNvPr>
          <p:cNvGrpSpPr/>
          <p:nvPr/>
        </p:nvGrpSpPr>
        <p:grpSpPr>
          <a:xfrm>
            <a:off x="3543441" y="2057736"/>
            <a:ext cx="467801" cy="1147210"/>
            <a:chOff x="3543441" y="2057736"/>
            <a:chExt cx="467801" cy="1147210"/>
          </a:xfrm>
        </p:grpSpPr>
        <p:sp>
          <p:nvSpPr>
            <p:cNvPr id="122" name="文本框 121">
              <a:extLst>
                <a:ext uri="{FF2B5EF4-FFF2-40B4-BE49-F238E27FC236}">
                  <a16:creationId xmlns:a16="http://schemas.microsoft.com/office/drawing/2014/main" id="{E9B9516A-277A-4FBF-8D1B-8B91F67D0C93}"/>
                </a:ext>
              </a:extLst>
            </p:cNvPr>
            <p:cNvSpPr txBox="1"/>
            <p:nvPr/>
          </p:nvSpPr>
          <p:spPr>
            <a:xfrm>
              <a:off x="3570096" y="2835614"/>
              <a:ext cx="441146" cy="369332"/>
            </a:xfrm>
            <a:prstGeom prst="rect">
              <a:avLst/>
            </a:prstGeom>
            <a:solidFill>
              <a:srgbClr val="FFFF00"/>
            </a:solidFill>
          </p:spPr>
          <p:txBody>
            <a:bodyPr wrap="none" rtlCol="0">
              <a:spAutoFit/>
            </a:bodyPr>
            <a:lstStyle/>
            <a:p>
              <a:r>
                <a:rPr lang="en-US" altLang="zh-CN" b="1" dirty="0"/>
                <a:t>18</a:t>
              </a:r>
              <a:endParaRPr lang="zh-CN" altLang="en-US" b="1" dirty="0"/>
            </a:p>
          </p:txBody>
        </p:sp>
        <p:sp>
          <p:nvSpPr>
            <p:cNvPr id="123" name="文本框 122">
              <a:extLst>
                <a:ext uri="{FF2B5EF4-FFF2-40B4-BE49-F238E27FC236}">
                  <a16:creationId xmlns:a16="http://schemas.microsoft.com/office/drawing/2014/main" id="{D2A445B9-347D-4DA7-97AB-24B81A0E9AB3}"/>
                </a:ext>
              </a:extLst>
            </p:cNvPr>
            <p:cNvSpPr txBox="1"/>
            <p:nvPr/>
          </p:nvSpPr>
          <p:spPr>
            <a:xfrm>
              <a:off x="3543441" y="2057736"/>
              <a:ext cx="441146" cy="369332"/>
            </a:xfrm>
            <a:prstGeom prst="rect">
              <a:avLst/>
            </a:prstGeom>
            <a:solidFill>
              <a:srgbClr val="FFFF00"/>
            </a:solidFill>
          </p:spPr>
          <p:txBody>
            <a:bodyPr wrap="none" rtlCol="0">
              <a:spAutoFit/>
            </a:bodyPr>
            <a:lstStyle/>
            <a:p>
              <a:r>
                <a:rPr lang="en-US" altLang="zh-CN" b="1" dirty="0"/>
                <a:t>14</a:t>
              </a:r>
              <a:endParaRPr lang="zh-CN" altLang="en-US" b="1" dirty="0"/>
            </a:p>
          </p:txBody>
        </p:sp>
      </p:grpSp>
      <p:sp>
        <p:nvSpPr>
          <p:cNvPr id="124" name="文本框 123">
            <a:extLst>
              <a:ext uri="{FF2B5EF4-FFF2-40B4-BE49-F238E27FC236}">
                <a16:creationId xmlns:a16="http://schemas.microsoft.com/office/drawing/2014/main" id="{3A2E22D1-8633-491B-94BB-41599E97B94C}"/>
              </a:ext>
            </a:extLst>
          </p:cNvPr>
          <p:cNvSpPr txBox="1"/>
          <p:nvPr/>
        </p:nvSpPr>
        <p:spPr>
          <a:xfrm>
            <a:off x="4548982" y="2419764"/>
            <a:ext cx="441146" cy="369332"/>
          </a:xfrm>
          <a:prstGeom prst="rect">
            <a:avLst/>
          </a:prstGeom>
          <a:solidFill>
            <a:srgbClr val="FFFF00"/>
          </a:solidFill>
        </p:spPr>
        <p:txBody>
          <a:bodyPr wrap="none" rtlCol="0">
            <a:spAutoFit/>
          </a:bodyPr>
          <a:lstStyle/>
          <a:p>
            <a:r>
              <a:rPr lang="en-US" altLang="zh-CN" b="1" dirty="0"/>
              <a:t>19</a:t>
            </a:r>
            <a:endParaRPr lang="zh-CN" altLang="en-US" b="1" dirty="0"/>
          </a:p>
        </p:txBody>
      </p:sp>
    </p:spTree>
    <p:extLst>
      <p:ext uri="{BB962C8B-B14F-4D97-AF65-F5344CB8AC3E}">
        <p14:creationId xmlns:p14="http://schemas.microsoft.com/office/powerpoint/2010/main" val="425360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5BD9290-631A-4158-A0F0-4B9C04FE6A2C}"/>
              </a:ext>
            </a:extLst>
          </p:cNvPr>
          <p:cNvSpPr>
            <a:spLocks noGrp="1" noChangeArrowheads="1"/>
          </p:cNvSpPr>
          <p:nvPr>
            <p:ph type="title"/>
          </p:nvPr>
        </p:nvSpPr>
        <p:spPr/>
        <p:txBody>
          <a:bodyPr/>
          <a:lstStyle/>
          <a:p>
            <a:pPr eaLnBrk="1" hangingPunct="1"/>
            <a:r>
              <a:rPr lang="zh-CN" altLang="en-US"/>
              <a:t>基本思想</a:t>
            </a:r>
          </a:p>
        </p:txBody>
      </p:sp>
      <p:sp>
        <p:nvSpPr>
          <p:cNvPr id="25603" name="Rectangle 3">
            <a:extLst>
              <a:ext uri="{FF2B5EF4-FFF2-40B4-BE49-F238E27FC236}">
                <a16:creationId xmlns:a16="http://schemas.microsoft.com/office/drawing/2014/main" id="{3042A57E-EC86-46ED-8CA7-526B241F5982}"/>
              </a:ext>
            </a:extLst>
          </p:cNvPr>
          <p:cNvSpPr>
            <a:spLocks noGrp="1" noChangeArrowheads="1"/>
          </p:cNvSpPr>
          <p:nvPr>
            <p:ph type="body" idx="1"/>
          </p:nvPr>
        </p:nvSpPr>
        <p:spPr>
          <a:xfrm>
            <a:off x="323850" y="476250"/>
            <a:ext cx="8229600" cy="4987925"/>
          </a:xfrm>
        </p:spPr>
        <p:txBody>
          <a:bodyPr/>
          <a:lstStyle/>
          <a:p>
            <a:pPr eaLnBrk="1" hangingPunct="1"/>
            <a:endParaRPr lang="en-US" altLang="zh-CN"/>
          </a:p>
          <a:p>
            <a:pPr eaLnBrk="1" hangingPunct="1">
              <a:lnSpc>
                <a:spcPct val="150000"/>
              </a:lnSpc>
            </a:pPr>
            <a:r>
              <a:rPr lang="zh-CN" altLang="en-US"/>
              <a:t>正确写出基本递推关系和恰当的边界条件</a:t>
            </a:r>
          </a:p>
          <a:p>
            <a:pPr eaLnBrk="1" hangingPunct="1">
              <a:lnSpc>
                <a:spcPct val="150000"/>
              </a:lnSpc>
            </a:pPr>
            <a:endParaRPr lang="zh-CN" altLang="en-US"/>
          </a:p>
          <a:p>
            <a:pPr eaLnBrk="1" hangingPunct="1">
              <a:lnSpc>
                <a:spcPct val="150000"/>
              </a:lnSpc>
            </a:pPr>
            <a:r>
              <a:rPr lang="zh-CN" altLang="en-US"/>
              <a:t>多阶段决策过程中，每段的决策选取从全局考虑，与单独该段的最优选择不同</a:t>
            </a:r>
          </a:p>
          <a:p>
            <a:pPr eaLnBrk="1" hangingPunct="1">
              <a:lnSpc>
                <a:spcPct val="150000"/>
              </a:lnSpc>
            </a:pPr>
            <a:endParaRPr lang="zh-CN" altLang="en-US"/>
          </a:p>
          <a:p>
            <a:pPr eaLnBrk="1" hangingPunct="1">
              <a:lnSpc>
                <a:spcPct val="150000"/>
              </a:lnSpc>
            </a:pPr>
            <a:r>
              <a:rPr lang="zh-CN" altLang="en-US"/>
              <a:t>由于初始状态已知，最优策略经过的各段状态可逐次变换得到，从而确定最优路线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7" dur="500"/>
                                        <p:tgtEl>
                                          <p:spTgt spid="256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2" dur="500"/>
                                        <p:tgtEl>
                                          <p:spTgt spid="2560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17" dur="500"/>
                                        <p:tgtEl>
                                          <p:spTgt spid="256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D96870A-9E68-46B7-81D0-62F3FBDB88CD}"/>
              </a:ext>
            </a:extLst>
          </p:cNvPr>
          <p:cNvSpPr>
            <a:spLocks noGrp="1" noChangeArrowheads="1"/>
          </p:cNvSpPr>
          <p:nvPr>
            <p:ph type="title"/>
          </p:nvPr>
        </p:nvSpPr>
        <p:spPr>
          <a:xfrm>
            <a:off x="395288" y="115888"/>
            <a:ext cx="8229600" cy="911225"/>
          </a:xfrm>
        </p:spPr>
        <p:txBody>
          <a:bodyPr/>
          <a:lstStyle/>
          <a:p>
            <a:pPr eaLnBrk="1" hangingPunct="1"/>
            <a:r>
              <a:rPr lang="zh-CN" altLang="en-US"/>
              <a:t>正确建立动态规划模型</a:t>
            </a:r>
          </a:p>
        </p:txBody>
      </p:sp>
      <p:sp>
        <p:nvSpPr>
          <p:cNvPr id="25603" name="Rectangle 3">
            <a:extLst>
              <a:ext uri="{FF2B5EF4-FFF2-40B4-BE49-F238E27FC236}">
                <a16:creationId xmlns:a16="http://schemas.microsoft.com/office/drawing/2014/main" id="{66857AA9-2FA8-438A-843A-93981C7568B2}"/>
              </a:ext>
            </a:extLst>
          </p:cNvPr>
          <p:cNvSpPr>
            <a:spLocks noGrp="1" noChangeArrowheads="1"/>
          </p:cNvSpPr>
          <p:nvPr>
            <p:ph type="body" idx="1"/>
          </p:nvPr>
        </p:nvSpPr>
        <p:spPr>
          <a:xfrm>
            <a:off x="395288" y="1412875"/>
            <a:ext cx="8435975" cy="4987925"/>
          </a:xfrm>
        </p:spPr>
        <p:txBody>
          <a:bodyPr/>
          <a:lstStyle/>
          <a:p>
            <a:pPr eaLnBrk="1" hangingPunct="1">
              <a:lnSpc>
                <a:spcPct val="125000"/>
              </a:lnSpc>
            </a:pPr>
            <a:r>
              <a:rPr lang="en-US" altLang="zh-CN"/>
              <a:t>(1) </a:t>
            </a:r>
            <a:r>
              <a:rPr lang="zh-CN" altLang="en-US"/>
              <a:t>将问题的过程划分成恰当的阶段</a:t>
            </a:r>
            <a:r>
              <a:rPr lang="en-US" altLang="zh-CN"/>
              <a:t>;</a:t>
            </a:r>
          </a:p>
          <a:p>
            <a:pPr eaLnBrk="1" hangingPunct="1">
              <a:lnSpc>
                <a:spcPct val="125000"/>
              </a:lnSpc>
            </a:pPr>
            <a:r>
              <a:rPr lang="en-US" altLang="zh-CN"/>
              <a:t>(2) </a:t>
            </a:r>
            <a:r>
              <a:rPr lang="zh-CN" altLang="en-US"/>
              <a:t>正确选择状态变量</a:t>
            </a:r>
            <a:r>
              <a:rPr lang="en-US" altLang="zh-CN" i="1"/>
              <a:t>s</a:t>
            </a:r>
            <a:r>
              <a:rPr lang="en-US" altLang="zh-CN" i="1" baseline="-25000"/>
              <a:t>k</a:t>
            </a:r>
            <a:r>
              <a:rPr lang="en-US" altLang="zh-CN" i="1"/>
              <a:t> , </a:t>
            </a:r>
            <a:r>
              <a:rPr lang="zh-CN" altLang="en-US"/>
              <a:t>使它既能描述过程的演变</a:t>
            </a:r>
            <a:r>
              <a:rPr lang="en-US" altLang="zh-CN"/>
              <a:t>, </a:t>
            </a:r>
            <a:r>
              <a:rPr lang="zh-CN" altLang="en-US"/>
              <a:t>又要满足无后效性</a:t>
            </a:r>
            <a:r>
              <a:rPr lang="en-US" altLang="zh-CN"/>
              <a:t>;</a:t>
            </a:r>
            <a:endParaRPr lang="zh-CN" altLang="en-US"/>
          </a:p>
          <a:p>
            <a:pPr eaLnBrk="1" hangingPunct="1">
              <a:lnSpc>
                <a:spcPct val="125000"/>
              </a:lnSpc>
            </a:pPr>
            <a:r>
              <a:rPr lang="en-US" altLang="zh-CN"/>
              <a:t>(3)</a:t>
            </a:r>
            <a:r>
              <a:rPr lang="zh-CN" altLang="en-US"/>
              <a:t>确定决策变量</a:t>
            </a:r>
            <a:r>
              <a:rPr lang="en-US" altLang="zh-CN" i="1"/>
              <a:t>u</a:t>
            </a:r>
            <a:r>
              <a:rPr lang="en-US" altLang="zh-CN" i="1" baseline="-25000"/>
              <a:t>k</a:t>
            </a:r>
            <a:r>
              <a:rPr lang="en-US" altLang="zh-CN" i="1"/>
              <a:t> </a:t>
            </a:r>
            <a:r>
              <a:rPr lang="zh-CN" altLang="en-US"/>
              <a:t>及每阶段的允许决策集合</a:t>
            </a:r>
            <a:r>
              <a:rPr lang="en-US" altLang="zh-CN" i="1"/>
              <a:t>D</a:t>
            </a:r>
            <a:r>
              <a:rPr lang="en-US" altLang="zh-CN" i="1" baseline="-25000"/>
              <a:t>k</a:t>
            </a:r>
            <a:r>
              <a:rPr lang="en-US" altLang="zh-CN"/>
              <a:t> ( </a:t>
            </a:r>
            <a:r>
              <a:rPr lang="en-US" altLang="zh-CN" i="1"/>
              <a:t>s</a:t>
            </a:r>
            <a:r>
              <a:rPr lang="en-US" altLang="zh-CN" i="1" baseline="-25000"/>
              <a:t>k</a:t>
            </a:r>
            <a:r>
              <a:rPr lang="en-US" altLang="zh-CN"/>
              <a:t> ) ;</a:t>
            </a:r>
            <a:endParaRPr lang="zh-CN" altLang="en-US"/>
          </a:p>
          <a:p>
            <a:pPr eaLnBrk="1" hangingPunct="1">
              <a:lnSpc>
                <a:spcPct val="125000"/>
              </a:lnSpc>
            </a:pPr>
            <a:r>
              <a:rPr lang="en-US" altLang="zh-CN"/>
              <a:t>(4)</a:t>
            </a:r>
            <a:r>
              <a:rPr lang="zh-CN" altLang="en-US"/>
              <a:t>正确写出状态转移方程</a:t>
            </a:r>
            <a:r>
              <a:rPr lang="en-US" altLang="zh-CN"/>
              <a:t>;</a:t>
            </a:r>
            <a:endParaRPr lang="zh-CN" altLang="en-US"/>
          </a:p>
          <a:p>
            <a:pPr eaLnBrk="1" hangingPunct="1">
              <a:lnSpc>
                <a:spcPct val="125000"/>
              </a:lnSpc>
            </a:pPr>
            <a:r>
              <a:rPr lang="en-US" altLang="zh-CN"/>
              <a:t>(5)</a:t>
            </a:r>
            <a:r>
              <a:rPr lang="zh-CN" altLang="en-US"/>
              <a:t>正确写出指标函数</a:t>
            </a:r>
            <a:r>
              <a:rPr lang="en-US" altLang="zh-CN" i="1"/>
              <a:t>V</a:t>
            </a:r>
            <a:r>
              <a:rPr lang="en-US" altLang="zh-CN" i="1" baseline="-25000"/>
              <a:t>k, n </a:t>
            </a:r>
            <a:r>
              <a:rPr lang="zh-CN" altLang="en-US"/>
              <a:t>的关系</a:t>
            </a:r>
            <a:r>
              <a:rPr lang="en-US" altLang="zh-CN"/>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2" dur="500"/>
                                        <p:tgtEl>
                                          <p:spTgt spid="256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7" dur="500"/>
                                        <p:tgtEl>
                                          <p:spTgt spid="256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22" dur="500"/>
                                        <p:tgtEl>
                                          <p:spTgt spid="256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27"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a:extLst>
              <a:ext uri="{FF2B5EF4-FFF2-40B4-BE49-F238E27FC236}">
                <a16:creationId xmlns:a16="http://schemas.microsoft.com/office/drawing/2014/main" id="{A793E74D-2F2B-427C-A267-9A754F59E7C1}"/>
              </a:ext>
            </a:extLst>
          </p:cNvPr>
          <p:cNvSpPr>
            <a:spLocks noGrp="1" noChangeArrowheads="1"/>
          </p:cNvSpPr>
          <p:nvPr>
            <p:ph type="ctrTitle"/>
          </p:nvPr>
        </p:nvSpPr>
        <p:spPr/>
        <p:txBody>
          <a:bodyPr/>
          <a:lstStyle/>
          <a:p>
            <a:pPr eaLnBrk="1" hangingPunct="1"/>
            <a:r>
              <a:rPr lang="zh-CN" altLang="en-US"/>
              <a:t>第九章之第三节</a:t>
            </a:r>
          </a:p>
        </p:txBody>
      </p:sp>
      <p:sp>
        <p:nvSpPr>
          <p:cNvPr id="30723" name="Rectangle 5">
            <a:extLst>
              <a:ext uri="{FF2B5EF4-FFF2-40B4-BE49-F238E27FC236}">
                <a16:creationId xmlns:a16="http://schemas.microsoft.com/office/drawing/2014/main" id="{3BC053CE-403B-432E-A0BD-E14EAA0F1DFA}"/>
              </a:ext>
            </a:extLst>
          </p:cNvPr>
          <p:cNvSpPr>
            <a:spLocks noGrp="1" noChangeArrowheads="1"/>
          </p:cNvSpPr>
          <p:nvPr>
            <p:ph type="subTitle" idx="1"/>
          </p:nvPr>
        </p:nvSpPr>
        <p:spPr>
          <a:xfrm>
            <a:off x="1403350" y="2997200"/>
            <a:ext cx="7131050" cy="1752600"/>
          </a:xfrm>
        </p:spPr>
        <p:txBody>
          <a:bodyPr/>
          <a:lstStyle/>
          <a:p>
            <a:pPr eaLnBrk="1" hangingPunct="1"/>
            <a:r>
              <a:rPr lang="zh-CN" altLang="en-US" sz="4800"/>
              <a:t>最优性原理和最优性定理</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F269DCD-A324-4EB7-9320-42C088DE5D79}"/>
              </a:ext>
            </a:extLst>
          </p:cNvPr>
          <p:cNvSpPr>
            <a:spLocks noGrp="1" noChangeArrowheads="1"/>
          </p:cNvSpPr>
          <p:nvPr>
            <p:ph type="title"/>
          </p:nvPr>
        </p:nvSpPr>
        <p:spPr/>
        <p:txBody>
          <a:bodyPr/>
          <a:lstStyle/>
          <a:p>
            <a:pPr eaLnBrk="1" hangingPunct="1"/>
            <a:r>
              <a:rPr lang="zh-CN" altLang="en-US"/>
              <a:t>最优性原理</a:t>
            </a:r>
          </a:p>
        </p:txBody>
      </p:sp>
      <p:sp>
        <p:nvSpPr>
          <p:cNvPr id="27651" name="Rectangle 3">
            <a:extLst>
              <a:ext uri="{FF2B5EF4-FFF2-40B4-BE49-F238E27FC236}">
                <a16:creationId xmlns:a16="http://schemas.microsoft.com/office/drawing/2014/main" id="{65723E9D-2497-4784-8B3F-3C016DF254BF}"/>
              </a:ext>
            </a:extLst>
          </p:cNvPr>
          <p:cNvSpPr>
            <a:spLocks noGrp="1" noChangeArrowheads="1"/>
          </p:cNvSpPr>
          <p:nvPr>
            <p:ph type="body" idx="1"/>
          </p:nvPr>
        </p:nvSpPr>
        <p:spPr>
          <a:xfrm>
            <a:off x="179388" y="962025"/>
            <a:ext cx="8507412" cy="4987925"/>
          </a:xfrm>
        </p:spPr>
        <p:txBody>
          <a:bodyPr/>
          <a:lstStyle/>
          <a:p>
            <a:pPr eaLnBrk="1" hangingPunct="1"/>
            <a:r>
              <a:rPr lang="zh-CN" altLang="en-US"/>
              <a:t>作为整个过程的最优策略具有这样的性质：</a:t>
            </a:r>
          </a:p>
          <a:p>
            <a:pPr eaLnBrk="1" hangingPunct="1"/>
            <a:endParaRPr lang="zh-CN" altLang="en-US" sz="1000"/>
          </a:p>
          <a:p>
            <a:pPr eaLnBrk="1" hangingPunct="1">
              <a:buFont typeface="Wingdings" panose="05000000000000000000" pitchFamily="2" charset="2"/>
              <a:buNone/>
            </a:pPr>
            <a:r>
              <a:rPr lang="zh-CN" altLang="en-US">
                <a:solidFill>
                  <a:schemeClr val="tx2"/>
                </a:solidFill>
              </a:rPr>
              <a:t>   </a:t>
            </a:r>
            <a:r>
              <a:rPr lang="zh-CN" altLang="en-US">
                <a:solidFill>
                  <a:srgbClr val="FF0000"/>
                </a:solidFill>
              </a:rPr>
              <a:t>无论过去的状态和决策如何，对前面的决策所形成的状态而言，余下的诸决策必须构成最优策略</a:t>
            </a:r>
          </a:p>
          <a:p>
            <a:pPr lvl="1" eaLnBrk="1" hangingPunct="1"/>
            <a:r>
              <a:rPr lang="zh-CN" altLang="en-US"/>
              <a:t>一个最优策略的子策略总是最优的</a:t>
            </a:r>
          </a:p>
          <a:p>
            <a:pPr lvl="1" eaLnBrk="1" hangingPunct="1"/>
            <a:endParaRPr lang="zh-CN" altLang="en-US" sz="1000"/>
          </a:p>
          <a:p>
            <a:pPr lvl="1" eaLnBrk="1" hangingPunct="1"/>
            <a:r>
              <a:rPr lang="zh-CN" altLang="en-US"/>
              <a:t>是策略最优性的必要条件，</a:t>
            </a:r>
            <a:r>
              <a:rPr lang="zh-CN" altLang="en-US">
                <a:solidFill>
                  <a:srgbClr val="FF0000"/>
                </a:solidFill>
              </a:rPr>
              <a:t>而非充分条件！</a:t>
            </a:r>
          </a:p>
        </p:txBody>
      </p:sp>
      <p:pic>
        <p:nvPicPr>
          <p:cNvPr id="31748" name="图片 1">
            <a:extLst>
              <a:ext uri="{FF2B5EF4-FFF2-40B4-BE49-F238E27FC236}">
                <a16:creationId xmlns:a16="http://schemas.microsoft.com/office/drawing/2014/main" id="{57826C40-1A7E-4EC6-A711-8AC884F114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4387850"/>
            <a:ext cx="5005388" cy="249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a:extLst>
              <a:ext uri="{FF2B5EF4-FFF2-40B4-BE49-F238E27FC236}">
                <a16:creationId xmlns:a16="http://schemas.microsoft.com/office/drawing/2014/main" id="{A9082234-CD70-4D70-8DA6-3D4CFCE37C9E}"/>
              </a:ext>
            </a:extLst>
          </p:cNvPr>
          <p:cNvCxnSpPr/>
          <p:nvPr/>
        </p:nvCxnSpPr>
        <p:spPr>
          <a:xfrm>
            <a:off x="4356100" y="5732463"/>
            <a:ext cx="936625" cy="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5672EB17-18F9-4DC2-B177-90FBD23602B0}"/>
              </a:ext>
            </a:extLst>
          </p:cNvPr>
          <p:cNvCxnSpPr/>
          <p:nvPr/>
        </p:nvCxnSpPr>
        <p:spPr>
          <a:xfrm flipV="1">
            <a:off x="5435600" y="4941888"/>
            <a:ext cx="1008063" cy="69215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E4AC9A3-33F4-46AC-AD18-60F625C09C0A}"/>
              </a:ext>
            </a:extLst>
          </p:cNvPr>
          <p:cNvCxnSpPr/>
          <p:nvPr/>
        </p:nvCxnSpPr>
        <p:spPr>
          <a:xfrm>
            <a:off x="6732588" y="4838700"/>
            <a:ext cx="792162" cy="390525"/>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83D9D56A-5827-4D51-A2C9-322A3C9E322A}"/>
              </a:ext>
            </a:extLst>
          </p:cNvPr>
          <p:cNvCxnSpPr/>
          <p:nvPr/>
        </p:nvCxnSpPr>
        <p:spPr>
          <a:xfrm>
            <a:off x="7812088" y="5373688"/>
            <a:ext cx="661987" cy="344487"/>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blinds(horizontal)">
                                      <p:cBhvr>
                                        <p:cTn id="7" dur="500"/>
                                        <p:tgtEl>
                                          <p:spTgt spid="2765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10" dur="500"/>
                                        <p:tgtEl>
                                          <p:spTgt spid="27651">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7651">
                                            <p:txEl>
                                              <p:pRg st="3" end="3"/>
                                            </p:txEl>
                                          </p:spTgt>
                                        </p:tgtEl>
                                        <p:attrNameLst>
                                          <p:attrName>style.visibility</p:attrName>
                                        </p:attrNameLst>
                                      </p:cBhvr>
                                      <p:to>
                                        <p:strVal val="visible"/>
                                      </p:to>
                                    </p:set>
                                    <p:animEffect transition="in" filter="blinds(horizontal)">
                                      <p:cBhvr>
                                        <p:cTn id="15" dur="500"/>
                                        <p:tgtEl>
                                          <p:spTgt spid="27651">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7651">
                                            <p:txEl>
                                              <p:pRg st="5" end="5"/>
                                            </p:txEl>
                                          </p:spTgt>
                                        </p:tgtEl>
                                        <p:attrNameLst>
                                          <p:attrName>style.visibility</p:attrName>
                                        </p:attrNameLst>
                                      </p:cBhvr>
                                      <p:to>
                                        <p:strVal val="visible"/>
                                      </p:to>
                                    </p:set>
                                    <p:animEffect transition="in" filter="blinds(horizontal)">
                                      <p:cBhvr>
                                        <p:cTn id="20" dur="500"/>
                                        <p:tgtEl>
                                          <p:spTgt spid="276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746EB3F-BDDD-4CD1-BDB4-6AC9C05D29E0}"/>
              </a:ext>
            </a:extLst>
          </p:cNvPr>
          <p:cNvSpPr>
            <a:spLocks noGrp="1" noChangeArrowheads="1"/>
          </p:cNvSpPr>
          <p:nvPr>
            <p:ph type="title"/>
          </p:nvPr>
        </p:nvSpPr>
        <p:spPr/>
        <p:txBody>
          <a:bodyPr/>
          <a:lstStyle/>
          <a:p>
            <a:pPr eaLnBrk="1" hangingPunct="1"/>
            <a:r>
              <a:rPr lang="zh-CN" altLang="en-US"/>
              <a:t>最优性定理</a:t>
            </a:r>
            <a:r>
              <a:rPr lang="en-US" altLang="zh-CN"/>
              <a:t>-</a:t>
            </a:r>
            <a:r>
              <a:rPr lang="zh-CN" altLang="en-US"/>
              <a:t>动态规划理论基础</a:t>
            </a:r>
          </a:p>
        </p:txBody>
      </p:sp>
      <p:sp>
        <p:nvSpPr>
          <p:cNvPr id="32771" name="Rectangle 3">
            <a:extLst>
              <a:ext uri="{FF2B5EF4-FFF2-40B4-BE49-F238E27FC236}">
                <a16:creationId xmlns:a16="http://schemas.microsoft.com/office/drawing/2014/main" id="{FD508C7B-9435-466D-A088-E4EFBE66B671}"/>
              </a:ext>
            </a:extLst>
          </p:cNvPr>
          <p:cNvSpPr>
            <a:spLocks noGrp="1" noChangeArrowheads="1"/>
          </p:cNvSpPr>
          <p:nvPr>
            <p:ph type="body" sz="half" idx="1"/>
          </p:nvPr>
        </p:nvSpPr>
        <p:spPr>
          <a:xfrm>
            <a:off x="395288" y="1196975"/>
            <a:ext cx="7993062" cy="5472113"/>
          </a:xfrm>
        </p:spPr>
        <p:txBody>
          <a:bodyPr/>
          <a:lstStyle/>
          <a:p>
            <a:pPr marL="0" indent="0" eaLnBrk="1" hangingPunct="1">
              <a:buFont typeface="Wingdings" panose="05000000000000000000" pitchFamily="2" charset="2"/>
              <a:buNone/>
            </a:pPr>
            <a:r>
              <a:rPr lang="zh-CN" altLang="en-US" sz="2800"/>
              <a:t>设阶段编号为 </a:t>
            </a:r>
            <a:r>
              <a:rPr lang="en-US" altLang="zh-CN" sz="2800" i="1"/>
              <a:t>k </a:t>
            </a:r>
            <a:r>
              <a:rPr lang="en-US" altLang="zh-CN" sz="2800"/>
              <a:t>= 0,1,…,</a:t>
            </a:r>
            <a:r>
              <a:rPr lang="en-US" altLang="zh-CN" sz="2800" i="1"/>
              <a:t>n</a:t>
            </a:r>
            <a:r>
              <a:rPr lang="en-US" altLang="zh-CN" sz="2800"/>
              <a:t>-1 </a:t>
            </a:r>
            <a:r>
              <a:rPr lang="zh-CN" altLang="en-US" sz="2800"/>
              <a:t>的多阶段决策过程，</a:t>
            </a:r>
          </a:p>
          <a:p>
            <a:pPr marL="0" indent="0" eaLnBrk="1" hangingPunct="1">
              <a:lnSpc>
                <a:spcPct val="125000"/>
              </a:lnSpc>
              <a:buFont typeface="Wingdings" panose="05000000000000000000" pitchFamily="2" charset="2"/>
              <a:buNone/>
            </a:pPr>
            <a:r>
              <a:rPr lang="zh-CN" altLang="en-US" sz="2800"/>
              <a:t>其允许策略                                      为最优策略的</a:t>
            </a:r>
            <a:r>
              <a:rPr lang="zh-CN" altLang="en-US" sz="2800">
                <a:solidFill>
                  <a:srgbClr val="FF0000"/>
                </a:solidFill>
              </a:rPr>
              <a:t>充要条件</a:t>
            </a:r>
            <a:r>
              <a:rPr lang="zh-CN" altLang="en-US" sz="2800"/>
              <a:t>是：</a:t>
            </a:r>
          </a:p>
          <a:p>
            <a:pPr marL="0" indent="0" eaLnBrk="1" hangingPunct="1">
              <a:buFont typeface="Wingdings" panose="05000000000000000000" pitchFamily="2" charset="2"/>
              <a:buNone/>
            </a:pPr>
            <a:endParaRPr lang="zh-CN" altLang="en-US" sz="900"/>
          </a:p>
          <a:p>
            <a:pPr marL="0" indent="0" eaLnBrk="1" hangingPunct="1">
              <a:buFont typeface="Wingdings" panose="05000000000000000000" pitchFamily="2" charset="2"/>
              <a:buNone/>
            </a:pPr>
            <a:r>
              <a:rPr lang="zh-CN" altLang="en-US" sz="2800"/>
              <a:t>对任意一个 </a:t>
            </a:r>
            <a:r>
              <a:rPr lang="en-US" altLang="zh-CN" sz="2800" i="1"/>
              <a:t>k</a:t>
            </a:r>
            <a:r>
              <a:rPr lang="zh-CN" altLang="en-US" sz="2800"/>
              <a:t>，</a:t>
            </a:r>
            <a:r>
              <a:rPr lang="en-US" altLang="zh-CN" sz="2800"/>
              <a:t>0&lt;</a:t>
            </a:r>
            <a:r>
              <a:rPr lang="en-US" altLang="zh-CN" sz="2800" i="1"/>
              <a:t>k</a:t>
            </a:r>
            <a:r>
              <a:rPr lang="en-US" altLang="zh-CN" sz="2800"/>
              <a:t>&lt;</a:t>
            </a:r>
            <a:r>
              <a:rPr lang="en-US" altLang="zh-CN" sz="2800" i="1"/>
              <a:t>n</a:t>
            </a:r>
            <a:r>
              <a:rPr lang="en-US" altLang="zh-CN" sz="2800"/>
              <a:t>-1 </a:t>
            </a:r>
            <a:r>
              <a:rPr lang="zh-CN" altLang="en-US" sz="2800"/>
              <a:t>和                有</a:t>
            </a:r>
          </a:p>
        </p:txBody>
      </p:sp>
      <p:graphicFrame>
        <p:nvGraphicFramePr>
          <p:cNvPr id="32772" name="Object 4">
            <a:extLst>
              <a:ext uri="{FF2B5EF4-FFF2-40B4-BE49-F238E27FC236}">
                <a16:creationId xmlns:a16="http://schemas.microsoft.com/office/drawing/2014/main" id="{D14115B1-E825-451D-8895-84083A3E3E1B}"/>
              </a:ext>
            </a:extLst>
          </p:cNvPr>
          <p:cNvGraphicFramePr>
            <a:graphicFrameLocks noGrp="1" noChangeAspect="1"/>
          </p:cNvGraphicFramePr>
          <p:nvPr>
            <p:ph sz="quarter" idx="2"/>
          </p:nvPr>
        </p:nvGraphicFramePr>
        <p:xfrm>
          <a:off x="2268538" y="1735138"/>
          <a:ext cx="3384550" cy="685800"/>
        </p:xfrm>
        <a:graphic>
          <a:graphicData uri="http://schemas.openxmlformats.org/presentationml/2006/ole">
            <mc:AlternateContent xmlns:mc="http://schemas.openxmlformats.org/markup-compatibility/2006">
              <mc:Choice xmlns:v="urn:schemas-microsoft-com:vml" Requires="v">
                <p:oleObj spid="_x0000_s32840" name="公式" r:id="rId3" imgW="1384300" imgH="254000" progId="Equation.3">
                  <p:embed/>
                </p:oleObj>
              </mc:Choice>
              <mc:Fallback>
                <p:oleObj name="公式" r:id="rId3" imgW="1384300" imgH="254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1735138"/>
                        <a:ext cx="338455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3" name="Object 6">
            <a:extLst>
              <a:ext uri="{FF2B5EF4-FFF2-40B4-BE49-F238E27FC236}">
                <a16:creationId xmlns:a16="http://schemas.microsoft.com/office/drawing/2014/main" id="{64645DD3-8F2C-44D6-AC9B-14BCEBB91EC1}"/>
              </a:ext>
            </a:extLst>
          </p:cNvPr>
          <p:cNvGraphicFramePr>
            <a:graphicFrameLocks noGrp="1" noChangeAspect="1"/>
          </p:cNvGraphicFramePr>
          <p:nvPr>
            <p:ph sz="quarter" idx="3"/>
          </p:nvPr>
        </p:nvGraphicFramePr>
        <p:xfrm>
          <a:off x="4859338" y="2924175"/>
          <a:ext cx="1108075" cy="627063"/>
        </p:xfrm>
        <a:graphic>
          <a:graphicData uri="http://schemas.openxmlformats.org/presentationml/2006/ole">
            <mc:AlternateContent xmlns:mc="http://schemas.openxmlformats.org/markup-compatibility/2006">
              <mc:Choice xmlns:v="urn:schemas-microsoft-com:vml" Requires="v">
                <p:oleObj spid="_x0000_s32841" name="公式" r:id="rId5" imgW="444307" imgH="228501" progId="Equation.3">
                  <p:embed/>
                </p:oleObj>
              </mc:Choice>
              <mc:Fallback>
                <p:oleObj name="公式" r:id="rId5" imgW="444307" imgH="228501"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9338" y="2924175"/>
                        <a:ext cx="1108075" cy="6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4" name="Object 8">
            <a:extLst>
              <a:ext uri="{FF2B5EF4-FFF2-40B4-BE49-F238E27FC236}">
                <a16:creationId xmlns:a16="http://schemas.microsoft.com/office/drawing/2014/main" id="{FE1560EB-9150-48B4-A307-F1A2DCF57BDD}"/>
              </a:ext>
            </a:extLst>
          </p:cNvPr>
          <p:cNvGraphicFramePr>
            <a:graphicFrameLocks noChangeAspect="1"/>
          </p:cNvGraphicFramePr>
          <p:nvPr/>
        </p:nvGraphicFramePr>
        <p:xfrm>
          <a:off x="588963" y="3662363"/>
          <a:ext cx="7245350" cy="1854200"/>
        </p:xfrm>
        <a:graphic>
          <a:graphicData uri="http://schemas.openxmlformats.org/presentationml/2006/ole">
            <mc:AlternateContent xmlns:mc="http://schemas.openxmlformats.org/markup-compatibility/2006">
              <mc:Choice xmlns:v="urn:schemas-microsoft-com:vml" Requires="v">
                <p:oleObj spid="_x0000_s32842" name="Equation" r:id="rId7" imgW="2781300" imgH="711200" progId="Equation.DSMT4">
                  <p:embed/>
                </p:oleObj>
              </mc:Choice>
              <mc:Fallback>
                <p:oleObj name="Equation" r:id="rId7" imgW="2781300" imgH="7112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963" y="3662363"/>
                        <a:ext cx="7245350" cy="185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5" name="对象 1">
            <a:extLst>
              <a:ext uri="{FF2B5EF4-FFF2-40B4-BE49-F238E27FC236}">
                <a16:creationId xmlns:a16="http://schemas.microsoft.com/office/drawing/2014/main" id="{736A162D-D817-46ED-AA90-FC1B04D3FDF3}"/>
              </a:ext>
            </a:extLst>
          </p:cNvPr>
          <p:cNvGraphicFramePr>
            <a:graphicFrameLocks noChangeAspect="1"/>
          </p:cNvGraphicFramePr>
          <p:nvPr/>
        </p:nvGraphicFramePr>
        <p:xfrm>
          <a:off x="463550" y="5675313"/>
          <a:ext cx="8462963" cy="682625"/>
        </p:xfrm>
        <a:graphic>
          <a:graphicData uri="http://schemas.openxmlformats.org/presentationml/2006/ole">
            <mc:AlternateContent xmlns:mc="http://schemas.openxmlformats.org/markup-compatibility/2006">
              <mc:Choice xmlns:v="urn:schemas-microsoft-com:vml" Requires="v">
                <p:oleObj spid="_x0000_s32843" name="Equation" r:id="rId9" imgW="1841500" imgH="177800" progId="Equation.DSMT4">
                  <p:embed/>
                </p:oleObj>
              </mc:Choice>
              <mc:Fallback>
                <p:oleObj name="Equation" r:id="rId9" imgW="1841500" imgH="177800" progId="Equation.DSMT4">
                  <p:embed/>
                  <p:pic>
                    <p:nvPicPr>
                      <p:cNvPr id="0" name="对象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3550" y="5675313"/>
                        <a:ext cx="8462963"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471A9D2-DF41-413B-B51E-69D5025C3386}"/>
              </a:ext>
            </a:extLst>
          </p:cNvPr>
          <p:cNvSpPr>
            <a:spLocks noGrp="1" noChangeArrowheads="1"/>
          </p:cNvSpPr>
          <p:nvPr>
            <p:ph type="title"/>
          </p:nvPr>
        </p:nvSpPr>
        <p:spPr/>
        <p:txBody>
          <a:bodyPr/>
          <a:lstStyle/>
          <a:p>
            <a:pPr eaLnBrk="1" hangingPunct="1"/>
            <a:r>
              <a:rPr lang="zh-CN" altLang="en-US"/>
              <a:t>最优性定理</a:t>
            </a:r>
            <a:r>
              <a:rPr lang="en-US" altLang="zh-CN"/>
              <a:t>-</a:t>
            </a:r>
            <a:r>
              <a:rPr lang="zh-CN" altLang="en-US"/>
              <a:t>动态规划理论基础</a:t>
            </a:r>
          </a:p>
        </p:txBody>
      </p:sp>
      <p:graphicFrame>
        <p:nvGraphicFramePr>
          <p:cNvPr id="33795" name="对象 13">
            <a:extLst>
              <a:ext uri="{FF2B5EF4-FFF2-40B4-BE49-F238E27FC236}">
                <a16:creationId xmlns:a16="http://schemas.microsoft.com/office/drawing/2014/main" id="{418C3A3D-BF00-4042-8521-280D1B1A3C1A}"/>
              </a:ext>
            </a:extLst>
          </p:cNvPr>
          <p:cNvGraphicFramePr>
            <a:graphicFrameLocks noChangeAspect="1"/>
          </p:cNvGraphicFramePr>
          <p:nvPr/>
        </p:nvGraphicFramePr>
        <p:xfrm>
          <a:off x="900113" y="4787900"/>
          <a:ext cx="6080125" cy="725488"/>
        </p:xfrm>
        <a:graphic>
          <a:graphicData uri="http://schemas.openxmlformats.org/presentationml/2006/ole">
            <mc:AlternateContent xmlns:mc="http://schemas.openxmlformats.org/markup-compatibility/2006">
              <mc:Choice xmlns:v="urn:schemas-microsoft-com:vml" Requires="v">
                <p:oleObj spid="_x0000_s33958" name="Equation" r:id="rId3" imgW="2768600" imgH="330200" progId="Equation.DSMT4">
                  <p:embed/>
                </p:oleObj>
              </mc:Choice>
              <mc:Fallback>
                <p:oleObj name="Equation" r:id="rId3" imgW="2768600" imgH="330200" progId="Equation.DSMT4">
                  <p:embed/>
                  <p:pic>
                    <p:nvPicPr>
                      <p:cNvPr id="0"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4787900"/>
                        <a:ext cx="6080125"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a:extLst>
              <a:ext uri="{FF2B5EF4-FFF2-40B4-BE49-F238E27FC236}">
                <a16:creationId xmlns:a16="http://schemas.microsoft.com/office/drawing/2014/main" id="{0C744C39-2118-4A5C-9222-826187040094}"/>
              </a:ext>
            </a:extLst>
          </p:cNvPr>
          <p:cNvSpPr/>
          <p:nvPr/>
        </p:nvSpPr>
        <p:spPr>
          <a:xfrm>
            <a:off x="728663" y="3429000"/>
            <a:ext cx="1152525" cy="369888"/>
          </a:xfrm>
          <a:prstGeom prst="rect">
            <a:avLst/>
          </a:prstGeom>
        </p:spPr>
        <p:txBody>
          <a:bodyPr wrap="none">
            <a:spAutoFit/>
          </a:bodyPr>
          <a:lstStyle/>
          <a:p>
            <a:pPr>
              <a:defRPr/>
            </a:pPr>
            <a:r>
              <a:rPr lang="zh-CN" altLang="en-US" dirty="0">
                <a:latin typeface="+mn-lt"/>
              </a:rPr>
              <a:t>当 </a:t>
            </a:r>
            <a:r>
              <a:rPr lang="en-US" altLang="zh-CN" i="1" dirty="0">
                <a:latin typeface="+mn-lt"/>
              </a:rPr>
              <a:t>k </a:t>
            </a:r>
            <a:r>
              <a:rPr lang="en-US" altLang="zh-CN" dirty="0">
                <a:latin typeface="+mn-lt"/>
              </a:rPr>
              <a:t>=1</a:t>
            </a:r>
            <a:r>
              <a:rPr lang="zh-CN" altLang="en-US" dirty="0">
                <a:latin typeface="+mn-lt"/>
              </a:rPr>
              <a:t>时</a:t>
            </a:r>
          </a:p>
        </p:txBody>
      </p:sp>
      <p:graphicFrame>
        <p:nvGraphicFramePr>
          <p:cNvPr id="33797" name="对象 23">
            <a:extLst>
              <a:ext uri="{FF2B5EF4-FFF2-40B4-BE49-F238E27FC236}">
                <a16:creationId xmlns:a16="http://schemas.microsoft.com/office/drawing/2014/main" id="{C90FCD9A-3CDE-4C6F-A42E-F6D267FB8708}"/>
              </a:ext>
            </a:extLst>
          </p:cNvPr>
          <p:cNvGraphicFramePr>
            <a:graphicFrameLocks noChangeAspect="1"/>
          </p:cNvGraphicFramePr>
          <p:nvPr/>
        </p:nvGraphicFramePr>
        <p:xfrm>
          <a:off x="876300" y="4167188"/>
          <a:ext cx="2036763" cy="419100"/>
        </p:xfrm>
        <a:graphic>
          <a:graphicData uri="http://schemas.openxmlformats.org/presentationml/2006/ole">
            <mc:AlternateContent xmlns:mc="http://schemas.openxmlformats.org/markup-compatibility/2006">
              <mc:Choice xmlns:v="urn:schemas-microsoft-com:vml" Requires="v">
                <p:oleObj spid="_x0000_s33959" name="Equation" r:id="rId5" imgW="927100" imgH="190500" progId="Equation.DSMT4">
                  <p:embed/>
                </p:oleObj>
              </mc:Choice>
              <mc:Fallback>
                <p:oleObj name="Equation" r:id="rId5" imgW="927100" imgH="190500" progId="Equation.DSMT4">
                  <p:embed/>
                  <p:pic>
                    <p:nvPicPr>
                      <p:cNvPr id="0" name="对象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6300" y="4167188"/>
                        <a:ext cx="20367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8" name="对象 25">
            <a:extLst>
              <a:ext uri="{FF2B5EF4-FFF2-40B4-BE49-F238E27FC236}">
                <a16:creationId xmlns:a16="http://schemas.microsoft.com/office/drawing/2014/main" id="{23F0C503-7A82-4CFA-8C87-1FD941DE84BC}"/>
              </a:ext>
            </a:extLst>
          </p:cNvPr>
          <p:cNvGraphicFramePr>
            <a:graphicFrameLocks noChangeAspect="1"/>
          </p:cNvGraphicFramePr>
          <p:nvPr/>
        </p:nvGraphicFramePr>
        <p:xfrm>
          <a:off x="5749925" y="4429125"/>
          <a:ext cx="1338263" cy="390525"/>
        </p:xfrm>
        <a:graphic>
          <a:graphicData uri="http://schemas.openxmlformats.org/presentationml/2006/ole">
            <mc:AlternateContent xmlns:mc="http://schemas.openxmlformats.org/markup-compatibility/2006">
              <mc:Choice xmlns:v="urn:schemas-microsoft-com:vml" Requires="v">
                <p:oleObj spid="_x0000_s33960" name="Equation" r:id="rId7" imgW="609336" imgH="177723" progId="Equation.DSMT4">
                  <p:embed/>
                </p:oleObj>
              </mc:Choice>
              <mc:Fallback>
                <p:oleObj name="Equation" r:id="rId7" imgW="609336" imgH="177723" progId="Equation.DSMT4">
                  <p:embed/>
                  <p:pic>
                    <p:nvPicPr>
                      <p:cNvPr id="0" name="对象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49925" y="4429125"/>
                        <a:ext cx="13382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9" name="直接箭头连接符 18">
            <a:extLst>
              <a:ext uri="{FF2B5EF4-FFF2-40B4-BE49-F238E27FC236}">
                <a16:creationId xmlns:a16="http://schemas.microsoft.com/office/drawing/2014/main" id="{BD9A1996-1E1F-46C7-A061-47F58EE00C91}"/>
              </a:ext>
            </a:extLst>
          </p:cNvPr>
          <p:cNvCxnSpPr/>
          <p:nvPr/>
        </p:nvCxnSpPr>
        <p:spPr>
          <a:xfrm flipV="1">
            <a:off x="1893888" y="4586288"/>
            <a:ext cx="0" cy="2730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800" name="对象 29">
            <a:extLst>
              <a:ext uri="{FF2B5EF4-FFF2-40B4-BE49-F238E27FC236}">
                <a16:creationId xmlns:a16="http://schemas.microsoft.com/office/drawing/2014/main" id="{37884C2C-F964-413F-83EB-651EB0D1DD02}"/>
              </a:ext>
            </a:extLst>
          </p:cNvPr>
          <p:cNvGraphicFramePr>
            <a:graphicFrameLocks noChangeAspect="1"/>
          </p:cNvGraphicFramePr>
          <p:nvPr/>
        </p:nvGraphicFramePr>
        <p:xfrm>
          <a:off x="3921125" y="4468813"/>
          <a:ext cx="473075" cy="390525"/>
        </p:xfrm>
        <a:graphic>
          <a:graphicData uri="http://schemas.openxmlformats.org/presentationml/2006/ole">
            <mc:AlternateContent xmlns:mc="http://schemas.openxmlformats.org/markup-compatibility/2006">
              <mc:Choice xmlns:v="urn:schemas-microsoft-com:vml" Requires="v">
                <p:oleObj spid="_x0000_s33961" name="Equation" r:id="rId9" imgW="215619" imgH="177569" progId="Equation.DSMT4">
                  <p:embed/>
                </p:oleObj>
              </mc:Choice>
              <mc:Fallback>
                <p:oleObj name="Equation" r:id="rId9" imgW="215619" imgH="177569" progId="Equation.DSMT4">
                  <p:embed/>
                  <p:pic>
                    <p:nvPicPr>
                      <p:cNvPr id="0" name="对象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1125" y="4468813"/>
                        <a:ext cx="4730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1" name="对象 30">
            <a:extLst>
              <a:ext uri="{FF2B5EF4-FFF2-40B4-BE49-F238E27FC236}">
                <a16:creationId xmlns:a16="http://schemas.microsoft.com/office/drawing/2014/main" id="{79F44F2E-18C0-4C51-9561-CE652D88DE52}"/>
              </a:ext>
            </a:extLst>
          </p:cNvPr>
          <p:cNvGraphicFramePr>
            <a:graphicFrameLocks noChangeAspect="1"/>
          </p:cNvGraphicFramePr>
          <p:nvPr/>
        </p:nvGraphicFramePr>
        <p:xfrm>
          <a:off x="4127500" y="3759200"/>
          <a:ext cx="2316163" cy="390525"/>
        </p:xfrm>
        <a:graphic>
          <a:graphicData uri="http://schemas.openxmlformats.org/presentationml/2006/ole">
            <mc:AlternateContent xmlns:mc="http://schemas.openxmlformats.org/markup-compatibility/2006">
              <mc:Choice xmlns:v="urn:schemas-microsoft-com:vml" Requires="v">
                <p:oleObj spid="_x0000_s33962" name="Equation" r:id="rId11" imgW="1053643" imgH="177723" progId="Equation.DSMT4">
                  <p:embed/>
                </p:oleObj>
              </mc:Choice>
              <mc:Fallback>
                <p:oleObj name="Equation" r:id="rId11" imgW="1053643" imgH="177723" progId="Equation.DSMT4">
                  <p:embed/>
                  <p:pic>
                    <p:nvPicPr>
                      <p:cNvPr id="0" name="对象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27500" y="3759200"/>
                        <a:ext cx="23161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2" name="直接箭头连接符 31">
            <a:extLst>
              <a:ext uri="{FF2B5EF4-FFF2-40B4-BE49-F238E27FC236}">
                <a16:creationId xmlns:a16="http://schemas.microsoft.com/office/drawing/2014/main" id="{2BB9B321-3BA0-4FB0-A924-1F2DBAC23F60}"/>
              </a:ext>
            </a:extLst>
          </p:cNvPr>
          <p:cNvCxnSpPr/>
          <p:nvPr/>
        </p:nvCxnSpPr>
        <p:spPr>
          <a:xfrm flipV="1">
            <a:off x="6427788" y="4722813"/>
            <a:ext cx="0" cy="2730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AEDF1F45-647F-4640-89AF-5D89760BCB17}"/>
              </a:ext>
            </a:extLst>
          </p:cNvPr>
          <p:cNvCxnSpPr/>
          <p:nvPr/>
        </p:nvCxnSpPr>
        <p:spPr>
          <a:xfrm flipV="1">
            <a:off x="4157663" y="4802188"/>
            <a:ext cx="0" cy="2730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97249BA3-5226-4B96-B0CD-B3CFFE26FC6F}"/>
              </a:ext>
            </a:extLst>
          </p:cNvPr>
          <p:cNvCxnSpPr>
            <a:cxnSpLocks/>
          </p:cNvCxnSpPr>
          <p:nvPr/>
        </p:nvCxnSpPr>
        <p:spPr>
          <a:xfrm flipV="1">
            <a:off x="4259263" y="4170363"/>
            <a:ext cx="473075" cy="3143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CFE5594E-7DC3-4124-9026-A51BF8EDF330}"/>
              </a:ext>
            </a:extLst>
          </p:cNvPr>
          <p:cNvCxnSpPr>
            <a:cxnSpLocks/>
          </p:cNvCxnSpPr>
          <p:nvPr/>
        </p:nvCxnSpPr>
        <p:spPr>
          <a:xfrm flipH="1" flipV="1">
            <a:off x="5878513" y="4122738"/>
            <a:ext cx="549275" cy="2762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806" name="对象 40">
            <a:extLst>
              <a:ext uri="{FF2B5EF4-FFF2-40B4-BE49-F238E27FC236}">
                <a16:creationId xmlns:a16="http://schemas.microsoft.com/office/drawing/2014/main" id="{162E2E5C-3D39-496A-8AC4-2CFAEF2A7BD7}"/>
              </a:ext>
            </a:extLst>
          </p:cNvPr>
          <p:cNvGraphicFramePr>
            <a:graphicFrameLocks noChangeAspect="1"/>
          </p:cNvGraphicFramePr>
          <p:nvPr/>
        </p:nvGraphicFramePr>
        <p:xfrm>
          <a:off x="5575300" y="5643563"/>
          <a:ext cx="1157288" cy="350837"/>
        </p:xfrm>
        <a:graphic>
          <a:graphicData uri="http://schemas.openxmlformats.org/presentationml/2006/ole">
            <mc:AlternateContent xmlns:mc="http://schemas.openxmlformats.org/markup-compatibility/2006">
              <mc:Choice xmlns:v="urn:schemas-microsoft-com:vml" Requires="v">
                <p:oleObj spid="_x0000_s33963" name="Equation" r:id="rId13" imgW="583693" imgH="177646" progId="Equation.DSMT4">
                  <p:embed/>
                </p:oleObj>
              </mc:Choice>
              <mc:Fallback>
                <p:oleObj name="Equation" r:id="rId13" imgW="583693" imgH="177646" progId="Equation.DSMT4">
                  <p:embed/>
                  <p:pic>
                    <p:nvPicPr>
                      <p:cNvPr id="0" name="对象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75300" y="5643563"/>
                        <a:ext cx="115728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2" name="直接箭头连接符 41">
            <a:extLst>
              <a:ext uri="{FF2B5EF4-FFF2-40B4-BE49-F238E27FC236}">
                <a16:creationId xmlns:a16="http://schemas.microsoft.com/office/drawing/2014/main" id="{53923834-60F3-49D8-AEB7-83E7C675E798}"/>
              </a:ext>
            </a:extLst>
          </p:cNvPr>
          <p:cNvCxnSpPr>
            <a:cxnSpLocks/>
          </p:cNvCxnSpPr>
          <p:nvPr/>
        </p:nvCxnSpPr>
        <p:spPr>
          <a:xfrm>
            <a:off x="6078538" y="5291138"/>
            <a:ext cx="0" cy="3524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9DFB81D7-74ED-4508-8281-9A11A0E8C738}"/>
              </a:ext>
            </a:extLst>
          </p:cNvPr>
          <p:cNvSpPr/>
          <p:nvPr/>
        </p:nvSpPr>
        <p:spPr>
          <a:xfrm>
            <a:off x="611188" y="1412875"/>
            <a:ext cx="1152525" cy="368300"/>
          </a:xfrm>
          <a:prstGeom prst="rect">
            <a:avLst/>
          </a:prstGeom>
        </p:spPr>
        <p:txBody>
          <a:bodyPr wrap="none">
            <a:spAutoFit/>
          </a:bodyPr>
          <a:lstStyle/>
          <a:p>
            <a:pPr>
              <a:defRPr/>
            </a:pPr>
            <a:r>
              <a:rPr lang="zh-CN" altLang="en-US" dirty="0">
                <a:latin typeface="+mn-lt"/>
              </a:rPr>
              <a:t>当 </a:t>
            </a:r>
            <a:r>
              <a:rPr lang="en-US" altLang="zh-CN" i="1" dirty="0">
                <a:latin typeface="+mn-lt"/>
              </a:rPr>
              <a:t>k </a:t>
            </a:r>
            <a:r>
              <a:rPr lang="en-US" altLang="zh-CN" dirty="0">
                <a:latin typeface="+mn-lt"/>
              </a:rPr>
              <a:t>=0</a:t>
            </a:r>
            <a:r>
              <a:rPr lang="zh-CN" altLang="en-US" dirty="0">
                <a:latin typeface="+mn-lt"/>
              </a:rPr>
              <a:t>时</a:t>
            </a:r>
          </a:p>
        </p:txBody>
      </p:sp>
      <p:graphicFrame>
        <p:nvGraphicFramePr>
          <p:cNvPr id="33809" name="对象 45">
            <a:extLst>
              <a:ext uri="{FF2B5EF4-FFF2-40B4-BE49-F238E27FC236}">
                <a16:creationId xmlns:a16="http://schemas.microsoft.com/office/drawing/2014/main" id="{A8EDF8B0-942B-4B38-8C53-A0B4B31146CE}"/>
              </a:ext>
            </a:extLst>
          </p:cNvPr>
          <p:cNvGraphicFramePr>
            <a:graphicFrameLocks noChangeAspect="1"/>
          </p:cNvGraphicFramePr>
          <p:nvPr/>
        </p:nvGraphicFramePr>
        <p:xfrm>
          <a:off x="1187450" y="2492375"/>
          <a:ext cx="3732213" cy="566738"/>
        </p:xfrm>
        <a:graphic>
          <a:graphicData uri="http://schemas.openxmlformats.org/presentationml/2006/ole">
            <mc:AlternateContent xmlns:mc="http://schemas.openxmlformats.org/markup-compatibility/2006">
              <mc:Choice xmlns:v="urn:schemas-microsoft-com:vml" Requires="v">
                <p:oleObj spid="_x0000_s33964" name="Equation" r:id="rId15" imgW="1752600" imgH="266700" progId="Equation.DSMT4">
                  <p:embed/>
                </p:oleObj>
              </mc:Choice>
              <mc:Fallback>
                <p:oleObj name="Equation" r:id="rId15" imgW="1752600" imgH="266700" progId="Equation.DSMT4">
                  <p:embed/>
                  <p:pic>
                    <p:nvPicPr>
                      <p:cNvPr id="0" name="对象 4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87450" y="2492375"/>
                        <a:ext cx="373221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0" name="对象 46">
            <a:extLst>
              <a:ext uri="{FF2B5EF4-FFF2-40B4-BE49-F238E27FC236}">
                <a16:creationId xmlns:a16="http://schemas.microsoft.com/office/drawing/2014/main" id="{88C3F322-7125-43B2-960A-406861BDCB3C}"/>
              </a:ext>
            </a:extLst>
          </p:cNvPr>
          <p:cNvGraphicFramePr>
            <a:graphicFrameLocks noChangeAspect="1"/>
          </p:cNvGraphicFramePr>
          <p:nvPr/>
        </p:nvGraphicFramePr>
        <p:xfrm>
          <a:off x="1166813" y="1871663"/>
          <a:ext cx="2036762" cy="419100"/>
        </p:xfrm>
        <a:graphic>
          <a:graphicData uri="http://schemas.openxmlformats.org/presentationml/2006/ole">
            <mc:AlternateContent xmlns:mc="http://schemas.openxmlformats.org/markup-compatibility/2006">
              <mc:Choice xmlns:v="urn:schemas-microsoft-com:vml" Requires="v">
                <p:oleObj spid="_x0000_s33965" name="Equation" r:id="rId17" imgW="927100" imgH="190500" progId="Equation.DSMT4">
                  <p:embed/>
                </p:oleObj>
              </mc:Choice>
              <mc:Fallback>
                <p:oleObj name="Equation" r:id="rId17" imgW="927100" imgH="190500" progId="Equation.DSMT4">
                  <p:embed/>
                  <p:pic>
                    <p:nvPicPr>
                      <p:cNvPr id="0" name="对象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6813" y="1871663"/>
                        <a:ext cx="20367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8" name="直接箭头连接符 47">
            <a:extLst>
              <a:ext uri="{FF2B5EF4-FFF2-40B4-BE49-F238E27FC236}">
                <a16:creationId xmlns:a16="http://schemas.microsoft.com/office/drawing/2014/main" id="{0B07A37D-3CC6-4C10-AB07-6629966B8319}"/>
              </a:ext>
            </a:extLst>
          </p:cNvPr>
          <p:cNvCxnSpPr/>
          <p:nvPr/>
        </p:nvCxnSpPr>
        <p:spPr>
          <a:xfrm flipV="1">
            <a:off x="2185988" y="2290763"/>
            <a:ext cx="0" cy="2746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812" name="对象 48">
            <a:extLst>
              <a:ext uri="{FF2B5EF4-FFF2-40B4-BE49-F238E27FC236}">
                <a16:creationId xmlns:a16="http://schemas.microsoft.com/office/drawing/2014/main" id="{F297B429-C856-4EE2-B6D6-9F6E85314BBF}"/>
              </a:ext>
            </a:extLst>
          </p:cNvPr>
          <p:cNvGraphicFramePr>
            <a:graphicFrameLocks noChangeAspect="1"/>
          </p:cNvGraphicFramePr>
          <p:nvPr/>
        </p:nvGraphicFramePr>
        <p:xfrm>
          <a:off x="3476625" y="1878013"/>
          <a:ext cx="2316163" cy="390525"/>
        </p:xfrm>
        <a:graphic>
          <a:graphicData uri="http://schemas.openxmlformats.org/presentationml/2006/ole">
            <mc:AlternateContent xmlns:mc="http://schemas.openxmlformats.org/markup-compatibility/2006">
              <mc:Choice xmlns:v="urn:schemas-microsoft-com:vml" Requires="v">
                <p:oleObj spid="_x0000_s33966" name="Equation" r:id="rId18" imgW="1053643" imgH="177723" progId="Equation.DSMT4">
                  <p:embed/>
                </p:oleObj>
              </mc:Choice>
              <mc:Fallback>
                <p:oleObj name="Equation" r:id="rId18" imgW="1053643" imgH="177723" progId="Equation.DSMT4">
                  <p:embed/>
                  <p:pic>
                    <p:nvPicPr>
                      <p:cNvPr id="0" name="对象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76625" y="1878013"/>
                        <a:ext cx="23161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0" name="直接箭头连接符 49">
            <a:extLst>
              <a:ext uri="{FF2B5EF4-FFF2-40B4-BE49-F238E27FC236}">
                <a16:creationId xmlns:a16="http://schemas.microsoft.com/office/drawing/2014/main" id="{6493A511-C6F1-45BF-8209-12C4863ADA6B}"/>
              </a:ext>
            </a:extLst>
          </p:cNvPr>
          <p:cNvCxnSpPr/>
          <p:nvPr/>
        </p:nvCxnSpPr>
        <p:spPr>
          <a:xfrm flipV="1">
            <a:off x="4572000" y="2290763"/>
            <a:ext cx="0" cy="2746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7CC3339-7C5B-4FB4-B611-BF2A6FC6B26B}"/>
              </a:ext>
            </a:extLst>
          </p:cNvPr>
          <p:cNvSpPr>
            <a:spLocks noGrp="1" noChangeArrowheads="1"/>
          </p:cNvSpPr>
          <p:nvPr>
            <p:ph type="title"/>
          </p:nvPr>
        </p:nvSpPr>
        <p:spPr/>
        <p:txBody>
          <a:bodyPr/>
          <a:lstStyle/>
          <a:p>
            <a:pPr eaLnBrk="1" hangingPunct="1"/>
            <a:r>
              <a:rPr lang="zh-CN" altLang="en-US"/>
              <a:t>最优性定理</a:t>
            </a:r>
            <a:r>
              <a:rPr lang="en-US" altLang="zh-CN"/>
              <a:t>-</a:t>
            </a:r>
            <a:r>
              <a:rPr lang="zh-CN" altLang="en-US"/>
              <a:t>动态规划理论基础</a:t>
            </a:r>
          </a:p>
        </p:txBody>
      </p:sp>
      <p:graphicFrame>
        <p:nvGraphicFramePr>
          <p:cNvPr id="34819" name="对象 5">
            <a:extLst>
              <a:ext uri="{FF2B5EF4-FFF2-40B4-BE49-F238E27FC236}">
                <a16:creationId xmlns:a16="http://schemas.microsoft.com/office/drawing/2014/main" id="{17A738DF-E308-4A7E-BC9F-C9121D18CF23}"/>
              </a:ext>
            </a:extLst>
          </p:cNvPr>
          <p:cNvGraphicFramePr>
            <a:graphicFrameLocks noChangeAspect="1"/>
          </p:cNvGraphicFramePr>
          <p:nvPr/>
        </p:nvGraphicFramePr>
        <p:xfrm>
          <a:off x="931863" y="3089275"/>
          <a:ext cx="6592887" cy="787400"/>
        </p:xfrm>
        <a:graphic>
          <a:graphicData uri="http://schemas.openxmlformats.org/presentationml/2006/ole">
            <mc:AlternateContent xmlns:mc="http://schemas.openxmlformats.org/markup-compatibility/2006">
              <mc:Choice xmlns:v="urn:schemas-microsoft-com:vml" Requires="v">
                <p:oleObj spid="_x0000_s34928" name="Equation" r:id="rId3" imgW="2755900" imgH="330200" progId="Equation.DSMT4">
                  <p:embed/>
                </p:oleObj>
              </mc:Choice>
              <mc:Fallback>
                <p:oleObj name="Equation" r:id="rId3" imgW="2755900" imgH="330200" progId="Equation.DSMT4">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863" y="3089275"/>
                        <a:ext cx="6592887"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a:extLst>
              <a:ext uri="{FF2B5EF4-FFF2-40B4-BE49-F238E27FC236}">
                <a16:creationId xmlns:a16="http://schemas.microsoft.com/office/drawing/2014/main" id="{4C8375EA-88A6-4E32-A68B-18D9F0CD8CEA}"/>
              </a:ext>
            </a:extLst>
          </p:cNvPr>
          <p:cNvSpPr/>
          <p:nvPr/>
        </p:nvSpPr>
        <p:spPr>
          <a:xfrm>
            <a:off x="827088" y="1187450"/>
            <a:ext cx="1109662" cy="369888"/>
          </a:xfrm>
          <a:prstGeom prst="rect">
            <a:avLst/>
          </a:prstGeom>
        </p:spPr>
        <p:txBody>
          <a:bodyPr wrap="none">
            <a:spAutoFit/>
          </a:bodyPr>
          <a:lstStyle/>
          <a:p>
            <a:pPr>
              <a:defRPr/>
            </a:pPr>
            <a:r>
              <a:rPr lang="zh-CN" altLang="en-US" dirty="0">
                <a:latin typeface="+mn-lt"/>
              </a:rPr>
              <a:t>当 </a:t>
            </a:r>
            <a:r>
              <a:rPr lang="en-US" altLang="zh-CN" i="1" dirty="0">
                <a:latin typeface="+mn-lt"/>
              </a:rPr>
              <a:t>k </a:t>
            </a:r>
            <a:r>
              <a:rPr lang="en-US" altLang="zh-CN" dirty="0">
                <a:latin typeface="+mn-lt"/>
              </a:rPr>
              <a:t>=2</a:t>
            </a:r>
            <a:r>
              <a:rPr lang="zh-CN" altLang="en-US" dirty="0">
                <a:latin typeface="+mn-lt"/>
              </a:rPr>
              <a:t>时</a:t>
            </a:r>
          </a:p>
        </p:txBody>
      </p:sp>
      <p:graphicFrame>
        <p:nvGraphicFramePr>
          <p:cNvPr id="34821" name="对象 23">
            <a:extLst>
              <a:ext uri="{FF2B5EF4-FFF2-40B4-BE49-F238E27FC236}">
                <a16:creationId xmlns:a16="http://schemas.microsoft.com/office/drawing/2014/main" id="{E0B97082-7709-410E-9FB7-706E512BAD66}"/>
              </a:ext>
            </a:extLst>
          </p:cNvPr>
          <p:cNvGraphicFramePr>
            <a:graphicFrameLocks noChangeAspect="1"/>
          </p:cNvGraphicFramePr>
          <p:nvPr/>
        </p:nvGraphicFramePr>
        <p:xfrm>
          <a:off x="1052513" y="2417763"/>
          <a:ext cx="2036762" cy="419100"/>
        </p:xfrm>
        <a:graphic>
          <a:graphicData uri="http://schemas.openxmlformats.org/presentationml/2006/ole">
            <mc:AlternateContent xmlns:mc="http://schemas.openxmlformats.org/markup-compatibility/2006">
              <mc:Choice xmlns:v="urn:schemas-microsoft-com:vml" Requires="v">
                <p:oleObj spid="_x0000_s34929" name="Equation" r:id="rId5" imgW="927100" imgH="190500" progId="Equation.DSMT4">
                  <p:embed/>
                </p:oleObj>
              </mc:Choice>
              <mc:Fallback>
                <p:oleObj name="Equation" r:id="rId5" imgW="927100" imgH="190500" progId="Equation.DSMT4">
                  <p:embed/>
                  <p:pic>
                    <p:nvPicPr>
                      <p:cNvPr id="0" name="对象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2513" y="2417763"/>
                        <a:ext cx="20367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2" name="对象 25">
            <a:extLst>
              <a:ext uri="{FF2B5EF4-FFF2-40B4-BE49-F238E27FC236}">
                <a16:creationId xmlns:a16="http://schemas.microsoft.com/office/drawing/2014/main" id="{51D7F1DA-32E7-4268-924B-E0FD3942BF70}"/>
              </a:ext>
            </a:extLst>
          </p:cNvPr>
          <p:cNvGraphicFramePr>
            <a:graphicFrameLocks noChangeAspect="1"/>
          </p:cNvGraphicFramePr>
          <p:nvPr/>
        </p:nvGraphicFramePr>
        <p:xfrm>
          <a:off x="6353175" y="2717800"/>
          <a:ext cx="1087438" cy="390525"/>
        </p:xfrm>
        <a:graphic>
          <a:graphicData uri="http://schemas.openxmlformats.org/presentationml/2006/ole">
            <mc:AlternateContent xmlns:mc="http://schemas.openxmlformats.org/markup-compatibility/2006">
              <mc:Choice xmlns:v="urn:schemas-microsoft-com:vml" Requires="v">
                <p:oleObj spid="_x0000_s34930" name="Equation" r:id="rId7" imgW="494870" imgH="177646" progId="Equation.DSMT4">
                  <p:embed/>
                </p:oleObj>
              </mc:Choice>
              <mc:Fallback>
                <p:oleObj name="Equation" r:id="rId7" imgW="494870" imgH="177646" progId="Equation.DSMT4">
                  <p:embed/>
                  <p:pic>
                    <p:nvPicPr>
                      <p:cNvPr id="0" name="对象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53175" y="2717800"/>
                        <a:ext cx="108743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 name="直接箭头连接符 6">
            <a:extLst>
              <a:ext uri="{FF2B5EF4-FFF2-40B4-BE49-F238E27FC236}">
                <a16:creationId xmlns:a16="http://schemas.microsoft.com/office/drawing/2014/main" id="{965B7076-E6DF-4BF7-975C-20AC05D18295}"/>
              </a:ext>
            </a:extLst>
          </p:cNvPr>
          <p:cNvCxnSpPr/>
          <p:nvPr/>
        </p:nvCxnSpPr>
        <p:spPr>
          <a:xfrm flipV="1">
            <a:off x="2070100" y="2836863"/>
            <a:ext cx="0" cy="2730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4824" name="对象 29">
            <a:extLst>
              <a:ext uri="{FF2B5EF4-FFF2-40B4-BE49-F238E27FC236}">
                <a16:creationId xmlns:a16="http://schemas.microsoft.com/office/drawing/2014/main" id="{15DB9D86-976E-4BA6-8644-48981D23F57C}"/>
              </a:ext>
            </a:extLst>
          </p:cNvPr>
          <p:cNvGraphicFramePr>
            <a:graphicFrameLocks noChangeAspect="1"/>
          </p:cNvGraphicFramePr>
          <p:nvPr/>
        </p:nvGraphicFramePr>
        <p:xfrm>
          <a:off x="3971925" y="2719388"/>
          <a:ext cx="723900" cy="390525"/>
        </p:xfrm>
        <a:graphic>
          <a:graphicData uri="http://schemas.openxmlformats.org/presentationml/2006/ole">
            <mc:AlternateContent xmlns:mc="http://schemas.openxmlformats.org/markup-compatibility/2006">
              <mc:Choice xmlns:v="urn:schemas-microsoft-com:vml" Requires="v">
                <p:oleObj spid="_x0000_s34931" name="Equation" r:id="rId9" imgW="329914" imgH="177646" progId="Equation.DSMT4">
                  <p:embed/>
                </p:oleObj>
              </mc:Choice>
              <mc:Fallback>
                <p:oleObj name="Equation" r:id="rId9" imgW="329914" imgH="177646" progId="Equation.DSMT4">
                  <p:embed/>
                  <p:pic>
                    <p:nvPicPr>
                      <p:cNvPr id="0" name="对象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1925" y="2719388"/>
                        <a:ext cx="723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5" name="对象 30">
            <a:extLst>
              <a:ext uri="{FF2B5EF4-FFF2-40B4-BE49-F238E27FC236}">
                <a16:creationId xmlns:a16="http://schemas.microsoft.com/office/drawing/2014/main" id="{6FE81AB2-6612-469A-89D0-D32484F350FE}"/>
              </a:ext>
            </a:extLst>
          </p:cNvPr>
          <p:cNvGraphicFramePr>
            <a:graphicFrameLocks noChangeAspect="1"/>
          </p:cNvGraphicFramePr>
          <p:nvPr/>
        </p:nvGraphicFramePr>
        <p:xfrm>
          <a:off x="4303713" y="2009775"/>
          <a:ext cx="2316162" cy="390525"/>
        </p:xfrm>
        <a:graphic>
          <a:graphicData uri="http://schemas.openxmlformats.org/presentationml/2006/ole">
            <mc:AlternateContent xmlns:mc="http://schemas.openxmlformats.org/markup-compatibility/2006">
              <mc:Choice xmlns:v="urn:schemas-microsoft-com:vml" Requires="v">
                <p:oleObj spid="_x0000_s34932" name="Equation" r:id="rId11" imgW="1053643" imgH="177723" progId="Equation.DSMT4">
                  <p:embed/>
                </p:oleObj>
              </mc:Choice>
              <mc:Fallback>
                <p:oleObj name="Equation" r:id="rId11" imgW="1053643" imgH="177723" progId="Equation.DSMT4">
                  <p:embed/>
                  <p:pic>
                    <p:nvPicPr>
                      <p:cNvPr id="0" name="对象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03713" y="2009775"/>
                        <a:ext cx="23161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1" name="直接箭头连接符 10">
            <a:extLst>
              <a:ext uri="{FF2B5EF4-FFF2-40B4-BE49-F238E27FC236}">
                <a16:creationId xmlns:a16="http://schemas.microsoft.com/office/drawing/2014/main" id="{667FC7BA-8E45-4DE8-BDE9-3BCF2EB1C6AB}"/>
              </a:ext>
            </a:extLst>
          </p:cNvPr>
          <p:cNvCxnSpPr/>
          <p:nvPr/>
        </p:nvCxnSpPr>
        <p:spPr>
          <a:xfrm flipV="1">
            <a:off x="6905625" y="3011488"/>
            <a:ext cx="0" cy="2730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93AFCD06-955A-4AB6-AAEA-826B41FBCF63}"/>
              </a:ext>
            </a:extLst>
          </p:cNvPr>
          <p:cNvCxnSpPr/>
          <p:nvPr/>
        </p:nvCxnSpPr>
        <p:spPr>
          <a:xfrm flipV="1">
            <a:off x="4333875" y="3052763"/>
            <a:ext cx="0" cy="2730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476F88A0-4164-40BC-AD2A-B6593A5A40F0}"/>
              </a:ext>
            </a:extLst>
          </p:cNvPr>
          <p:cNvCxnSpPr>
            <a:cxnSpLocks/>
          </p:cNvCxnSpPr>
          <p:nvPr/>
        </p:nvCxnSpPr>
        <p:spPr>
          <a:xfrm flipV="1">
            <a:off x="4435475" y="2420938"/>
            <a:ext cx="473075" cy="3143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2615364B-8B52-4F76-9B20-F1F32A453224}"/>
              </a:ext>
            </a:extLst>
          </p:cNvPr>
          <p:cNvCxnSpPr>
            <a:cxnSpLocks/>
          </p:cNvCxnSpPr>
          <p:nvPr/>
        </p:nvCxnSpPr>
        <p:spPr>
          <a:xfrm flipH="1" flipV="1">
            <a:off x="6054725" y="2373313"/>
            <a:ext cx="549275" cy="2762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4830" name="对象 40">
            <a:extLst>
              <a:ext uri="{FF2B5EF4-FFF2-40B4-BE49-F238E27FC236}">
                <a16:creationId xmlns:a16="http://schemas.microsoft.com/office/drawing/2014/main" id="{1AED4594-C2E9-45A6-BF21-9FC02B28F964}"/>
              </a:ext>
            </a:extLst>
          </p:cNvPr>
          <p:cNvGraphicFramePr>
            <a:graphicFrameLocks noChangeAspect="1"/>
          </p:cNvGraphicFramePr>
          <p:nvPr/>
        </p:nvGraphicFramePr>
        <p:xfrm>
          <a:off x="6097588" y="4014788"/>
          <a:ext cx="1131887" cy="350837"/>
        </p:xfrm>
        <a:graphic>
          <a:graphicData uri="http://schemas.openxmlformats.org/presentationml/2006/ole">
            <mc:AlternateContent xmlns:mc="http://schemas.openxmlformats.org/markup-compatibility/2006">
              <mc:Choice xmlns:v="urn:schemas-microsoft-com:vml" Requires="v">
                <p:oleObj spid="_x0000_s34933" name="Equation" r:id="rId13" imgW="571004" imgH="177646" progId="Equation.DSMT4">
                  <p:embed/>
                </p:oleObj>
              </mc:Choice>
              <mc:Fallback>
                <p:oleObj name="Equation" r:id="rId13" imgW="571004" imgH="177646" progId="Equation.DSMT4">
                  <p:embed/>
                  <p:pic>
                    <p:nvPicPr>
                      <p:cNvPr id="0" name="对象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97588" y="4014788"/>
                        <a:ext cx="1131887"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6" name="直接箭头连接符 15">
            <a:extLst>
              <a:ext uri="{FF2B5EF4-FFF2-40B4-BE49-F238E27FC236}">
                <a16:creationId xmlns:a16="http://schemas.microsoft.com/office/drawing/2014/main" id="{F448DABC-808B-4887-B37A-5A1C46037188}"/>
              </a:ext>
            </a:extLst>
          </p:cNvPr>
          <p:cNvCxnSpPr>
            <a:cxnSpLocks/>
          </p:cNvCxnSpPr>
          <p:nvPr/>
        </p:nvCxnSpPr>
        <p:spPr>
          <a:xfrm>
            <a:off x="6588125" y="3660775"/>
            <a:ext cx="0" cy="3524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1BE3012-A88E-4CA1-B046-9F6B15E377EA}"/>
              </a:ext>
            </a:extLst>
          </p:cNvPr>
          <p:cNvSpPr>
            <a:spLocks noGrp="1" noChangeArrowheads="1"/>
          </p:cNvSpPr>
          <p:nvPr>
            <p:ph type="title"/>
          </p:nvPr>
        </p:nvSpPr>
        <p:spPr/>
        <p:txBody>
          <a:bodyPr/>
          <a:lstStyle/>
          <a:p>
            <a:pPr eaLnBrk="1" hangingPunct="1"/>
            <a:r>
              <a:rPr lang="zh-CN" altLang="en-US"/>
              <a:t>最优性定理的含义</a:t>
            </a:r>
          </a:p>
        </p:txBody>
      </p:sp>
      <p:sp>
        <p:nvSpPr>
          <p:cNvPr id="35843" name="文本占位符 7">
            <a:extLst>
              <a:ext uri="{FF2B5EF4-FFF2-40B4-BE49-F238E27FC236}">
                <a16:creationId xmlns:a16="http://schemas.microsoft.com/office/drawing/2014/main" id="{431DC3B8-3ED6-428F-BEB6-C3979A6DA5B8}"/>
              </a:ext>
            </a:extLst>
          </p:cNvPr>
          <p:cNvSpPr>
            <a:spLocks noGrp="1" noChangeArrowheads="1"/>
          </p:cNvSpPr>
          <p:nvPr>
            <p:ph type="body" sz="half" idx="1"/>
          </p:nvPr>
        </p:nvSpPr>
        <p:spPr>
          <a:xfrm>
            <a:off x="457200" y="1143000"/>
            <a:ext cx="7859713" cy="4987925"/>
          </a:xfrm>
        </p:spPr>
        <p:txBody>
          <a:bodyPr/>
          <a:lstStyle/>
          <a:p>
            <a:pPr algn="just">
              <a:lnSpc>
                <a:spcPct val="125000"/>
              </a:lnSpc>
            </a:pPr>
            <a:r>
              <a:rPr lang="zh-CN" altLang="en-US">
                <a:solidFill>
                  <a:srgbClr val="FF0000"/>
                </a:solidFill>
              </a:rPr>
              <a:t>如果一个决策问题有最优策略</a:t>
            </a:r>
            <a:r>
              <a:rPr lang="en-US" altLang="zh-CN">
                <a:solidFill>
                  <a:srgbClr val="FF0000"/>
                </a:solidFill>
              </a:rPr>
              <a:t>, </a:t>
            </a:r>
            <a:r>
              <a:rPr lang="zh-CN" altLang="en-US">
                <a:solidFill>
                  <a:srgbClr val="FF0000"/>
                </a:solidFill>
              </a:rPr>
              <a:t>则该问题的最优值函数一定可用动态规划的基本方程来表示</a:t>
            </a:r>
            <a:r>
              <a:rPr lang="en-US" altLang="zh-CN">
                <a:solidFill>
                  <a:srgbClr val="FF0000"/>
                </a:solidFill>
              </a:rPr>
              <a:t>, </a:t>
            </a:r>
            <a:r>
              <a:rPr lang="zh-CN" altLang="en-US">
                <a:solidFill>
                  <a:srgbClr val="FF0000"/>
                </a:solidFill>
              </a:rPr>
              <a:t>反之亦真。</a:t>
            </a:r>
            <a:r>
              <a:rPr lang="zh-CN" altLang="en-US"/>
              <a:t>这是该定理为人们用动态规划方法去处理决策问题提供了理论依据和指明方法</a:t>
            </a:r>
            <a:r>
              <a:rPr lang="en-US" altLang="zh-CN"/>
              <a:t>, </a:t>
            </a:r>
            <a:r>
              <a:rPr lang="zh-CN" altLang="en-US"/>
              <a:t>就是要充分分析决策问题的结构</a:t>
            </a:r>
            <a:r>
              <a:rPr lang="en-US" altLang="zh-CN"/>
              <a:t>, </a:t>
            </a:r>
            <a:r>
              <a:rPr lang="zh-CN" altLang="en-US"/>
              <a:t>使它满足动态规划的条件</a:t>
            </a:r>
            <a:r>
              <a:rPr lang="en-US" altLang="zh-CN"/>
              <a:t>, </a:t>
            </a:r>
            <a:r>
              <a:rPr lang="zh-CN" altLang="en-US"/>
              <a:t>正确地写出动态规划的基本方程。</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A89CFCE4-1479-4802-B639-9AC92BDCD7F9}"/>
              </a:ext>
            </a:extLst>
          </p:cNvPr>
          <p:cNvSpPr>
            <a:spLocks noGrp="1" noChangeArrowheads="1"/>
          </p:cNvSpPr>
          <p:nvPr>
            <p:ph type="ctrTitle"/>
          </p:nvPr>
        </p:nvSpPr>
        <p:spPr/>
        <p:txBody>
          <a:bodyPr/>
          <a:lstStyle/>
          <a:p>
            <a:pPr eaLnBrk="1" hangingPunct="1"/>
            <a:r>
              <a:rPr lang="zh-CN" altLang="en-US"/>
              <a:t>第九章之第四节</a:t>
            </a:r>
          </a:p>
        </p:txBody>
      </p:sp>
      <p:sp>
        <p:nvSpPr>
          <p:cNvPr id="36867" name="Rectangle 5">
            <a:extLst>
              <a:ext uri="{FF2B5EF4-FFF2-40B4-BE49-F238E27FC236}">
                <a16:creationId xmlns:a16="http://schemas.microsoft.com/office/drawing/2014/main" id="{003C8368-4D21-4325-8334-2B292CFA16F7}"/>
              </a:ext>
            </a:extLst>
          </p:cNvPr>
          <p:cNvSpPr>
            <a:spLocks noGrp="1" noChangeArrowheads="1"/>
          </p:cNvSpPr>
          <p:nvPr>
            <p:ph type="subTitle" idx="1"/>
          </p:nvPr>
        </p:nvSpPr>
        <p:spPr/>
        <p:txBody>
          <a:bodyPr/>
          <a:lstStyle/>
          <a:p>
            <a:pPr eaLnBrk="1" hangingPunct="1"/>
            <a:r>
              <a:rPr lang="zh-CN" altLang="en-US" sz="5400"/>
              <a:t>动态规划与静态规划</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BA35A702-6D14-46E2-8E21-1A5A892808D8}"/>
              </a:ext>
            </a:extLst>
          </p:cNvPr>
          <p:cNvSpPr>
            <a:spLocks noGrp="1" noChangeArrowheads="1"/>
          </p:cNvSpPr>
          <p:nvPr>
            <p:ph type="title"/>
          </p:nvPr>
        </p:nvSpPr>
        <p:spPr/>
        <p:txBody>
          <a:bodyPr/>
          <a:lstStyle/>
          <a:p>
            <a:pPr eaLnBrk="1" hangingPunct="1">
              <a:defRPr/>
            </a:pPr>
            <a:r>
              <a:rPr lang="en-US" altLang="zh-CN" i="1" dirty="0">
                <a:latin typeface="+mn-lt"/>
              </a:rPr>
              <a:t>n</a:t>
            </a:r>
            <a:r>
              <a:rPr lang="zh-CN" altLang="en-US" dirty="0"/>
              <a:t>阶段决策过程</a:t>
            </a:r>
          </a:p>
        </p:txBody>
      </p:sp>
      <p:grpSp>
        <p:nvGrpSpPr>
          <p:cNvPr id="37891" name="Group 48">
            <a:extLst>
              <a:ext uri="{FF2B5EF4-FFF2-40B4-BE49-F238E27FC236}">
                <a16:creationId xmlns:a16="http://schemas.microsoft.com/office/drawing/2014/main" id="{F7700511-F9F3-4301-AAE9-04F43E2989F0}"/>
              </a:ext>
            </a:extLst>
          </p:cNvPr>
          <p:cNvGrpSpPr>
            <a:grpSpLocks/>
          </p:cNvGrpSpPr>
          <p:nvPr/>
        </p:nvGrpSpPr>
        <p:grpSpPr bwMode="auto">
          <a:xfrm>
            <a:off x="107950" y="2060575"/>
            <a:ext cx="8813800" cy="2503488"/>
            <a:chOff x="208" y="1824"/>
            <a:chExt cx="5552" cy="1577"/>
          </a:xfrm>
        </p:grpSpPr>
        <p:sp>
          <p:nvSpPr>
            <p:cNvPr id="37899" name="Line 4">
              <a:extLst>
                <a:ext uri="{FF2B5EF4-FFF2-40B4-BE49-F238E27FC236}">
                  <a16:creationId xmlns:a16="http://schemas.microsoft.com/office/drawing/2014/main" id="{C30A7B5D-F322-4959-BF69-D48F05ED87B3}"/>
                </a:ext>
              </a:extLst>
            </p:cNvPr>
            <p:cNvSpPr>
              <a:spLocks noChangeShapeType="1"/>
            </p:cNvSpPr>
            <p:nvPr/>
          </p:nvSpPr>
          <p:spPr bwMode="auto">
            <a:xfrm>
              <a:off x="480" y="2626"/>
              <a:ext cx="432" cy="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00" name="Line 5">
              <a:extLst>
                <a:ext uri="{FF2B5EF4-FFF2-40B4-BE49-F238E27FC236}">
                  <a16:creationId xmlns:a16="http://schemas.microsoft.com/office/drawing/2014/main" id="{5F91C180-56FA-43F7-9FBC-0CD74BE87FDA}"/>
                </a:ext>
              </a:extLst>
            </p:cNvPr>
            <p:cNvSpPr>
              <a:spLocks noChangeShapeType="1"/>
            </p:cNvSpPr>
            <p:nvPr/>
          </p:nvSpPr>
          <p:spPr bwMode="auto">
            <a:xfrm>
              <a:off x="1310" y="2626"/>
              <a:ext cx="432" cy="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01" name="Text Box 6">
              <a:extLst>
                <a:ext uri="{FF2B5EF4-FFF2-40B4-BE49-F238E27FC236}">
                  <a16:creationId xmlns:a16="http://schemas.microsoft.com/office/drawing/2014/main" id="{6AA1D4AC-F19D-4F3A-BB96-474C5D59EBFB}"/>
                </a:ext>
              </a:extLst>
            </p:cNvPr>
            <p:cNvSpPr txBox="1">
              <a:spLocks noChangeArrowheads="1"/>
            </p:cNvSpPr>
            <p:nvPr/>
          </p:nvSpPr>
          <p:spPr bwMode="auto">
            <a:xfrm>
              <a:off x="892" y="2482"/>
              <a:ext cx="404" cy="2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a:t>1</a:t>
              </a:r>
            </a:p>
          </p:txBody>
        </p:sp>
        <p:sp>
          <p:nvSpPr>
            <p:cNvPr id="37902" name="Line 7">
              <a:extLst>
                <a:ext uri="{FF2B5EF4-FFF2-40B4-BE49-F238E27FC236}">
                  <a16:creationId xmlns:a16="http://schemas.microsoft.com/office/drawing/2014/main" id="{D76B88B3-B742-4D41-A990-78EBF8703003}"/>
                </a:ext>
              </a:extLst>
            </p:cNvPr>
            <p:cNvSpPr>
              <a:spLocks noChangeShapeType="1"/>
            </p:cNvSpPr>
            <p:nvPr/>
          </p:nvSpPr>
          <p:spPr bwMode="auto">
            <a:xfrm>
              <a:off x="1104" y="2112"/>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03" name="Line 8">
              <a:extLst>
                <a:ext uri="{FF2B5EF4-FFF2-40B4-BE49-F238E27FC236}">
                  <a16:creationId xmlns:a16="http://schemas.microsoft.com/office/drawing/2014/main" id="{1A56F743-35F5-4855-833E-DC4669647B5A}"/>
                </a:ext>
              </a:extLst>
            </p:cNvPr>
            <p:cNvSpPr>
              <a:spLocks noChangeShapeType="1"/>
            </p:cNvSpPr>
            <p:nvPr/>
          </p:nvSpPr>
          <p:spPr bwMode="auto">
            <a:xfrm>
              <a:off x="1104" y="2784"/>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 name="Text Box 9">
              <a:extLst>
                <a:ext uri="{FF2B5EF4-FFF2-40B4-BE49-F238E27FC236}">
                  <a16:creationId xmlns:a16="http://schemas.microsoft.com/office/drawing/2014/main" id="{464AF7CC-885E-448D-8EA2-4F5C34DC11AB}"/>
                </a:ext>
              </a:extLst>
            </p:cNvPr>
            <p:cNvSpPr txBox="1">
              <a:spLocks noChangeArrowheads="1"/>
            </p:cNvSpPr>
            <p:nvPr/>
          </p:nvSpPr>
          <p:spPr bwMode="auto">
            <a:xfrm>
              <a:off x="344" y="2304"/>
              <a:ext cx="616" cy="233"/>
            </a:xfrm>
            <a:prstGeom prst="rect">
              <a:avLst/>
            </a:prstGeom>
            <a:noFill/>
            <a:ln w="9525">
              <a:noFill/>
              <a:miter lim="800000"/>
              <a:headEnd/>
              <a:tailEnd/>
            </a:ln>
            <a:effectLst/>
          </p:spPr>
          <p:txBody>
            <a:bodyPr>
              <a:spAutoFit/>
            </a:bodyPr>
            <a:lstStyle/>
            <a:p>
              <a:pPr eaLnBrk="1" hangingPunct="1">
                <a:spcBef>
                  <a:spcPct val="50000"/>
                </a:spcBef>
                <a:defRPr/>
              </a:pPr>
              <a:r>
                <a:rPr lang="zh-CN" altLang="en-US">
                  <a:latin typeface="Arial" charset="0"/>
                </a:rPr>
                <a:t>状态</a:t>
              </a:r>
              <a:r>
                <a:rPr lang="en-US" altLang="zh-CN" i="1">
                  <a:latin typeface="+mn-lt"/>
                </a:rPr>
                <a:t>s</a:t>
              </a:r>
              <a:r>
                <a:rPr lang="en-US" altLang="zh-CN" baseline="-25000">
                  <a:latin typeface="+mn-lt"/>
                </a:rPr>
                <a:t>1</a:t>
              </a:r>
              <a:endParaRPr lang="en-US" altLang="zh-CN" dirty="0">
                <a:latin typeface="+mn-lt"/>
              </a:endParaRPr>
            </a:p>
          </p:txBody>
        </p:sp>
        <p:sp>
          <p:nvSpPr>
            <p:cNvPr id="37" name="Text Box 10">
              <a:extLst>
                <a:ext uri="{FF2B5EF4-FFF2-40B4-BE49-F238E27FC236}">
                  <a16:creationId xmlns:a16="http://schemas.microsoft.com/office/drawing/2014/main" id="{C6AA49B3-BCEC-435D-AF2E-7FCA067EE3D1}"/>
                </a:ext>
              </a:extLst>
            </p:cNvPr>
            <p:cNvSpPr txBox="1">
              <a:spLocks noChangeArrowheads="1"/>
            </p:cNvSpPr>
            <p:nvPr/>
          </p:nvSpPr>
          <p:spPr bwMode="auto">
            <a:xfrm>
              <a:off x="1392" y="2304"/>
              <a:ext cx="624"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baseline="-25000">
                  <a:latin typeface="+mn-lt"/>
                </a:rPr>
                <a:t>2</a:t>
              </a:r>
              <a:endParaRPr lang="en-US" altLang="zh-CN" dirty="0">
                <a:latin typeface="+mn-lt"/>
              </a:endParaRPr>
            </a:p>
          </p:txBody>
        </p:sp>
        <p:sp>
          <p:nvSpPr>
            <p:cNvPr id="38" name="Text Box 11">
              <a:extLst>
                <a:ext uri="{FF2B5EF4-FFF2-40B4-BE49-F238E27FC236}">
                  <a16:creationId xmlns:a16="http://schemas.microsoft.com/office/drawing/2014/main" id="{5EE6ABE6-6925-4E83-891B-193224455039}"/>
                </a:ext>
              </a:extLst>
            </p:cNvPr>
            <p:cNvSpPr txBox="1">
              <a:spLocks noChangeArrowheads="1"/>
            </p:cNvSpPr>
            <p:nvPr/>
          </p:nvSpPr>
          <p:spPr bwMode="auto">
            <a:xfrm>
              <a:off x="208" y="3168"/>
              <a:ext cx="1232" cy="233"/>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latin typeface="Arial" charset="0"/>
                </a:rPr>
                <a:t>阶段效益</a:t>
              </a:r>
              <a:r>
                <a:rPr lang="en-US" altLang="zh-CN" i="1">
                  <a:latin typeface="+mn-lt"/>
                </a:rPr>
                <a:t>v</a:t>
              </a:r>
              <a:r>
                <a:rPr lang="en-US" altLang="zh-CN" baseline="-25000">
                  <a:latin typeface="+mn-lt"/>
                </a:rPr>
                <a:t>1 </a:t>
              </a:r>
              <a:r>
                <a:rPr lang="en-US" altLang="zh-CN">
                  <a:latin typeface="+mn-lt"/>
                </a:rPr>
                <a:t>(</a:t>
              </a:r>
              <a:r>
                <a:rPr lang="en-US" altLang="zh-CN" i="1">
                  <a:latin typeface="+mn-lt"/>
                </a:rPr>
                <a:t>s</a:t>
              </a:r>
              <a:r>
                <a:rPr lang="en-US" altLang="zh-CN" baseline="-25000">
                  <a:latin typeface="+mn-lt"/>
                </a:rPr>
                <a:t>1</a:t>
              </a:r>
              <a:r>
                <a:rPr lang="en-US" altLang="zh-CN" dirty="0">
                  <a:latin typeface="+mn-lt"/>
                </a:rPr>
                <a:t>,</a:t>
              </a:r>
              <a:r>
                <a:rPr lang="en-US" altLang="zh-CN" baseline="-25000" dirty="0">
                  <a:latin typeface="+mn-lt"/>
                </a:rPr>
                <a:t> </a:t>
              </a:r>
              <a:r>
                <a:rPr lang="en-US" altLang="zh-CN" i="1" dirty="0">
                  <a:latin typeface="+mn-lt"/>
                </a:rPr>
                <a:t>x</a:t>
              </a:r>
              <a:r>
                <a:rPr lang="en-US" altLang="zh-CN" baseline="-25000" dirty="0">
                  <a:latin typeface="+mn-lt"/>
                </a:rPr>
                <a:t>1</a:t>
              </a:r>
              <a:r>
                <a:rPr lang="en-US" altLang="zh-CN" dirty="0">
                  <a:latin typeface="+mn-lt"/>
                </a:rPr>
                <a:t>)</a:t>
              </a:r>
            </a:p>
          </p:txBody>
        </p:sp>
        <p:sp>
          <p:nvSpPr>
            <p:cNvPr id="39" name="Text Box 12">
              <a:extLst>
                <a:ext uri="{FF2B5EF4-FFF2-40B4-BE49-F238E27FC236}">
                  <a16:creationId xmlns:a16="http://schemas.microsoft.com/office/drawing/2014/main" id="{E8A4C191-2571-449A-A765-F3E35426AC97}"/>
                </a:ext>
              </a:extLst>
            </p:cNvPr>
            <p:cNvSpPr txBox="1">
              <a:spLocks noChangeArrowheads="1"/>
            </p:cNvSpPr>
            <p:nvPr/>
          </p:nvSpPr>
          <p:spPr bwMode="auto">
            <a:xfrm>
              <a:off x="752" y="1824"/>
              <a:ext cx="576" cy="233"/>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latin typeface="Arial" charset="0"/>
                </a:rPr>
                <a:t>决策</a:t>
              </a:r>
              <a:r>
                <a:rPr lang="en-US" altLang="zh-CN" i="1" dirty="0">
                  <a:latin typeface="+mn-lt"/>
                </a:rPr>
                <a:t>x</a:t>
              </a:r>
              <a:r>
                <a:rPr lang="en-US" altLang="zh-CN" baseline="-25000" dirty="0">
                  <a:latin typeface="+mn-lt"/>
                </a:rPr>
                <a:t>1</a:t>
              </a:r>
              <a:endParaRPr lang="en-US" altLang="zh-CN" dirty="0">
                <a:latin typeface="+mn-lt"/>
              </a:endParaRPr>
            </a:p>
          </p:txBody>
        </p:sp>
        <p:sp>
          <p:nvSpPr>
            <p:cNvPr id="37908" name="Line 15">
              <a:extLst>
                <a:ext uri="{FF2B5EF4-FFF2-40B4-BE49-F238E27FC236}">
                  <a16:creationId xmlns:a16="http://schemas.microsoft.com/office/drawing/2014/main" id="{8C9ECC89-D0A9-4432-B42F-C33139D16944}"/>
                </a:ext>
              </a:extLst>
            </p:cNvPr>
            <p:cNvSpPr>
              <a:spLocks noChangeShapeType="1"/>
            </p:cNvSpPr>
            <p:nvPr/>
          </p:nvSpPr>
          <p:spPr bwMode="auto">
            <a:xfrm>
              <a:off x="2140" y="2626"/>
              <a:ext cx="432" cy="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09" name="Text Box 16">
              <a:extLst>
                <a:ext uri="{FF2B5EF4-FFF2-40B4-BE49-F238E27FC236}">
                  <a16:creationId xmlns:a16="http://schemas.microsoft.com/office/drawing/2014/main" id="{BCC82BE6-2447-4880-8F1A-A63D6C0B7E5A}"/>
                </a:ext>
              </a:extLst>
            </p:cNvPr>
            <p:cNvSpPr txBox="1">
              <a:spLocks noChangeArrowheads="1"/>
            </p:cNvSpPr>
            <p:nvPr/>
          </p:nvSpPr>
          <p:spPr bwMode="auto">
            <a:xfrm>
              <a:off x="1722" y="2482"/>
              <a:ext cx="404" cy="2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a:t>2</a:t>
              </a:r>
            </a:p>
          </p:txBody>
        </p:sp>
        <p:sp>
          <p:nvSpPr>
            <p:cNvPr id="37910" name="Line 17">
              <a:extLst>
                <a:ext uri="{FF2B5EF4-FFF2-40B4-BE49-F238E27FC236}">
                  <a16:creationId xmlns:a16="http://schemas.microsoft.com/office/drawing/2014/main" id="{D6ACF39B-8813-43B5-8CB1-518DD0EEEC6E}"/>
                </a:ext>
              </a:extLst>
            </p:cNvPr>
            <p:cNvSpPr>
              <a:spLocks noChangeShapeType="1"/>
            </p:cNvSpPr>
            <p:nvPr/>
          </p:nvSpPr>
          <p:spPr bwMode="auto">
            <a:xfrm>
              <a:off x="1934" y="2112"/>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11" name="Line 18">
              <a:extLst>
                <a:ext uri="{FF2B5EF4-FFF2-40B4-BE49-F238E27FC236}">
                  <a16:creationId xmlns:a16="http://schemas.microsoft.com/office/drawing/2014/main" id="{7A33E8B1-783F-4982-90D9-18A0E1FFD2A0}"/>
                </a:ext>
              </a:extLst>
            </p:cNvPr>
            <p:cNvSpPr>
              <a:spLocks noChangeShapeType="1"/>
            </p:cNvSpPr>
            <p:nvPr/>
          </p:nvSpPr>
          <p:spPr bwMode="auto">
            <a:xfrm>
              <a:off x="1934" y="2784"/>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12" name="Text Box 19">
              <a:extLst>
                <a:ext uri="{FF2B5EF4-FFF2-40B4-BE49-F238E27FC236}">
                  <a16:creationId xmlns:a16="http://schemas.microsoft.com/office/drawing/2014/main" id="{32E5ABFB-E873-4931-A2C2-109398E16986}"/>
                </a:ext>
              </a:extLst>
            </p:cNvPr>
            <p:cNvSpPr txBox="1">
              <a:spLocks noChangeArrowheads="1"/>
            </p:cNvSpPr>
            <p:nvPr/>
          </p:nvSpPr>
          <p:spPr bwMode="auto">
            <a:xfrm>
              <a:off x="1310" y="230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en-US" altLang="zh-CN"/>
            </a:p>
          </p:txBody>
        </p:sp>
        <p:sp>
          <p:nvSpPr>
            <p:cNvPr id="46" name="Text Box 20">
              <a:extLst>
                <a:ext uri="{FF2B5EF4-FFF2-40B4-BE49-F238E27FC236}">
                  <a16:creationId xmlns:a16="http://schemas.microsoft.com/office/drawing/2014/main" id="{08F0703E-7185-4B2E-852A-0B8FB3BD13E0}"/>
                </a:ext>
              </a:extLst>
            </p:cNvPr>
            <p:cNvSpPr txBox="1">
              <a:spLocks noChangeArrowheads="1"/>
            </p:cNvSpPr>
            <p:nvPr/>
          </p:nvSpPr>
          <p:spPr bwMode="auto">
            <a:xfrm>
              <a:off x="2242" y="2304"/>
              <a:ext cx="542"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baseline="-25000">
                  <a:latin typeface="+mn-lt"/>
                </a:rPr>
                <a:t>3</a:t>
              </a:r>
              <a:endParaRPr lang="en-US" altLang="zh-CN" dirty="0">
                <a:latin typeface="+mn-lt"/>
              </a:endParaRPr>
            </a:p>
          </p:txBody>
        </p:sp>
        <p:sp>
          <p:nvSpPr>
            <p:cNvPr id="47" name="Text Box 21">
              <a:extLst>
                <a:ext uri="{FF2B5EF4-FFF2-40B4-BE49-F238E27FC236}">
                  <a16:creationId xmlns:a16="http://schemas.microsoft.com/office/drawing/2014/main" id="{6CE287C0-B092-4CF7-A9A8-85DFC85D5433}"/>
                </a:ext>
              </a:extLst>
            </p:cNvPr>
            <p:cNvSpPr txBox="1">
              <a:spLocks noChangeArrowheads="1"/>
            </p:cNvSpPr>
            <p:nvPr/>
          </p:nvSpPr>
          <p:spPr bwMode="auto">
            <a:xfrm>
              <a:off x="1536" y="3168"/>
              <a:ext cx="768"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v</a:t>
              </a:r>
              <a:r>
                <a:rPr lang="en-US" altLang="zh-CN" baseline="-25000">
                  <a:latin typeface="+mn-lt"/>
                </a:rPr>
                <a:t>2 </a:t>
              </a:r>
              <a:r>
                <a:rPr lang="en-US" altLang="zh-CN">
                  <a:latin typeface="+mn-lt"/>
                </a:rPr>
                <a:t>(</a:t>
              </a:r>
              <a:r>
                <a:rPr lang="en-US" altLang="zh-CN" i="1">
                  <a:latin typeface="+mn-lt"/>
                </a:rPr>
                <a:t>s</a:t>
              </a:r>
              <a:r>
                <a:rPr lang="en-US" altLang="zh-CN" baseline="-25000">
                  <a:latin typeface="+mn-lt"/>
                </a:rPr>
                <a:t>2</a:t>
              </a:r>
              <a:r>
                <a:rPr lang="en-US" altLang="zh-CN" dirty="0">
                  <a:latin typeface="+mn-lt"/>
                </a:rPr>
                <a:t>,</a:t>
              </a:r>
              <a:r>
                <a:rPr lang="en-US" altLang="zh-CN" baseline="-25000" dirty="0">
                  <a:latin typeface="+mn-lt"/>
                </a:rPr>
                <a:t> </a:t>
              </a:r>
              <a:r>
                <a:rPr lang="en-US" altLang="zh-CN" i="1" dirty="0">
                  <a:latin typeface="+mn-lt"/>
                </a:rPr>
                <a:t>x</a:t>
              </a:r>
              <a:r>
                <a:rPr lang="en-US" altLang="zh-CN" baseline="-25000" dirty="0">
                  <a:latin typeface="+mn-lt"/>
                </a:rPr>
                <a:t>2</a:t>
              </a:r>
              <a:r>
                <a:rPr lang="en-US" altLang="zh-CN" dirty="0">
                  <a:latin typeface="+mn-lt"/>
                </a:rPr>
                <a:t>)</a:t>
              </a:r>
            </a:p>
          </p:txBody>
        </p:sp>
        <p:sp>
          <p:nvSpPr>
            <p:cNvPr id="48" name="Text Box 22">
              <a:extLst>
                <a:ext uri="{FF2B5EF4-FFF2-40B4-BE49-F238E27FC236}">
                  <a16:creationId xmlns:a16="http://schemas.microsoft.com/office/drawing/2014/main" id="{EE2AD22B-05B0-4826-9BFD-43125D327520}"/>
                </a:ext>
              </a:extLst>
            </p:cNvPr>
            <p:cNvSpPr txBox="1">
              <a:spLocks noChangeArrowheads="1"/>
            </p:cNvSpPr>
            <p:nvPr/>
          </p:nvSpPr>
          <p:spPr bwMode="auto">
            <a:xfrm>
              <a:off x="1841" y="1824"/>
              <a:ext cx="297"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a:latin typeface="+mn-lt"/>
                </a:rPr>
                <a:t>x</a:t>
              </a:r>
              <a:r>
                <a:rPr lang="en-US" altLang="zh-CN" baseline="-25000" dirty="0">
                  <a:latin typeface="+mn-lt"/>
                </a:rPr>
                <a:t>2</a:t>
              </a:r>
              <a:endParaRPr lang="en-US" altLang="zh-CN" dirty="0">
                <a:latin typeface="+mn-lt"/>
              </a:endParaRPr>
            </a:p>
          </p:txBody>
        </p:sp>
        <p:sp>
          <p:nvSpPr>
            <p:cNvPr id="37916" name="Line 24">
              <a:extLst>
                <a:ext uri="{FF2B5EF4-FFF2-40B4-BE49-F238E27FC236}">
                  <a16:creationId xmlns:a16="http://schemas.microsoft.com/office/drawing/2014/main" id="{2AEE31DF-5BC1-4035-AE3D-2172736DA6DB}"/>
                </a:ext>
              </a:extLst>
            </p:cNvPr>
            <p:cNvSpPr>
              <a:spLocks noChangeShapeType="1"/>
            </p:cNvSpPr>
            <p:nvPr/>
          </p:nvSpPr>
          <p:spPr bwMode="auto">
            <a:xfrm>
              <a:off x="2832" y="2626"/>
              <a:ext cx="432" cy="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17" name="Line 25">
              <a:extLst>
                <a:ext uri="{FF2B5EF4-FFF2-40B4-BE49-F238E27FC236}">
                  <a16:creationId xmlns:a16="http://schemas.microsoft.com/office/drawing/2014/main" id="{5251AB6D-E335-4F71-A858-CCD518C376A6}"/>
                </a:ext>
              </a:extLst>
            </p:cNvPr>
            <p:cNvSpPr>
              <a:spLocks noChangeShapeType="1"/>
            </p:cNvSpPr>
            <p:nvPr/>
          </p:nvSpPr>
          <p:spPr bwMode="auto">
            <a:xfrm>
              <a:off x="3662" y="2626"/>
              <a:ext cx="432" cy="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18" name="Text Box 26">
              <a:extLst>
                <a:ext uri="{FF2B5EF4-FFF2-40B4-BE49-F238E27FC236}">
                  <a16:creationId xmlns:a16="http://schemas.microsoft.com/office/drawing/2014/main" id="{24835AA9-9BE2-4AB3-8092-5C7A5B899736}"/>
                </a:ext>
              </a:extLst>
            </p:cNvPr>
            <p:cNvSpPr txBox="1">
              <a:spLocks noChangeArrowheads="1"/>
            </p:cNvSpPr>
            <p:nvPr/>
          </p:nvSpPr>
          <p:spPr bwMode="auto">
            <a:xfrm>
              <a:off x="3244" y="2482"/>
              <a:ext cx="404" cy="2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i="1"/>
                <a:t>k</a:t>
              </a:r>
            </a:p>
          </p:txBody>
        </p:sp>
        <p:sp>
          <p:nvSpPr>
            <p:cNvPr id="37919" name="Line 27">
              <a:extLst>
                <a:ext uri="{FF2B5EF4-FFF2-40B4-BE49-F238E27FC236}">
                  <a16:creationId xmlns:a16="http://schemas.microsoft.com/office/drawing/2014/main" id="{8B0940AB-1E7A-48D3-9D9B-EDFD25B4CC5E}"/>
                </a:ext>
              </a:extLst>
            </p:cNvPr>
            <p:cNvSpPr>
              <a:spLocks noChangeShapeType="1"/>
            </p:cNvSpPr>
            <p:nvPr/>
          </p:nvSpPr>
          <p:spPr bwMode="auto">
            <a:xfrm>
              <a:off x="3456" y="2112"/>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20" name="Line 28">
              <a:extLst>
                <a:ext uri="{FF2B5EF4-FFF2-40B4-BE49-F238E27FC236}">
                  <a16:creationId xmlns:a16="http://schemas.microsoft.com/office/drawing/2014/main" id="{F620288C-5217-4614-8CA6-ADECC367155E}"/>
                </a:ext>
              </a:extLst>
            </p:cNvPr>
            <p:cNvSpPr>
              <a:spLocks noChangeShapeType="1"/>
            </p:cNvSpPr>
            <p:nvPr/>
          </p:nvSpPr>
          <p:spPr bwMode="auto">
            <a:xfrm>
              <a:off x="3456" y="2784"/>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 name="Text Box 29">
              <a:extLst>
                <a:ext uri="{FF2B5EF4-FFF2-40B4-BE49-F238E27FC236}">
                  <a16:creationId xmlns:a16="http://schemas.microsoft.com/office/drawing/2014/main" id="{048AACF4-4BA8-41CE-ACBB-2A3BE4963A54}"/>
                </a:ext>
              </a:extLst>
            </p:cNvPr>
            <p:cNvSpPr txBox="1">
              <a:spLocks noChangeArrowheads="1"/>
            </p:cNvSpPr>
            <p:nvPr/>
          </p:nvSpPr>
          <p:spPr bwMode="auto">
            <a:xfrm>
              <a:off x="2832" y="2304"/>
              <a:ext cx="480"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i="1" baseline="-25000">
                  <a:latin typeface="+mn-lt"/>
                </a:rPr>
                <a:t>k</a:t>
              </a:r>
              <a:endParaRPr lang="en-US" altLang="zh-CN" i="1" dirty="0">
                <a:latin typeface="+mn-lt"/>
              </a:endParaRPr>
            </a:p>
          </p:txBody>
        </p:sp>
        <p:sp>
          <p:nvSpPr>
            <p:cNvPr id="55" name="Text Box 30">
              <a:extLst>
                <a:ext uri="{FF2B5EF4-FFF2-40B4-BE49-F238E27FC236}">
                  <a16:creationId xmlns:a16="http://schemas.microsoft.com/office/drawing/2014/main" id="{C298DF4A-F10A-4E1E-88AC-5B04BB35FDA5}"/>
                </a:ext>
              </a:extLst>
            </p:cNvPr>
            <p:cNvSpPr txBox="1">
              <a:spLocks noChangeArrowheads="1"/>
            </p:cNvSpPr>
            <p:nvPr/>
          </p:nvSpPr>
          <p:spPr bwMode="auto">
            <a:xfrm>
              <a:off x="3744" y="2304"/>
              <a:ext cx="480"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i="1" baseline="-25000">
                  <a:latin typeface="+mn-lt"/>
                </a:rPr>
                <a:t>k</a:t>
              </a:r>
              <a:r>
                <a:rPr lang="en-US" altLang="zh-CN" baseline="-25000" dirty="0">
                  <a:latin typeface="+mn-lt"/>
                </a:rPr>
                <a:t>+1</a:t>
              </a:r>
              <a:endParaRPr lang="en-US" altLang="zh-CN" dirty="0">
                <a:latin typeface="+mn-lt"/>
              </a:endParaRPr>
            </a:p>
          </p:txBody>
        </p:sp>
        <p:sp>
          <p:nvSpPr>
            <p:cNvPr id="56" name="Text Box 31">
              <a:extLst>
                <a:ext uri="{FF2B5EF4-FFF2-40B4-BE49-F238E27FC236}">
                  <a16:creationId xmlns:a16="http://schemas.microsoft.com/office/drawing/2014/main" id="{AF454D7A-D89F-41EE-918C-C415CDF3D41D}"/>
                </a:ext>
              </a:extLst>
            </p:cNvPr>
            <p:cNvSpPr txBox="1">
              <a:spLocks noChangeArrowheads="1"/>
            </p:cNvSpPr>
            <p:nvPr/>
          </p:nvSpPr>
          <p:spPr bwMode="auto">
            <a:xfrm>
              <a:off x="3117" y="3168"/>
              <a:ext cx="719"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err="1">
                  <a:latin typeface="+mn-lt"/>
                </a:rPr>
                <a:t>v</a:t>
              </a:r>
              <a:r>
                <a:rPr lang="en-US" altLang="zh-CN" i="1" baseline="-25000" err="1">
                  <a:latin typeface="+mn-lt"/>
                </a:rPr>
                <a:t>k</a:t>
              </a:r>
              <a:r>
                <a:rPr lang="en-US" altLang="zh-CN" baseline="-25000">
                  <a:latin typeface="+mn-lt"/>
                </a:rPr>
                <a:t> </a:t>
              </a:r>
              <a:r>
                <a:rPr lang="en-US" altLang="zh-CN">
                  <a:latin typeface="+mn-lt"/>
                </a:rPr>
                <a:t>(</a:t>
              </a:r>
              <a:r>
                <a:rPr lang="en-US" altLang="zh-CN" i="1">
                  <a:latin typeface="+mn-lt"/>
                </a:rPr>
                <a:t>s</a:t>
              </a:r>
              <a:r>
                <a:rPr lang="en-US" altLang="zh-CN" i="1" baseline="-25000">
                  <a:latin typeface="+mn-lt"/>
                </a:rPr>
                <a:t>k</a:t>
              </a:r>
              <a:r>
                <a:rPr lang="en-US" altLang="zh-CN" dirty="0">
                  <a:latin typeface="+mn-lt"/>
                </a:rPr>
                <a:t>,</a:t>
              </a:r>
              <a:r>
                <a:rPr lang="en-US" altLang="zh-CN" baseline="-25000" dirty="0">
                  <a:latin typeface="+mn-lt"/>
                </a:rPr>
                <a:t> </a:t>
              </a:r>
              <a:r>
                <a:rPr lang="en-US" altLang="zh-CN" i="1" dirty="0" err="1">
                  <a:latin typeface="+mn-lt"/>
                </a:rPr>
                <a:t>x</a:t>
              </a:r>
              <a:r>
                <a:rPr lang="en-US" altLang="zh-CN" i="1" baseline="-25000" dirty="0" err="1">
                  <a:latin typeface="+mn-lt"/>
                </a:rPr>
                <a:t>k</a:t>
              </a:r>
              <a:r>
                <a:rPr lang="en-US" altLang="zh-CN" dirty="0">
                  <a:latin typeface="+mn-lt"/>
                </a:rPr>
                <a:t>)</a:t>
              </a:r>
            </a:p>
          </p:txBody>
        </p:sp>
        <p:sp>
          <p:nvSpPr>
            <p:cNvPr id="57" name="Text Box 32">
              <a:extLst>
                <a:ext uri="{FF2B5EF4-FFF2-40B4-BE49-F238E27FC236}">
                  <a16:creationId xmlns:a16="http://schemas.microsoft.com/office/drawing/2014/main" id="{EB97FB1C-06AC-40F7-A93C-3D625AC5ABC4}"/>
                </a:ext>
              </a:extLst>
            </p:cNvPr>
            <p:cNvSpPr txBox="1">
              <a:spLocks noChangeArrowheads="1"/>
            </p:cNvSpPr>
            <p:nvPr/>
          </p:nvSpPr>
          <p:spPr bwMode="auto">
            <a:xfrm>
              <a:off x="3338" y="1824"/>
              <a:ext cx="258"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err="1">
                  <a:latin typeface="+mn-lt"/>
                </a:rPr>
                <a:t>x</a:t>
              </a:r>
              <a:r>
                <a:rPr lang="en-US" altLang="zh-CN" i="1" baseline="-25000" dirty="0" err="1">
                  <a:latin typeface="+mn-lt"/>
                </a:rPr>
                <a:t>k</a:t>
              </a:r>
              <a:endParaRPr lang="en-US" altLang="zh-CN" i="1" dirty="0">
                <a:latin typeface="+mn-lt"/>
              </a:endParaRPr>
            </a:p>
          </p:txBody>
        </p:sp>
        <p:sp>
          <p:nvSpPr>
            <p:cNvPr id="37925" name="Line 34">
              <a:extLst>
                <a:ext uri="{FF2B5EF4-FFF2-40B4-BE49-F238E27FC236}">
                  <a16:creationId xmlns:a16="http://schemas.microsoft.com/office/drawing/2014/main" id="{BF64A2A9-B08C-4BA8-9B04-659BB0AD4BE4}"/>
                </a:ext>
              </a:extLst>
            </p:cNvPr>
            <p:cNvSpPr>
              <a:spLocks noChangeShapeType="1"/>
            </p:cNvSpPr>
            <p:nvPr/>
          </p:nvSpPr>
          <p:spPr bwMode="auto">
            <a:xfrm>
              <a:off x="4354" y="2626"/>
              <a:ext cx="432" cy="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26" name="Line 35">
              <a:extLst>
                <a:ext uri="{FF2B5EF4-FFF2-40B4-BE49-F238E27FC236}">
                  <a16:creationId xmlns:a16="http://schemas.microsoft.com/office/drawing/2014/main" id="{C58DFD70-0683-4C5D-B440-9323481FD1D0}"/>
                </a:ext>
              </a:extLst>
            </p:cNvPr>
            <p:cNvSpPr>
              <a:spLocks noChangeShapeType="1"/>
            </p:cNvSpPr>
            <p:nvPr/>
          </p:nvSpPr>
          <p:spPr bwMode="auto">
            <a:xfrm>
              <a:off x="5198" y="2626"/>
              <a:ext cx="432" cy="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27" name="Text Box 36">
              <a:extLst>
                <a:ext uri="{FF2B5EF4-FFF2-40B4-BE49-F238E27FC236}">
                  <a16:creationId xmlns:a16="http://schemas.microsoft.com/office/drawing/2014/main" id="{F05BFF20-5376-484D-9803-45A837867BA6}"/>
                </a:ext>
              </a:extLst>
            </p:cNvPr>
            <p:cNvSpPr txBox="1">
              <a:spLocks noChangeArrowheads="1"/>
            </p:cNvSpPr>
            <p:nvPr/>
          </p:nvSpPr>
          <p:spPr bwMode="auto">
            <a:xfrm>
              <a:off x="4780" y="2482"/>
              <a:ext cx="404" cy="2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i="1"/>
                <a:t>n</a:t>
              </a:r>
            </a:p>
          </p:txBody>
        </p:sp>
        <p:sp>
          <p:nvSpPr>
            <p:cNvPr id="37928" name="Line 37">
              <a:extLst>
                <a:ext uri="{FF2B5EF4-FFF2-40B4-BE49-F238E27FC236}">
                  <a16:creationId xmlns:a16="http://schemas.microsoft.com/office/drawing/2014/main" id="{776E7395-BB33-4E1D-83C8-1B0806893422}"/>
                </a:ext>
              </a:extLst>
            </p:cNvPr>
            <p:cNvSpPr>
              <a:spLocks noChangeShapeType="1"/>
            </p:cNvSpPr>
            <p:nvPr/>
          </p:nvSpPr>
          <p:spPr bwMode="auto">
            <a:xfrm>
              <a:off x="4992" y="2112"/>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29" name="Line 38">
              <a:extLst>
                <a:ext uri="{FF2B5EF4-FFF2-40B4-BE49-F238E27FC236}">
                  <a16:creationId xmlns:a16="http://schemas.microsoft.com/office/drawing/2014/main" id="{90E72086-F49B-42B8-9399-606E68DF74F8}"/>
                </a:ext>
              </a:extLst>
            </p:cNvPr>
            <p:cNvSpPr>
              <a:spLocks noChangeShapeType="1"/>
            </p:cNvSpPr>
            <p:nvPr/>
          </p:nvSpPr>
          <p:spPr bwMode="auto">
            <a:xfrm>
              <a:off x="4992" y="2784"/>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 name="Text Box 39">
              <a:extLst>
                <a:ext uri="{FF2B5EF4-FFF2-40B4-BE49-F238E27FC236}">
                  <a16:creationId xmlns:a16="http://schemas.microsoft.com/office/drawing/2014/main" id="{93D6EE1C-F6FD-49B9-B157-59A414295803}"/>
                </a:ext>
              </a:extLst>
            </p:cNvPr>
            <p:cNvSpPr txBox="1">
              <a:spLocks noChangeArrowheads="1"/>
            </p:cNvSpPr>
            <p:nvPr/>
          </p:nvSpPr>
          <p:spPr bwMode="auto">
            <a:xfrm>
              <a:off x="4368" y="2304"/>
              <a:ext cx="480"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i="1" baseline="-25000">
                  <a:latin typeface="+mn-lt"/>
                </a:rPr>
                <a:t>n</a:t>
              </a:r>
              <a:endParaRPr lang="en-US" altLang="zh-CN" i="1" dirty="0">
                <a:latin typeface="+mn-lt"/>
              </a:endParaRPr>
            </a:p>
          </p:txBody>
        </p:sp>
        <p:sp>
          <p:nvSpPr>
            <p:cNvPr id="64" name="Text Box 40">
              <a:extLst>
                <a:ext uri="{FF2B5EF4-FFF2-40B4-BE49-F238E27FC236}">
                  <a16:creationId xmlns:a16="http://schemas.microsoft.com/office/drawing/2014/main" id="{50EB6D5E-A4D4-4BC2-85A7-36BFBA470867}"/>
                </a:ext>
              </a:extLst>
            </p:cNvPr>
            <p:cNvSpPr txBox="1">
              <a:spLocks noChangeArrowheads="1"/>
            </p:cNvSpPr>
            <p:nvPr/>
          </p:nvSpPr>
          <p:spPr bwMode="auto">
            <a:xfrm>
              <a:off x="5280" y="2304"/>
              <a:ext cx="480"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i="1" baseline="-25000">
                  <a:latin typeface="+mn-lt"/>
                </a:rPr>
                <a:t>n</a:t>
              </a:r>
              <a:r>
                <a:rPr lang="en-US" altLang="zh-CN" baseline="-25000" dirty="0">
                  <a:latin typeface="+mn-lt"/>
                </a:rPr>
                <a:t>+1</a:t>
              </a:r>
              <a:endParaRPr lang="en-US" altLang="zh-CN" dirty="0">
                <a:latin typeface="+mn-lt"/>
              </a:endParaRPr>
            </a:p>
          </p:txBody>
        </p:sp>
        <p:sp>
          <p:nvSpPr>
            <p:cNvPr id="37932" name="Text Box 43">
              <a:extLst>
                <a:ext uri="{FF2B5EF4-FFF2-40B4-BE49-F238E27FC236}">
                  <a16:creationId xmlns:a16="http://schemas.microsoft.com/office/drawing/2014/main" id="{F0A1CBFA-C1EF-47DD-913B-843D7BE2A396}"/>
                </a:ext>
              </a:extLst>
            </p:cNvPr>
            <p:cNvSpPr txBox="1">
              <a:spLocks noChangeArrowheads="1"/>
            </p:cNvSpPr>
            <p:nvPr/>
          </p:nvSpPr>
          <p:spPr bwMode="auto">
            <a:xfrm>
              <a:off x="2558" y="242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a:t>
              </a:r>
            </a:p>
          </p:txBody>
        </p:sp>
        <p:sp>
          <p:nvSpPr>
            <p:cNvPr id="37933" name="Text Box 44">
              <a:extLst>
                <a:ext uri="{FF2B5EF4-FFF2-40B4-BE49-F238E27FC236}">
                  <a16:creationId xmlns:a16="http://schemas.microsoft.com/office/drawing/2014/main" id="{CD49FCC2-6011-4A28-91EE-8A5719FCBF4D}"/>
                </a:ext>
              </a:extLst>
            </p:cNvPr>
            <p:cNvSpPr txBox="1">
              <a:spLocks noChangeArrowheads="1"/>
            </p:cNvSpPr>
            <p:nvPr/>
          </p:nvSpPr>
          <p:spPr bwMode="auto">
            <a:xfrm>
              <a:off x="4080" y="242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a:t>
              </a:r>
            </a:p>
          </p:txBody>
        </p:sp>
        <p:sp>
          <p:nvSpPr>
            <p:cNvPr id="67" name="Text Box 46">
              <a:extLst>
                <a:ext uri="{FF2B5EF4-FFF2-40B4-BE49-F238E27FC236}">
                  <a16:creationId xmlns:a16="http://schemas.microsoft.com/office/drawing/2014/main" id="{33F1C6F9-D7CE-4370-A1D5-43F7F8F23288}"/>
                </a:ext>
              </a:extLst>
            </p:cNvPr>
            <p:cNvSpPr txBox="1">
              <a:spLocks noChangeArrowheads="1"/>
            </p:cNvSpPr>
            <p:nvPr/>
          </p:nvSpPr>
          <p:spPr bwMode="auto">
            <a:xfrm>
              <a:off x="4656" y="3168"/>
              <a:ext cx="816"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err="1">
                  <a:latin typeface="+mn-lt"/>
                </a:rPr>
                <a:t>v</a:t>
              </a:r>
              <a:r>
                <a:rPr lang="en-US" altLang="zh-CN" i="1" baseline="-25000" err="1">
                  <a:latin typeface="+mn-lt"/>
                </a:rPr>
                <a:t>n</a:t>
              </a:r>
              <a:r>
                <a:rPr lang="en-US" altLang="zh-CN" baseline="-25000">
                  <a:latin typeface="+mn-lt"/>
                </a:rPr>
                <a:t> </a:t>
              </a:r>
              <a:r>
                <a:rPr lang="en-US" altLang="zh-CN">
                  <a:latin typeface="+mn-lt"/>
                </a:rPr>
                <a:t>(</a:t>
              </a:r>
              <a:r>
                <a:rPr lang="en-US" altLang="zh-CN" i="1">
                  <a:latin typeface="+mn-lt"/>
                </a:rPr>
                <a:t>s</a:t>
              </a:r>
              <a:r>
                <a:rPr lang="en-US" altLang="zh-CN" i="1" baseline="-25000">
                  <a:latin typeface="+mn-lt"/>
                </a:rPr>
                <a:t>n</a:t>
              </a:r>
              <a:r>
                <a:rPr lang="en-US" altLang="zh-CN" dirty="0" err="1">
                  <a:latin typeface="+mn-lt"/>
                </a:rPr>
                <a:t>,</a:t>
              </a:r>
              <a:r>
                <a:rPr lang="en-US" altLang="zh-CN" i="1" dirty="0" err="1">
                  <a:latin typeface="+mn-lt"/>
                </a:rPr>
                <a:t>x</a:t>
              </a:r>
              <a:r>
                <a:rPr lang="en-US" altLang="zh-CN" i="1" baseline="-25000" dirty="0" err="1">
                  <a:latin typeface="+mn-lt"/>
                </a:rPr>
                <a:t>n</a:t>
              </a:r>
              <a:r>
                <a:rPr lang="en-US" altLang="zh-CN" dirty="0">
                  <a:latin typeface="+mn-lt"/>
                </a:rPr>
                <a:t>)</a:t>
              </a:r>
            </a:p>
          </p:txBody>
        </p:sp>
        <p:sp>
          <p:nvSpPr>
            <p:cNvPr id="68" name="Text Box 47">
              <a:extLst>
                <a:ext uri="{FF2B5EF4-FFF2-40B4-BE49-F238E27FC236}">
                  <a16:creationId xmlns:a16="http://schemas.microsoft.com/office/drawing/2014/main" id="{23FBC09B-EF38-49E1-A079-00C3A20DC2D6}"/>
                </a:ext>
              </a:extLst>
            </p:cNvPr>
            <p:cNvSpPr txBox="1">
              <a:spLocks noChangeArrowheads="1"/>
            </p:cNvSpPr>
            <p:nvPr/>
          </p:nvSpPr>
          <p:spPr bwMode="auto">
            <a:xfrm>
              <a:off x="4843" y="1824"/>
              <a:ext cx="264"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err="1">
                  <a:latin typeface="+mn-lt"/>
                </a:rPr>
                <a:t>x</a:t>
              </a:r>
              <a:r>
                <a:rPr lang="en-US" altLang="zh-CN" i="1" baseline="-25000" dirty="0" err="1">
                  <a:latin typeface="+mn-lt"/>
                </a:rPr>
                <a:t>n</a:t>
              </a:r>
              <a:endParaRPr lang="en-US" altLang="zh-CN" i="1" dirty="0">
                <a:latin typeface="+mn-lt"/>
              </a:endParaRPr>
            </a:p>
          </p:txBody>
        </p:sp>
      </p:grpSp>
      <p:grpSp>
        <p:nvGrpSpPr>
          <p:cNvPr id="37892" name="组合 70">
            <a:extLst>
              <a:ext uri="{FF2B5EF4-FFF2-40B4-BE49-F238E27FC236}">
                <a16:creationId xmlns:a16="http://schemas.microsoft.com/office/drawing/2014/main" id="{2C6D55D9-F634-4C3F-9E92-59E2AC10FA4B}"/>
              </a:ext>
            </a:extLst>
          </p:cNvPr>
          <p:cNvGrpSpPr>
            <a:grpSpLocks/>
          </p:cNvGrpSpPr>
          <p:nvPr/>
        </p:nvGrpSpPr>
        <p:grpSpPr bwMode="auto">
          <a:xfrm>
            <a:off x="1619250" y="1412875"/>
            <a:ext cx="1368425" cy="1511300"/>
            <a:chOff x="1619672" y="1412776"/>
            <a:chExt cx="1368152" cy="1512168"/>
          </a:xfrm>
        </p:grpSpPr>
        <p:sp>
          <p:nvSpPr>
            <p:cNvPr id="37897" name="AutoShape 13">
              <a:extLst>
                <a:ext uri="{FF2B5EF4-FFF2-40B4-BE49-F238E27FC236}">
                  <a16:creationId xmlns:a16="http://schemas.microsoft.com/office/drawing/2014/main" id="{7E25C91E-D02B-4D1B-976F-A1C949C06111}"/>
                </a:ext>
              </a:extLst>
            </p:cNvPr>
            <p:cNvSpPr>
              <a:spLocks noChangeArrowheads="1"/>
            </p:cNvSpPr>
            <p:nvPr/>
          </p:nvSpPr>
          <p:spPr bwMode="auto">
            <a:xfrm rot="10800000">
              <a:off x="2051720" y="1844824"/>
              <a:ext cx="288032" cy="1080120"/>
            </a:xfrm>
            <a:prstGeom prst="downArrow">
              <a:avLst>
                <a:gd name="adj1" fmla="val 50000"/>
                <a:gd name="adj2" fmla="val 62500"/>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 name="Text Box 21">
              <a:extLst>
                <a:ext uri="{FF2B5EF4-FFF2-40B4-BE49-F238E27FC236}">
                  <a16:creationId xmlns:a16="http://schemas.microsoft.com/office/drawing/2014/main" id="{05E3B77B-EFE1-42B5-8400-A8A87CA483F4}"/>
                </a:ext>
              </a:extLst>
            </p:cNvPr>
            <p:cNvSpPr txBox="1">
              <a:spLocks noChangeArrowheads="1"/>
            </p:cNvSpPr>
            <p:nvPr/>
          </p:nvSpPr>
          <p:spPr bwMode="auto">
            <a:xfrm>
              <a:off x="1619672" y="1412776"/>
              <a:ext cx="1368152" cy="370100"/>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a:solidFill>
                    <a:srgbClr val="FF0000"/>
                  </a:solidFill>
                  <a:latin typeface="+mn-lt"/>
                </a:rPr>
                <a:t>s</a:t>
              </a:r>
              <a:r>
                <a:rPr lang="en-US" altLang="zh-CN" baseline="-25000" dirty="0">
                  <a:solidFill>
                    <a:srgbClr val="FF0000"/>
                  </a:solidFill>
                  <a:latin typeface="+mn-lt"/>
                </a:rPr>
                <a:t>2</a:t>
              </a:r>
              <a:r>
                <a:rPr lang="en-US" altLang="zh-CN" dirty="0">
                  <a:solidFill>
                    <a:srgbClr val="FF0000"/>
                  </a:solidFill>
                  <a:latin typeface="+mn-lt"/>
                </a:rPr>
                <a:t>=</a:t>
              </a:r>
              <a:r>
                <a:rPr lang="en-US" altLang="zh-CN" i="1" dirty="0">
                  <a:solidFill>
                    <a:srgbClr val="FF0000"/>
                  </a:solidFill>
                  <a:latin typeface="+mn-lt"/>
                </a:rPr>
                <a:t>T</a:t>
              </a:r>
              <a:r>
                <a:rPr lang="en-US" altLang="zh-CN" baseline="-25000" dirty="0">
                  <a:solidFill>
                    <a:srgbClr val="FF0000"/>
                  </a:solidFill>
                  <a:latin typeface="+mn-lt"/>
                </a:rPr>
                <a:t>1 </a:t>
              </a:r>
              <a:r>
                <a:rPr lang="en-US" altLang="zh-CN" dirty="0">
                  <a:solidFill>
                    <a:srgbClr val="FF0000"/>
                  </a:solidFill>
                  <a:latin typeface="+mn-lt"/>
                </a:rPr>
                <a:t>(</a:t>
              </a:r>
              <a:r>
                <a:rPr lang="en-US" altLang="zh-CN" i="1" dirty="0">
                  <a:solidFill>
                    <a:srgbClr val="FF0000"/>
                  </a:solidFill>
                  <a:latin typeface="+mn-lt"/>
                </a:rPr>
                <a:t>s</a:t>
              </a:r>
              <a:r>
                <a:rPr lang="en-US" altLang="zh-CN" baseline="-25000" dirty="0">
                  <a:solidFill>
                    <a:srgbClr val="FF0000"/>
                  </a:solidFill>
                  <a:latin typeface="+mn-lt"/>
                </a:rPr>
                <a:t>1</a:t>
              </a:r>
              <a:r>
                <a:rPr lang="en-US" altLang="zh-CN" dirty="0">
                  <a:solidFill>
                    <a:srgbClr val="FF0000"/>
                  </a:solidFill>
                  <a:latin typeface="+mn-lt"/>
                </a:rPr>
                <a:t>,</a:t>
              </a:r>
              <a:r>
                <a:rPr lang="en-US" altLang="zh-CN" baseline="-25000" dirty="0">
                  <a:solidFill>
                    <a:srgbClr val="FF0000"/>
                  </a:solidFill>
                  <a:latin typeface="+mn-lt"/>
                </a:rPr>
                <a:t> </a:t>
              </a:r>
              <a:r>
                <a:rPr lang="en-US" altLang="zh-CN" i="1" dirty="0">
                  <a:solidFill>
                    <a:srgbClr val="FF0000"/>
                  </a:solidFill>
                  <a:latin typeface="+mn-lt"/>
                </a:rPr>
                <a:t>x</a:t>
              </a:r>
              <a:r>
                <a:rPr lang="en-US" altLang="zh-CN" baseline="-25000" dirty="0">
                  <a:solidFill>
                    <a:srgbClr val="FF0000"/>
                  </a:solidFill>
                  <a:latin typeface="+mn-lt"/>
                </a:rPr>
                <a:t>1</a:t>
              </a:r>
              <a:r>
                <a:rPr lang="en-US" altLang="zh-CN" dirty="0">
                  <a:solidFill>
                    <a:srgbClr val="FF0000"/>
                  </a:solidFill>
                  <a:latin typeface="+mn-lt"/>
                </a:rPr>
                <a:t>)</a:t>
              </a:r>
            </a:p>
          </p:txBody>
        </p:sp>
      </p:grpSp>
      <p:grpSp>
        <p:nvGrpSpPr>
          <p:cNvPr id="37893" name="组合 71">
            <a:extLst>
              <a:ext uri="{FF2B5EF4-FFF2-40B4-BE49-F238E27FC236}">
                <a16:creationId xmlns:a16="http://schemas.microsoft.com/office/drawing/2014/main" id="{298F6912-52BE-45E1-B63B-C5F3029F7190}"/>
              </a:ext>
            </a:extLst>
          </p:cNvPr>
          <p:cNvGrpSpPr>
            <a:grpSpLocks/>
          </p:cNvGrpSpPr>
          <p:nvPr/>
        </p:nvGrpSpPr>
        <p:grpSpPr bwMode="auto">
          <a:xfrm>
            <a:off x="5292725" y="1412875"/>
            <a:ext cx="1439863" cy="1511300"/>
            <a:chOff x="1547664" y="1412776"/>
            <a:chExt cx="1440160" cy="1512168"/>
          </a:xfrm>
        </p:grpSpPr>
        <p:sp>
          <p:nvSpPr>
            <p:cNvPr id="37895" name="AutoShape 13">
              <a:extLst>
                <a:ext uri="{FF2B5EF4-FFF2-40B4-BE49-F238E27FC236}">
                  <a16:creationId xmlns:a16="http://schemas.microsoft.com/office/drawing/2014/main" id="{E0E08A16-7776-4343-A39E-DD886FBC84F9}"/>
                </a:ext>
              </a:extLst>
            </p:cNvPr>
            <p:cNvSpPr>
              <a:spLocks noChangeArrowheads="1"/>
            </p:cNvSpPr>
            <p:nvPr/>
          </p:nvSpPr>
          <p:spPr bwMode="auto">
            <a:xfrm rot="10800000">
              <a:off x="2051720" y="1844824"/>
              <a:ext cx="288032" cy="1080120"/>
            </a:xfrm>
            <a:prstGeom prst="downArrow">
              <a:avLst>
                <a:gd name="adj1" fmla="val 50000"/>
                <a:gd name="adj2" fmla="val 62500"/>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4" name="Text Box 21">
              <a:extLst>
                <a:ext uri="{FF2B5EF4-FFF2-40B4-BE49-F238E27FC236}">
                  <a16:creationId xmlns:a16="http://schemas.microsoft.com/office/drawing/2014/main" id="{FAAF1E3A-1BC3-4560-AA2C-5E36A73B3A47}"/>
                </a:ext>
              </a:extLst>
            </p:cNvPr>
            <p:cNvSpPr txBox="1">
              <a:spLocks noChangeArrowheads="1"/>
            </p:cNvSpPr>
            <p:nvPr/>
          </p:nvSpPr>
          <p:spPr bwMode="auto">
            <a:xfrm>
              <a:off x="1547664" y="1412776"/>
              <a:ext cx="1440160" cy="370100"/>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solidFill>
                    <a:srgbClr val="FF0000"/>
                  </a:solidFill>
                  <a:latin typeface="+mn-lt"/>
                </a:rPr>
                <a:t>s</a:t>
              </a:r>
              <a:r>
                <a:rPr lang="en-US" altLang="zh-CN" i="1" baseline="-25000">
                  <a:solidFill>
                    <a:srgbClr val="FF0000"/>
                  </a:solidFill>
                  <a:latin typeface="+mn-lt"/>
                </a:rPr>
                <a:t>k</a:t>
              </a:r>
              <a:r>
                <a:rPr lang="en-US" altLang="zh-CN" baseline="-25000" dirty="0">
                  <a:solidFill>
                    <a:srgbClr val="FF0000"/>
                  </a:solidFill>
                  <a:latin typeface="+mn-lt"/>
                </a:rPr>
                <a:t>+1</a:t>
              </a:r>
              <a:r>
                <a:rPr lang="en-US" altLang="zh-CN" dirty="0">
                  <a:solidFill>
                    <a:srgbClr val="FF0000"/>
                  </a:solidFill>
                  <a:latin typeface="+mn-lt"/>
                </a:rPr>
                <a:t>=</a:t>
              </a:r>
              <a:r>
                <a:rPr lang="en-US" altLang="zh-CN" i="1" err="1">
                  <a:solidFill>
                    <a:srgbClr val="FF0000"/>
                  </a:solidFill>
                  <a:latin typeface="+mn-lt"/>
                </a:rPr>
                <a:t>T</a:t>
              </a:r>
              <a:r>
                <a:rPr lang="en-US" altLang="zh-CN" i="1" baseline="-25000" err="1">
                  <a:solidFill>
                    <a:srgbClr val="FF0000"/>
                  </a:solidFill>
                  <a:latin typeface="+mn-lt"/>
                </a:rPr>
                <a:t>k</a:t>
              </a:r>
              <a:r>
                <a:rPr lang="en-US" altLang="zh-CN" baseline="-25000">
                  <a:solidFill>
                    <a:srgbClr val="FF0000"/>
                  </a:solidFill>
                  <a:latin typeface="+mn-lt"/>
                </a:rPr>
                <a:t> </a:t>
              </a:r>
              <a:r>
                <a:rPr lang="en-US" altLang="zh-CN">
                  <a:solidFill>
                    <a:srgbClr val="FF0000"/>
                  </a:solidFill>
                  <a:latin typeface="+mn-lt"/>
                </a:rPr>
                <a:t>(</a:t>
              </a:r>
              <a:r>
                <a:rPr lang="en-US" altLang="zh-CN" i="1">
                  <a:solidFill>
                    <a:srgbClr val="FF0000"/>
                  </a:solidFill>
                  <a:latin typeface="+mn-lt"/>
                </a:rPr>
                <a:t>s</a:t>
              </a:r>
              <a:r>
                <a:rPr lang="en-US" altLang="zh-CN" i="1" baseline="-25000">
                  <a:solidFill>
                    <a:srgbClr val="FF0000"/>
                  </a:solidFill>
                  <a:latin typeface="+mn-lt"/>
                </a:rPr>
                <a:t>k</a:t>
              </a:r>
              <a:r>
                <a:rPr lang="en-US" altLang="zh-CN" dirty="0">
                  <a:solidFill>
                    <a:srgbClr val="FF0000"/>
                  </a:solidFill>
                  <a:latin typeface="+mn-lt"/>
                </a:rPr>
                <a:t>,</a:t>
              </a:r>
              <a:r>
                <a:rPr lang="en-US" altLang="zh-CN" baseline="-25000" dirty="0">
                  <a:solidFill>
                    <a:srgbClr val="FF0000"/>
                  </a:solidFill>
                  <a:latin typeface="+mn-lt"/>
                </a:rPr>
                <a:t> </a:t>
              </a:r>
              <a:r>
                <a:rPr lang="en-US" altLang="zh-CN" i="1" dirty="0" err="1">
                  <a:solidFill>
                    <a:srgbClr val="FF0000"/>
                  </a:solidFill>
                  <a:latin typeface="+mn-lt"/>
                </a:rPr>
                <a:t>x</a:t>
              </a:r>
              <a:r>
                <a:rPr lang="en-US" altLang="zh-CN" i="1" baseline="-25000" dirty="0" err="1">
                  <a:solidFill>
                    <a:srgbClr val="FF0000"/>
                  </a:solidFill>
                  <a:latin typeface="+mn-lt"/>
                </a:rPr>
                <a:t>k</a:t>
              </a:r>
              <a:r>
                <a:rPr lang="en-US" altLang="zh-CN" dirty="0">
                  <a:solidFill>
                    <a:srgbClr val="FF0000"/>
                  </a:solidFill>
                  <a:latin typeface="+mn-lt"/>
                </a:rPr>
                <a:t>)</a:t>
              </a:r>
            </a:p>
          </p:txBody>
        </p:sp>
      </p:grpSp>
      <p:sp>
        <p:nvSpPr>
          <p:cNvPr id="75" name="Text Box 11">
            <a:extLst>
              <a:ext uri="{FF2B5EF4-FFF2-40B4-BE49-F238E27FC236}">
                <a16:creationId xmlns:a16="http://schemas.microsoft.com/office/drawing/2014/main" id="{2533E607-3467-44DD-B244-FA8D8CEAA7FD}"/>
              </a:ext>
            </a:extLst>
          </p:cNvPr>
          <p:cNvSpPr txBox="1">
            <a:spLocks noChangeArrowheads="1"/>
          </p:cNvSpPr>
          <p:nvPr/>
        </p:nvSpPr>
        <p:spPr bwMode="auto">
          <a:xfrm>
            <a:off x="1331913" y="5157788"/>
            <a:ext cx="5688012" cy="368300"/>
          </a:xfrm>
          <a:prstGeom prst="rect">
            <a:avLst/>
          </a:prstGeom>
          <a:noFill/>
          <a:ln w="9525">
            <a:noFill/>
            <a:miter lim="800000"/>
            <a:headEnd/>
            <a:tailEnd/>
          </a:ln>
          <a:effectLst/>
        </p:spPr>
        <p:txBody>
          <a:bodyPr>
            <a:spAutoFit/>
          </a:bodyPr>
          <a:lstStyle/>
          <a:p>
            <a:pPr eaLnBrk="1" hangingPunct="1">
              <a:spcBef>
                <a:spcPct val="50000"/>
              </a:spcBef>
              <a:defRPr/>
            </a:pPr>
            <a:r>
              <a:rPr lang="zh-CN" altLang="en-US" b="1" dirty="0">
                <a:solidFill>
                  <a:srgbClr val="FF00FF"/>
                </a:solidFill>
                <a:latin typeface="Arial" charset="0"/>
              </a:rPr>
              <a:t>总效益</a:t>
            </a:r>
            <a:r>
              <a:rPr lang="en-US" altLang="zh-CN" b="1" dirty="0">
                <a:solidFill>
                  <a:srgbClr val="FF00FF"/>
                </a:solidFill>
                <a:latin typeface="Arial" charset="0"/>
              </a:rPr>
              <a:t>(</a:t>
            </a:r>
            <a:r>
              <a:rPr lang="zh-CN" altLang="en-US" b="1" dirty="0">
                <a:solidFill>
                  <a:srgbClr val="FF00FF"/>
                </a:solidFill>
                <a:latin typeface="Arial" charset="0"/>
              </a:rPr>
              <a:t>指标函数</a:t>
            </a:r>
            <a:r>
              <a:rPr lang="en-US" altLang="zh-CN" b="1" dirty="0">
                <a:solidFill>
                  <a:srgbClr val="FF00FF"/>
                </a:solidFill>
                <a:latin typeface="Arial" charset="0"/>
              </a:rPr>
              <a:t>)</a:t>
            </a:r>
            <a:r>
              <a:rPr lang="en-US" altLang="zh-CN" b="1" i="1" dirty="0">
                <a:solidFill>
                  <a:srgbClr val="FF00FF"/>
                </a:solidFill>
                <a:latin typeface="+mn-lt"/>
              </a:rPr>
              <a:t>V</a:t>
            </a:r>
            <a:r>
              <a:rPr lang="en-US" altLang="zh-CN" b="1" baseline="-25000" dirty="0">
                <a:solidFill>
                  <a:srgbClr val="FF00FF"/>
                </a:solidFill>
                <a:latin typeface="+mn-lt"/>
              </a:rPr>
              <a:t>1,</a:t>
            </a:r>
            <a:r>
              <a:rPr lang="en-US" altLang="zh-CN" b="1" i="1" baseline="-25000" dirty="0">
                <a:solidFill>
                  <a:srgbClr val="FF00FF"/>
                </a:solidFill>
                <a:latin typeface="+mn-lt"/>
              </a:rPr>
              <a:t>n</a:t>
            </a:r>
            <a:r>
              <a:rPr lang="en-US" altLang="zh-CN" b="1" dirty="0">
                <a:solidFill>
                  <a:srgbClr val="FF00FF"/>
                </a:solidFill>
                <a:latin typeface="+mn-lt"/>
              </a:rPr>
              <a:t>= </a:t>
            </a:r>
            <a:r>
              <a:rPr lang="en-US" altLang="zh-CN" b="1" i="1" dirty="0">
                <a:solidFill>
                  <a:srgbClr val="FF00FF"/>
                </a:solidFill>
                <a:latin typeface="+mn-lt"/>
              </a:rPr>
              <a:t>v</a:t>
            </a:r>
            <a:r>
              <a:rPr lang="en-US" altLang="zh-CN" b="1" baseline="-25000" dirty="0">
                <a:solidFill>
                  <a:srgbClr val="FF00FF"/>
                </a:solidFill>
                <a:latin typeface="+mn-lt"/>
              </a:rPr>
              <a:t>1 </a:t>
            </a:r>
            <a:r>
              <a:rPr lang="en-US" altLang="zh-CN" b="1" dirty="0">
                <a:solidFill>
                  <a:srgbClr val="FF00FF"/>
                </a:solidFill>
                <a:latin typeface="+mn-lt"/>
              </a:rPr>
              <a:t>(</a:t>
            </a:r>
            <a:r>
              <a:rPr lang="en-US" altLang="zh-CN" b="1" i="1" dirty="0">
                <a:solidFill>
                  <a:srgbClr val="FF00FF"/>
                </a:solidFill>
                <a:latin typeface="+mn-lt"/>
              </a:rPr>
              <a:t>s</a:t>
            </a:r>
            <a:r>
              <a:rPr lang="en-US" altLang="zh-CN" b="1" baseline="-25000" dirty="0">
                <a:solidFill>
                  <a:srgbClr val="FF00FF"/>
                </a:solidFill>
                <a:latin typeface="+mn-lt"/>
              </a:rPr>
              <a:t>1</a:t>
            </a:r>
            <a:r>
              <a:rPr lang="en-US" altLang="zh-CN" b="1" dirty="0">
                <a:solidFill>
                  <a:srgbClr val="FF00FF"/>
                </a:solidFill>
                <a:latin typeface="+mn-lt"/>
              </a:rPr>
              <a:t>,</a:t>
            </a:r>
            <a:r>
              <a:rPr lang="en-US" altLang="zh-CN" b="1" baseline="-25000" dirty="0">
                <a:solidFill>
                  <a:srgbClr val="FF00FF"/>
                </a:solidFill>
                <a:latin typeface="+mn-lt"/>
              </a:rPr>
              <a:t> </a:t>
            </a:r>
            <a:r>
              <a:rPr lang="en-US" altLang="zh-CN" b="1" i="1" dirty="0">
                <a:solidFill>
                  <a:srgbClr val="FF00FF"/>
                </a:solidFill>
                <a:latin typeface="+mn-lt"/>
              </a:rPr>
              <a:t>x</a:t>
            </a:r>
            <a:r>
              <a:rPr lang="en-US" altLang="zh-CN" b="1" baseline="-25000" dirty="0">
                <a:solidFill>
                  <a:srgbClr val="FF00FF"/>
                </a:solidFill>
                <a:latin typeface="+mn-lt"/>
              </a:rPr>
              <a:t>1</a:t>
            </a:r>
            <a:r>
              <a:rPr lang="en-US" altLang="zh-CN" b="1" dirty="0">
                <a:solidFill>
                  <a:srgbClr val="FF00FF"/>
                </a:solidFill>
                <a:latin typeface="+mn-lt"/>
              </a:rPr>
              <a:t>)*</a:t>
            </a:r>
            <a:r>
              <a:rPr lang="en-US" altLang="zh-CN" b="1" i="1" dirty="0">
                <a:solidFill>
                  <a:srgbClr val="FF00FF"/>
                </a:solidFill>
                <a:latin typeface="+mn-lt"/>
              </a:rPr>
              <a:t>v</a:t>
            </a:r>
            <a:r>
              <a:rPr lang="en-US" altLang="zh-CN" b="1" baseline="-25000" dirty="0">
                <a:solidFill>
                  <a:srgbClr val="FF00FF"/>
                </a:solidFill>
                <a:latin typeface="+mn-lt"/>
              </a:rPr>
              <a:t>2 </a:t>
            </a:r>
            <a:r>
              <a:rPr lang="en-US" altLang="zh-CN" b="1" dirty="0">
                <a:solidFill>
                  <a:srgbClr val="FF00FF"/>
                </a:solidFill>
                <a:latin typeface="+mn-lt"/>
              </a:rPr>
              <a:t>(</a:t>
            </a:r>
            <a:r>
              <a:rPr lang="en-US" altLang="zh-CN" b="1" i="1" dirty="0">
                <a:solidFill>
                  <a:srgbClr val="FF00FF"/>
                </a:solidFill>
                <a:latin typeface="+mn-lt"/>
              </a:rPr>
              <a:t>s</a:t>
            </a:r>
            <a:r>
              <a:rPr lang="en-US" altLang="zh-CN" b="1" baseline="-25000" dirty="0">
                <a:solidFill>
                  <a:srgbClr val="FF00FF"/>
                </a:solidFill>
                <a:latin typeface="+mn-lt"/>
              </a:rPr>
              <a:t>2</a:t>
            </a:r>
            <a:r>
              <a:rPr lang="en-US" altLang="zh-CN" b="1" dirty="0">
                <a:solidFill>
                  <a:srgbClr val="FF00FF"/>
                </a:solidFill>
                <a:latin typeface="+mn-lt"/>
              </a:rPr>
              <a:t>,</a:t>
            </a:r>
            <a:r>
              <a:rPr lang="en-US" altLang="zh-CN" b="1" baseline="-25000" dirty="0">
                <a:solidFill>
                  <a:srgbClr val="FF00FF"/>
                </a:solidFill>
                <a:latin typeface="+mn-lt"/>
              </a:rPr>
              <a:t> </a:t>
            </a:r>
            <a:r>
              <a:rPr lang="en-US" altLang="zh-CN" b="1" i="1" dirty="0">
                <a:solidFill>
                  <a:srgbClr val="FF00FF"/>
                </a:solidFill>
                <a:latin typeface="+mn-lt"/>
              </a:rPr>
              <a:t>x</a:t>
            </a:r>
            <a:r>
              <a:rPr lang="en-US" altLang="zh-CN" b="1" baseline="-25000" dirty="0">
                <a:solidFill>
                  <a:srgbClr val="FF00FF"/>
                </a:solidFill>
                <a:latin typeface="+mn-lt"/>
              </a:rPr>
              <a:t>2</a:t>
            </a:r>
            <a:r>
              <a:rPr lang="en-US" altLang="zh-CN" b="1" dirty="0">
                <a:solidFill>
                  <a:srgbClr val="FF00FF"/>
                </a:solidFill>
                <a:latin typeface="+mn-lt"/>
              </a:rPr>
              <a:t>)*…*</a:t>
            </a:r>
            <a:r>
              <a:rPr lang="en-US" altLang="zh-CN" b="1" i="1" dirty="0" err="1">
                <a:solidFill>
                  <a:srgbClr val="FF00FF"/>
                </a:solidFill>
                <a:latin typeface="+mn-lt"/>
              </a:rPr>
              <a:t>v</a:t>
            </a:r>
            <a:r>
              <a:rPr lang="en-US" altLang="zh-CN" b="1" i="1" baseline="-25000" dirty="0" err="1">
                <a:solidFill>
                  <a:srgbClr val="FF00FF"/>
                </a:solidFill>
                <a:latin typeface="+mn-lt"/>
              </a:rPr>
              <a:t>n</a:t>
            </a:r>
            <a:r>
              <a:rPr lang="en-US" altLang="zh-CN" b="1" baseline="-25000" dirty="0">
                <a:solidFill>
                  <a:srgbClr val="FF00FF"/>
                </a:solidFill>
                <a:latin typeface="+mn-lt"/>
              </a:rPr>
              <a:t> </a:t>
            </a:r>
            <a:r>
              <a:rPr lang="en-US" altLang="zh-CN" b="1" dirty="0">
                <a:solidFill>
                  <a:srgbClr val="FF00FF"/>
                </a:solidFill>
                <a:latin typeface="+mn-lt"/>
              </a:rPr>
              <a:t>(</a:t>
            </a:r>
            <a:r>
              <a:rPr lang="en-US" altLang="zh-CN" b="1" i="1" dirty="0" err="1">
                <a:solidFill>
                  <a:srgbClr val="FF00FF"/>
                </a:solidFill>
                <a:latin typeface="+mn-lt"/>
              </a:rPr>
              <a:t>s</a:t>
            </a:r>
            <a:r>
              <a:rPr lang="en-US" altLang="zh-CN" b="1" i="1" baseline="-25000" dirty="0" err="1">
                <a:solidFill>
                  <a:srgbClr val="FF00FF"/>
                </a:solidFill>
                <a:latin typeface="+mn-lt"/>
              </a:rPr>
              <a:t>n</a:t>
            </a:r>
            <a:r>
              <a:rPr lang="en-US" altLang="zh-CN" b="1" dirty="0">
                <a:solidFill>
                  <a:srgbClr val="FF00FF"/>
                </a:solidFill>
                <a:latin typeface="+mn-lt"/>
              </a:rPr>
              <a:t>,</a:t>
            </a:r>
            <a:r>
              <a:rPr lang="en-US" altLang="zh-CN" b="1" baseline="-25000" dirty="0">
                <a:solidFill>
                  <a:srgbClr val="FF00FF"/>
                </a:solidFill>
                <a:latin typeface="+mn-lt"/>
              </a:rPr>
              <a:t> </a:t>
            </a:r>
            <a:r>
              <a:rPr lang="en-US" altLang="zh-CN" b="1" i="1" dirty="0" err="1">
                <a:solidFill>
                  <a:srgbClr val="FF00FF"/>
                </a:solidFill>
                <a:latin typeface="+mn-lt"/>
              </a:rPr>
              <a:t>x</a:t>
            </a:r>
            <a:r>
              <a:rPr lang="en-US" altLang="zh-CN" b="1" i="1" baseline="-25000" dirty="0" err="1">
                <a:solidFill>
                  <a:srgbClr val="FF00FF"/>
                </a:solidFill>
                <a:latin typeface="+mn-lt"/>
              </a:rPr>
              <a:t>n</a:t>
            </a:r>
            <a:r>
              <a:rPr lang="en-US" altLang="zh-CN" b="1" dirty="0">
                <a:solidFill>
                  <a:srgbClr val="FF00FF"/>
                </a:solidFill>
                <a:latin typeface="+mn-lt"/>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477A8F4-3F8F-4B58-A547-DB67361D3AC2}"/>
              </a:ext>
            </a:extLst>
          </p:cNvPr>
          <p:cNvSpPr>
            <a:spLocks noGrp="1" noChangeArrowheads="1"/>
          </p:cNvSpPr>
          <p:nvPr>
            <p:ph type="title"/>
          </p:nvPr>
        </p:nvSpPr>
        <p:spPr/>
        <p:txBody>
          <a:bodyPr/>
          <a:lstStyle/>
          <a:p>
            <a:pPr eaLnBrk="1" hangingPunct="1"/>
            <a:r>
              <a:rPr lang="zh-CN" altLang="en-US"/>
              <a:t>逆推解法</a:t>
            </a:r>
          </a:p>
        </p:txBody>
      </p:sp>
      <p:sp>
        <p:nvSpPr>
          <p:cNvPr id="50179" name="Rectangle 3">
            <a:extLst>
              <a:ext uri="{FF2B5EF4-FFF2-40B4-BE49-F238E27FC236}">
                <a16:creationId xmlns:a16="http://schemas.microsoft.com/office/drawing/2014/main" id="{000B539F-381E-4FF3-A048-F5515E7FF7A3}"/>
              </a:ext>
            </a:extLst>
          </p:cNvPr>
          <p:cNvSpPr>
            <a:spLocks noGrp="1" noChangeArrowheads="1"/>
          </p:cNvSpPr>
          <p:nvPr>
            <p:ph type="body" sz="half" idx="1"/>
          </p:nvPr>
        </p:nvSpPr>
        <p:spPr>
          <a:xfrm>
            <a:off x="250825" y="1358900"/>
            <a:ext cx="4038600" cy="4987925"/>
          </a:xfrm>
        </p:spPr>
        <p:txBody>
          <a:bodyPr/>
          <a:lstStyle/>
          <a:p>
            <a:pPr eaLnBrk="1" hangingPunct="1"/>
            <a:r>
              <a:rPr lang="en-US" altLang="zh-CN" sz="2800" i="1"/>
              <a:t>n</a:t>
            </a:r>
            <a:r>
              <a:rPr lang="en-US" altLang="zh-CN" sz="2800"/>
              <a:t> </a:t>
            </a:r>
            <a:r>
              <a:rPr lang="zh-CN" altLang="en-US" sz="2800"/>
              <a:t>阶段：</a:t>
            </a:r>
          </a:p>
          <a:p>
            <a:pPr eaLnBrk="1" hangingPunct="1"/>
            <a:r>
              <a:rPr lang="en-US" altLang="zh-CN" sz="2800" i="1"/>
              <a:t>n</a:t>
            </a:r>
            <a:r>
              <a:rPr lang="en-US" altLang="zh-CN" sz="2800"/>
              <a:t>-1 </a:t>
            </a:r>
            <a:r>
              <a:rPr lang="zh-CN" altLang="en-US" sz="2800"/>
              <a:t>阶段：</a:t>
            </a:r>
          </a:p>
          <a:p>
            <a:pPr eaLnBrk="1" hangingPunct="1"/>
            <a:endParaRPr lang="zh-CN" altLang="en-US" sz="2800"/>
          </a:p>
          <a:p>
            <a:pPr eaLnBrk="1" hangingPunct="1"/>
            <a:endParaRPr lang="zh-CN" altLang="en-US" sz="2800"/>
          </a:p>
          <a:p>
            <a:pPr eaLnBrk="1" hangingPunct="1"/>
            <a:r>
              <a:rPr lang="en-US" altLang="zh-CN" sz="2800" i="1"/>
              <a:t>k</a:t>
            </a:r>
            <a:r>
              <a:rPr lang="en-US" altLang="zh-CN" sz="2800"/>
              <a:t> </a:t>
            </a:r>
            <a:r>
              <a:rPr lang="zh-CN" altLang="en-US" sz="2800"/>
              <a:t>阶段：</a:t>
            </a:r>
          </a:p>
          <a:p>
            <a:pPr eaLnBrk="1" hangingPunct="1"/>
            <a:endParaRPr lang="zh-CN" altLang="en-US" sz="2800"/>
          </a:p>
          <a:p>
            <a:pPr eaLnBrk="1" hangingPunct="1"/>
            <a:endParaRPr lang="zh-CN" altLang="en-US" sz="2800"/>
          </a:p>
          <a:p>
            <a:pPr eaLnBrk="1" hangingPunct="1"/>
            <a:r>
              <a:rPr lang="en-US" altLang="zh-CN" sz="2800"/>
              <a:t>…</a:t>
            </a:r>
          </a:p>
          <a:p>
            <a:pPr eaLnBrk="1" hangingPunct="1"/>
            <a:r>
              <a:rPr lang="en-US" altLang="zh-CN" sz="2800"/>
              <a:t>1</a:t>
            </a:r>
            <a:r>
              <a:rPr lang="zh-CN" altLang="en-US" sz="2800"/>
              <a:t>阶段：</a:t>
            </a:r>
          </a:p>
        </p:txBody>
      </p:sp>
      <p:graphicFrame>
        <p:nvGraphicFramePr>
          <p:cNvPr id="50180" name="Object 4">
            <a:extLst>
              <a:ext uri="{FF2B5EF4-FFF2-40B4-BE49-F238E27FC236}">
                <a16:creationId xmlns:a16="http://schemas.microsoft.com/office/drawing/2014/main" id="{D44671F8-2842-47E5-BE63-1FFECE62C9C4}"/>
              </a:ext>
            </a:extLst>
          </p:cNvPr>
          <p:cNvGraphicFramePr>
            <a:graphicFrameLocks noGrp="1" noChangeAspect="1"/>
          </p:cNvGraphicFramePr>
          <p:nvPr>
            <p:ph sz="quarter" idx="2"/>
          </p:nvPr>
        </p:nvGraphicFramePr>
        <p:xfrm>
          <a:off x="2060575" y="1341438"/>
          <a:ext cx="3097213" cy="574675"/>
        </p:xfrm>
        <a:graphic>
          <a:graphicData uri="http://schemas.openxmlformats.org/presentationml/2006/ole">
            <mc:AlternateContent xmlns:mc="http://schemas.openxmlformats.org/markup-compatibility/2006">
              <mc:Choice xmlns:v="urn:schemas-microsoft-com:vml" Requires="v">
                <p:oleObj spid="_x0000_s39100" name="Equation" r:id="rId3" imgW="1574800" imgH="292100" progId="Equation.DSMT4">
                  <p:embed/>
                </p:oleObj>
              </mc:Choice>
              <mc:Fallback>
                <p:oleObj name="Equation" r:id="rId3" imgW="1574800" imgH="2921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575" y="1341438"/>
                        <a:ext cx="3097213" cy="57467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5">
            <a:extLst>
              <a:ext uri="{FF2B5EF4-FFF2-40B4-BE49-F238E27FC236}">
                <a16:creationId xmlns:a16="http://schemas.microsoft.com/office/drawing/2014/main" id="{AFD306D6-6578-40FB-9012-38CA3EAB3DB1}"/>
              </a:ext>
            </a:extLst>
          </p:cNvPr>
          <p:cNvGrpSpPr>
            <a:grpSpLocks/>
          </p:cNvGrpSpPr>
          <p:nvPr/>
        </p:nvGrpSpPr>
        <p:grpSpPr bwMode="auto">
          <a:xfrm>
            <a:off x="5292725" y="1401763"/>
            <a:ext cx="3230563" cy="646112"/>
            <a:chOff x="3470" y="678"/>
            <a:chExt cx="2035" cy="407"/>
          </a:xfrm>
        </p:grpSpPr>
        <p:graphicFrame>
          <p:nvGraphicFramePr>
            <p:cNvPr id="38938" name="Object 6">
              <a:extLst>
                <a:ext uri="{FF2B5EF4-FFF2-40B4-BE49-F238E27FC236}">
                  <a16:creationId xmlns:a16="http://schemas.microsoft.com/office/drawing/2014/main" id="{311FAE5A-B0EF-4FDB-9595-DF36EC3EBE2A}"/>
                </a:ext>
              </a:extLst>
            </p:cNvPr>
            <p:cNvGraphicFramePr>
              <a:graphicFrameLocks noChangeAspect="1"/>
            </p:cNvGraphicFramePr>
            <p:nvPr/>
          </p:nvGraphicFramePr>
          <p:xfrm>
            <a:off x="3834" y="678"/>
            <a:ext cx="1671" cy="407"/>
          </p:xfrm>
          <a:graphic>
            <a:graphicData uri="http://schemas.openxmlformats.org/presentationml/2006/ole">
              <mc:AlternateContent xmlns:mc="http://schemas.openxmlformats.org/markup-compatibility/2006">
                <mc:Choice xmlns:v="urn:schemas-microsoft-com:vml" Requires="v">
                  <p:oleObj spid="_x0000_s39101" name="Equation" r:id="rId5" imgW="1409088" imgH="342751" progId="Equation.DSMT4">
                    <p:embed/>
                  </p:oleObj>
                </mc:Choice>
                <mc:Fallback>
                  <p:oleObj name="Equation" r:id="rId5" imgW="1409088" imgH="342751"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4" y="678"/>
                          <a:ext cx="1671" cy="40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39" name="Line 9">
              <a:extLst>
                <a:ext uri="{FF2B5EF4-FFF2-40B4-BE49-F238E27FC236}">
                  <a16:creationId xmlns:a16="http://schemas.microsoft.com/office/drawing/2014/main" id="{26C87494-3B33-49C2-BE4C-81BB4CCE5ED2}"/>
                </a:ext>
              </a:extLst>
            </p:cNvPr>
            <p:cNvSpPr>
              <a:spLocks noChangeShapeType="1"/>
            </p:cNvSpPr>
            <p:nvPr/>
          </p:nvSpPr>
          <p:spPr bwMode="auto">
            <a:xfrm>
              <a:off x="3470" y="890"/>
              <a:ext cx="27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6">
            <a:extLst>
              <a:ext uri="{FF2B5EF4-FFF2-40B4-BE49-F238E27FC236}">
                <a16:creationId xmlns:a16="http://schemas.microsoft.com/office/drawing/2014/main" id="{EF412327-3F40-4E55-92CC-C3C9F9031DDA}"/>
              </a:ext>
            </a:extLst>
          </p:cNvPr>
          <p:cNvGrpSpPr>
            <a:grpSpLocks/>
          </p:cNvGrpSpPr>
          <p:nvPr/>
        </p:nvGrpSpPr>
        <p:grpSpPr bwMode="auto">
          <a:xfrm>
            <a:off x="212725" y="2132013"/>
            <a:ext cx="7681913" cy="1277937"/>
            <a:chOff x="264" y="1207"/>
            <a:chExt cx="4839" cy="805"/>
          </a:xfrm>
        </p:grpSpPr>
        <p:graphicFrame>
          <p:nvGraphicFramePr>
            <p:cNvPr id="38935" name="Object 11">
              <a:extLst>
                <a:ext uri="{FF2B5EF4-FFF2-40B4-BE49-F238E27FC236}">
                  <a16:creationId xmlns:a16="http://schemas.microsoft.com/office/drawing/2014/main" id="{289519BD-25F8-42EB-880D-FD7FA8748B6C}"/>
                </a:ext>
              </a:extLst>
            </p:cNvPr>
            <p:cNvGraphicFramePr>
              <a:graphicFrameLocks noChangeAspect="1"/>
            </p:cNvGraphicFramePr>
            <p:nvPr/>
          </p:nvGraphicFramePr>
          <p:xfrm>
            <a:off x="1610" y="1207"/>
            <a:ext cx="3493" cy="374"/>
          </p:xfrm>
          <a:graphic>
            <a:graphicData uri="http://schemas.openxmlformats.org/presentationml/2006/ole">
              <mc:AlternateContent xmlns:mc="http://schemas.openxmlformats.org/markup-compatibility/2006">
                <mc:Choice xmlns:v="urn:schemas-microsoft-com:vml" Requires="v">
                  <p:oleObj spid="_x0000_s39102" name="Equation" r:id="rId7" imgW="2730500" imgH="292100" progId="Equation.DSMT4">
                    <p:embed/>
                  </p:oleObj>
                </mc:Choice>
                <mc:Fallback>
                  <p:oleObj name="Equation" r:id="rId7" imgW="2730500" imgH="2921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0" y="1207"/>
                          <a:ext cx="3493" cy="37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36" name="Text Box 12">
              <a:extLst>
                <a:ext uri="{FF2B5EF4-FFF2-40B4-BE49-F238E27FC236}">
                  <a16:creationId xmlns:a16="http://schemas.microsoft.com/office/drawing/2014/main" id="{54B58E69-9FF1-4B92-968E-910D530CC4EB}"/>
                </a:ext>
              </a:extLst>
            </p:cNvPr>
            <p:cNvSpPr txBox="1">
              <a:spLocks noChangeArrowheads="1"/>
            </p:cNvSpPr>
            <p:nvPr/>
          </p:nvSpPr>
          <p:spPr bwMode="auto">
            <a:xfrm>
              <a:off x="264" y="1724"/>
              <a:ext cx="7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t>其中，</a:t>
              </a:r>
            </a:p>
          </p:txBody>
        </p:sp>
        <p:graphicFrame>
          <p:nvGraphicFramePr>
            <p:cNvPr id="38937" name="Object 13">
              <a:extLst>
                <a:ext uri="{FF2B5EF4-FFF2-40B4-BE49-F238E27FC236}">
                  <a16:creationId xmlns:a16="http://schemas.microsoft.com/office/drawing/2014/main" id="{23533A7F-BD77-4F2B-9930-C396757B9CCC}"/>
                </a:ext>
              </a:extLst>
            </p:cNvPr>
            <p:cNvGraphicFramePr>
              <a:graphicFrameLocks noChangeAspect="1"/>
            </p:cNvGraphicFramePr>
            <p:nvPr/>
          </p:nvGraphicFramePr>
          <p:xfrm>
            <a:off x="976" y="1703"/>
            <a:ext cx="1540" cy="308"/>
          </p:xfrm>
          <a:graphic>
            <a:graphicData uri="http://schemas.openxmlformats.org/presentationml/2006/ole">
              <mc:AlternateContent xmlns:mc="http://schemas.openxmlformats.org/markup-compatibility/2006">
                <mc:Choice xmlns:v="urn:schemas-microsoft-com:vml" Requires="v">
                  <p:oleObj spid="_x0000_s39103" name="Equation" r:id="rId9" imgW="1143000" imgH="228600" progId="Equation.DSMT4">
                    <p:embed/>
                  </p:oleObj>
                </mc:Choice>
                <mc:Fallback>
                  <p:oleObj name="Equation" r:id="rId9" imgW="1143000" imgH="22860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6" y="1703"/>
                          <a:ext cx="1540"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27">
            <a:extLst>
              <a:ext uri="{FF2B5EF4-FFF2-40B4-BE49-F238E27FC236}">
                <a16:creationId xmlns:a16="http://schemas.microsoft.com/office/drawing/2014/main" id="{E2CCE4DC-EF07-4247-995A-0EC012A04B04}"/>
              </a:ext>
            </a:extLst>
          </p:cNvPr>
          <p:cNvGrpSpPr>
            <a:grpSpLocks/>
          </p:cNvGrpSpPr>
          <p:nvPr/>
        </p:nvGrpSpPr>
        <p:grpSpPr bwMode="auto">
          <a:xfrm>
            <a:off x="3986213" y="2876550"/>
            <a:ext cx="4700587" cy="590550"/>
            <a:chOff x="2858" y="1685"/>
            <a:chExt cx="2962" cy="372"/>
          </a:xfrm>
        </p:grpSpPr>
        <p:sp>
          <p:nvSpPr>
            <p:cNvPr id="38933" name="Line 14">
              <a:extLst>
                <a:ext uri="{FF2B5EF4-FFF2-40B4-BE49-F238E27FC236}">
                  <a16:creationId xmlns:a16="http://schemas.microsoft.com/office/drawing/2014/main" id="{CBC36039-6852-475A-A012-E71FEE5A3450}"/>
                </a:ext>
              </a:extLst>
            </p:cNvPr>
            <p:cNvSpPr>
              <a:spLocks noChangeShapeType="1"/>
            </p:cNvSpPr>
            <p:nvPr/>
          </p:nvSpPr>
          <p:spPr bwMode="auto">
            <a:xfrm>
              <a:off x="2925" y="1888"/>
              <a:ext cx="27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8934" name="Object 15">
              <a:extLst>
                <a:ext uri="{FF2B5EF4-FFF2-40B4-BE49-F238E27FC236}">
                  <a16:creationId xmlns:a16="http://schemas.microsoft.com/office/drawing/2014/main" id="{9F08339B-67FA-42D7-B609-6196C95F5085}"/>
                </a:ext>
              </a:extLst>
            </p:cNvPr>
            <p:cNvGraphicFramePr>
              <a:graphicFrameLocks noChangeAspect="1"/>
            </p:cNvGraphicFramePr>
            <p:nvPr/>
          </p:nvGraphicFramePr>
          <p:xfrm>
            <a:off x="2858" y="1685"/>
            <a:ext cx="2962" cy="372"/>
          </p:xfrm>
          <a:graphic>
            <a:graphicData uri="http://schemas.openxmlformats.org/presentationml/2006/ole">
              <mc:AlternateContent xmlns:mc="http://schemas.openxmlformats.org/markup-compatibility/2006">
                <mc:Choice xmlns:v="urn:schemas-microsoft-com:vml" Requires="v">
                  <p:oleObj spid="_x0000_s39104" name="Equation" r:id="rId11" imgW="2425700" imgH="304800" progId="Equation.DSMT4">
                    <p:embed/>
                  </p:oleObj>
                </mc:Choice>
                <mc:Fallback>
                  <p:oleObj name="Equation" r:id="rId11" imgW="2425700" imgH="304800"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8" y="1685"/>
                          <a:ext cx="2962" cy="37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 name="Group 28">
            <a:extLst>
              <a:ext uri="{FF2B5EF4-FFF2-40B4-BE49-F238E27FC236}">
                <a16:creationId xmlns:a16="http://schemas.microsoft.com/office/drawing/2014/main" id="{B0950C5C-7BB4-4DD5-829C-5C98F3C45B54}"/>
              </a:ext>
            </a:extLst>
          </p:cNvPr>
          <p:cNvGrpSpPr>
            <a:grpSpLocks/>
          </p:cNvGrpSpPr>
          <p:nvPr/>
        </p:nvGrpSpPr>
        <p:grpSpPr bwMode="auto">
          <a:xfrm>
            <a:off x="1125538" y="3500438"/>
            <a:ext cx="5630862" cy="1223962"/>
            <a:chOff x="839" y="2069"/>
            <a:chExt cx="3547" cy="771"/>
          </a:xfrm>
        </p:grpSpPr>
        <p:graphicFrame>
          <p:nvGraphicFramePr>
            <p:cNvPr id="38930" name="Object 16">
              <a:extLst>
                <a:ext uri="{FF2B5EF4-FFF2-40B4-BE49-F238E27FC236}">
                  <a16:creationId xmlns:a16="http://schemas.microsoft.com/office/drawing/2014/main" id="{6A27C3E1-D508-4DD8-B7DE-0D4BD956270F}"/>
                </a:ext>
              </a:extLst>
            </p:cNvPr>
            <p:cNvGraphicFramePr>
              <a:graphicFrameLocks noChangeAspect="1"/>
            </p:cNvGraphicFramePr>
            <p:nvPr/>
          </p:nvGraphicFramePr>
          <p:xfrm>
            <a:off x="1429" y="2069"/>
            <a:ext cx="2957" cy="374"/>
          </p:xfrm>
          <a:graphic>
            <a:graphicData uri="http://schemas.openxmlformats.org/presentationml/2006/ole">
              <mc:AlternateContent xmlns:mc="http://schemas.openxmlformats.org/markup-compatibility/2006">
                <mc:Choice xmlns:v="urn:schemas-microsoft-com:vml" Requires="v">
                  <p:oleObj spid="_x0000_s39105" name="Equation" r:id="rId13" imgW="2311400" imgH="292100" progId="Equation.DSMT4">
                    <p:embed/>
                  </p:oleObj>
                </mc:Choice>
                <mc:Fallback>
                  <p:oleObj name="Equation" r:id="rId13" imgW="2311400" imgH="292100"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9" y="2069"/>
                          <a:ext cx="2957" cy="37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31" name="Text Box 17">
              <a:extLst>
                <a:ext uri="{FF2B5EF4-FFF2-40B4-BE49-F238E27FC236}">
                  <a16:creationId xmlns:a16="http://schemas.microsoft.com/office/drawing/2014/main" id="{E8EED26D-1D30-4795-BD10-F51CDCA2D53D}"/>
                </a:ext>
              </a:extLst>
            </p:cNvPr>
            <p:cNvSpPr txBox="1">
              <a:spLocks noChangeArrowheads="1"/>
            </p:cNvSpPr>
            <p:nvPr/>
          </p:nvSpPr>
          <p:spPr bwMode="auto">
            <a:xfrm>
              <a:off x="839" y="2523"/>
              <a:ext cx="7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t>其中，</a:t>
              </a:r>
            </a:p>
          </p:txBody>
        </p:sp>
        <p:graphicFrame>
          <p:nvGraphicFramePr>
            <p:cNvPr id="38932" name="Object 18">
              <a:extLst>
                <a:ext uri="{FF2B5EF4-FFF2-40B4-BE49-F238E27FC236}">
                  <a16:creationId xmlns:a16="http://schemas.microsoft.com/office/drawing/2014/main" id="{75B0B46E-3136-4331-AA2F-863A501CDF1B}"/>
                </a:ext>
              </a:extLst>
            </p:cNvPr>
            <p:cNvGraphicFramePr>
              <a:graphicFrameLocks noChangeAspect="1"/>
            </p:cNvGraphicFramePr>
            <p:nvPr/>
          </p:nvGraphicFramePr>
          <p:xfrm>
            <a:off x="1426" y="2532"/>
            <a:ext cx="1318" cy="308"/>
          </p:xfrm>
          <a:graphic>
            <a:graphicData uri="http://schemas.openxmlformats.org/presentationml/2006/ole">
              <mc:AlternateContent xmlns:mc="http://schemas.openxmlformats.org/markup-compatibility/2006">
                <mc:Choice xmlns:v="urn:schemas-microsoft-com:vml" Requires="v">
                  <p:oleObj spid="_x0000_s39106" name="公式" r:id="rId15" imgW="977900" imgH="228600" progId="Equation.3">
                    <p:embed/>
                  </p:oleObj>
                </mc:Choice>
                <mc:Fallback>
                  <p:oleObj name="公式" r:id="rId15" imgW="977900" imgH="228600"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26" y="2532"/>
                          <a:ext cx="1318"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9">
            <a:extLst>
              <a:ext uri="{FF2B5EF4-FFF2-40B4-BE49-F238E27FC236}">
                <a16:creationId xmlns:a16="http://schemas.microsoft.com/office/drawing/2014/main" id="{78B24C11-812B-4FAE-9415-28AE237E9448}"/>
              </a:ext>
            </a:extLst>
          </p:cNvPr>
          <p:cNvGrpSpPr>
            <a:grpSpLocks/>
          </p:cNvGrpSpPr>
          <p:nvPr/>
        </p:nvGrpSpPr>
        <p:grpSpPr bwMode="auto">
          <a:xfrm>
            <a:off x="4114800" y="4229100"/>
            <a:ext cx="4865688" cy="666750"/>
            <a:chOff x="2789" y="2543"/>
            <a:chExt cx="3448" cy="486"/>
          </a:xfrm>
        </p:grpSpPr>
        <p:sp>
          <p:nvSpPr>
            <p:cNvPr id="38928" name="Line 19">
              <a:extLst>
                <a:ext uri="{FF2B5EF4-FFF2-40B4-BE49-F238E27FC236}">
                  <a16:creationId xmlns:a16="http://schemas.microsoft.com/office/drawing/2014/main" id="{26A8766B-FD62-4E61-B995-088B0AF62D76}"/>
                </a:ext>
              </a:extLst>
            </p:cNvPr>
            <p:cNvSpPr>
              <a:spLocks noChangeShapeType="1"/>
            </p:cNvSpPr>
            <p:nvPr/>
          </p:nvSpPr>
          <p:spPr bwMode="auto">
            <a:xfrm>
              <a:off x="2789" y="2704"/>
              <a:ext cx="27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8929" name="Object 20">
              <a:extLst>
                <a:ext uri="{FF2B5EF4-FFF2-40B4-BE49-F238E27FC236}">
                  <a16:creationId xmlns:a16="http://schemas.microsoft.com/office/drawing/2014/main" id="{9B725D01-E025-42E8-A24F-D3FCB49B8FD9}"/>
                </a:ext>
              </a:extLst>
            </p:cNvPr>
            <p:cNvGraphicFramePr>
              <a:graphicFrameLocks noChangeAspect="1"/>
            </p:cNvGraphicFramePr>
            <p:nvPr/>
          </p:nvGraphicFramePr>
          <p:xfrm>
            <a:off x="3164" y="2543"/>
            <a:ext cx="3073" cy="486"/>
          </p:xfrm>
          <a:graphic>
            <a:graphicData uri="http://schemas.openxmlformats.org/presentationml/2006/ole">
              <mc:AlternateContent xmlns:mc="http://schemas.openxmlformats.org/markup-compatibility/2006">
                <mc:Choice xmlns:v="urn:schemas-microsoft-com:vml" Requires="v">
                  <p:oleObj spid="_x0000_s39107" name="Equation" r:id="rId17" imgW="2095500" imgH="330200" progId="Equation.DSMT4">
                    <p:embed/>
                  </p:oleObj>
                </mc:Choice>
                <mc:Fallback>
                  <p:oleObj name="Equation" r:id="rId17" imgW="2095500" imgH="330200" progId="Equation.DSMT4">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64" y="2543"/>
                          <a:ext cx="3073" cy="486"/>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0197" name="Object 21">
            <a:extLst>
              <a:ext uri="{FF2B5EF4-FFF2-40B4-BE49-F238E27FC236}">
                <a16:creationId xmlns:a16="http://schemas.microsoft.com/office/drawing/2014/main" id="{55CC7648-3E59-467D-A1B7-0B43946E291A}"/>
              </a:ext>
            </a:extLst>
          </p:cNvPr>
          <p:cNvGraphicFramePr>
            <a:graphicFrameLocks noChangeAspect="1"/>
          </p:cNvGraphicFramePr>
          <p:nvPr/>
        </p:nvGraphicFramePr>
        <p:xfrm>
          <a:off x="1809750" y="5445125"/>
          <a:ext cx="3770313" cy="552450"/>
        </p:xfrm>
        <a:graphic>
          <a:graphicData uri="http://schemas.openxmlformats.org/presentationml/2006/ole">
            <mc:AlternateContent xmlns:mc="http://schemas.openxmlformats.org/markup-compatibility/2006">
              <mc:Choice xmlns:v="urn:schemas-microsoft-com:vml" Requires="v">
                <p:oleObj spid="_x0000_s39108" name="Equation" r:id="rId19" imgW="1993900" imgH="292100" progId="Equation.DSMT4">
                  <p:embed/>
                </p:oleObj>
              </mc:Choice>
              <mc:Fallback>
                <p:oleObj name="Equation" r:id="rId19" imgW="1993900" imgH="292100" progId="Equation.DSMT4">
                  <p:embed/>
                  <p:pic>
                    <p:nvPicPr>
                      <p:cNvPr id="0"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09750" y="5445125"/>
                        <a:ext cx="3770313" cy="55245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 30">
            <a:extLst>
              <a:ext uri="{FF2B5EF4-FFF2-40B4-BE49-F238E27FC236}">
                <a16:creationId xmlns:a16="http://schemas.microsoft.com/office/drawing/2014/main" id="{8C055627-F7AC-47F2-8C63-70AA20BFE2FB}"/>
              </a:ext>
            </a:extLst>
          </p:cNvPr>
          <p:cNvGrpSpPr>
            <a:grpSpLocks/>
          </p:cNvGrpSpPr>
          <p:nvPr/>
        </p:nvGrpSpPr>
        <p:grpSpPr bwMode="auto">
          <a:xfrm>
            <a:off x="5605463" y="5468938"/>
            <a:ext cx="3690937" cy="550862"/>
            <a:chOff x="3923" y="3336"/>
            <a:chExt cx="2679" cy="429"/>
          </a:xfrm>
        </p:grpSpPr>
        <p:graphicFrame>
          <p:nvGraphicFramePr>
            <p:cNvPr id="38926" name="Object 22">
              <a:extLst>
                <a:ext uri="{FF2B5EF4-FFF2-40B4-BE49-F238E27FC236}">
                  <a16:creationId xmlns:a16="http://schemas.microsoft.com/office/drawing/2014/main" id="{7EEC76F9-48BA-433B-831E-DD8B52767512}"/>
                </a:ext>
              </a:extLst>
            </p:cNvPr>
            <p:cNvGraphicFramePr>
              <a:graphicFrameLocks noChangeAspect="1"/>
            </p:cNvGraphicFramePr>
            <p:nvPr/>
          </p:nvGraphicFramePr>
          <p:xfrm>
            <a:off x="4214" y="3336"/>
            <a:ext cx="2388" cy="429"/>
          </p:xfrm>
          <a:graphic>
            <a:graphicData uri="http://schemas.openxmlformats.org/presentationml/2006/ole">
              <mc:AlternateContent xmlns:mc="http://schemas.openxmlformats.org/markup-compatibility/2006">
                <mc:Choice xmlns:v="urn:schemas-microsoft-com:vml" Requires="v">
                  <p:oleObj spid="_x0000_s39109" name="Equation" r:id="rId21" imgW="1841500" imgH="330200" progId="Equation.DSMT4">
                    <p:embed/>
                  </p:oleObj>
                </mc:Choice>
                <mc:Fallback>
                  <p:oleObj name="Equation" r:id="rId21" imgW="1841500" imgH="330200" progId="Equation.DSMT4">
                    <p:embed/>
                    <p:pic>
                      <p:nvPicPr>
                        <p:cNvPr id="0"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14" y="3336"/>
                          <a:ext cx="2388" cy="42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7" name="Line 23">
              <a:extLst>
                <a:ext uri="{FF2B5EF4-FFF2-40B4-BE49-F238E27FC236}">
                  <a16:creationId xmlns:a16="http://schemas.microsoft.com/office/drawing/2014/main" id="{2B307E45-326E-40B7-B1D4-505B7A8D0CD4}"/>
                </a:ext>
              </a:extLst>
            </p:cNvPr>
            <p:cNvSpPr>
              <a:spLocks noChangeShapeType="1"/>
            </p:cNvSpPr>
            <p:nvPr/>
          </p:nvSpPr>
          <p:spPr bwMode="auto">
            <a:xfrm>
              <a:off x="3923" y="3489"/>
              <a:ext cx="27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0200" name="Text Box 24">
            <a:extLst>
              <a:ext uri="{FF2B5EF4-FFF2-40B4-BE49-F238E27FC236}">
                <a16:creationId xmlns:a16="http://schemas.microsoft.com/office/drawing/2014/main" id="{5684BBC1-31BA-4B51-8A85-B92187C75ED3}"/>
              </a:ext>
            </a:extLst>
          </p:cNvPr>
          <p:cNvSpPr txBox="1">
            <a:spLocks noChangeArrowheads="1"/>
          </p:cNvSpPr>
          <p:nvPr/>
        </p:nvSpPr>
        <p:spPr bwMode="auto">
          <a:xfrm>
            <a:off x="295275" y="6237288"/>
            <a:ext cx="8642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i="1">
                <a:latin typeface="Times New Roman" panose="02020603050405020304" pitchFamily="18" charset="0"/>
              </a:rPr>
              <a:t>s</a:t>
            </a:r>
            <a:r>
              <a:rPr lang="en-US" altLang="zh-CN" sz="2400" b="1" baseline="-25000">
                <a:latin typeface="Times New Roman" panose="02020603050405020304" pitchFamily="18" charset="0"/>
              </a:rPr>
              <a:t>1</a:t>
            </a:r>
            <a:r>
              <a:rPr lang="zh-CN" altLang="en-US" sz="2400" b="1">
                <a:latin typeface="Times New Roman" panose="02020603050405020304" pitchFamily="18" charset="0"/>
              </a:rPr>
              <a:t>已知，故 </a:t>
            </a:r>
            <a:r>
              <a:rPr lang="en-US" altLang="zh-CN" sz="2400" b="1" i="1">
                <a:latin typeface="Times New Roman" panose="02020603050405020304" pitchFamily="18" charset="0"/>
              </a:rPr>
              <a:t>x</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a:t>
            </a:r>
            <a:r>
              <a:rPr lang="en-US" altLang="zh-CN" sz="2400" b="1" i="1">
                <a:latin typeface="Times New Roman" panose="02020603050405020304" pitchFamily="18" charset="0"/>
              </a:rPr>
              <a:t>x</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  </a:t>
            </a:r>
            <a:r>
              <a:rPr lang="en-US" altLang="zh-CN" sz="2400" b="1" i="1">
                <a:latin typeface="Times New Roman" panose="02020603050405020304" pitchFamily="18" charset="0"/>
              </a:rPr>
              <a:t>f</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a:t>
            </a:r>
            <a:r>
              <a:rPr lang="zh-CN" altLang="en-US" sz="2400" b="1">
                <a:latin typeface="Times New Roman" panose="02020603050405020304" pitchFamily="18" charset="0"/>
              </a:rPr>
              <a:t>可确定，这样逆推上去，均可确定。</a:t>
            </a:r>
          </a:p>
        </p:txBody>
      </p:sp>
      <p:pic>
        <p:nvPicPr>
          <p:cNvPr id="38925" name="图片 8">
            <a:extLst>
              <a:ext uri="{FF2B5EF4-FFF2-40B4-BE49-F238E27FC236}">
                <a16:creationId xmlns:a16="http://schemas.microsoft.com/office/drawing/2014/main" id="{7BC5B12D-012B-453E-8CCF-B66E74844E4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459538" y="-19050"/>
            <a:ext cx="265430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18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179">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179">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0179">
                                            <p:txEl>
                                              <p:pRg st="7" end="7"/>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0179">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0197"/>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0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P spid="5020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0169602-AFE9-4372-9B20-970410C4E6D6}"/>
              </a:ext>
            </a:extLst>
          </p:cNvPr>
          <p:cNvSpPr>
            <a:spLocks noGrp="1" noChangeArrowheads="1"/>
          </p:cNvSpPr>
          <p:nvPr>
            <p:ph type="title"/>
          </p:nvPr>
        </p:nvSpPr>
        <p:spPr/>
        <p:txBody>
          <a:bodyPr/>
          <a:lstStyle/>
          <a:p>
            <a:pPr eaLnBrk="1" hangingPunct="1"/>
            <a:r>
              <a:rPr lang="zh-CN" altLang="en-US"/>
              <a:t>逆推解法</a:t>
            </a:r>
          </a:p>
        </p:txBody>
      </p:sp>
      <p:pic>
        <p:nvPicPr>
          <p:cNvPr id="39939" name="图片 2">
            <a:extLst>
              <a:ext uri="{FF2B5EF4-FFF2-40B4-BE49-F238E27FC236}">
                <a16:creationId xmlns:a16="http://schemas.microsoft.com/office/drawing/2014/main" id="{E0A2799E-5DC8-4533-9812-6F618C7F92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73025"/>
            <a:ext cx="435610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1">
            <a:extLst>
              <a:ext uri="{FF2B5EF4-FFF2-40B4-BE49-F238E27FC236}">
                <a16:creationId xmlns:a16="http://schemas.microsoft.com/office/drawing/2014/main" id="{3F666A4F-FF7D-4A85-A570-96A83DBE148F}"/>
              </a:ext>
            </a:extLst>
          </p:cNvPr>
          <p:cNvSpPr txBox="1">
            <a:spLocks noChangeArrowheads="1"/>
          </p:cNvSpPr>
          <p:nvPr/>
        </p:nvSpPr>
        <p:spPr bwMode="auto">
          <a:xfrm>
            <a:off x="333375" y="2476500"/>
            <a:ext cx="5688013" cy="2030413"/>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a:latin typeface="+mn-lt"/>
                <a:ea typeface="+mn-ea"/>
              </a:rPr>
              <a:t>(1)</a:t>
            </a:r>
            <a:r>
              <a:rPr lang="zh-CN" altLang="en-US" dirty="0">
                <a:latin typeface="+mn-lt"/>
                <a:ea typeface="+mn-ea"/>
              </a:rPr>
              <a:t>阶段：按问题的变量个数划分为</a:t>
            </a:r>
            <a:r>
              <a:rPr lang="en-US" altLang="zh-CN" dirty="0">
                <a:latin typeface="+mn-lt"/>
                <a:ea typeface="+mn-ea"/>
              </a:rPr>
              <a:t>3</a:t>
            </a:r>
            <a:r>
              <a:rPr lang="zh-CN" altLang="en-US" dirty="0">
                <a:latin typeface="+mn-lt"/>
                <a:ea typeface="+mn-ea"/>
              </a:rPr>
              <a:t>阶段</a:t>
            </a:r>
            <a:r>
              <a:rPr lang="en-US" altLang="zh-CN" dirty="0">
                <a:latin typeface="+mn-lt"/>
                <a:ea typeface="+mn-ea"/>
              </a:rPr>
              <a:t>;</a:t>
            </a:r>
          </a:p>
          <a:p>
            <a:pPr eaLnBrk="1" hangingPunct="1">
              <a:spcBef>
                <a:spcPct val="50000"/>
              </a:spcBef>
              <a:defRPr/>
            </a:pPr>
            <a:r>
              <a:rPr lang="en-US" altLang="zh-CN" dirty="0">
                <a:latin typeface="+mn-lt"/>
                <a:ea typeface="+mn-ea"/>
              </a:rPr>
              <a:t>(2)</a:t>
            </a:r>
            <a:r>
              <a:rPr lang="zh-CN" altLang="en-US" dirty="0">
                <a:latin typeface="+mn-lt"/>
                <a:ea typeface="+mn-ea"/>
              </a:rPr>
              <a:t>状态变量：假设为</a:t>
            </a:r>
            <a:r>
              <a:rPr lang="en-US" altLang="zh-CN" i="1" dirty="0">
                <a:latin typeface="+mn-lt"/>
                <a:ea typeface="+mn-ea"/>
              </a:rPr>
              <a:t>s</a:t>
            </a:r>
            <a:r>
              <a:rPr lang="en-US" altLang="zh-CN" baseline="-25000" dirty="0">
                <a:latin typeface="+mn-lt"/>
                <a:ea typeface="+mn-ea"/>
              </a:rPr>
              <a:t>1</a:t>
            </a:r>
            <a:r>
              <a:rPr lang="en-US" altLang="zh-CN" dirty="0">
                <a:latin typeface="+mn-lt"/>
                <a:ea typeface="+mn-ea"/>
              </a:rPr>
              <a:t>, </a:t>
            </a:r>
            <a:r>
              <a:rPr lang="en-US" altLang="zh-CN" i="1" dirty="0">
                <a:latin typeface="+mn-lt"/>
                <a:ea typeface="+mn-ea"/>
              </a:rPr>
              <a:t>s</a:t>
            </a:r>
            <a:r>
              <a:rPr lang="en-US" altLang="zh-CN" baseline="-25000" dirty="0">
                <a:latin typeface="+mn-lt"/>
                <a:ea typeface="+mn-ea"/>
              </a:rPr>
              <a:t>2</a:t>
            </a:r>
            <a:r>
              <a:rPr lang="en-US" altLang="zh-CN" dirty="0">
                <a:latin typeface="+mn-lt"/>
                <a:ea typeface="+mn-ea"/>
              </a:rPr>
              <a:t>, </a:t>
            </a:r>
            <a:r>
              <a:rPr lang="en-US" altLang="zh-CN" i="1" dirty="0">
                <a:latin typeface="+mn-lt"/>
                <a:ea typeface="+mn-ea"/>
              </a:rPr>
              <a:t>s</a:t>
            </a:r>
            <a:r>
              <a:rPr lang="en-US" altLang="zh-CN" baseline="-25000" dirty="0">
                <a:latin typeface="+mn-lt"/>
                <a:ea typeface="+mn-ea"/>
              </a:rPr>
              <a:t>3</a:t>
            </a:r>
            <a:r>
              <a:rPr lang="en-US" altLang="zh-CN" dirty="0">
                <a:latin typeface="+mn-lt"/>
                <a:ea typeface="+mn-ea"/>
              </a:rPr>
              <a:t>, </a:t>
            </a:r>
            <a:r>
              <a:rPr lang="en-US" altLang="zh-CN" i="1" dirty="0">
                <a:latin typeface="+mn-lt"/>
                <a:ea typeface="+mn-ea"/>
              </a:rPr>
              <a:t>s</a:t>
            </a:r>
            <a:r>
              <a:rPr lang="en-US" altLang="zh-CN" baseline="-25000" dirty="0">
                <a:latin typeface="+mn-lt"/>
                <a:ea typeface="+mn-ea"/>
              </a:rPr>
              <a:t>4</a:t>
            </a:r>
            <a:r>
              <a:rPr lang="en-US" altLang="zh-CN" dirty="0">
                <a:latin typeface="+mn-lt"/>
                <a:ea typeface="+mn-ea"/>
              </a:rPr>
              <a:t>, </a:t>
            </a:r>
            <a:r>
              <a:rPr lang="zh-CN" altLang="en-US" dirty="0">
                <a:latin typeface="+mn-lt"/>
                <a:ea typeface="+mn-ea"/>
              </a:rPr>
              <a:t>并且记</a:t>
            </a:r>
            <a:r>
              <a:rPr lang="en-US" altLang="zh-CN" i="1" dirty="0">
                <a:latin typeface="+mn-lt"/>
                <a:ea typeface="+mn-ea"/>
              </a:rPr>
              <a:t>s</a:t>
            </a:r>
            <a:r>
              <a:rPr lang="en-US" altLang="zh-CN" baseline="-25000" dirty="0">
                <a:latin typeface="+mn-lt"/>
                <a:ea typeface="+mn-ea"/>
              </a:rPr>
              <a:t>1</a:t>
            </a:r>
            <a:r>
              <a:rPr lang="en-US" altLang="zh-CN" dirty="0">
                <a:latin typeface="+mn-lt"/>
                <a:ea typeface="+mn-ea"/>
              </a:rPr>
              <a:t>=</a:t>
            </a:r>
            <a:r>
              <a:rPr lang="en-US" altLang="zh-CN" i="1" dirty="0">
                <a:latin typeface="+mn-lt"/>
                <a:ea typeface="+mn-ea"/>
              </a:rPr>
              <a:t>c</a:t>
            </a:r>
            <a:r>
              <a:rPr lang="en-US" altLang="zh-CN" dirty="0">
                <a:latin typeface="+mn-lt"/>
                <a:ea typeface="+mn-ea"/>
              </a:rPr>
              <a:t>;</a:t>
            </a:r>
          </a:p>
          <a:p>
            <a:pPr eaLnBrk="1" hangingPunct="1">
              <a:spcBef>
                <a:spcPct val="50000"/>
              </a:spcBef>
              <a:defRPr/>
            </a:pPr>
            <a:r>
              <a:rPr lang="en-US" altLang="zh-CN" dirty="0">
                <a:latin typeface="+mn-lt"/>
              </a:rPr>
              <a:t>(3)</a:t>
            </a:r>
            <a:r>
              <a:rPr lang="zh-CN" altLang="en-US" dirty="0">
                <a:latin typeface="+mn-lt"/>
              </a:rPr>
              <a:t>决策变量：</a:t>
            </a:r>
            <a:r>
              <a:rPr lang="en-US" altLang="zh-CN" i="1" dirty="0">
                <a:latin typeface="+mn-lt"/>
              </a:rPr>
              <a:t> x</a:t>
            </a:r>
            <a:r>
              <a:rPr lang="en-US" altLang="zh-CN" baseline="-25000" dirty="0">
                <a:latin typeface="+mn-lt"/>
              </a:rPr>
              <a:t>1</a:t>
            </a:r>
            <a:r>
              <a:rPr lang="en-US" altLang="zh-CN" dirty="0">
                <a:latin typeface="+mn-lt"/>
              </a:rPr>
              <a:t>, </a:t>
            </a:r>
            <a:r>
              <a:rPr lang="en-US" altLang="zh-CN" i="1" dirty="0">
                <a:latin typeface="+mn-lt"/>
              </a:rPr>
              <a:t>x</a:t>
            </a:r>
            <a:r>
              <a:rPr lang="en-US" altLang="zh-CN" baseline="-25000" dirty="0">
                <a:latin typeface="+mn-lt"/>
              </a:rPr>
              <a:t>2</a:t>
            </a:r>
            <a:r>
              <a:rPr lang="en-US" altLang="zh-CN" dirty="0">
                <a:latin typeface="+mn-lt"/>
              </a:rPr>
              <a:t>, </a:t>
            </a:r>
            <a:r>
              <a:rPr lang="en-US" altLang="zh-CN" i="1" dirty="0">
                <a:latin typeface="+mn-lt"/>
              </a:rPr>
              <a:t>x</a:t>
            </a:r>
            <a:r>
              <a:rPr lang="en-US" altLang="zh-CN" baseline="-25000" dirty="0">
                <a:latin typeface="+mn-lt"/>
              </a:rPr>
              <a:t>3</a:t>
            </a:r>
            <a:r>
              <a:rPr lang="en-US" altLang="zh-CN" dirty="0">
                <a:latin typeface="+mn-lt"/>
              </a:rPr>
              <a:t>;</a:t>
            </a:r>
          </a:p>
          <a:p>
            <a:pPr eaLnBrk="1" hangingPunct="1">
              <a:spcBef>
                <a:spcPct val="50000"/>
              </a:spcBef>
              <a:defRPr/>
            </a:pPr>
            <a:r>
              <a:rPr lang="en-US" altLang="zh-CN" dirty="0"/>
              <a:t>(4)</a:t>
            </a:r>
            <a:r>
              <a:rPr lang="zh-CN" altLang="en-US" dirty="0"/>
              <a:t>指标函数：各阶段指标函数按乘积方式结合</a:t>
            </a:r>
            <a:r>
              <a:rPr lang="en-US" altLang="zh-CN" dirty="0"/>
              <a:t>;</a:t>
            </a:r>
          </a:p>
          <a:p>
            <a:pPr eaLnBrk="1" hangingPunct="1">
              <a:spcBef>
                <a:spcPct val="50000"/>
              </a:spcBef>
              <a:defRPr/>
            </a:pPr>
            <a:r>
              <a:rPr lang="en-US" altLang="zh-CN" dirty="0"/>
              <a:t>(5)</a:t>
            </a:r>
            <a:r>
              <a:rPr lang="zh-CN" altLang="en-US" dirty="0"/>
              <a:t>状态转移方程：</a:t>
            </a:r>
            <a:endParaRPr lang="en-US" altLang="zh-CN" dirty="0"/>
          </a:p>
        </p:txBody>
      </p:sp>
      <p:graphicFrame>
        <p:nvGraphicFramePr>
          <p:cNvPr id="39941" name="对象 3">
            <a:extLst>
              <a:ext uri="{FF2B5EF4-FFF2-40B4-BE49-F238E27FC236}">
                <a16:creationId xmlns:a16="http://schemas.microsoft.com/office/drawing/2014/main" id="{55776F9D-6780-476A-B882-36C253CB373D}"/>
              </a:ext>
            </a:extLst>
          </p:cNvPr>
          <p:cNvGraphicFramePr>
            <a:graphicFrameLocks noChangeAspect="1"/>
          </p:cNvGraphicFramePr>
          <p:nvPr/>
        </p:nvGraphicFramePr>
        <p:xfrm>
          <a:off x="457200" y="4724400"/>
          <a:ext cx="4554538" cy="1363663"/>
        </p:xfrm>
        <a:graphic>
          <a:graphicData uri="http://schemas.openxmlformats.org/presentationml/2006/ole">
            <mc:AlternateContent xmlns:mc="http://schemas.openxmlformats.org/markup-compatibility/2006">
              <mc:Choice xmlns:v="urn:schemas-microsoft-com:vml" Requires="v">
                <p:oleObj spid="_x0000_s39985" name="Equation" r:id="rId5" imgW="2374900" imgH="711200" progId="Equation.DSMT4">
                  <p:embed/>
                </p:oleObj>
              </mc:Choice>
              <mc:Fallback>
                <p:oleObj name="Equation" r:id="rId5" imgW="2374900" imgH="711200" progId="Equation.DSMT4">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4724400"/>
                        <a:ext cx="4554538"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2" name="矩形 5">
            <a:extLst>
              <a:ext uri="{FF2B5EF4-FFF2-40B4-BE49-F238E27FC236}">
                <a16:creationId xmlns:a16="http://schemas.microsoft.com/office/drawing/2014/main" id="{4841F36C-2482-43AB-BCA7-8D42D02B4605}"/>
              </a:ext>
            </a:extLst>
          </p:cNvPr>
          <p:cNvSpPr>
            <a:spLocks noChangeArrowheads="1"/>
          </p:cNvSpPr>
          <p:nvPr/>
        </p:nvSpPr>
        <p:spPr bwMode="auto">
          <a:xfrm>
            <a:off x="5651500" y="5608638"/>
            <a:ext cx="2262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每阶段允许决策集合</a:t>
            </a:r>
          </a:p>
        </p:txBody>
      </p:sp>
      <p:graphicFrame>
        <p:nvGraphicFramePr>
          <p:cNvPr id="39943" name="对象 13">
            <a:extLst>
              <a:ext uri="{FF2B5EF4-FFF2-40B4-BE49-F238E27FC236}">
                <a16:creationId xmlns:a16="http://schemas.microsoft.com/office/drawing/2014/main" id="{1905D7D2-FD8A-4810-BD86-010968317295}"/>
              </a:ext>
            </a:extLst>
          </p:cNvPr>
          <p:cNvGraphicFramePr>
            <a:graphicFrameLocks noChangeAspect="1"/>
          </p:cNvGraphicFramePr>
          <p:nvPr/>
        </p:nvGraphicFramePr>
        <p:xfrm>
          <a:off x="900113" y="1306513"/>
          <a:ext cx="2008187" cy="1074737"/>
        </p:xfrm>
        <a:graphic>
          <a:graphicData uri="http://schemas.openxmlformats.org/presentationml/2006/ole">
            <mc:AlternateContent xmlns:mc="http://schemas.openxmlformats.org/markup-compatibility/2006">
              <mc:Choice xmlns:v="urn:schemas-microsoft-com:vml" Requires="v">
                <p:oleObj spid="_x0000_s39986" name="Equation" r:id="rId7" imgW="1422400" imgH="762000" progId="Equation.DSMT4">
                  <p:embed/>
                </p:oleObj>
              </mc:Choice>
              <mc:Fallback>
                <p:oleObj name="Equation" r:id="rId7" imgW="1422400" imgH="762000" progId="Equation.DSMT4">
                  <p:embed/>
                  <p:pic>
                    <p:nvPicPr>
                      <p:cNvPr id="0" name="对象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1306513"/>
                        <a:ext cx="2008187"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 Box 11">
            <a:extLst>
              <a:ext uri="{FF2B5EF4-FFF2-40B4-BE49-F238E27FC236}">
                <a16:creationId xmlns:a16="http://schemas.microsoft.com/office/drawing/2014/main" id="{12991FA0-341C-4371-A93F-37FD9F774791}"/>
              </a:ext>
            </a:extLst>
          </p:cNvPr>
          <p:cNvSpPr txBox="1">
            <a:spLocks noChangeArrowheads="1"/>
          </p:cNvSpPr>
          <p:nvPr/>
        </p:nvSpPr>
        <p:spPr bwMode="auto">
          <a:xfrm>
            <a:off x="323850" y="876300"/>
            <a:ext cx="3432175" cy="369888"/>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latin typeface="+mn-lt"/>
                <a:ea typeface="+mn-ea"/>
              </a:rPr>
              <a:t>例子  用逆推解法求解下面问题</a:t>
            </a:r>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FA838C5F-EA29-4FCB-AA1C-46764ECC9928}"/>
              </a:ext>
            </a:extLst>
          </p:cNvPr>
          <p:cNvSpPr>
            <a:spLocks noGrp="1" noChangeArrowheads="1"/>
          </p:cNvSpPr>
          <p:nvPr>
            <p:ph type="title"/>
          </p:nvPr>
        </p:nvSpPr>
        <p:spPr/>
        <p:txBody>
          <a:bodyPr/>
          <a:lstStyle/>
          <a:p>
            <a:pPr eaLnBrk="1" hangingPunct="1"/>
            <a:r>
              <a:rPr lang="zh-CN" altLang="en-US"/>
              <a:t>逆推解法</a:t>
            </a:r>
          </a:p>
        </p:txBody>
      </p:sp>
      <p:sp>
        <p:nvSpPr>
          <p:cNvPr id="8" name="Text Box 11">
            <a:extLst>
              <a:ext uri="{FF2B5EF4-FFF2-40B4-BE49-F238E27FC236}">
                <a16:creationId xmlns:a16="http://schemas.microsoft.com/office/drawing/2014/main" id="{8A73947A-B589-4422-A858-60A0DAB9ACE0}"/>
              </a:ext>
            </a:extLst>
          </p:cNvPr>
          <p:cNvSpPr txBox="1">
            <a:spLocks noChangeArrowheads="1"/>
          </p:cNvSpPr>
          <p:nvPr/>
        </p:nvSpPr>
        <p:spPr bwMode="auto">
          <a:xfrm>
            <a:off x="544513" y="849313"/>
            <a:ext cx="3354387" cy="368300"/>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a:t>(6)</a:t>
            </a:r>
            <a:r>
              <a:rPr lang="zh-CN" altLang="en-US" dirty="0"/>
              <a:t>动态规划基本方程的建立：</a:t>
            </a:r>
            <a:endParaRPr lang="en-US" altLang="zh-CN" dirty="0">
              <a:latin typeface="+mn-lt"/>
              <a:ea typeface="+mn-ea"/>
            </a:endParaRPr>
          </a:p>
        </p:txBody>
      </p:sp>
      <p:sp>
        <p:nvSpPr>
          <p:cNvPr id="7" name="矩形 6">
            <a:extLst>
              <a:ext uri="{FF2B5EF4-FFF2-40B4-BE49-F238E27FC236}">
                <a16:creationId xmlns:a16="http://schemas.microsoft.com/office/drawing/2014/main" id="{72D3B3BC-2987-426D-AEA8-496EB6A9AD51}"/>
              </a:ext>
            </a:extLst>
          </p:cNvPr>
          <p:cNvSpPr/>
          <p:nvPr/>
        </p:nvSpPr>
        <p:spPr>
          <a:xfrm>
            <a:off x="457200" y="1257300"/>
            <a:ext cx="8726488" cy="646113"/>
          </a:xfrm>
          <a:prstGeom prst="rect">
            <a:avLst/>
          </a:prstGeom>
        </p:spPr>
        <p:txBody>
          <a:bodyPr wrap="none">
            <a:spAutoFit/>
          </a:bodyPr>
          <a:lstStyle/>
          <a:p>
            <a:pPr>
              <a:defRPr/>
            </a:pPr>
            <a:r>
              <a:rPr lang="zh-CN" altLang="en-US" dirty="0">
                <a:solidFill>
                  <a:srgbClr val="FF00FF"/>
                </a:solidFill>
                <a:latin typeface="+mn-lt"/>
              </a:rPr>
              <a:t>令最优值函数</a:t>
            </a:r>
            <a:r>
              <a:rPr lang="en-US" altLang="zh-CN" i="1" dirty="0" err="1">
                <a:solidFill>
                  <a:srgbClr val="FF00FF"/>
                </a:solidFill>
                <a:latin typeface="+mn-lt"/>
              </a:rPr>
              <a:t>f</a:t>
            </a:r>
            <a:r>
              <a:rPr lang="en-US" altLang="zh-CN" i="1" baseline="-25000" dirty="0" err="1">
                <a:solidFill>
                  <a:srgbClr val="FF00FF"/>
                </a:solidFill>
                <a:latin typeface="+mn-lt"/>
              </a:rPr>
              <a:t>k</a:t>
            </a:r>
            <a:r>
              <a:rPr lang="en-US" altLang="zh-CN" dirty="0">
                <a:solidFill>
                  <a:srgbClr val="FF00FF"/>
                </a:solidFill>
                <a:latin typeface="+mn-lt"/>
              </a:rPr>
              <a:t>(</a:t>
            </a:r>
            <a:r>
              <a:rPr lang="en-US" altLang="zh-CN" i="1" dirty="0" err="1">
                <a:solidFill>
                  <a:srgbClr val="FF00FF"/>
                </a:solidFill>
                <a:latin typeface="+mn-lt"/>
              </a:rPr>
              <a:t>s</a:t>
            </a:r>
            <a:r>
              <a:rPr lang="en-US" altLang="zh-CN" i="1" baseline="-25000" dirty="0" err="1">
                <a:solidFill>
                  <a:srgbClr val="FF00FF"/>
                </a:solidFill>
                <a:latin typeface="+mn-lt"/>
              </a:rPr>
              <a:t>k</a:t>
            </a:r>
            <a:r>
              <a:rPr lang="en-US" altLang="zh-CN" dirty="0">
                <a:solidFill>
                  <a:srgbClr val="FF00FF"/>
                </a:solidFill>
                <a:latin typeface="+mn-lt"/>
              </a:rPr>
              <a:t>)</a:t>
            </a:r>
            <a:r>
              <a:rPr lang="zh-CN" altLang="en-US" dirty="0">
                <a:solidFill>
                  <a:srgbClr val="FF00FF"/>
                </a:solidFill>
                <a:latin typeface="+mn-lt"/>
              </a:rPr>
              <a:t>表示为第</a:t>
            </a:r>
            <a:r>
              <a:rPr lang="en-US" altLang="zh-CN" i="1" dirty="0">
                <a:solidFill>
                  <a:srgbClr val="FF00FF"/>
                </a:solidFill>
                <a:latin typeface="+mn-lt"/>
              </a:rPr>
              <a:t>k</a:t>
            </a:r>
            <a:r>
              <a:rPr lang="zh-CN" altLang="en-US" dirty="0">
                <a:solidFill>
                  <a:srgbClr val="FF00FF"/>
                </a:solidFill>
                <a:latin typeface="+mn-lt"/>
              </a:rPr>
              <a:t>阶段的初始状态为</a:t>
            </a:r>
            <a:r>
              <a:rPr lang="en-US" altLang="zh-CN" i="1" dirty="0" err="1">
                <a:solidFill>
                  <a:srgbClr val="FF00FF"/>
                </a:solidFill>
                <a:latin typeface="+mn-lt"/>
              </a:rPr>
              <a:t>s</a:t>
            </a:r>
            <a:r>
              <a:rPr lang="en-US" altLang="zh-CN" i="1" baseline="-25000" dirty="0" err="1">
                <a:solidFill>
                  <a:srgbClr val="FF00FF"/>
                </a:solidFill>
                <a:latin typeface="+mn-lt"/>
              </a:rPr>
              <a:t>k</a:t>
            </a:r>
            <a:r>
              <a:rPr lang="zh-CN" altLang="en-US" dirty="0">
                <a:solidFill>
                  <a:srgbClr val="FF00FF"/>
                </a:solidFill>
                <a:latin typeface="+mn-lt"/>
              </a:rPr>
              <a:t>，从</a:t>
            </a:r>
            <a:r>
              <a:rPr lang="en-US" altLang="zh-CN" i="1" dirty="0">
                <a:solidFill>
                  <a:srgbClr val="FF00FF"/>
                </a:solidFill>
                <a:latin typeface="+mn-lt"/>
              </a:rPr>
              <a:t>k</a:t>
            </a:r>
            <a:r>
              <a:rPr lang="zh-CN" altLang="en-US" dirty="0">
                <a:solidFill>
                  <a:srgbClr val="FF00FF"/>
                </a:solidFill>
                <a:latin typeface="+mn-lt"/>
              </a:rPr>
              <a:t>阶段到</a:t>
            </a:r>
            <a:r>
              <a:rPr lang="en-US" altLang="zh-CN" dirty="0">
                <a:solidFill>
                  <a:srgbClr val="FF00FF"/>
                </a:solidFill>
                <a:latin typeface="+mn-lt"/>
              </a:rPr>
              <a:t>3</a:t>
            </a:r>
            <a:r>
              <a:rPr lang="zh-CN" altLang="en-US" dirty="0">
                <a:solidFill>
                  <a:srgbClr val="FF00FF"/>
                </a:solidFill>
                <a:latin typeface="+mn-lt"/>
              </a:rPr>
              <a:t>阶段所得到的最大值。</a:t>
            </a:r>
            <a:endParaRPr lang="en-US" altLang="zh-CN" dirty="0">
              <a:solidFill>
                <a:srgbClr val="FF00FF"/>
              </a:solidFill>
              <a:latin typeface="+mn-lt"/>
            </a:endParaRPr>
          </a:p>
          <a:p>
            <a:pPr>
              <a:defRPr/>
            </a:pPr>
            <a:r>
              <a:rPr lang="zh-CN" altLang="en-US" dirty="0">
                <a:solidFill>
                  <a:srgbClr val="FF00FF"/>
                </a:solidFill>
                <a:latin typeface="+mn-lt"/>
              </a:rPr>
              <a:t>采用逆推解法，从后向前依次有</a:t>
            </a:r>
            <a:endParaRPr lang="zh-CN" altLang="en-US" dirty="0">
              <a:latin typeface="+mn-lt"/>
            </a:endParaRPr>
          </a:p>
        </p:txBody>
      </p:sp>
      <p:graphicFrame>
        <p:nvGraphicFramePr>
          <p:cNvPr id="41989" name="对象 8">
            <a:extLst>
              <a:ext uri="{FF2B5EF4-FFF2-40B4-BE49-F238E27FC236}">
                <a16:creationId xmlns:a16="http://schemas.microsoft.com/office/drawing/2014/main" id="{B7116155-A06E-4262-A694-3A031149C5D6}"/>
              </a:ext>
            </a:extLst>
          </p:cNvPr>
          <p:cNvGraphicFramePr>
            <a:graphicFrameLocks noChangeAspect="1"/>
          </p:cNvGraphicFramePr>
          <p:nvPr/>
        </p:nvGraphicFramePr>
        <p:xfrm>
          <a:off x="4386263" y="193675"/>
          <a:ext cx="3354387" cy="1003300"/>
        </p:xfrm>
        <a:graphic>
          <a:graphicData uri="http://schemas.openxmlformats.org/presentationml/2006/ole">
            <mc:AlternateContent xmlns:mc="http://schemas.openxmlformats.org/markup-compatibility/2006">
              <mc:Choice xmlns:v="urn:schemas-microsoft-com:vml" Requires="v">
                <p:oleObj spid="_x0000_s42073" name="Equation" r:id="rId3" imgW="2374900" imgH="711200" progId="Equation.DSMT4">
                  <p:embed/>
                </p:oleObj>
              </mc:Choice>
              <mc:Fallback>
                <p:oleObj name="Equation" r:id="rId3" imgW="2374900" imgH="7112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6263" y="193675"/>
                        <a:ext cx="3354387"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41990" name="对象 9">
                <a:extLst>
                  <a:ext uri="{FF2B5EF4-FFF2-40B4-BE49-F238E27FC236}">
                    <a16:creationId xmlns:a16="http://schemas.microsoft.com/office/drawing/2014/main" id="{4ECD8329-9D53-4E62-BB5E-8B9E6FB7E918}"/>
                  </a:ext>
                </a:extLst>
              </p:cNvPr>
              <p:cNvSpPr txBox="1"/>
              <p:nvPr/>
            </p:nvSpPr>
            <p:spPr bwMode="auto">
              <a:xfrm>
                <a:off x="560388" y="1958975"/>
                <a:ext cx="3822700" cy="5842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3</m:t>
                              </m:r>
                            </m:sub>
                          </m:sSub>
                        </m:e>
                      </m:d>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3</m:t>
                              </m:r>
                            </m:sub>
                          </m:sSub>
                        </m:lim>
                      </m:limLow>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e>
                      </m:d>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3</m:t>
                          </m:r>
                        </m:sub>
                      </m:sSub>
                    </m:oMath>
                  </m:oMathPara>
                </a14:m>
                <a:endParaRPr lang="zh-CN" altLang="en-US" dirty="0"/>
              </a:p>
            </p:txBody>
          </p:sp>
        </mc:Choice>
        <mc:Fallback xmlns="">
          <p:sp>
            <p:nvSpPr>
              <p:cNvPr id="41990" name="对象 9">
                <a:extLst>
                  <a:ext uri="{FF2B5EF4-FFF2-40B4-BE49-F238E27FC236}">
                    <a16:creationId xmlns:a16="http://schemas.microsoft.com/office/drawing/2014/main" id="{4ECD8329-9D53-4E62-BB5E-8B9E6FB7E918}"/>
                  </a:ext>
                </a:extLst>
              </p:cNvPr>
              <p:cNvSpPr txBox="1">
                <a:spLocks noRot="1" noChangeAspect="1" noMove="1" noResize="1" noEditPoints="1" noAdjustHandles="1" noChangeArrowheads="1" noChangeShapeType="1" noTextEdit="1"/>
              </p:cNvSpPr>
              <p:nvPr/>
            </p:nvSpPr>
            <p:spPr bwMode="auto">
              <a:xfrm>
                <a:off x="560388" y="1958975"/>
                <a:ext cx="3822700" cy="584200"/>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1" name="对象 13">
                <a:extLst>
                  <a:ext uri="{FF2B5EF4-FFF2-40B4-BE49-F238E27FC236}">
                    <a16:creationId xmlns:a16="http://schemas.microsoft.com/office/drawing/2014/main" id="{093577DB-FD47-4F1B-9D48-A2104FAD0658}"/>
                  </a:ext>
                </a:extLst>
              </p:cNvPr>
              <p:cNvSpPr txBox="1"/>
              <p:nvPr/>
            </p:nvSpPr>
            <p:spPr bwMode="auto">
              <a:xfrm>
                <a:off x="569913" y="2410636"/>
                <a:ext cx="7280101" cy="6096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2</m:t>
                              </m:r>
                            </m:sub>
                          </m:sSub>
                        </m:e>
                      </m:d>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en-US" altLang="zh-CN" i="1" smtClean="0">
                              <a:solidFill>
                                <a:srgbClr val="000000"/>
                              </a:solidFill>
                              <a:latin typeface="Cambria Math" panose="02040503050406030204" pitchFamily="18" charset="0"/>
                            </a:rPr>
                            <m:t>𝑢</m:t>
                          </m:r>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lim>
                      </m:limLow>
                      <m:d>
                        <m:dPr>
                          <m:ctrlPr>
                            <a:rPr lang="zh-CN" altLang="en-US" i="1">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𝑣</m:t>
                          </m:r>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𝑢</m:t>
                          </m:r>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𝑢</m:t>
                              </m:r>
                              <m:r>
                                <a:rPr lang="en-US" altLang="zh-CN"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𝑠</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m:t>
                              </m:r>
                            </m:e>
                          </m:d>
                        </m:e>
                      </m:d>
                    </m:oMath>
                  </m:oMathPara>
                </a14:m>
                <a:endParaRPr lang="zh-CN" altLang="en-US" dirty="0"/>
              </a:p>
            </p:txBody>
          </p:sp>
        </mc:Choice>
        <mc:Fallback xmlns="">
          <p:sp>
            <p:nvSpPr>
              <p:cNvPr id="41991" name="对象 13">
                <a:extLst>
                  <a:ext uri="{FF2B5EF4-FFF2-40B4-BE49-F238E27FC236}">
                    <a16:creationId xmlns:a16="http://schemas.microsoft.com/office/drawing/2014/main" id="{093577DB-FD47-4F1B-9D48-A2104FAD0658}"/>
                  </a:ext>
                </a:extLst>
              </p:cNvPr>
              <p:cNvSpPr txBox="1">
                <a:spLocks noRot="1" noChangeAspect="1" noMove="1" noResize="1" noEditPoints="1" noAdjustHandles="1" noChangeArrowheads="1" noChangeShapeType="1" noTextEdit="1"/>
              </p:cNvSpPr>
              <p:nvPr/>
            </p:nvSpPr>
            <p:spPr bwMode="auto">
              <a:xfrm>
                <a:off x="569913" y="2410636"/>
                <a:ext cx="7280101" cy="609600"/>
              </a:xfrm>
              <a:prstGeom prst="rect">
                <a:avLst/>
              </a:prstGeom>
              <a:blipFill>
                <a:blip r:embed="rId6"/>
                <a:stretch>
                  <a:fillRect/>
                </a:stretch>
              </a:blipFill>
              <a:ln>
                <a:noFill/>
              </a:ln>
            </p:spPr>
            <p:txBody>
              <a:bodyPr/>
              <a:lstStyle/>
              <a:p>
                <a:r>
                  <a:rPr lang="zh-CN" altLang="en-US">
                    <a:noFill/>
                  </a:rPr>
                  <a:t> </a:t>
                </a:r>
              </a:p>
            </p:txBody>
          </p:sp>
        </mc:Fallback>
      </mc:AlternateContent>
      <p:graphicFrame>
        <p:nvGraphicFramePr>
          <p:cNvPr id="41992" name="对象 14">
            <a:extLst>
              <a:ext uri="{FF2B5EF4-FFF2-40B4-BE49-F238E27FC236}">
                <a16:creationId xmlns:a16="http://schemas.microsoft.com/office/drawing/2014/main" id="{20927C7B-F1C7-4FB2-AE3F-C7175F077007}"/>
              </a:ext>
            </a:extLst>
          </p:cNvPr>
          <p:cNvGraphicFramePr>
            <a:graphicFrameLocks noChangeAspect="1"/>
          </p:cNvGraphicFramePr>
          <p:nvPr/>
        </p:nvGraphicFramePr>
        <p:xfrm>
          <a:off x="539750" y="3357563"/>
          <a:ext cx="6113463" cy="828675"/>
        </p:xfrm>
        <a:graphic>
          <a:graphicData uri="http://schemas.openxmlformats.org/presentationml/2006/ole">
            <mc:AlternateContent xmlns:mc="http://schemas.openxmlformats.org/markup-compatibility/2006">
              <mc:Choice xmlns:v="urn:schemas-microsoft-com:vml" Requires="v">
                <p:oleObj spid="_x0000_s42074" name="Equation" r:id="rId7" imgW="3187700" imgH="431800" progId="Equation.DSMT4">
                  <p:embed/>
                </p:oleObj>
              </mc:Choice>
              <mc:Fallback>
                <p:oleObj name="Equation" r:id="rId7" imgW="3187700" imgH="431800" progId="Equation.DSMT4">
                  <p:embed/>
                  <p:pic>
                    <p:nvPicPr>
                      <p:cNvPr id="0" name="对象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3357563"/>
                        <a:ext cx="6113463"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3" name="对象 15">
            <a:extLst>
              <a:ext uri="{FF2B5EF4-FFF2-40B4-BE49-F238E27FC236}">
                <a16:creationId xmlns:a16="http://schemas.microsoft.com/office/drawing/2014/main" id="{8D1C6227-1C57-4548-BEBE-70EAF1815F00}"/>
              </a:ext>
            </a:extLst>
          </p:cNvPr>
          <p:cNvGraphicFramePr>
            <a:graphicFrameLocks noChangeAspect="1"/>
          </p:cNvGraphicFramePr>
          <p:nvPr/>
        </p:nvGraphicFramePr>
        <p:xfrm>
          <a:off x="539750" y="4206875"/>
          <a:ext cx="8037513" cy="1071563"/>
        </p:xfrm>
        <a:graphic>
          <a:graphicData uri="http://schemas.openxmlformats.org/presentationml/2006/ole">
            <mc:AlternateContent xmlns:mc="http://schemas.openxmlformats.org/markup-compatibility/2006">
              <mc:Choice xmlns:v="urn:schemas-microsoft-com:vml" Requires="v">
                <p:oleObj spid="_x0000_s42075" name="Equation" r:id="rId9" imgW="4191000" imgH="558800" progId="Equation.DSMT4">
                  <p:embed/>
                </p:oleObj>
              </mc:Choice>
              <mc:Fallback>
                <p:oleObj name="Equation" r:id="rId9" imgW="4191000" imgH="558800" progId="Equation.DSMT4">
                  <p:embed/>
                  <p:pic>
                    <p:nvPicPr>
                      <p:cNvPr id="0" name="对象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750" y="4206875"/>
                        <a:ext cx="8037513"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4" name="对象 16">
            <a:extLst>
              <a:ext uri="{FF2B5EF4-FFF2-40B4-BE49-F238E27FC236}">
                <a16:creationId xmlns:a16="http://schemas.microsoft.com/office/drawing/2014/main" id="{B1D7E6E3-FE3E-40E1-B27E-6731AE2A5353}"/>
              </a:ext>
            </a:extLst>
          </p:cNvPr>
          <p:cNvGraphicFramePr>
            <a:graphicFrameLocks noChangeAspect="1"/>
          </p:cNvGraphicFramePr>
          <p:nvPr/>
        </p:nvGraphicFramePr>
        <p:xfrm>
          <a:off x="569913" y="5208588"/>
          <a:ext cx="4919662" cy="755650"/>
        </p:xfrm>
        <a:graphic>
          <a:graphicData uri="http://schemas.openxmlformats.org/presentationml/2006/ole">
            <mc:AlternateContent xmlns:mc="http://schemas.openxmlformats.org/markup-compatibility/2006">
              <mc:Choice xmlns:v="urn:schemas-microsoft-com:vml" Requires="v">
                <p:oleObj spid="_x0000_s42076" name="Equation" r:id="rId11" imgW="2565400" imgH="393700" progId="Equation.DSMT4">
                  <p:embed/>
                </p:oleObj>
              </mc:Choice>
              <mc:Fallback>
                <p:oleObj name="Equation" r:id="rId11" imgW="2565400" imgH="393700" progId="Equation.DSMT4">
                  <p:embed/>
                  <p:pic>
                    <p:nvPicPr>
                      <p:cNvPr id="0" name="对象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9913" y="5208588"/>
                        <a:ext cx="4919662"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5" name="对象 13">
                <a:extLst>
                  <a:ext uri="{FF2B5EF4-FFF2-40B4-BE49-F238E27FC236}">
                    <a16:creationId xmlns:a16="http://schemas.microsoft.com/office/drawing/2014/main" id="{354BC274-1855-49F7-812E-CB34C35652A9}"/>
                  </a:ext>
                </a:extLst>
              </p:cNvPr>
              <p:cNvSpPr txBox="1"/>
              <p:nvPr/>
            </p:nvSpPr>
            <p:spPr bwMode="auto">
              <a:xfrm>
                <a:off x="457200" y="2866628"/>
                <a:ext cx="8010525" cy="60960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2</m:t>
                              </m:r>
                            </m:sub>
                          </m:sSub>
                        </m:e>
                      </m:d>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0≤</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2</m:t>
                              </m:r>
                            </m:sub>
                          </m:sSub>
                        </m:lim>
                      </m:limLow>
                      <m:d>
                        <m:dPr>
                          <m:ctrlPr>
                            <a:rPr lang="zh-CN" altLang="en-US" i="1">
                              <a:solidFill>
                                <a:srgbClr val="000000"/>
                              </a:solidFill>
                              <a:latin typeface="Cambria Math" panose="02040503050406030204" pitchFamily="18" charset="0"/>
                            </a:rPr>
                          </m:ctrlPr>
                        </m:dPr>
                        <m:e>
                          <m:sSup>
                            <m:sSupPr>
                              <m:ctrlPr>
                                <a:rPr lang="en-US" altLang="zh-CN" b="0" i="1" smtClean="0">
                                  <a:solidFill>
                                    <a:srgbClr val="000000"/>
                                  </a:solidFill>
                                  <a:latin typeface="Cambria Math" panose="02040503050406030204" pitchFamily="18" charset="0"/>
                                </a:rPr>
                              </m:ctrlPr>
                            </m:sSupPr>
                            <m:e>
                              <m:d>
                                <m:dPr>
                                  <m:ctrlPr>
                                    <a:rPr lang="en-US" altLang="zh-CN" b="0" i="1" smtClean="0">
                                      <a:solidFill>
                                        <a:srgbClr val="000000"/>
                                      </a:solidFill>
                                      <a:latin typeface="Cambria Math" panose="02040503050406030204" pitchFamily="18" charset="0"/>
                                    </a:rPr>
                                  </m:ctrlPr>
                                </m:dPr>
                                <m:e>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3</m:t>
                                      </m:r>
                                    </m:sub>
                                  </m:sSub>
                                </m:e>
                              </m:d>
                            </m:e>
                            <m:sup>
                              <m:r>
                                <a:rPr lang="en-US" altLang="zh-CN" b="0" i="1" smtClean="0">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3</m:t>
                                  </m:r>
                                </m:sub>
                              </m:sSub>
                            </m:e>
                          </m:d>
                        </m:e>
                      </m:d>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2</m:t>
                              </m:r>
                            </m:sub>
                          </m:sSub>
                        </m:lim>
                      </m:limLow>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e>
                          </m:d>
                        </m:e>
                      </m:d>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2</m:t>
                              </m:r>
                            </m:sub>
                          </m:sSub>
                        </m:lim>
                      </m:limLow>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h</m:t>
                              </m:r>
                            </m:e>
                            <m:sub>
                              <m:r>
                                <a:rPr lang="zh-CN" altLang="en-US" i="1">
                                  <a:solidFill>
                                    <a:srgbClr val="000000"/>
                                  </a:solidFill>
                                  <a:latin typeface="Cambria Math" panose="02040503050406030204" pitchFamily="18" charset="0"/>
                                </a:rPr>
                                <m:t>2</m:t>
                              </m:r>
                            </m:sub>
                          </m:sSub>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e>
                          </m:d>
                        </m:e>
                      </m:d>
                    </m:oMath>
                  </m:oMathPara>
                </a14:m>
                <a:endParaRPr lang="zh-CN" altLang="en-US" dirty="0"/>
              </a:p>
            </p:txBody>
          </p:sp>
        </mc:Choice>
        <mc:Fallback xmlns="">
          <p:sp>
            <p:nvSpPr>
              <p:cNvPr id="15" name="对象 13">
                <a:extLst>
                  <a:ext uri="{FF2B5EF4-FFF2-40B4-BE49-F238E27FC236}">
                    <a16:creationId xmlns:a16="http://schemas.microsoft.com/office/drawing/2014/main" id="{354BC274-1855-49F7-812E-CB34C35652A9}"/>
                  </a:ext>
                </a:extLst>
              </p:cNvPr>
              <p:cNvSpPr txBox="1">
                <a:spLocks noRot="1" noChangeAspect="1" noMove="1" noResize="1" noEditPoints="1" noAdjustHandles="1" noChangeArrowheads="1" noChangeShapeType="1" noTextEdit="1"/>
              </p:cNvSpPr>
              <p:nvPr/>
            </p:nvSpPr>
            <p:spPr bwMode="auto">
              <a:xfrm>
                <a:off x="457200" y="2866628"/>
                <a:ext cx="8010525" cy="609600"/>
              </a:xfrm>
              <a:prstGeom prst="rect">
                <a:avLst/>
              </a:prstGeom>
              <a:blipFill>
                <a:blip r:embed="rId13"/>
                <a:stretch>
                  <a:fillRect/>
                </a:stretch>
              </a:blipFill>
              <a:ln>
                <a:noFill/>
              </a:ln>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3F5D94F-2DF8-423E-8487-9231513634BA}"/>
              </a:ext>
            </a:extLst>
          </p:cNvPr>
          <p:cNvSpPr>
            <a:spLocks noGrp="1" noChangeArrowheads="1"/>
          </p:cNvSpPr>
          <p:nvPr>
            <p:ph type="title"/>
          </p:nvPr>
        </p:nvSpPr>
        <p:spPr/>
        <p:txBody>
          <a:bodyPr/>
          <a:lstStyle/>
          <a:p>
            <a:pPr eaLnBrk="1" hangingPunct="1"/>
            <a:r>
              <a:rPr lang="zh-CN" altLang="en-US"/>
              <a:t>逆推解法</a:t>
            </a:r>
          </a:p>
        </p:txBody>
      </p:sp>
      <mc:AlternateContent xmlns:mc="http://schemas.openxmlformats.org/markup-compatibility/2006" xmlns:a14="http://schemas.microsoft.com/office/drawing/2010/main">
        <mc:Choice Requires="a14">
          <p:sp>
            <p:nvSpPr>
              <p:cNvPr id="43011" name="对象 3">
                <a:extLst>
                  <a:ext uri="{FF2B5EF4-FFF2-40B4-BE49-F238E27FC236}">
                    <a16:creationId xmlns:a16="http://schemas.microsoft.com/office/drawing/2014/main" id="{7E3A0D2D-ABA3-423B-98CA-26ED823D2A63}"/>
                  </a:ext>
                </a:extLst>
              </p:cNvPr>
              <p:cNvSpPr txBox="1"/>
              <p:nvPr/>
            </p:nvSpPr>
            <p:spPr bwMode="auto">
              <a:xfrm>
                <a:off x="448468" y="1330483"/>
                <a:ext cx="8132763" cy="1611312"/>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Sub>
                        </m:e>
                      </m:d>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0≤</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Sub>
                        </m:lim>
                      </m:limLow>
                      <m:d>
                        <m:dPr>
                          <m:ctrlPr>
                            <a:rPr lang="zh-CN" altLang="en-US" i="1">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1</m:t>
                              </m:r>
                            </m:sub>
                          </m:sSub>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2</m:t>
                                  </m:r>
                                </m:sub>
                              </m:sSub>
                            </m:e>
                          </m:d>
                        </m:e>
                      </m:d>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Sub>
                        </m:lim>
                      </m:limLow>
                      <m:d>
                        <m:dPr>
                          <m:ctrlPr>
                            <a:rPr lang="zh-CN" altLang="en-US"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𝑠</m:t>
                              </m:r>
                            </m:e>
                            <m:sub>
                              <m:r>
                                <a:rPr lang="en-US" altLang="zh-CN" i="1">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𝑠</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4</m:t>
                              </m:r>
                            </m:num>
                            <m:den>
                              <m:r>
                                <m:rPr>
                                  <m:nor/>
                                </m:rPr>
                                <a:rPr lang="zh-CN" altLang="en-US" i="0">
                                  <a:solidFill>
                                    <a:srgbClr val="000000"/>
                                  </a:solidFill>
                                  <a:latin typeface="Cambria Math" panose="02040503050406030204" pitchFamily="18" charset="0"/>
                                </a:rPr>
                                <m:t>27</m:t>
                              </m:r>
                            </m:den>
                          </m:f>
                          <m:sSubSup>
                            <m:sSubSupPr>
                              <m:ctrlPr>
                                <a:rPr lang="en-US" altLang="zh-CN" b="0" i="1" smtClean="0">
                                  <a:solidFill>
                                    <a:srgbClr val="000000"/>
                                  </a:solidFill>
                                  <a:latin typeface="Cambria Math" panose="02040503050406030204" pitchFamily="18" charset="0"/>
                                </a:rPr>
                              </m:ctrlPr>
                            </m:sSubSup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3</m:t>
                              </m:r>
                            </m:sup>
                          </m:sSubSup>
                        </m:e>
                      </m:d>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Sub>
                        </m:lim>
                      </m:limLow>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h</m:t>
                              </m:r>
                            </m:e>
                            <m:sub>
                              <m:r>
                                <a:rPr lang="zh-CN" altLang="en-US" i="1">
                                  <a:solidFill>
                                    <a:srgbClr val="000000"/>
                                  </a:solidFill>
                                  <a:latin typeface="Cambria Math" panose="02040503050406030204" pitchFamily="18" charset="0"/>
                                </a:rPr>
                                <m:t>1</m:t>
                              </m:r>
                            </m:sub>
                          </m:sSub>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𝑠</m:t>
                                  </m:r>
                                </m:e>
                                <m:sub>
                                  <m:r>
                                    <a:rPr lang="en-US" altLang="zh-CN" i="1">
                                      <a:solidFill>
                                        <a:srgbClr val="000000"/>
                                      </a:solidFill>
                                      <a:latin typeface="Cambria Math" panose="02040503050406030204" pitchFamily="18" charset="0"/>
                                    </a:rPr>
                                    <m:t>2</m:t>
                                  </m:r>
                                </m:sub>
                              </m:sSub>
                            </m:e>
                          </m:d>
                        </m:e>
                      </m:d>
                    </m:oMath>
                    <m:oMath xmlns:m="http://schemas.openxmlformats.org/officeDocument/2006/math">
                      <m:r>
                        <a:rPr lang="zh-CN" altLang="en-US" i="1">
                          <a:solidFill>
                            <a:srgbClr val="000000"/>
                          </a:solidFill>
                          <a:latin typeface="Cambria Math" panose="02040503050406030204" pitchFamily="18" charset="0"/>
                        </a:rPr>
                        <m:t>⇒</m:t>
                      </m:r>
                      <m:sSubSup>
                        <m:sSubSupPr>
                          <m:ctrlPr>
                            <a:rPr lang="en-US" altLang="zh-CN" b="0" i="1" smtClean="0">
                              <a:solidFill>
                                <a:srgbClr val="000000"/>
                              </a:solidFill>
                              <a:latin typeface="Cambria Math" panose="02040503050406030204" pitchFamily="18" charset="0"/>
                            </a:rPr>
                          </m:ctrlPr>
                        </m:sSubSup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2</m:t>
                          </m:r>
                        </m:sub>
                        <m:sup>
                          <m:r>
                            <a:rPr lang="en-US" altLang="zh-CN" b="0" i="1" smtClean="0">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en-US" altLang="zh-CN" b="0" i="1" smtClean="0">
                              <a:solidFill>
                                <a:srgbClr val="000000"/>
                              </a:solidFill>
                              <a:latin typeface="Cambria Math" panose="02040503050406030204" pitchFamily="18" charset="0"/>
                            </a:rPr>
                            <m:t>3</m:t>
                          </m:r>
                        </m:num>
                        <m:den>
                          <m:r>
                            <a:rPr lang="zh-CN" altLang="en-US" i="1">
                              <a:solidFill>
                                <a:srgbClr val="000000"/>
                              </a:solidFill>
                              <a:latin typeface="Cambria Math" panose="02040503050406030204" pitchFamily="18" charset="0"/>
                            </a:rPr>
                            <m:t>4</m:t>
                          </m:r>
                        </m:den>
                      </m:f>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Sub>
                      <m:func>
                        <m:funcPr>
                          <m:ctrlPr>
                            <a:rPr lang="zh-CN" altLang="en-US" i="1">
                              <a:solidFill>
                                <a:srgbClr val="000000"/>
                              </a:solidFill>
                              <a:latin typeface="Cambria Math" panose="02040503050406030204" pitchFamily="18" charset="0"/>
                            </a:rPr>
                          </m:ctrlPr>
                        </m:funcPr>
                        <m:fName>
                          <m:r>
                            <a:rPr lang="zh-CN" altLang="en-US" i="0">
                              <a:solidFill>
                                <a:srgbClr val="000000"/>
                              </a:solidFill>
                              <a:latin typeface="Cambria Math" panose="02040503050406030204" pitchFamily="18" charset="0"/>
                            </a:rPr>
                            <m:t>;</m:t>
                          </m:r>
                        </m:fName>
                        <m:e>
                          <m:r>
                            <a:rPr lang="zh-CN" altLang="en-US" i="1">
                              <a:solidFill>
                                <a:srgbClr val="000000"/>
                              </a:solidFill>
                              <a:latin typeface="Cambria Math" panose="02040503050406030204" pitchFamily="18" charset="0"/>
                            </a:rPr>
                            <m:t> </m:t>
                          </m:r>
                        </m:e>
                      </m:func>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Sub>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64</m:t>
                          </m:r>
                        </m:den>
                      </m:f>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4</m:t>
                          </m:r>
                        </m:sup>
                      </m:sSubSup>
                    </m:oMath>
                  </m:oMathPara>
                </a14:m>
                <a:endParaRPr lang="zh-CN" altLang="en-US" dirty="0"/>
              </a:p>
            </p:txBody>
          </p:sp>
        </mc:Choice>
        <mc:Fallback xmlns="">
          <p:sp>
            <p:nvSpPr>
              <p:cNvPr id="43011" name="对象 3">
                <a:extLst>
                  <a:ext uri="{FF2B5EF4-FFF2-40B4-BE49-F238E27FC236}">
                    <a16:creationId xmlns:a16="http://schemas.microsoft.com/office/drawing/2014/main" id="{7E3A0D2D-ABA3-423B-98CA-26ED823D2A63}"/>
                  </a:ext>
                </a:extLst>
              </p:cNvPr>
              <p:cNvSpPr txBox="1">
                <a:spLocks noRot="1" noChangeAspect="1" noMove="1" noResize="1" noEditPoints="1" noAdjustHandles="1" noChangeArrowheads="1" noChangeShapeType="1" noTextEdit="1"/>
              </p:cNvSpPr>
              <p:nvPr/>
            </p:nvSpPr>
            <p:spPr bwMode="auto">
              <a:xfrm>
                <a:off x="448468" y="1330483"/>
                <a:ext cx="8132763" cy="1611312"/>
              </a:xfrm>
              <a:prstGeom prst="rect">
                <a:avLst/>
              </a:prstGeom>
              <a:blipFill>
                <a:blip r:embed="rId3"/>
                <a:stretch>
                  <a:fillRect/>
                </a:stretch>
              </a:blipFill>
              <a:ln>
                <a:noFill/>
              </a:ln>
            </p:spPr>
            <p:txBody>
              <a:bodyPr/>
              <a:lstStyle/>
              <a:p>
                <a:r>
                  <a:rPr lang="zh-CN" altLang="en-US">
                    <a:noFill/>
                  </a:rPr>
                  <a:t> </a:t>
                </a:r>
              </a:p>
            </p:txBody>
          </p:sp>
        </mc:Fallback>
      </mc:AlternateContent>
      <p:graphicFrame>
        <p:nvGraphicFramePr>
          <p:cNvPr id="43012" name="对象 4">
            <a:extLst>
              <a:ext uri="{FF2B5EF4-FFF2-40B4-BE49-F238E27FC236}">
                <a16:creationId xmlns:a16="http://schemas.microsoft.com/office/drawing/2014/main" id="{DCB86731-1ED0-4775-A76F-6000A2E7FD34}"/>
              </a:ext>
            </a:extLst>
          </p:cNvPr>
          <p:cNvGraphicFramePr>
            <a:graphicFrameLocks noChangeAspect="1"/>
          </p:cNvGraphicFramePr>
          <p:nvPr>
            <p:extLst>
              <p:ext uri="{D42A27DB-BD31-4B8C-83A1-F6EECF244321}">
                <p14:modId xmlns:p14="http://schemas.microsoft.com/office/powerpoint/2010/main" val="4038578419"/>
              </p:ext>
            </p:extLst>
          </p:nvPr>
        </p:nvGraphicFramePr>
        <p:xfrm>
          <a:off x="4514850" y="104775"/>
          <a:ext cx="3176588" cy="950913"/>
        </p:xfrm>
        <a:graphic>
          <a:graphicData uri="http://schemas.openxmlformats.org/presentationml/2006/ole">
            <mc:AlternateContent xmlns:mc="http://schemas.openxmlformats.org/markup-compatibility/2006">
              <mc:Choice xmlns:v="urn:schemas-microsoft-com:vml" Requires="v">
                <p:oleObj spid="_x0000_s43109" name="Equation" r:id="rId4" imgW="2374900" imgH="711200" progId="Equation.DSMT4">
                  <p:embed/>
                </p:oleObj>
              </mc:Choice>
              <mc:Fallback>
                <p:oleObj name="Equation" r:id="rId4" imgW="2374900" imgH="711200" progId="Equation.DSMT4">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104775"/>
                        <a:ext cx="317658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3" name="矩形 5">
            <a:extLst>
              <a:ext uri="{FF2B5EF4-FFF2-40B4-BE49-F238E27FC236}">
                <a16:creationId xmlns:a16="http://schemas.microsoft.com/office/drawing/2014/main" id="{C7D27450-DC5C-4D69-B373-7F05BCCEE97B}"/>
              </a:ext>
            </a:extLst>
          </p:cNvPr>
          <p:cNvSpPr>
            <a:spLocks noChangeArrowheads="1"/>
          </p:cNvSpPr>
          <p:nvPr/>
        </p:nvSpPr>
        <p:spPr bwMode="auto">
          <a:xfrm>
            <a:off x="457200" y="2728913"/>
            <a:ext cx="815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t>由于已知</a:t>
            </a:r>
            <a:r>
              <a:rPr lang="en-US" altLang="zh-CN" i="1" dirty="0"/>
              <a:t>s</a:t>
            </a:r>
            <a:r>
              <a:rPr lang="en-US" altLang="zh-CN" baseline="-25000" dirty="0"/>
              <a:t>1</a:t>
            </a:r>
            <a:r>
              <a:rPr lang="en-US" altLang="zh-CN" dirty="0"/>
              <a:t>=</a:t>
            </a:r>
            <a:r>
              <a:rPr lang="en-US" altLang="zh-CN" i="1" dirty="0"/>
              <a:t>c</a:t>
            </a:r>
            <a:r>
              <a:rPr lang="en-US" altLang="zh-CN" dirty="0"/>
              <a:t>, </a:t>
            </a:r>
            <a:r>
              <a:rPr lang="zh-CN" altLang="en-US" dirty="0"/>
              <a:t>因此按计算的顺序反推，可得各阶段的最优决策和最优值。即</a:t>
            </a:r>
          </a:p>
        </p:txBody>
      </p:sp>
      <p:graphicFrame>
        <p:nvGraphicFramePr>
          <p:cNvPr id="43014" name="对象 6">
            <a:extLst>
              <a:ext uri="{FF2B5EF4-FFF2-40B4-BE49-F238E27FC236}">
                <a16:creationId xmlns:a16="http://schemas.microsoft.com/office/drawing/2014/main" id="{DB6E1626-123C-4E33-A226-74E23818D47E}"/>
              </a:ext>
            </a:extLst>
          </p:cNvPr>
          <p:cNvGraphicFramePr>
            <a:graphicFrameLocks noChangeAspect="1"/>
          </p:cNvGraphicFramePr>
          <p:nvPr/>
        </p:nvGraphicFramePr>
        <p:xfrm>
          <a:off x="611188" y="3114675"/>
          <a:ext cx="3019425" cy="755650"/>
        </p:xfrm>
        <a:graphic>
          <a:graphicData uri="http://schemas.openxmlformats.org/presentationml/2006/ole">
            <mc:AlternateContent xmlns:mc="http://schemas.openxmlformats.org/markup-compatibility/2006">
              <mc:Choice xmlns:v="urn:schemas-microsoft-com:vml" Requires="v">
                <p:oleObj spid="_x0000_s43110" name="Equation" r:id="rId6" imgW="1574800" imgH="393700" progId="Equation.DSMT4">
                  <p:embed/>
                </p:oleObj>
              </mc:Choice>
              <mc:Fallback>
                <p:oleObj name="Equation" r:id="rId6" imgW="1574800" imgH="393700" progId="Equation.DSMT4">
                  <p:embed/>
                  <p:pic>
                    <p:nvPicPr>
                      <p:cNvPr id="0"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188" y="3114675"/>
                        <a:ext cx="30194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5" name="对象 7">
            <a:extLst>
              <a:ext uri="{FF2B5EF4-FFF2-40B4-BE49-F238E27FC236}">
                <a16:creationId xmlns:a16="http://schemas.microsoft.com/office/drawing/2014/main" id="{D433632D-FB52-42F5-B42C-FE9D408AADFA}"/>
              </a:ext>
            </a:extLst>
          </p:cNvPr>
          <p:cNvGraphicFramePr>
            <a:graphicFrameLocks noChangeAspect="1"/>
          </p:cNvGraphicFramePr>
          <p:nvPr/>
        </p:nvGraphicFramePr>
        <p:xfrm>
          <a:off x="611188" y="3956050"/>
          <a:ext cx="7134225" cy="755650"/>
        </p:xfrm>
        <a:graphic>
          <a:graphicData uri="http://schemas.openxmlformats.org/presentationml/2006/ole">
            <mc:AlternateContent xmlns:mc="http://schemas.openxmlformats.org/markup-compatibility/2006">
              <mc:Choice xmlns:v="urn:schemas-microsoft-com:vml" Requires="v">
                <p:oleObj spid="_x0000_s43111" name="Equation" r:id="rId8" imgW="3721100" imgH="393700" progId="Equation.DSMT4">
                  <p:embed/>
                </p:oleObj>
              </mc:Choice>
              <mc:Fallback>
                <p:oleObj name="Equation" r:id="rId8" imgW="3721100" imgH="393700" progId="Equation.DSMT4">
                  <p:embed/>
                  <p:pic>
                    <p:nvPicPr>
                      <p:cNvPr id="0" name="对象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1188" y="3956050"/>
                        <a:ext cx="71342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6" name="对象 8">
            <a:extLst>
              <a:ext uri="{FF2B5EF4-FFF2-40B4-BE49-F238E27FC236}">
                <a16:creationId xmlns:a16="http://schemas.microsoft.com/office/drawing/2014/main" id="{B3D7FBEF-2929-49F7-A66E-D2FA4034371B}"/>
              </a:ext>
            </a:extLst>
          </p:cNvPr>
          <p:cNvGraphicFramePr>
            <a:graphicFrameLocks noChangeAspect="1"/>
          </p:cNvGraphicFramePr>
          <p:nvPr/>
        </p:nvGraphicFramePr>
        <p:xfrm>
          <a:off x="611188" y="4813300"/>
          <a:ext cx="6403975" cy="755650"/>
        </p:xfrm>
        <a:graphic>
          <a:graphicData uri="http://schemas.openxmlformats.org/presentationml/2006/ole">
            <mc:AlternateContent xmlns:mc="http://schemas.openxmlformats.org/markup-compatibility/2006">
              <mc:Choice xmlns:v="urn:schemas-microsoft-com:vml" Requires="v">
                <p:oleObj spid="_x0000_s43112" name="Equation" r:id="rId10" imgW="3340100" imgH="393700" progId="Equation.DSMT4">
                  <p:embed/>
                </p:oleObj>
              </mc:Choice>
              <mc:Fallback>
                <p:oleObj name="Equation" r:id="rId10" imgW="3340100" imgH="393700" progId="Equation.DSMT4">
                  <p:embed/>
                  <p:pic>
                    <p:nvPicPr>
                      <p:cNvPr id="0" name="对象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1188" y="4813300"/>
                        <a:ext cx="640397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7" name="矩形 9">
            <a:extLst>
              <a:ext uri="{FF2B5EF4-FFF2-40B4-BE49-F238E27FC236}">
                <a16:creationId xmlns:a16="http://schemas.microsoft.com/office/drawing/2014/main" id="{C447223F-CCEF-42F7-A09B-A576CF2542B3}"/>
              </a:ext>
            </a:extLst>
          </p:cNvPr>
          <p:cNvSpPr>
            <a:spLocks noChangeArrowheads="1"/>
          </p:cNvSpPr>
          <p:nvPr/>
        </p:nvSpPr>
        <p:spPr bwMode="auto">
          <a:xfrm>
            <a:off x="492125" y="603408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最大值为</a:t>
            </a:r>
          </a:p>
        </p:txBody>
      </p:sp>
      <p:graphicFrame>
        <p:nvGraphicFramePr>
          <p:cNvPr id="43018" name="对象 10">
            <a:extLst>
              <a:ext uri="{FF2B5EF4-FFF2-40B4-BE49-F238E27FC236}">
                <a16:creationId xmlns:a16="http://schemas.microsoft.com/office/drawing/2014/main" id="{BA3FF76D-4BDC-4A98-B380-478D7A609E0E}"/>
              </a:ext>
            </a:extLst>
          </p:cNvPr>
          <p:cNvGraphicFramePr>
            <a:graphicFrameLocks noChangeAspect="1"/>
          </p:cNvGraphicFramePr>
          <p:nvPr/>
        </p:nvGraphicFramePr>
        <p:xfrm>
          <a:off x="1743075" y="5842000"/>
          <a:ext cx="2654300" cy="755650"/>
        </p:xfrm>
        <a:graphic>
          <a:graphicData uri="http://schemas.openxmlformats.org/presentationml/2006/ole">
            <mc:AlternateContent xmlns:mc="http://schemas.openxmlformats.org/markup-compatibility/2006">
              <mc:Choice xmlns:v="urn:schemas-microsoft-com:vml" Requires="v">
                <p:oleObj spid="_x0000_s43113" name="Equation" r:id="rId12" imgW="1384300" imgH="393700" progId="Equation.DSMT4">
                  <p:embed/>
                </p:oleObj>
              </mc:Choice>
              <mc:Fallback>
                <p:oleObj name="Equation" r:id="rId12" imgW="1384300" imgH="393700" progId="Equation.DSMT4">
                  <p:embed/>
                  <p:pic>
                    <p:nvPicPr>
                      <p:cNvPr id="0" name="对象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43075" y="5842000"/>
                        <a:ext cx="265430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1" name="对象 13">
                <a:extLst>
                  <a:ext uri="{FF2B5EF4-FFF2-40B4-BE49-F238E27FC236}">
                    <a16:creationId xmlns:a16="http://schemas.microsoft.com/office/drawing/2014/main" id="{4256B5E3-2F0F-4093-AE8D-A45FC7AF0F00}"/>
                  </a:ext>
                </a:extLst>
              </p:cNvPr>
              <p:cNvSpPr txBox="1"/>
              <p:nvPr/>
            </p:nvSpPr>
            <p:spPr bwMode="auto">
              <a:xfrm>
                <a:off x="519113" y="959653"/>
                <a:ext cx="3887962" cy="6096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1</m:t>
                              </m:r>
                            </m:sub>
                          </m:sSub>
                        </m:e>
                      </m:d>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en-US" altLang="zh-CN" i="1" smtClean="0">
                              <a:solidFill>
                                <a:srgbClr val="000000"/>
                              </a:solidFill>
                              <a:latin typeface="Cambria Math" panose="02040503050406030204" pitchFamily="18" charset="0"/>
                            </a:rPr>
                            <m:t>𝑢</m:t>
                          </m:r>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lim>
                      </m:limLow>
                      <m:d>
                        <m:dPr>
                          <m:ctrlPr>
                            <a:rPr lang="zh-CN" altLang="en-US" i="1">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𝑣</m:t>
                          </m:r>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1</m:t>
                              </m:r>
                            </m:sub>
                          </m:sSub>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𝑢</m:t>
                          </m:r>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1</m:t>
                              </m:r>
                            </m:sub>
                          </m:sSub>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𝑢</m:t>
                              </m:r>
                              <m:r>
                                <a:rPr lang="en-US" altLang="zh-CN"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m:t>
                              </m:r>
                            </m:e>
                          </m:d>
                        </m:e>
                      </m:d>
                    </m:oMath>
                  </m:oMathPara>
                </a14:m>
                <a:endParaRPr lang="zh-CN" altLang="en-US" dirty="0"/>
              </a:p>
            </p:txBody>
          </p:sp>
        </mc:Choice>
        <mc:Fallback xmlns="">
          <p:sp>
            <p:nvSpPr>
              <p:cNvPr id="11" name="对象 13">
                <a:extLst>
                  <a:ext uri="{FF2B5EF4-FFF2-40B4-BE49-F238E27FC236}">
                    <a16:creationId xmlns:a16="http://schemas.microsoft.com/office/drawing/2014/main" id="{4256B5E3-2F0F-4093-AE8D-A45FC7AF0F00}"/>
                  </a:ext>
                </a:extLst>
              </p:cNvPr>
              <p:cNvSpPr txBox="1">
                <a:spLocks noRot="1" noChangeAspect="1" noMove="1" noResize="1" noEditPoints="1" noAdjustHandles="1" noChangeArrowheads="1" noChangeShapeType="1" noTextEdit="1"/>
              </p:cNvSpPr>
              <p:nvPr/>
            </p:nvSpPr>
            <p:spPr bwMode="auto">
              <a:xfrm>
                <a:off x="519113" y="959653"/>
                <a:ext cx="3887962" cy="609600"/>
              </a:xfrm>
              <a:prstGeom prst="rect">
                <a:avLst/>
              </a:prstGeom>
              <a:blipFill>
                <a:blip r:embed="rId14"/>
                <a:stretch>
                  <a:fillRect/>
                </a:stretch>
              </a:blipFill>
              <a:ln>
                <a:noFill/>
              </a:ln>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E59B5473-3010-4990-BF15-01570FA39CCD}"/>
              </a:ext>
            </a:extLst>
          </p:cNvPr>
          <p:cNvSpPr>
            <a:spLocks noGrp="1" noChangeArrowheads="1"/>
          </p:cNvSpPr>
          <p:nvPr>
            <p:ph type="title"/>
          </p:nvPr>
        </p:nvSpPr>
        <p:spPr/>
        <p:txBody>
          <a:bodyPr/>
          <a:lstStyle/>
          <a:p>
            <a:pPr eaLnBrk="1" hangingPunct="1">
              <a:defRPr/>
            </a:pPr>
            <a:r>
              <a:rPr lang="en-US" altLang="zh-CN" i="1" dirty="0">
                <a:latin typeface="+mn-lt"/>
              </a:rPr>
              <a:t>n</a:t>
            </a:r>
            <a:r>
              <a:rPr lang="zh-CN" altLang="en-US" dirty="0"/>
              <a:t>阶段决策过程</a:t>
            </a:r>
          </a:p>
        </p:txBody>
      </p:sp>
      <p:grpSp>
        <p:nvGrpSpPr>
          <p:cNvPr id="44035" name="Group 48">
            <a:extLst>
              <a:ext uri="{FF2B5EF4-FFF2-40B4-BE49-F238E27FC236}">
                <a16:creationId xmlns:a16="http://schemas.microsoft.com/office/drawing/2014/main" id="{73B8944F-53D3-4C43-A672-0E6FD7CA901A}"/>
              </a:ext>
            </a:extLst>
          </p:cNvPr>
          <p:cNvGrpSpPr>
            <a:grpSpLocks/>
          </p:cNvGrpSpPr>
          <p:nvPr/>
        </p:nvGrpSpPr>
        <p:grpSpPr bwMode="auto">
          <a:xfrm>
            <a:off x="107950" y="2060575"/>
            <a:ext cx="8813800" cy="2503488"/>
            <a:chOff x="208" y="1824"/>
            <a:chExt cx="5552" cy="1577"/>
          </a:xfrm>
        </p:grpSpPr>
        <p:sp>
          <p:nvSpPr>
            <p:cNvPr id="44049" name="Line 4">
              <a:extLst>
                <a:ext uri="{FF2B5EF4-FFF2-40B4-BE49-F238E27FC236}">
                  <a16:creationId xmlns:a16="http://schemas.microsoft.com/office/drawing/2014/main" id="{FFEA8344-F3EB-4348-BACD-2667A85CA922}"/>
                </a:ext>
              </a:extLst>
            </p:cNvPr>
            <p:cNvSpPr>
              <a:spLocks noChangeShapeType="1"/>
            </p:cNvSpPr>
            <p:nvPr/>
          </p:nvSpPr>
          <p:spPr bwMode="auto">
            <a:xfrm>
              <a:off x="480" y="2626"/>
              <a:ext cx="432" cy="0"/>
            </a:xfrm>
            <a:prstGeom prst="line">
              <a:avLst/>
            </a:prstGeom>
            <a:noFill/>
            <a:ln w="28575">
              <a:solidFill>
                <a:srgbClr val="00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50" name="Line 5">
              <a:extLst>
                <a:ext uri="{FF2B5EF4-FFF2-40B4-BE49-F238E27FC236}">
                  <a16:creationId xmlns:a16="http://schemas.microsoft.com/office/drawing/2014/main" id="{D60520BC-4805-4EE9-814F-75BF1A55480A}"/>
                </a:ext>
              </a:extLst>
            </p:cNvPr>
            <p:cNvSpPr>
              <a:spLocks noChangeShapeType="1"/>
            </p:cNvSpPr>
            <p:nvPr/>
          </p:nvSpPr>
          <p:spPr bwMode="auto">
            <a:xfrm>
              <a:off x="1310" y="2626"/>
              <a:ext cx="432" cy="0"/>
            </a:xfrm>
            <a:prstGeom prst="line">
              <a:avLst/>
            </a:prstGeom>
            <a:noFill/>
            <a:ln w="28575">
              <a:solidFill>
                <a:srgbClr val="00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51" name="Text Box 6">
              <a:extLst>
                <a:ext uri="{FF2B5EF4-FFF2-40B4-BE49-F238E27FC236}">
                  <a16:creationId xmlns:a16="http://schemas.microsoft.com/office/drawing/2014/main" id="{6816064E-58C0-4E9E-A129-CB92B2E6361E}"/>
                </a:ext>
              </a:extLst>
            </p:cNvPr>
            <p:cNvSpPr txBox="1">
              <a:spLocks noChangeArrowheads="1"/>
            </p:cNvSpPr>
            <p:nvPr/>
          </p:nvSpPr>
          <p:spPr bwMode="auto">
            <a:xfrm>
              <a:off x="892" y="2482"/>
              <a:ext cx="404" cy="2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a:t>1</a:t>
              </a:r>
            </a:p>
          </p:txBody>
        </p:sp>
        <p:sp>
          <p:nvSpPr>
            <p:cNvPr id="44052" name="Line 7">
              <a:extLst>
                <a:ext uri="{FF2B5EF4-FFF2-40B4-BE49-F238E27FC236}">
                  <a16:creationId xmlns:a16="http://schemas.microsoft.com/office/drawing/2014/main" id="{F103FBBE-1809-404C-82AC-DFBF013052B3}"/>
                </a:ext>
              </a:extLst>
            </p:cNvPr>
            <p:cNvSpPr>
              <a:spLocks noChangeShapeType="1"/>
            </p:cNvSpPr>
            <p:nvPr/>
          </p:nvSpPr>
          <p:spPr bwMode="auto">
            <a:xfrm>
              <a:off x="1104" y="2112"/>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53" name="Line 8">
              <a:extLst>
                <a:ext uri="{FF2B5EF4-FFF2-40B4-BE49-F238E27FC236}">
                  <a16:creationId xmlns:a16="http://schemas.microsoft.com/office/drawing/2014/main" id="{C72D3E0C-5F27-49C6-A27C-D0D859F89479}"/>
                </a:ext>
              </a:extLst>
            </p:cNvPr>
            <p:cNvSpPr>
              <a:spLocks noChangeShapeType="1"/>
            </p:cNvSpPr>
            <p:nvPr/>
          </p:nvSpPr>
          <p:spPr bwMode="auto">
            <a:xfrm>
              <a:off x="1104" y="2784"/>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 name="Text Box 9">
              <a:extLst>
                <a:ext uri="{FF2B5EF4-FFF2-40B4-BE49-F238E27FC236}">
                  <a16:creationId xmlns:a16="http://schemas.microsoft.com/office/drawing/2014/main" id="{34BBD115-85B7-41AA-A77C-A733D60FD0A7}"/>
                </a:ext>
              </a:extLst>
            </p:cNvPr>
            <p:cNvSpPr txBox="1">
              <a:spLocks noChangeArrowheads="1"/>
            </p:cNvSpPr>
            <p:nvPr/>
          </p:nvSpPr>
          <p:spPr bwMode="auto">
            <a:xfrm>
              <a:off x="344" y="2304"/>
              <a:ext cx="616" cy="233"/>
            </a:xfrm>
            <a:prstGeom prst="rect">
              <a:avLst/>
            </a:prstGeom>
            <a:noFill/>
            <a:ln w="9525">
              <a:noFill/>
              <a:miter lim="800000"/>
              <a:headEnd/>
              <a:tailEnd/>
            </a:ln>
            <a:effectLst/>
          </p:spPr>
          <p:txBody>
            <a:bodyPr>
              <a:spAutoFit/>
            </a:bodyPr>
            <a:lstStyle/>
            <a:p>
              <a:pPr eaLnBrk="1" hangingPunct="1">
                <a:spcBef>
                  <a:spcPct val="50000"/>
                </a:spcBef>
                <a:defRPr/>
              </a:pPr>
              <a:r>
                <a:rPr lang="zh-CN" altLang="en-US">
                  <a:latin typeface="Arial" charset="0"/>
                </a:rPr>
                <a:t>状态</a:t>
              </a:r>
              <a:r>
                <a:rPr lang="en-US" altLang="zh-CN" i="1">
                  <a:latin typeface="+mn-lt"/>
                </a:rPr>
                <a:t>s</a:t>
              </a:r>
              <a:r>
                <a:rPr lang="en-US" altLang="zh-CN" baseline="-25000">
                  <a:latin typeface="+mn-lt"/>
                </a:rPr>
                <a:t>1</a:t>
              </a:r>
              <a:endParaRPr lang="en-US" altLang="zh-CN" dirty="0">
                <a:latin typeface="+mn-lt"/>
              </a:endParaRPr>
            </a:p>
          </p:txBody>
        </p:sp>
        <p:sp>
          <p:nvSpPr>
            <p:cNvPr id="37" name="Text Box 10">
              <a:extLst>
                <a:ext uri="{FF2B5EF4-FFF2-40B4-BE49-F238E27FC236}">
                  <a16:creationId xmlns:a16="http://schemas.microsoft.com/office/drawing/2014/main" id="{C811BEBC-A116-4B81-BFC2-B60EBB3ED776}"/>
                </a:ext>
              </a:extLst>
            </p:cNvPr>
            <p:cNvSpPr txBox="1">
              <a:spLocks noChangeArrowheads="1"/>
            </p:cNvSpPr>
            <p:nvPr/>
          </p:nvSpPr>
          <p:spPr bwMode="auto">
            <a:xfrm>
              <a:off x="1392" y="2304"/>
              <a:ext cx="624"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baseline="-25000">
                  <a:latin typeface="+mn-lt"/>
                </a:rPr>
                <a:t>2</a:t>
              </a:r>
              <a:endParaRPr lang="en-US" altLang="zh-CN" dirty="0">
                <a:latin typeface="+mn-lt"/>
              </a:endParaRPr>
            </a:p>
          </p:txBody>
        </p:sp>
        <p:sp>
          <p:nvSpPr>
            <p:cNvPr id="38" name="Text Box 11">
              <a:extLst>
                <a:ext uri="{FF2B5EF4-FFF2-40B4-BE49-F238E27FC236}">
                  <a16:creationId xmlns:a16="http://schemas.microsoft.com/office/drawing/2014/main" id="{D784ED28-6C43-4C9A-97F5-CFA69BB54805}"/>
                </a:ext>
              </a:extLst>
            </p:cNvPr>
            <p:cNvSpPr txBox="1">
              <a:spLocks noChangeArrowheads="1"/>
            </p:cNvSpPr>
            <p:nvPr/>
          </p:nvSpPr>
          <p:spPr bwMode="auto">
            <a:xfrm>
              <a:off x="208" y="3168"/>
              <a:ext cx="1232" cy="233"/>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latin typeface="Arial" charset="0"/>
                </a:rPr>
                <a:t>阶段效益</a:t>
              </a:r>
              <a:r>
                <a:rPr lang="en-US" altLang="zh-CN" i="1" dirty="0">
                  <a:latin typeface="+mn-lt"/>
                </a:rPr>
                <a:t>v</a:t>
              </a:r>
              <a:r>
                <a:rPr lang="en-US" altLang="zh-CN" baseline="-25000" dirty="0">
                  <a:latin typeface="+mn-lt"/>
                </a:rPr>
                <a:t>1 </a:t>
              </a:r>
              <a:r>
                <a:rPr lang="en-US" altLang="zh-CN" dirty="0">
                  <a:latin typeface="+mn-lt"/>
                </a:rPr>
                <a:t>(</a:t>
              </a:r>
              <a:r>
                <a:rPr lang="en-US" altLang="zh-CN" i="1" dirty="0">
                  <a:latin typeface="+mn-lt"/>
                </a:rPr>
                <a:t>s</a:t>
              </a:r>
              <a:r>
                <a:rPr lang="en-US" altLang="zh-CN" baseline="-25000" dirty="0">
                  <a:latin typeface="+mn-lt"/>
                </a:rPr>
                <a:t>2</a:t>
              </a:r>
              <a:r>
                <a:rPr lang="en-US" altLang="zh-CN" dirty="0">
                  <a:latin typeface="+mn-lt"/>
                </a:rPr>
                <a:t>,</a:t>
              </a:r>
              <a:r>
                <a:rPr lang="en-US" altLang="zh-CN" baseline="-25000" dirty="0">
                  <a:latin typeface="+mn-lt"/>
                </a:rPr>
                <a:t> </a:t>
              </a:r>
              <a:r>
                <a:rPr lang="en-US" altLang="zh-CN" i="1" dirty="0">
                  <a:latin typeface="+mn-lt"/>
                </a:rPr>
                <a:t>x</a:t>
              </a:r>
              <a:r>
                <a:rPr lang="en-US" altLang="zh-CN" baseline="-25000" dirty="0">
                  <a:latin typeface="+mn-lt"/>
                </a:rPr>
                <a:t>1</a:t>
              </a:r>
              <a:r>
                <a:rPr lang="en-US" altLang="zh-CN" dirty="0">
                  <a:latin typeface="+mn-lt"/>
                </a:rPr>
                <a:t>)</a:t>
              </a:r>
            </a:p>
          </p:txBody>
        </p:sp>
        <p:sp>
          <p:nvSpPr>
            <p:cNvPr id="39" name="Text Box 12">
              <a:extLst>
                <a:ext uri="{FF2B5EF4-FFF2-40B4-BE49-F238E27FC236}">
                  <a16:creationId xmlns:a16="http://schemas.microsoft.com/office/drawing/2014/main" id="{3A30957F-A39E-48EF-BAC7-F1CA9E31D05F}"/>
                </a:ext>
              </a:extLst>
            </p:cNvPr>
            <p:cNvSpPr txBox="1">
              <a:spLocks noChangeArrowheads="1"/>
            </p:cNvSpPr>
            <p:nvPr/>
          </p:nvSpPr>
          <p:spPr bwMode="auto">
            <a:xfrm>
              <a:off x="752" y="1824"/>
              <a:ext cx="576" cy="233"/>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latin typeface="Arial" charset="0"/>
                </a:rPr>
                <a:t>决策</a:t>
              </a:r>
              <a:r>
                <a:rPr lang="en-US" altLang="zh-CN" i="1" dirty="0">
                  <a:latin typeface="+mn-lt"/>
                </a:rPr>
                <a:t>x</a:t>
              </a:r>
              <a:r>
                <a:rPr lang="en-US" altLang="zh-CN" baseline="-25000" dirty="0">
                  <a:latin typeface="+mn-lt"/>
                </a:rPr>
                <a:t>1</a:t>
              </a:r>
              <a:endParaRPr lang="en-US" altLang="zh-CN" dirty="0">
                <a:latin typeface="+mn-lt"/>
              </a:endParaRPr>
            </a:p>
          </p:txBody>
        </p:sp>
        <p:sp>
          <p:nvSpPr>
            <p:cNvPr id="44058" name="Line 15">
              <a:extLst>
                <a:ext uri="{FF2B5EF4-FFF2-40B4-BE49-F238E27FC236}">
                  <a16:creationId xmlns:a16="http://schemas.microsoft.com/office/drawing/2014/main" id="{FFE29D75-8ABF-4381-B8F2-AE7CDAF5C980}"/>
                </a:ext>
              </a:extLst>
            </p:cNvPr>
            <p:cNvSpPr>
              <a:spLocks noChangeShapeType="1"/>
            </p:cNvSpPr>
            <p:nvPr/>
          </p:nvSpPr>
          <p:spPr bwMode="auto">
            <a:xfrm>
              <a:off x="2140" y="2626"/>
              <a:ext cx="432" cy="0"/>
            </a:xfrm>
            <a:prstGeom prst="line">
              <a:avLst/>
            </a:prstGeom>
            <a:noFill/>
            <a:ln w="28575">
              <a:solidFill>
                <a:srgbClr val="00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59" name="Text Box 16">
              <a:extLst>
                <a:ext uri="{FF2B5EF4-FFF2-40B4-BE49-F238E27FC236}">
                  <a16:creationId xmlns:a16="http://schemas.microsoft.com/office/drawing/2014/main" id="{D7ADFDAB-A8F4-4109-8382-5795BC07A1AB}"/>
                </a:ext>
              </a:extLst>
            </p:cNvPr>
            <p:cNvSpPr txBox="1">
              <a:spLocks noChangeArrowheads="1"/>
            </p:cNvSpPr>
            <p:nvPr/>
          </p:nvSpPr>
          <p:spPr bwMode="auto">
            <a:xfrm>
              <a:off x="1722" y="2482"/>
              <a:ext cx="404" cy="2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a:t>2</a:t>
              </a:r>
            </a:p>
          </p:txBody>
        </p:sp>
        <p:sp>
          <p:nvSpPr>
            <p:cNvPr id="44060" name="Line 17">
              <a:extLst>
                <a:ext uri="{FF2B5EF4-FFF2-40B4-BE49-F238E27FC236}">
                  <a16:creationId xmlns:a16="http://schemas.microsoft.com/office/drawing/2014/main" id="{F2DE809B-C2EC-4164-A295-F7A69343FD4D}"/>
                </a:ext>
              </a:extLst>
            </p:cNvPr>
            <p:cNvSpPr>
              <a:spLocks noChangeShapeType="1"/>
            </p:cNvSpPr>
            <p:nvPr/>
          </p:nvSpPr>
          <p:spPr bwMode="auto">
            <a:xfrm>
              <a:off x="1934" y="2112"/>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61" name="Line 18">
              <a:extLst>
                <a:ext uri="{FF2B5EF4-FFF2-40B4-BE49-F238E27FC236}">
                  <a16:creationId xmlns:a16="http://schemas.microsoft.com/office/drawing/2014/main" id="{E096FA98-41F2-40F7-BCE2-E57DA2F6DA39}"/>
                </a:ext>
              </a:extLst>
            </p:cNvPr>
            <p:cNvSpPr>
              <a:spLocks noChangeShapeType="1"/>
            </p:cNvSpPr>
            <p:nvPr/>
          </p:nvSpPr>
          <p:spPr bwMode="auto">
            <a:xfrm>
              <a:off x="1934" y="2784"/>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62" name="Text Box 19">
              <a:extLst>
                <a:ext uri="{FF2B5EF4-FFF2-40B4-BE49-F238E27FC236}">
                  <a16:creationId xmlns:a16="http://schemas.microsoft.com/office/drawing/2014/main" id="{9F63227A-C0EF-40DC-A8A4-FF3388EA72A0}"/>
                </a:ext>
              </a:extLst>
            </p:cNvPr>
            <p:cNvSpPr txBox="1">
              <a:spLocks noChangeArrowheads="1"/>
            </p:cNvSpPr>
            <p:nvPr/>
          </p:nvSpPr>
          <p:spPr bwMode="auto">
            <a:xfrm>
              <a:off x="1310" y="230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en-US" altLang="zh-CN"/>
            </a:p>
          </p:txBody>
        </p:sp>
        <p:sp>
          <p:nvSpPr>
            <p:cNvPr id="46" name="Text Box 20">
              <a:extLst>
                <a:ext uri="{FF2B5EF4-FFF2-40B4-BE49-F238E27FC236}">
                  <a16:creationId xmlns:a16="http://schemas.microsoft.com/office/drawing/2014/main" id="{2300E8A2-27B6-4077-A44F-D3260A5D1554}"/>
                </a:ext>
              </a:extLst>
            </p:cNvPr>
            <p:cNvSpPr txBox="1">
              <a:spLocks noChangeArrowheads="1"/>
            </p:cNvSpPr>
            <p:nvPr/>
          </p:nvSpPr>
          <p:spPr bwMode="auto">
            <a:xfrm>
              <a:off x="2242" y="2304"/>
              <a:ext cx="542"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baseline="-25000">
                  <a:latin typeface="+mn-lt"/>
                </a:rPr>
                <a:t>3</a:t>
              </a:r>
              <a:endParaRPr lang="en-US" altLang="zh-CN" dirty="0">
                <a:latin typeface="+mn-lt"/>
              </a:endParaRPr>
            </a:p>
          </p:txBody>
        </p:sp>
        <p:sp>
          <p:nvSpPr>
            <p:cNvPr id="47" name="Text Box 21">
              <a:extLst>
                <a:ext uri="{FF2B5EF4-FFF2-40B4-BE49-F238E27FC236}">
                  <a16:creationId xmlns:a16="http://schemas.microsoft.com/office/drawing/2014/main" id="{747D4333-79B3-445B-9990-F9D608E1F674}"/>
                </a:ext>
              </a:extLst>
            </p:cNvPr>
            <p:cNvSpPr txBox="1">
              <a:spLocks noChangeArrowheads="1"/>
            </p:cNvSpPr>
            <p:nvPr/>
          </p:nvSpPr>
          <p:spPr bwMode="auto">
            <a:xfrm>
              <a:off x="1536" y="3168"/>
              <a:ext cx="768"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a:latin typeface="+mn-lt"/>
                </a:rPr>
                <a:t>v</a:t>
              </a:r>
              <a:r>
                <a:rPr lang="en-US" altLang="zh-CN" baseline="-25000" dirty="0">
                  <a:latin typeface="+mn-lt"/>
                </a:rPr>
                <a:t>2 </a:t>
              </a:r>
              <a:r>
                <a:rPr lang="en-US" altLang="zh-CN" dirty="0">
                  <a:latin typeface="+mn-lt"/>
                </a:rPr>
                <a:t>(</a:t>
              </a:r>
              <a:r>
                <a:rPr lang="en-US" altLang="zh-CN" i="1" dirty="0">
                  <a:latin typeface="+mn-lt"/>
                </a:rPr>
                <a:t>s</a:t>
              </a:r>
              <a:r>
                <a:rPr lang="en-US" altLang="zh-CN" baseline="-25000" dirty="0">
                  <a:latin typeface="+mn-lt"/>
                </a:rPr>
                <a:t>3</a:t>
              </a:r>
              <a:r>
                <a:rPr lang="en-US" altLang="zh-CN" dirty="0">
                  <a:latin typeface="+mn-lt"/>
                </a:rPr>
                <a:t>,</a:t>
              </a:r>
              <a:r>
                <a:rPr lang="en-US" altLang="zh-CN" baseline="-25000" dirty="0">
                  <a:latin typeface="+mn-lt"/>
                </a:rPr>
                <a:t> </a:t>
              </a:r>
              <a:r>
                <a:rPr lang="en-US" altLang="zh-CN" i="1" dirty="0">
                  <a:latin typeface="+mn-lt"/>
                </a:rPr>
                <a:t>x</a:t>
              </a:r>
              <a:r>
                <a:rPr lang="en-US" altLang="zh-CN" baseline="-25000" dirty="0">
                  <a:latin typeface="+mn-lt"/>
                </a:rPr>
                <a:t>2</a:t>
              </a:r>
              <a:r>
                <a:rPr lang="en-US" altLang="zh-CN" dirty="0">
                  <a:latin typeface="+mn-lt"/>
                </a:rPr>
                <a:t>)</a:t>
              </a:r>
            </a:p>
          </p:txBody>
        </p:sp>
        <p:sp>
          <p:nvSpPr>
            <p:cNvPr id="48" name="Text Box 22">
              <a:extLst>
                <a:ext uri="{FF2B5EF4-FFF2-40B4-BE49-F238E27FC236}">
                  <a16:creationId xmlns:a16="http://schemas.microsoft.com/office/drawing/2014/main" id="{15567B39-21F8-48AD-9051-EB26459640C4}"/>
                </a:ext>
              </a:extLst>
            </p:cNvPr>
            <p:cNvSpPr txBox="1">
              <a:spLocks noChangeArrowheads="1"/>
            </p:cNvSpPr>
            <p:nvPr/>
          </p:nvSpPr>
          <p:spPr bwMode="auto">
            <a:xfrm>
              <a:off x="1841" y="1824"/>
              <a:ext cx="297"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a:latin typeface="+mn-lt"/>
                </a:rPr>
                <a:t>x</a:t>
              </a:r>
              <a:r>
                <a:rPr lang="en-US" altLang="zh-CN" baseline="-25000" dirty="0">
                  <a:latin typeface="+mn-lt"/>
                </a:rPr>
                <a:t>2</a:t>
              </a:r>
              <a:endParaRPr lang="en-US" altLang="zh-CN" dirty="0">
                <a:latin typeface="+mn-lt"/>
              </a:endParaRPr>
            </a:p>
          </p:txBody>
        </p:sp>
        <p:sp>
          <p:nvSpPr>
            <p:cNvPr id="44066" name="Line 24">
              <a:extLst>
                <a:ext uri="{FF2B5EF4-FFF2-40B4-BE49-F238E27FC236}">
                  <a16:creationId xmlns:a16="http://schemas.microsoft.com/office/drawing/2014/main" id="{500B7AAA-C36F-4836-AE50-DA9B08E47136}"/>
                </a:ext>
              </a:extLst>
            </p:cNvPr>
            <p:cNvSpPr>
              <a:spLocks noChangeShapeType="1"/>
            </p:cNvSpPr>
            <p:nvPr/>
          </p:nvSpPr>
          <p:spPr bwMode="auto">
            <a:xfrm>
              <a:off x="2832" y="2626"/>
              <a:ext cx="432" cy="0"/>
            </a:xfrm>
            <a:prstGeom prst="line">
              <a:avLst/>
            </a:prstGeom>
            <a:noFill/>
            <a:ln w="28575">
              <a:solidFill>
                <a:srgbClr val="00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67" name="Line 25">
              <a:extLst>
                <a:ext uri="{FF2B5EF4-FFF2-40B4-BE49-F238E27FC236}">
                  <a16:creationId xmlns:a16="http://schemas.microsoft.com/office/drawing/2014/main" id="{9C7FA126-3C94-49CB-B757-94938E22C2E2}"/>
                </a:ext>
              </a:extLst>
            </p:cNvPr>
            <p:cNvSpPr>
              <a:spLocks noChangeShapeType="1"/>
            </p:cNvSpPr>
            <p:nvPr/>
          </p:nvSpPr>
          <p:spPr bwMode="auto">
            <a:xfrm>
              <a:off x="3662" y="2626"/>
              <a:ext cx="432" cy="0"/>
            </a:xfrm>
            <a:prstGeom prst="line">
              <a:avLst/>
            </a:prstGeom>
            <a:noFill/>
            <a:ln w="28575">
              <a:solidFill>
                <a:srgbClr val="00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68" name="Text Box 26">
              <a:extLst>
                <a:ext uri="{FF2B5EF4-FFF2-40B4-BE49-F238E27FC236}">
                  <a16:creationId xmlns:a16="http://schemas.microsoft.com/office/drawing/2014/main" id="{0FA997AC-67DC-4812-982B-0014306B208C}"/>
                </a:ext>
              </a:extLst>
            </p:cNvPr>
            <p:cNvSpPr txBox="1">
              <a:spLocks noChangeArrowheads="1"/>
            </p:cNvSpPr>
            <p:nvPr/>
          </p:nvSpPr>
          <p:spPr bwMode="auto">
            <a:xfrm>
              <a:off x="3244" y="2482"/>
              <a:ext cx="404" cy="2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i="1"/>
                <a:t>k</a:t>
              </a:r>
            </a:p>
          </p:txBody>
        </p:sp>
        <p:sp>
          <p:nvSpPr>
            <p:cNvPr id="44069" name="Line 27">
              <a:extLst>
                <a:ext uri="{FF2B5EF4-FFF2-40B4-BE49-F238E27FC236}">
                  <a16:creationId xmlns:a16="http://schemas.microsoft.com/office/drawing/2014/main" id="{B0ADA8AD-C48C-425E-83A5-57A195D1DD85}"/>
                </a:ext>
              </a:extLst>
            </p:cNvPr>
            <p:cNvSpPr>
              <a:spLocks noChangeShapeType="1"/>
            </p:cNvSpPr>
            <p:nvPr/>
          </p:nvSpPr>
          <p:spPr bwMode="auto">
            <a:xfrm>
              <a:off x="3456" y="2112"/>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70" name="Line 28">
              <a:extLst>
                <a:ext uri="{FF2B5EF4-FFF2-40B4-BE49-F238E27FC236}">
                  <a16:creationId xmlns:a16="http://schemas.microsoft.com/office/drawing/2014/main" id="{48EC4DB2-2319-47C4-B04C-3E51B67BD4CE}"/>
                </a:ext>
              </a:extLst>
            </p:cNvPr>
            <p:cNvSpPr>
              <a:spLocks noChangeShapeType="1"/>
            </p:cNvSpPr>
            <p:nvPr/>
          </p:nvSpPr>
          <p:spPr bwMode="auto">
            <a:xfrm>
              <a:off x="3456" y="2784"/>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 name="Text Box 29">
              <a:extLst>
                <a:ext uri="{FF2B5EF4-FFF2-40B4-BE49-F238E27FC236}">
                  <a16:creationId xmlns:a16="http://schemas.microsoft.com/office/drawing/2014/main" id="{1A7B3938-2CED-4041-91FA-64D5797227BD}"/>
                </a:ext>
              </a:extLst>
            </p:cNvPr>
            <p:cNvSpPr txBox="1">
              <a:spLocks noChangeArrowheads="1"/>
            </p:cNvSpPr>
            <p:nvPr/>
          </p:nvSpPr>
          <p:spPr bwMode="auto">
            <a:xfrm>
              <a:off x="2832" y="2304"/>
              <a:ext cx="480"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i="1" baseline="-25000">
                  <a:latin typeface="+mn-lt"/>
                </a:rPr>
                <a:t>k</a:t>
              </a:r>
              <a:endParaRPr lang="en-US" altLang="zh-CN" i="1" dirty="0">
                <a:latin typeface="+mn-lt"/>
              </a:endParaRPr>
            </a:p>
          </p:txBody>
        </p:sp>
        <p:sp>
          <p:nvSpPr>
            <p:cNvPr id="55" name="Text Box 30">
              <a:extLst>
                <a:ext uri="{FF2B5EF4-FFF2-40B4-BE49-F238E27FC236}">
                  <a16:creationId xmlns:a16="http://schemas.microsoft.com/office/drawing/2014/main" id="{6B33C183-0F0A-4727-9F40-728660A2A745}"/>
                </a:ext>
              </a:extLst>
            </p:cNvPr>
            <p:cNvSpPr txBox="1">
              <a:spLocks noChangeArrowheads="1"/>
            </p:cNvSpPr>
            <p:nvPr/>
          </p:nvSpPr>
          <p:spPr bwMode="auto">
            <a:xfrm>
              <a:off x="3744" y="2304"/>
              <a:ext cx="480"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i="1" baseline="-25000">
                  <a:latin typeface="+mn-lt"/>
                </a:rPr>
                <a:t>k</a:t>
              </a:r>
              <a:r>
                <a:rPr lang="en-US" altLang="zh-CN" baseline="-25000" dirty="0">
                  <a:latin typeface="+mn-lt"/>
                </a:rPr>
                <a:t>+1</a:t>
              </a:r>
              <a:endParaRPr lang="en-US" altLang="zh-CN" dirty="0">
                <a:latin typeface="+mn-lt"/>
              </a:endParaRPr>
            </a:p>
          </p:txBody>
        </p:sp>
        <p:sp>
          <p:nvSpPr>
            <p:cNvPr id="56" name="Text Box 31">
              <a:extLst>
                <a:ext uri="{FF2B5EF4-FFF2-40B4-BE49-F238E27FC236}">
                  <a16:creationId xmlns:a16="http://schemas.microsoft.com/office/drawing/2014/main" id="{A0F3660F-1199-4255-B9C1-A41EA7AA5307}"/>
                </a:ext>
              </a:extLst>
            </p:cNvPr>
            <p:cNvSpPr txBox="1">
              <a:spLocks noChangeArrowheads="1"/>
            </p:cNvSpPr>
            <p:nvPr/>
          </p:nvSpPr>
          <p:spPr bwMode="auto">
            <a:xfrm>
              <a:off x="3117" y="3168"/>
              <a:ext cx="719"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err="1">
                  <a:latin typeface="+mn-lt"/>
                </a:rPr>
                <a:t>v</a:t>
              </a:r>
              <a:r>
                <a:rPr lang="en-US" altLang="zh-CN" i="1" baseline="-25000" dirty="0" err="1">
                  <a:latin typeface="+mn-lt"/>
                </a:rPr>
                <a:t>k</a:t>
              </a:r>
              <a:r>
                <a:rPr lang="en-US" altLang="zh-CN" baseline="-25000" dirty="0">
                  <a:latin typeface="+mn-lt"/>
                </a:rPr>
                <a:t> </a:t>
              </a:r>
              <a:r>
                <a:rPr lang="en-US" altLang="zh-CN" dirty="0">
                  <a:latin typeface="+mn-lt"/>
                </a:rPr>
                <a:t>(</a:t>
              </a:r>
              <a:r>
                <a:rPr lang="en-US" altLang="zh-CN" i="1" dirty="0">
                  <a:latin typeface="+mn-lt"/>
                </a:rPr>
                <a:t>s</a:t>
              </a:r>
              <a:r>
                <a:rPr lang="en-US" altLang="zh-CN" i="1" baseline="-25000" dirty="0">
                  <a:latin typeface="+mn-lt"/>
                </a:rPr>
                <a:t>k</a:t>
              </a:r>
              <a:r>
                <a:rPr lang="en-US" altLang="zh-CN" baseline="-25000" dirty="0">
                  <a:latin typeface="+mn-lt"/>
                </a:rPr>
                <a:t>+1</a:t>
              </a:r>
              <a:r>
                <a:rPr lang="en-US" altLang="zh-CN" dirty="0">
                  <a:latin typeface="+mn-lt"/>
                </a:rPr>
                <a:t>,</a:t>
              </a:r>
              <a:r>
                <a:rPr lang="en-US" altLang="zh-CN" baseline="-25000" dirty="0">
                  <a:latin typeface="+mn-lt"/>
                </a:rPr>
                <a:t> </a:t>
              </a:r>
              <a:r>
                <a:rPr lang="en-US" altLang="zh-CN" i="1" dirty="0" err="1">
                  <a:latin typeface="+mn-lt"/>
                </a:rPr>
                <a:t>x</a:t>
              </a:r>
              <a:r>
                <a:rPr lang="en-US" altLang="zh-CN" i="1" baseline="-25000" dirty="0" err="1">
                  <a:latin typeface="+mn-lt"/>
                </a:rPr>
                <a:t>k</a:t>
              </a:r>
              <a:r>
                <a:rPr lang="en-US" altLang="zh-CN" dirty="0">
                  <a:latin typeface="+mn-lt"/>
                </a:rPr>
                <a:t>)</a:t>
              </a:r>
            </a:p>
          </p:txBody>
        </p:sp>
        <p:sp>
          <p:nvSpPr>
            <p:cNvPr id="57" name="Text Box 32">
              <a:extLst>
                <a:ext uri="{FF2B5EF4-FFF2-40B4-BE49-F238E27FC236}">
                  <a16:creationId xmlns:a16="http://schemas.microsoft.com/office/drawing/2014/main" id="{CE5910DE-D522-4A86-B432-89F30B011EE2}"/>
                </a:ext>
              </a:extLst>
            </p:cNvPr>
            <p:cNvSpPr txBox="1">
              <a:spLocks noChangeArrowheads="1"/>
            </p:cNvSpPr>
            <p:nvPr/>
          </p:nvSpPr>
          <p:spPr bwMode="auto">
            <a:xfrm>
              <a:off x="3338" y="1824"/>
              <a:ext cx="258"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err="1">
                  <a:latin typeface="+mn-lt"/>
                </a:rPr>
                <a:t>x</a:t>
              </a:r>
              <a:r>
                <a:rPr lang="en-US" altLang="zh-CN" i="1" baseline="-25000" dirty="0" err="1">
                  <a:latin typeface="+mn-lt"/>
                </a:rPr>
                <a:t>k</a:t>
              </a:r>
              <a:endParaRPr lang="en-US" altLang="zh-CN" i="1" dirty="0">
                <a:latin typeface="+mn-lt"/>
              </a:endParaRPr>
            </a:p>
          </p:txBody>
        </p:sp>
        <p:sp>
          <p:nvSpPr>
            <p:cNvPr id="44075" name="Line 34">
              <a:extLst>
                <a:ext uri="{FF2B5EF4-FFF2-40B4-BE49-F238E27FC236}">
                  <a16:creationId xmlns:a16="http://schemas.microsoft.com/office/drawing/2014/main" id="{1C146A5D-8F91-4778-8630-0B36D1935114}"/>
                </a:ext>
              </a:extLst>
            </p:cNvPr>
            <p:cNvSpPr>
              <a:spLocks noChangeShapeType="1"/>
            </p:cNvSpPr>
            <p:nvPr/>
          </p:nvSpPr>
          <p:spPr bwMode="auto">
            <a:xfrm>
              <a:off x="4354" y="2626"/>
              <a:ext cx="432" cy="0"/>
            </a:xfrm>
            <a:prstGeom prst="line">
              <a:avLst/>
            </a:prstGeom>
            <a:noFill/>
            <a:ln w="28575">
              <a:solidFill>
                <a:srgbClr val="00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76" name="Line 35">
              <a:extLst>
                <a:ext uri="{FF2B5EF4-FFF2-40B4-BE49-F238E27FC236}">
                  <a16:creationId xmlns:a16="http://schemas.microsoft.com/office/drawing/2014/main" id="{A5040139-FC2A-4BED-B010-E38D1E1C339A}"/>
                </a:ext>
              </a:extLst>
            </p:cNvPr>
            <p:cNvSpPr>
              <a:spLocks noChangeShapeType="1"/>
            </p:cNvSpPr>
            <p:nvPr/>
          </p:nvSpPr>
          <p:spPr bwMode="auto">
            <a:xfrm>
              <a:off x="5198" y="2626"/>
              <a:ext cx="432" cy="0"/>
            </a:xfrm>
            <a:prstGeom prst="line">
              <a:avLst/>
            </a:prstGeom>
            <a:noFill/>
            <a:ln w="28575">
              <a:solidFill>
                <a:srgbClr val="00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77" name="Text Box 36">
              <a:extLst>
                <a:ext uri="{FF2B5EF4-FFF2-40B4-BE49-F238E27FC236}">
                  <a16:creationId xmlns:a16="http://schemas.microsoft.com/office/drawing/2014/main" id="{2956556A-9D34-42C4-9D89-BCAFCFE1959B}"/>
                </a:ext>
              </a:extLst>
            </p:cNvPr>
            <p:cNvSpPr txBox="1">
              <a:spLocks noChangeArrowheads="1"/>
            </p:cNvSpPr>
            <p:nvPr/>
          </p:nvSpPr>
          <p:spPr bwMode="auto">
            <a:xfrm>
              <a:off x="4780" y="2482"/>
              <a:ext cx="404" cy="2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i="1"/>
                <a:t>n</a:t>
              </a:r>
            </a:p>
          </p:txBody>
        </p:sp>
        <p:sp>
          <p:nvSpPr>
            <p:cNvPr id="44078" name="Line 37">
              <a:extLst>
                <a:ext uri="{FF2B5EF4-FFF2-40B4-BE49-F238E27FC236}">
                  <a16:creationId xmlns:a16="http://schemas.microsoft.com/office/drawing/2014/main" id="{0232270C-6E68-4127-B7CD-0D534F457B4E}"/>
                </a:ext>
              </a:extLst>
            </p:cNvPr>
            <p:cNvSpPr>
              <a:spLocks noChangeShapeType="1"/>
            </p:cNvSpPr>
            <p:nvPr/>
          </p:nvSpPr>
          <p:spPr bwMode="auto">
            <a:xfrm>
              <a:off x="4992" y="2112"/>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79" name="Line 38">
              <a:extLst>
                <a:ext uri="{FF2B5EF4-FFF2-40B4-BE49-F238E27FC236}">
                  <a16:creationId xmlns:a16="http://schemas.microsoft.com/office/drawing/2014/main" id="{0769F1DA-C66F-484A-887C-BCAEC033B301}"/>
                </a:ext>
              </a:extLst>
            </p:cNvPr>
            <p:cNvSpPr>
              <a:spLocks noChangeShapeType="1"/>
            </p:cNvSpPr>
            <p:nvPr/>
          </p:nvSpPr>
          <p:spPr bwMode="auto">
            <a:xfrm>
              <a:off x="4992" y="2784"/>
              <a:ext cx="0" cy="384"/>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 name="Text Box 39">
              <a:extLst>
                <a:ext uri="{FF2B5EF4-FFF2-40B4-BE49-F238E27FC236}">
                  <a16:creationId xmlns:a16="http://schemas.microsoft.com/office/drawing/2014/main" id="{09714476-A840-47D4-A5DB-F8D18438A956}"/>
                </a:ext>
              </a:extLst>
            </p:cNvPr>
            <p:cNvSpPr txBox="1">
              <a:spLocks noChangeArrowheads="1"/>
            </p:cNvSpPr>
            <p:nvPr/>
          </p:nvSpPr>
          <p:spPr bwMode="auto">
            <a:xfrm>
              <a:off x="4368" y="2304"/>
              <a:ext cx="480"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i="1" baseline="-25000">
                  <a:latin typeface="+mn-lt"/>
                </a:rPr>
                <a:t>n</a:t>
              </a:r>
              <a:endParaRPr lang="en-US" altLang="zh-CN" i="1" dirty="0">
                <a:latin typeface="+mn-lt"/>
              </a:endParaRPr>
            </a:p>
          </p:txBody>
        </p:sp>
        <p:sp>
          <p:nvSpPr>
            <p:cNvPr id="64" name="Text Box 40">
              <a:extLst>
                <a:ext uri="{FF2B5EF4-FFF2-40B4-BE49-F238E27FC236}">
                  <a16:creationId xmlns:a16="http://schemas.microsoft.com/office/drawing/2014/main" id="{F51FEEC7-FE5D-40E0-80D5-64EFBACA82C6}"/>
                </a:ext>
              </a:extLst>
            </p:cNvPr>
            <p:cNvSpPr txBox="1">
              <a:spLocks noChangeArrowheads="1"/>
            </p:cNvSpPr>
            <p:nvPr/>
          </p:nvSpPr>
          <p:spPr bwMode="auto">
            <a:xfrm>
              <a:off x="5280" y="2304"/>
              <a:ext cx="480"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latin typeface="+mn-lt"/>
                </a:rPr>
                <a:t>s</a:t>
              </a:r>
              <a:r>
                <a:rPr lang="en-US" altLang="zh-CN" i="1" baseline="-25000">
                  <a:latin typeface="+mn-lt"/>
                </a:rPr>
                <a:t>n</a:t>
              </a:r>
              <a:r>
                <a:rPr lang="en-US" altLang="zh-CN" baseline="-25000" dirty="0">
                  <a:latin typeface="+mn-lt"/>
                </a:rPr>
                <a:t>+1</a:t>
              </a:r>
              <a:endParaRPr lang="en-US" altLang="zh-CN" dirty="0">
                <a:latin typeface="+mn-lt"/>
              </a:endParaRPr>
            </a:p>
          </p:txBody>
        </p:sp>
        <p:sp>
          <p:nvSpPr>
            <p:cNvPr id="44082" name="Text Box 43">
              <a:extLst>
                <a:ext uri="{FF2B5EF4-FFF2-40B4-BE49-F238E27FC236}">
                  <a16:creationId xmlns:a16="http://schemas.microsoft.com/office/drawing/2014/main" id="{CC6D5A4A-3AB3-451C-A678-F78F4AE36940}"/>
                </a:ext>
              </a:extLst>
            </p:cNvPr>
            <p:cNvSpPr txBox="1">
              <a:spLocks noChangeArrowheads="1"/>
            </p:cNvSpPr>
            <p:nvPr/>
          </p:nvSpPr>
          <p:spPr bwMode="auto">
            <a:xfrm>
              <a:off x="2558" y="242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a:t>
              </a:r>
            </a:p>
          </p:txBody>
        </p:sp>
        <p:sp>
          <p:nvSpPr>
            <p:cNvPr id="44083" name="Text Box 44">
              <a:extLst>
                <a:ext uri="{FF2B5EF4-FFF2-40B4-BE49-F238E27FC236}">
                  <a16:creationId xmlns:a16="http://schemas.microsoft.com/office/drawing/2014/main" id="{10E79150-0C4A-46EE-A1AC-568F89565794}"/>
                </a:ext>
              </a:extLst>
            </p:cNvPr>
            <p:cNvSpPr txBox="1">
              <a:spLocks noChangeArrowheads="1"/>
            </p:cNvSpPr>
            <p:nvPr/>
          </p:nvSpPr>
          <p:spPr bwMode="auto">
            <a:xfrm>
              <a:off x="4080" y="242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a:t>
              </a:r>
            </a:p>
          </p:txBody>
        </p:sp>
        <p:sp>
          <p:nvSpPr>
            <p:cNvPr id="67" name="Text Box 46">
              <a:extLst>
                <a:ext uri="{FF2B5EF4-FFF2-40B4-BE49-F238E27FC236}">
                  <a16:creationId xmlns:a16="http://schemas.microsoft.com/office/drawing/2014/main" id="{2B2A8160-52F3-473B-BAB8-DAA09B77585B}"/>
                </a:ext>
              </a:extLst>
            </p:cNvPr>
            <p:cNvSpPr txBox="1">
              <a:spLocks noChangeArrowheads="1"/>
            </p:cNvSpPr>
            <p:nvPr/>
          </p:nvSpPr>
          <p:spPr bwMode="auto">
            <a:xfrm>
              <a:off x="4656" y="3168"/>
              <a:ext cx="816"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err="1">
                  <a:latin typeface="+mn-lt"/>
                </a:rPr>
                <a:t>v</a:t>
              </a:r>
              <a:r>
                <a:rPr lang="en-US" altLang="zh-CN" i="1" baseline="-25000" dirty="0" err="1">
                  <a:latin typeface="+mn-lt"/>
                </a:rPr>
                <a:t>n</a:t>
              </a:r>
              <a:r>
                <a:rPr lang="en-US" altLang="zh-CN" baseline="-25000" dirty="0">
                  <a:latin typeface="+mn-lt"/>
                </a:rPr>
                <a:t> </a:t>
              </a:r>
              <a:r>
                <a:rPr lang="en-US" altLang="zh-CN" dirty="0">
                  <a:latin typeface="+mn-lt"/>
                </a:rPr>
                <a:t>(</a:t>
              </a:r>
              <a:r>
                <a:rPr lang="en-US" altLang="zh-CN" i="1" dirty="0">
                  <a:latin typeface="+mn-lt"/>
                </a:rPr>
                <a:t>s</a:t>
              </a:r>
              <a:r>
                <a:rPr lang="en-US" altLang="zh-CN" i="1" baseline="-25000" dirty="0">
                  <a:latin typeface="+mn-lt"/>
                </a:rPr>
                <a:t>n+</a:t>
              </a:r>
              <a:r>
                <a:rPr lang="en-US" altLang="zh-CN" baseline="-25000" dirty="0">
                  <a:latin typeface="+mn-lt"/>
                </a:rPr>
                <a:t>1</a:t>
              </a:r>
              <a:r>
                <a:rPr lang="en-US" altLang="zh-CN" dirty="0">
                  <a:latin typeface="+mn-lt"/>
                </a:rPr>
                <a:t>,</a:t>
              </a:r>
              <a:r>
                <a:rPr lang="en-US" altLang="zh-CN" i="1" dirty="0">
                  <a:latin typeface="+mn-lt"/>
                </a:rPr>
                <a:t>x</a:t>
              </a:r>
              <a:r>
                <a:rPr lang="en-US" altLang="zh-CN" i="1" baseline="-25000" dirty="0">
                  <a:latin typeface="+mn-lt"/>
                </a:rPr>
                <a:t>n</a:t>
              </a:r>
              <a:r>
                <a:rPr lang="en-US" altLang="zh-CN" dirty="0">
                  <a:latin typeface="+mn-lt"/>
                </a:rPr>
                <a:t>)</a:t>
              </a:r>
            </a:p>
          </p:txBody>
        </p:sp>
        <p:sp>
          <p:nvSpPr>
            <p:cNvPr id="68" name="Text Box 47">
              <a:extLst>
                <a:ext uri="{FF2B5EF4-FFF2-40B4-BE49-F238E27FC236}">
                  <a16:creationId xmlns:a16="http://schemas.microsoft.com/office/drawing/2014/main" id="{960500DC-2894-4EB6-A39B-B85E156B657B}"/>
                </a:ext>
              </a:extLst>
            </p:cNvPr>
            <p:cNvSpPr txBox="1">
              <a:spLocks noChangeArrowheads="1"/>
            </p:cNvSpPr>
            <p:nvPr/>
          </p:nvSpPr>
          <p:spPr bwMode="auto">
            <a:xfrm>
              <a:off x="4843" y="1824"/>
              <a:ext cx="264"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err="1">
                  <a:latin typeface="+mn-lt"/>
                </a:rPr>
                <a:t>x</a:t>
              </a:r>
              <a:r>
                <a:rPr lang="en-US" altLang="zh-CN" i="1" baseline="-25000" dirty="0" err="1">
                  <a:latin typeface="+mn-lt"/>
                </a:rPr>
                <a:t>n</a:t>
              </a:r>
              <a:endParaRPr lang="en-US" altLang="zh-CN" i="1" dirty="0">
                <a:latin typeface="+mn-lt"/>
              </a:endParaRPr>
            </a:p>
          </p:txBody>
        </p:sp>
      </p:grpSp>
      <p:grpSp>
        <p:nvGrpSpPr>
          <p:cNvPr id="44036" name="组合 70">
            <a:extLst>
              <a:ext uri="{FF2B5EF4-FFF2-40B4-BE49-F238E27FC236}">
                <a16:creationId xmlns:a16="http://schemas.microsoft.com/office/drawing/2014/main" id="{AF250512-A3BF-458E-8105-C3CB4D0F9ADB}"/>
              </a:ext>
            </a:extLst>
          </p:cNvPr>
          <p:cNvGrpSpPr>
            <a:grpSpLocks/>
          </p:cNvGrpSpPr>
          <p:nvPr/>
        </p:nvGrpSpPr>
        <p:grpSpPr bwMode="auto">
          <a:xfrm>
            <a:off x="107950" y="1341438"/>
            <a:ext cx="1368425" cy="1511300"/>
            <a:chOff x="1619672" y="1412776"/>
            <a:chExt cx="1368152" cy="1512168"/>
          </a:xfrm>
        </p:grpSpPr>
        <p:sp>
          <p:nvSpPr>
            <p:cNvPr id="44047" name="AutoShape 13">
              <a:extLst>
                <a:ext uri="{FF2B5EF4-FFF2-40B4-BE49-F238E27FC236}">
                  <a16:creationId xmlns:a16="http://schemas.microsoft.com/office/drawing/2014/main" id="{96C10082-85C4-475B-AD95-AC22265F9323}"/>
                </a:ext>
              </a:extLst>
            </p:cNvPr>
            <p:cNvSpPr>
              <a:spLocks noChangeArrowheads="1"/>
            </p:cNvSpPr>
            <p:nvPr/>
          </p:nvSpPr>
          <p:spPr bwMode="auto">
            <a:xfrm rot="10800000">
              <a:off x="2051720" y="1844824"/>
              <a:ext cx="288032" cy="1080120"/>
            </a:xfrm>
            <a:prstGeom prst="downArrow">
              <a:avLst>
                <a:gd name="adj1" fmla="val 50000"/>
                <a:gd name="adj2" fmla="val 62500"/>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 name="Text Box 21">
              <a:extLst>
                <a:ext uri="{FF2B5EF4-FFF2-40B4-BE49-F238E27FC236}">
                  <a16:creationId xmlns:a16="http://schemas.microsoft.com/office/drawing/2014/main" id="{217A5B36-D76C-43C0-982B-81088DAABFDE}"/>
                </a:ext>
              </a:extLst>
            </p:cNvPr>
            <p:cNvSpPr txBox="1">
              <a:spLocks noChangeArrowheads="1"/>
            </p:cNvSpPr>
            <p:nvPr/>
          </p:nvSpPr>
          <p:spPr bwMode="auto">
            <a:xfrm>
              <a:off x="1619672" y="1412776"/>
              <a:ext cx="1368152" cy="370099"/>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a:solidFill>
                    <a:srgbClr val="FF0000"/>
                  </a:solidFill>
                  <a:latin typeface="+mn-lt"/>
                </a:rPr>
                <a:t>s</a:t>
              </a:r>
              <a:r>
                <a:rPr lang="en-US" altLang="zh-CN" baseline="-25000" dirty="0">
                  <a:solidFill>
                    <a:srgbClr val="FF0000"/>
                  </a:solidFill>
                  <a:latin typeface="+mn-lt"/>
                </a:rPr>
                <a:t>1</a:t>
              </a:r>
              <a:r>
                <a:rPr lang="en-US" altLang="zh-CN" dirty="0">
                  <a:solidFill>
                    <a:srgbClr val="FF0000"/>
                  </a:solidFill>
                  <a:latin typeface="+mn-lt"/>
                </a:rPr>
                <a:t>=</a:t>
              </a:r>
              <a:r>
                <a:rPr lang="en-US" altLang="zh-CN" i="1" dirty="0">
                  <a:solidFill>
                    <a:srgbClr val="FF0000"/>
                  </a:solidFill>
                  <a:latin typeface="+mn-lt"/>
                </a:rPr>
                <a:t>T</a:t>
              </a:r>
              <a:r>
                <a:rPr lang="en-US" altLang="zh-CN" baseline="-25000" dirty="0">
                  <a:solidFill>
                    <a:srgbClr val="FF0000"/>
                  </a:solidFill>
                  <a:latin typeface="+mn-lt"/>
                </a:rPr>
                <a:t>1</a:t>
              </a:r>
              <a:r>
                <a:rPr lang="zh-CN" altLang="en-US" i="1" baseline="30000" dirty="0">
                  <a:solidFill>
                    <a:srgbClr val="FF0000"/>
                  </a:solidFill>
                </a:rPr>
                <a:t>*</a:t>
              </a:r>
              <a:r>
                <a:rPr lang="en-US" altLang="zh-CN" baseline="-25000" dirty="0">
                  <a:solidFill>
                    <a:srgbClr val="FF0000"/>
                  </a:solidFill>
                  <a:latin typeface="+mn-lt"/>
                </a:rPr>
                <a:t> </a:t>
              </a:r>
              <a:r>
                <a:rPr lang="en-US" altLang="zh-CN" dirty="0">
                  <a:solidFill>
                    <a:srgbClr val="FF0000"/>
                  </a:solidFill>
                  <a:latin typeface="+mn-lt"/>
                </a:rPr>
                <a:t>(</a:t>
              </a:r>
              <a:r>
                <a:rPr lang="en-US" altLang="zh-CN" i="1" dirty="0">
                  <a:solidFill>
                    <a:srgbClr val="FF0000"/>
                  </a:solidFill>
                  <a:latin typeface="+mn-lt"/>
                </a:rPr>
                <a:t>s</a:t>
              </a:r>
              <a:r>
                <a:rPr lang="en-US" altLang="zh-CN" baseline="-25000" dirty="0">
                  <a:solidFill>
                    <a:srgbClr val="FF0000"/>
                  </a:solidFill>
                  <a:latin typeface="+mn-lt"/>
                </a:rPr>
                <a:t>2</a:t>
              </a:r>
              <a:r>
                <a:rPr lang="en-US" altLang="zh-CN" dirty="0">
                  <a:solidFill>
                    <a:srgbClr val="FF0000"/>
                  </a:solidFill>
                  <a:latin typeface="+mn-lt"/>
                </a:rPr>
                <a:t>,</a:t>
              </a:r>
              <a:r>
                <a:rPr lang="en-US" altLang="zh-CN" baseline="-25000" dirty="0">
                  <a:solidFill>
                    <a:srgbClr val="FF0000"/>
                  </a:solidFill>
                  <a:latin typeface="+mn-lt"/>
                </a:rPr>
                <a:t> </a:t>
              </a:r>
              <a:r>
                <a:rPr lang="en-US" altLang="zh-CN" i="1" dirty="0">
                  <a:solidFill>
                    <a:srgbClr val="FF0000"/>
                  </a:solidFill>
                  <a:latin typeface="+mn-lt"/>
                </a:rPr>
                <a:t>x</a:t>
              </a:r>
              <a:r>
                <a:rPr lang="en-US" altLang="zh-CN" baseline="-25000" dirty="0">
                  <a:solidFill>
                    <a:srgbClr val="FF0000"/>
                  </a:solidFill>
                  <a:latin typeface="+mn-lt"/>
                </a:rPr>
                <a:t>1</a:t>
              </a:r>
              <a:r>
                <a:rPr lang="en-US" altLang="zh-CN" dirty="0">
                  <a:solidFill>
                    <a:srgbClr val="FF0000"/>
                  </a:solidFill>
                  <a:latin typeface="+mn-lt"/>
                </a:rPr>
                <a:t>)</a:t>
              </a:r>
            </a:p>
          </p:txBody>
        </p:sp>
      </p:grpSp>
      <p:grpSp>
        <p:nvGrpSpPr>
          <p:cNvPr id="44037" name="组合 71">
            <a:extLst>
              <a:ext uri="{FF2B5EF4-FFF2-40B4-BE49-F238E27FC236}">
                <a16:creationId xmlns:a16="http://schemas.microsoft.com/office/drawing/2014/main" id="{3CF58E0C-4F21-48C4-A221-95B556B5D21A}"/>
              </a:ext>
            </a:extLst>
          </p:cNvPr>
          <p:cNvGrpSpPr>
            <a:grpSpLocks/>
          </p:cNvGrpSpPr>
          <p:nvPr/>
        </p:nvGrpSpPr>
        <p:grpSpPr bwMode="auto">
          <a:xfrm>
            <a:off x="3635375" y="1341438"/>
            <a:ext cx="1584325" cy="1511300"/>
            <a:chOff x="1403618" y="1412776"/>
            <a:chExt cx="1584206" cy="1512168"/>
          </a:xfrm>
        </p:grpSpPr>
        <p:sp>
          <p:nvSpPr>
            <p:cNvPr id="44045" name="AutoShape 13">
              <a:extLst>
                <a:ext uri="{FF2B5EF4-FFF2-40B4-BE49-F238E27FC236}">
                  <a16:creationId xmlns:a16="http://schemas.microsoft.com/office/drawing/2014/main" id="{A990DA79-F94E-40A2-ACB2-87A77AE6145F}"/>
                </a:ext>
              </a:extLst>
            </p:cNvPr>
            <p:cNvSpPr>
              <a:spLocks noChangeArrowheads="1"/>
            </p:cNvSpPr>
            <p:nvPr/>
          </p:nvSpPr>
          <p:spPr bwMode="auto">
            <a:xfrm rot="10800000">
              <a:off x="2051720" y="1844824"/>
              <a:ext cx="288032" cy="1080120"/>
            </a:xfrm>
            <a:prstGeom prst="downArrow">
              <a:avLst>
                <a:gd name="adj1" fmla="val 50000"/>
                <a:gd name="adj2" fmla="val 62500"/>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4" name="Text Box 21">
              <a:extLst>
                <a:ext uri="{FF2B5EF4-FFF2-40B4-BE49-F238E27FC236}">
                  <a16:creationId xmlns:a16="http://schemas.microsoft.com/office/drawing/2014/main" id="{6076B342-2EDA-48BD-8453-A8FB8AF6E968}"/>
                </a:ext>
              </a:extLst>
            </p:cNvPr>
            <p:cNvSpPr txBox="1">
              <a:spLocks noChangeArrowheads="1"/>
            </p:cNvSpPr>
            <p:nvPr/>
          </p:nvSpPr>
          <p:spPr bwMode="auto">
            <a:xfrm>
              <a:off x="1403618" y="1412776"/>
              <a:ext cx="1584206" cy="370099"/>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err="1">
                  <a:solidFill>
                    <a:srgbClr val="FF0000"/>
                  </a:solidFill>
                  <a:latin typeface="+mn-lt"/>
                </a:rPr>
                <a:t>s</a:t>
              </a:r>
              <a:r>
                <a:rPr lang="en-US" altLang="zh-CN" i="1" baseline="-25000" dirty="0" err="1">
                  <a:solidFill>
                    <a:srgbClr val="FF0000"/>
                  </a:solidFill>
                  <a:latin typeface="+mn-lt"/>
                </a:rPr>
                <a:t>k</a:t>
              </a:r>
              <a:r>
                <a:rPr lang="en-US" altLang="zh-CN" dirty="0">
                  <a:solidFill>
                    <a:srgbClr val="FF0000"/>
                  </a:solidFill>
                  <a:latin typeface="+mn-lt"/>
                </a:rPr>
                <a:t>=</a:t>
              </a:r>
              <a:r>
                <a:rPr lang="en-US" altLang="zh-CN" i="1" dirty="0" err="1">
                  <a:solidFill>
                    <a:srgbClr val="FF0000"/>
                  </a:solidFill>
                  <a:latin typeface="+mn-lt"/>
                </a:rPr>
                <a:t>T</a:t>
              </a:r>
              <a:r>
                <a:rPr lang="en-US" altLang="zh-CN" i="1" baseline="-25000" dirty="0" err="1">
                  <a:solidFill>
                    <a:srgbClr val="FF0000"/>
                  </a:solidFill>
                  <a:latin typeface="+mn-lt"/>
                </a:rPr>
                <a:t>k</a:t>
              </a:r>
              <a:r>
                <a:rPr lang="zh-CN" altLang="en-US" i="1" baseline="30000" dirty="0">
                  <a:solidFill>
                    <a:srgbClr val="FF0000"/>
                  </a:solidFill>
                </a:rPr>
                <a:t>*</a:t>
              </a:r>
              <a:r>
                <a:rPr lang="en-US" altLang="zh-CN" baseline="-25000" dirty="0">
                  <a:solidFill>
                    <a:srgbClr val="FF0000"/>
                  </a:solidFill>
                  <a:latin typeface="+mn-lt"/>
                </a:rPr>
                <a:t> </a:t>
              </a:r>
              <a:r>
                <a:rPr lang="en-US" altLang="zh-CN" dirty="0">
                  <a:solidFill>
                    <a:srgbClr val="FF0000"/>
                  </a:solidFill>
                  <a:latin typeface="+mn-lt"/>
                </a:rPr>
                <a:t>(</a:t>
              </a:r>
              <a:r>
                <a:rPr lang="en-US" altLang="zh-CN" i="1" dirty="0">
                  <a:solidFill>
                    <a:srgbClr val="FF0000"/>
                  </a:solidFill>
                  <a:latin typeface="+mn-lt"/>
                </a:rPr>
                <a:t>s</a:t>
              </a:r>
              <a:r>
                <a:rPr lang="en-US" altLang="zh-CN" i="1" baseline="-25000" dirty="0">
                  <a:solidFill>
                    <a:srgbClr val="FF0000"/>
                  </a:solidFill>
                  <a:latin typeface="+mn-lt"/>
                </a:rPr>
                <a:t>k</a:t>
              </a:r>
              <a:r>
                <a:rPr lang="en-US" altLang="zh-CN" baseline="-25000" dirty="0">
                  <a:solidFill>
                    <a:srgbClr val="FF0000"/>
                  </a:solidFill>
                  <a:latin typeface="+mn-lt"/>
                </a:rPr>
                <a:t>+1</a:t>
              </a:r>
              <a:r>
                <a:rPr lang="en-US" altLang="zh-CN" dirty="0">
                  <a:solidFill>
                    <a:srgbClr val="FF0000"/>
                  </a:solidFill>
                  <a:latin typeface="+mn-lt"/>
                </a:rPr>
                <a:t>,</a:t>
              </a:r>
              <a:r>
                <a:rPr lang="en-US" altLang="zh-CN" baseline="-25000" dirty="0">
                  <a:solidFill>
                    <a:srgbClr val="FF0000"/>
                  </a:solidFill>
                  <a:latin typeface="+mn-lt"/>
                </a:rPr>
                <a:t> </a:t>
              </a:r>
              <a:r>
                <a:rPr lang="en-US" altLang="zh-CN" i="1" dirty="0" err="1">
                  <a:solidFill>
                    <a:srgbClr val="FF0000"/>
                  </a:solidFill>
                  <a:latin typeface="+mn-lt"/>
                </a:rPr>
                <a:t>x</a:t>
              </a:r>
              <a:r>
                <a:rPr lang="en-US" altLang="zh-CN" i="1" baseline="-25000" dirty="0" err="1">
                  <a:solidFill>
                    <a:srgbClr val="FF0000"/>
                  </a:solidFill>
                  <a:latin typeface="+mn-lt"/>
                </a:rPr>
                <a:t>k</a:t>
              </a:r>
              <a:r>
                <a:rPr lang="en-US" altLang="zh-CN" dirty="0">
                  <a:solidFill>
                    <a:srgbClr val="FF0000"/>
                  </a:solidFill>
                  <a:latin typeface="+mn-lt"/>
                </a:rPr>
                <a:t>)</a:t>
              </a:r>
            </a:p>
          </p:txBody>
        </p:sp>
      </p:grpSp>
      <p:sp>
        <p:nvSpPr>
          <p:cNvPr id="75" name="Text Box 11">
            <a:extLst>
              <a:ext uri="{FF2B5EF4-FFF2-40B4-BE49-F238E27FC236}">
                <a16:creationId xmlns:a16="http://schemas.microsoft.com/office/drawing/2014/main" id="{AA8E4637-5DA3-4746-8B51-58D1267317F8}"/>
              </a:ext>
            </a:extLst>
          </p:cNvPr>
          <p:cNvSpPr txBox="1">
            <a:spLocks noChangeArrowheads="1"/>
          </p:cNvSpPr>
          <p:nvPr/>
        </p:nvSpPr>
        <p:spPr bwMode="auto">
          <a:xfrm>
            <a:off x="1373188" y="4924425"/>
            <a:ext cx="5688012" cy="369888"/>
          </a:xfrm>
          <a:prstGeom prst="rect">
            <a:avLst/>
          </a:prstGeom>
          <a:noFill/>
          <a:ln w="9525">
            <a:noFill/>
            <a:miter lim="800000"/>
            <a:headEnd/>
            <a:tailEnd/>
          </a:ln>
          <a:effectLst/>
        </p:spPr>
        <p:txBody>
          <a:bodyPr>
            <a:spAutoFit/>
          </a:bodyPr>
          <a:lstStyle/>
          <a:p>
            <a:pPr eaLnBrk="1" hangingPunct="1">
              <a:spcBef>
                <a:spcPct val="50000"/>
              </a:spcBef>
              <a:defRPr/>
            </a:pPr>
            <a:r>
              <a:rPr lang="zh-CN" altLang="en-US" b="1" dirty="0">
                <a:solidFill>
                  <a:srgbClr val="FF00FF"/>
                </a:solidFill>
                <a:latin typeface="Arial" charset="0"/>
              </a:rPr>
              <a:t>总效益</a:t>
            </a:r>
            <a:r>
              <a:rPr lang="en-US" altLang="zh-CN" b="1" dirty="0">
                <a:solidFill>
                  <a:srgbClr val="FF00FF"/>
                </a:solidFill>
                <a:latin typeface="Arial" charset="0"/>
              </a:rPr>
              <a:t>(</a:t>
            </a:r>
            <a:r>
              <a:rPr lang="zh-CN" altLang="en-US" b="1" dirty="0">
                <a:solidFill>
                  <a:srgbClr val="FF00FF"/>
                </a:solidFill>
                <a:latin typeface="Arial" charset="0"/>
              </a:rPr>
              <a:t>指标函数</a:t>
            </a:r>
            <a:r>
              <a:rPr lang="en-US" altLang="zh-CN" b="1" dirty="0">
                <a:solidFill>
                  <a:srgbClr val="FF00FF"/>
                </a:solidFill>
                <a:latin typeface="Arial" charset="0"/>
              </a:rPr>
              <a:t>)</a:t>
            </a:r>
            <a:r>
              <a:rPr lang="en-US" altLang="zh-CN" b="1" i="1" dirty="0">
                <a:solidFill>
                  <a:srgbClr val="FF00FF"/>
                </a:solidFill>
                <a:latin typeface="+mn-lt"/>
              </a:rPr>
              <a:t>V</a:t>
            </a:r>
            <a:r>
              <a:rPr lang="en-US" altLang="zh-CN" b="1" baseline="-25000" dirty="0">
                <a:solidFill>
                  <a:srgbClr val="FF00FF"/>
                </a:solidFill>
                <a:latin typeface="+mn-lt"/>
              </a:rPr>
              <a:t>1,</a:t>
            </a:r>
            <a:r>
              <a:rPr lang="en-US" altLang="zh-CN" b="1" i="1" baseline="-25000" dirty="0">
                <a:solidFill>
                  <a:srgbClr val="FF00FF"/>
                </a:solidFill>
                <a:latin typeface="+mn-lt"/>
              </a:rPr>
              <a:t>n</a:t>
            </a:r>
            <a:r>
              <a:rPr lang="en-US" altLang="zh-CN" b="1" dirty="0">
                <a:solidFill>
                  <a:srgbClr val="FF00FF"/>
                </a:solidFill>
                <a:latin typeface="+mn-lt"/>
              </a:rPr>
              <a:t>= </a:t>
            </a:r>
            <a:r>
              <a:rPr lang="en-US" altLang="zh-CN" b="1" i="1" dirty="0">
                <a:solidFill>
                  <a:srgbClr val="FF00FF"/>
                </a:solidFill>
                <a:latin typeface="+mn-lt"/>
              </a:rPr>
              <a:t>v</a:t>
            </a:r>
            <a:r>
              <a:rPr lang="en-US" altLang="zh-CN" b="1" baseline="-25000" dirty="0">
                <a:solidFill>
                  <a:srgbClr val="FF00FF"/>
                </a:solidFill>
                <a:latin typeface="+mn-lt"/>
              </a:rPr>
              <a:t>1 </a:t>
            </a:r>
            <a:r>
              <a:rPr lang="en-US" altLang="zh-CN" b="1" dirty="0">
                <a:solidFill>
                  <a:srgbClr val="FF00FF"/>
                </a:solidFill>
                <a:latin typeface="+mn-lt"/>
              </a:rPr>
              <a:t>(</a:t>
            </a:r>
            <a:r>
              <a:rPr lang="en-US" altLang="zh-CN" b="1" i="1" dirty="0">
                <a:solidFill>
                  <a:srgbClr val="FF00FF"/>
                </a:solidFill>
                <a:latin typeface="+mn-lt"/>
              </a:rPr>
              <a:t>s</a:t>
            </a:r>
            <a:r>
              <a:rPr lang="en-US" altLang="zh-CN" b="1" baseline="-25000" dirty="0">
                <a:solidFill>
                  <a:srgbClr val="FF00FF"/>
                </a:solidFill>
                <a:latin typeface="+mn-lt"/>
              </a:rPr>
              <a:t>2</a:t>
            </a:r>
            <a:r>
              <a:rPr lang="en-US" altLang="zh-CN" b="1" dirty="0">
                <a:solidFill>
                  <a:srgbClr val="FF00FF"/>
                </a:solidFill>
                <a:latin typeface="+mn-lt"/>
              </a:rPr>
              <a:t>,</a:t>
            </a:r>
            <a:r>
              <a:rPr lang="en-US" altLang="zh-CN" b="1" baseline="-25000" dirty="0">
                <a:solidFill>
                  <a:srgbClr val="FF00FF"/>
                </a:solidFill>
                <a:latin typeface="+mn-lt"/>
              </a:rPr>
              <a:t> </a:t>
            </a:r>
            <a:r>
              <a:rPr lang="en-US" altLang="zh-CN" b="1" i="1" dirty="0">
                <a:solidFill>
                  <a:srgbClr val="FF00FF"/>
                </a:solidFill>
                <a:latin typeface="+mn-lt"/>
              </a:rPr>
              <a:t>x</a:t>
            </a:r>
            <a:r>
              <a:rPr lang="en-US" altLang="zh-CN" b="1" baseline="-25000" dirty="0">
                <a:solidFill>
                  <a:srgbClr val="FF00FF"/>
                </a:solidFill>
                <a:latin typeface="+mn-lt"/>
              </a:rPr>
              <a:t>1</a:t>
            </a:r>
            <a:r>
              <a:rPr lang="en-US" altLang="zh-CN" b="1" dirty="0">
                <a:solidFill>
                  <a:srgbClr val="FF00FF"/>
                </a:solidFill>
                <a:latin typeface="+mn-lt"/>
              </a:rPr>
              <a:t>)*</a:t>
            </a:r>
            <a:r>
              <a:rPr lang="en-US" altLang="zh-CN" b="1" i="1" dirty="0">
                <a:solidFill>
                  <a:srgbClr val="FF00FF"/>
                </a:solidFill>
                <a:latin typeface="+mn-lt"/>
              </a:rPr>
              <a:t>v</a:t>
            </a:r>
            <a:r>
              <a:rPr lang="en-US" altLang="zh-CN" b="1" baseline="-25000" dirty="0">
                <a:solidFill>
                  <a:srgbClr val="FF00FF"/>
                </a:solidFill>
                <a:latin typeface="+mn-lt"/>
              </a:rPr>
              <a:t>2 </a:t>
            </a:r>
            <a:r>
              <a:rPr lang="en-US" altLang="zh-CN" b="1" dirty="0">
                <a:solidFill>
                  <a:srgbClr val="FF00FF"/>
                </a:solidFill>
                <a:latin typeface="+mn-lt"/>
              </a:rPr>
              <a:t>(</a:t>
            </a:r>
            <a:r>
              <a:rPr lang="en-US" altLang="zh-CN" b="1" i="1" dirty="0">
                <a:solidFill>
                  <a:srgbClr val="FF00FF"/>
                </a:solidFill>
                <a:latin typeface="+mn-lt"/>
              </a:rPr>
              <a:t>s</a:t>
            </a:r>
            <a:r>
              <a:rPr lang="en-US" altLang="zh-CN" b="1" baseline="-25000" dirty="0">
                <a:solidFill>
                  <a:srgbClr val="FF00FF"/>
                </a:solidFill>
                <a:latin typeface="+mn-lt"/>
              </a:rPr>
              <a:t>3</a:t>
            </a:r>
            <a:r>
              <a:rPr lang="en-US" altLang="zh-CN" b="1" dirty="0">
                <a:solidFill>
                  <a:srgbClr val="FF00FF"/>
                </a:solidFill>
                <a:latin typeface="+mn-lt"/>
              </a:rPr>
              <a:t>,</a:t>
            </a:r>
            <a:r>
              <a:rPr lang="en-US" altLang="zh-CN" b="1" baseline="-25000" dirty="0">
                <a:solidFill>
                  <a:srgbClr val="FF00FF"/>
                </a:solidFill>
                <a:latin typeface="+mn-lt"/>
              </a:rPr>
              <a:t> </a:t>
            </a:r>
            <a:r>
              <a:rPr lang="en-US" altLang="zh-CN" b="1" i="1" dirty="0">
                <a:solidFill>
                  <a:srgbClr val="FF00FF"/>
                </a:solidFill>
                <a:latin typeface="+mn-lt"/>
              </a:rPr>
              <a:t>x</a:t>
            </a:r>
            <a:r>
              <a:rPr lang="en-US" altLang="zh-CN" b="1" baseline="-25000" dirty="0">
                <a:solidFill>
                  <a:srgbClr val="FF00FF"/>
                </a:solidFill>
                <a:latin typeface="+mn-lt"/>
              </a:rPr>
              <a:t>2</a:t>
            </a:r>
            <a:r>
              <a:rPr lang="en-US" altLang="zh-CN" b="1" dirty="0">
                <a:solidFill>
                  <a:srgbClr val="FF00FF"/>
                </a:solidFill>
                <a:latin typeface="+mn-lt"/>
              </a:rPr>
              <a:t>)*…*</a:t>
            </a:r>
            <a:r>
              <a:rPr lang="en-US" altLang="zh-CN" b="1" i="1" dirty="0" err="1">
                <a:solidFill>
                  <a:srgbClr val="FF00FF"/>
                </a:solidFill>
                <a:latin typeface="+mn-lt"/>
              </a:rPr>
              <a:t>v</a:t>
            </a:r>
            <a:r>
              <a:rPr lang="en-US" altLang="zh-CN" b="1" i="1" baseline="-25000" dirty="0" err="1">
                <a:solidFill>
                  <a:srgbClr val="FF00FF"/>
                </a:solidFill>
                <a:latin typeface="+mn-lt"/>
              </a:rPr>
              <a:t>n</a:t>
            </a:r>
            <a:r>
              <a:rPr lang="en-US" altLang="zh-CN" b="1" baseline="-25000" dirty="0">
                <a:solidFill>
                  <a:srgbClr val="FF00FF"/>
                </a:solidFill>
                <a:latin typeface="+mn-lt"/>
              </a:rPr>
              <a:t> </a:t>
            </a:r>
            <a:r>
              <a:rPr lang="en-US" altLang="zh-CN" b="1" dirty="0">
                <a:solidFill>
                  <a:srgbClr val="FF00FF"/>
                </a:solidFill>
                <a:latin typeface="+mn-lt"/>
              </a:rPr>
              <a:t>(</a:t>
            </a:r>
            <a:r>
              <a:rPr lang="en-US" altLang="zh-CN" b="1" i="1" dirty="0">
                <a:solidFill>
                  <a:srgbClr val="FF00FF"/>
                </a:solidFill>
                <a:latin typeface="+mn-lt"/>
              </a:rPr>
              <a:t>s</a:t>
            </a:r>
            <a:r>
              <a:rPr lang="en-US" altLang="zh-CN" b="1" i="1" baseline="-25000" dirty="0">
                <a:solidFill>
                  <a:srgbClr val="FF00FF"/>
                </a:solidFill>
                <a:latin typeface="+mn-lt"/>
              </a:rPr>
              <a:t>n</a:t>
            </a:r>
            <a:r>
              <a:rPr lang="en-US" altLang="zh-CN" b="1" baseline="-25000" dirty="0">
                <a:solidFill>
                  <a:srgbClr val="FF00FF"/>
                </a:solidFill>
                <a:latin typeface="+mn-lt"/>
              </a:rPr>
              <a:t>+1</a:t>
            </a:r>
            <a:r>
              <a:rPr lang="en-US" altLang="zh-CN" b="1" dirty="0">
                <a:solidFill>
                  <a:srgbClr val="FF00FF"/>
                </a:solidFill>
                <a:latin typeface="+mn-lt"/>
              </a:rPr>
              <a:t>,</a:t>
            </a:r>
            <a:r>
              <a:rPr lang="en-US" altLang="zh-CN" b="1" baseline="-25000" dirty="0">
                <a:solidFill>
                  <a:srgbClr val="FF00FF"/>
                </a:solidFill>
                <a:latin typeface="+mn-lt"/>
              </a:rPr>
              <a:t> </a:t>
            </a:r>
            <a:r>
              <a:rPr lang="en-US" altLang="zh-CN" b="1" i="1" dirty="0" err="1">
                <a:solidFill>
                  <a:srgbClr val="FF00FF"/>
                </a:solidFill>
                <a:latin typeface="+mn-lt"/>
              </a:rPr>
              <a:t>x</a:t>
            </a:r>
            <a:r>
              <a:rPr lang="en-US" altLang="zh-CN" b="1" i="1" baseline="-25000" dirty="0" err="1">
                <a:solidFill>
                  <a:srgbClr val="FF00FF"/>
                </a:solidFill>
                <a:latin typeface="+mn-lt"/>
              </a:rPr>
              <a:t>n</a:t>
            </a:r>
            <a:r>
              <a:rPr lang="en-US" altLang="zh-CN" b="1" dirty="0">
                <a:solidFill>
                  <a:srgbClr val="FF00FF"/>
                </a:solidFill>
                <a:latin typeface="+mn-lt"/>
              </a:rPr>
              <a:t>)</a:t>
            </a:r>
          </a:p>
        </p:txBody>
      </p:sp>
      <p:grpSp>
        <p:nvGrpSpPr>
          <p:cNvPr id="44039" name="组合 71">
            <a:extLst>
              <a:ext uri="{FF2B5EF4-FFF2-40B4-BE49-F238E27FC236}">
                <a16:creationId xmlns:a16="http://schemas.microsoft.com/office/drawing/2014/main" id="{03C1BA4E-5794-467D-8758-C8DCB0874699}"/>
              </a:ext>
            </a:extLst>
          </p:cNvPr>
          <p:cNvGrpSpPr>
            <a:grpSpLocks/>
          </p:cNvGrpSpPr>
          <p:nvPr/>
        </p:nvGrpSpPr>
        <p:grpSpPr bwMode="auto">
          <a:xfrm>
            <a:off x="6084888" y="1341438"/>
            <a:ext cx="1800225" cy="1511300"/>
            <a:chOff x="1403322" y="1412776"/>
            <a:chExt cx="1801316" cy="1512168"/>
          </a:xfrm>
        </p:grpSpPr>
        <p:sp>
          <p:nvSpPr>
            <p:cNvPr id="44043" name="AutoShape 13">
              <a:extLst>
                <a:ext uri="{FF2B5EF4-FFF2-40B4-BE49-F238E27FC236}">
                  <a16:creationId xmlns:a16="http://schemas.microsoft.com/office/drawing/2014/main" id="{B39604C5-0E3B-41E4-A058-3BA44532BE73}"/>
                </a:ext>
              </a:extLst>
            </p:cNvPr>
            <p:cNvSpPr>
              <a:spLocks noChangeArrowheads="1"/>
            </p:cNvSpPr>
            <p:nvPr/>
          </p:nvSpPr>
          <p:spPr bwMode="auto">
            <a:xfrm rot="10800000">
              <a:off x="2051720" y="1844824"/>
              <a:ext cx="288032" cy="1080120"/>
            </a:xfrm>
            <a:prstGeom prst="downArrow">
              <a:avLst>
                <a:gd name="adj1" fmla="val 50000"/>
                <a:gd name="adj2" fmla="val 62500"/>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 name="Text Box 21">
              <a:extLst>
                <a:ext uri="{FF2B5EF4-FFF2-40B4-BE49-F238E27FC236}">
                  <a16:creationId xmlns:a16="http://schemas.microsoft.com/office/drawing/2014/main" id="{844A0484-47A3-4721-A4D0-13F7FB0CBF03}"/>
                </a:ext>
              </a:extLst>
            </p:cNvPr>
            <p:cNvSpPr txBox="1">
              <a:spLocks noChangeArrowheads="1"/>
            </p:cNvSpPr>
            <p:nvPr/>
          </p:nvSpPr>
          <p:spPr bwMode="auto">
            <a:xfrm>
              <a:off x="1403322" y="1412776"/>
              <a:ext cx="1801316" cy="370099"/>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err="1">
                  <a:solidFill>
                    <a:srgbClr val="FF0000"/>
                  </a:solidFill>
                  <a:latin typeface="+mn-lt"/>
                </a:rPr>
                <a:t>s</a:t>
              </a:r>
              <a:r>
                <a:rPr lang="en-US" altLang="zh-CN" i="1" baseline="-25000" dirty="0" err="1">
                  <a:solidFill>
                    <a:srgbClr val="FF0000"/>
                  </a:solidFill>
                  <a:latin typeface="+mn-lt"/>
                </a:rPr>
                <a:t>n</a:t>
              </a:r>
              <a:r>
                <a:rPr lang="en-US" altLang="zh-CN" dirty="0">
                  <a:solidFill>
                    <a:srgbClr val="FF0000"/>
                  </a:solidFill>
                  <a:latin typeface="+mn-lt"/>
                </a:rPr>
                <a:t>=</a:t>
              </a:r>
              <a:r>
                <a:rPr lang="en-US" altLang="zh-CN" i="1" dirty="0" err="1">
                  <a:solidFill>
                    <a:srgbClr val="FF0000"/>
                  </a:solidFill>
                  <a:latin typeface="+mn-lt"/>
                </a:rPr>
                <a:t>T</a:t>
              </a:r>
              <a:r>
                <a:rPr lang="en-US" altLang="zh-CN" i="1" baseline="-25000" dirty="0" err="1">
                  <a:solidFill>
                    <a:srgbClr val="FF0000"/>
                  </a:solidFill>
                  <a:latin typeface="+mn-lt"/>
                </a:rPr>
                <a:t>n</a:t>
              </a:r>
              <a:r>
                <a:rPr lang="zh-CN" altLang="en-US" i="1" baseline="30000" dirty="0">
                  <a:solidFill>
                    <a:srgbClr val="FF0000"/>
                  </a:solidFill>
                  <a:latin typeface="+mn-lt"/>
                </a:rPr>
                <a:t>*</a:t>
              </a:r>
              <a:r>
                <a:rPr lang="en-US" altLang="zh-CN" baseline="-25000" dirty="0">
                  <a:solidFill>
                    <a:srgbClr val="FF0000"/>
                  </a:solidFill>
                  <a:latin typeface="+mn-lt"/>
                </a:rPr>
                <a:t> </a:t>
              </a:r>
              <a:r>
                <a:rPr lang="en-US" altLang="zh-CN" dirty="0">
                  <a:solidFill>
                    <a:srgbClr val="FF0000"/>
                  </a:solidFill>
                  <a:latin typeface="+mn-lt"/>
                </a:rPr>
                <a:t>(</a:t>
              </a:r>
              <a:r>
                <a:rPr lang="en-US" altLang="zh-CN" i="1" dirty="0">
                  <a:solidFill>
                    <a:srgbClr val="FF0000"/>
                  </a:solidFill>
                  <a:latin typeface="+mn-lt"/>
                </a:rPr>
                <a:t>s</a:t>
              </a:r>
              <a:r>
                <a:rPr lang="en-US" altLang="zh-CN" i="1" baseline="-25000" dirty="0">
                  <a:solidFill>
                    <a:srgbClr val="FF0000"/>
                  </a:solidFill>
                  <a:latin typeface="+mn-lt"/>
                </a:rPr>
                <a:t>n</a:t>
              </a:r>
              <a:r>
                <a:rPr lang="en-US" altLang="zh-CN" baseline="-25000" dirty="0">
                  <a:solidFill>
                    <a:srgbClr val="FF0000"/>
                  </a:solidFill>
                  <a:latin typeface="+mn-lt"/>
                </a:rPr>
                <a:t>+1</a:t>
              </a:r>
              <a:r>
                <a:rPr lang="en-US" altLang="zh-CN" dirty="0">
                  <a:solidFill>
                    <a:srgbClr val="FF0000"/>
                  </a:solidFill>
                  <a:latin typeface="+mn-lt"/>
                </a:rPr>
                <a:t>,</a:t>
              </a:r>
              <a:r>
                <a:rPr lang="en-US" altLang="zh-CN" baseline="-25000" dirty="0">
                  <a:solidFill>
                    <a:srgbClr val="FF0000"/>
                  </a:solidFill>
                  <a:latin typeface="+mn-lt"/>
                </a:rPr>
                <a:t> </a:t>
              </a:r>
              <a:r>
                <a:rPr lang="en-US" altLang="zh-CN" i="1" dirty="0" err="1">
                  <a:solidFill>
                    <a:srgbClr val="FF0000"/>
                  </a:solidFill>
                  <a:latin typeface="+mn-lt"/>
                </a:rPr>
                <a:t>x</a:t>
              </a:r>
              <a:r>
                <a:rPr lang="en-US" altLang="zh-CN" i="1" baseline="-25000" dirty="0" err="1">
                  <a:solidFill>
                    <a:srgbClr val="FF0000"/>
                  </a:solidFill>
                  <a:latin typeface="+mn-lt"/>
                </a:rPr>
                <a:t>n</a:t>
              </a:r>
              <a:r>
                <a:rPr lang="en-US" altLang="zh-CN" dirty="0">
                  <a:solidFill>
                    <a:srgbClr val="FF0000"/>
                  </a:solidFill>
                  <a:latin typeface="+mn-lt"/>
                </a:rPr>
                <a:t>)</a:t>
              </a:r>
            </a:p>
          </p:txBody>
        </p:sp>
      </p:grpSp>
      <p:grpSp>
        <p:nvGrpSpPr>
          <p:cNvPr id="44040" name="组合 70">
            <a:extLst>
              <a:ext uri="{FF2B5EF4-FFF2-40B4-BE49-F238E27FC236}">
                <a16:creationId xmlns:a16="http://schemas.microsoft.com/office/drawing/2014/main" id="{03970E90-61F1-4A7F-B656-EB86A5ED13A2}"/>
              </a:ext>
            </a:extLst>
          </p:cNvPr>
          <p:cNvGrpSpPr>
            <a:grpSpLocks/>
          </p:cNvGrpSpPr>
          <p:nvPr/>
        </p:nvGrpSpPr>
        <p:grpSpPr bwMode="auto">
          <a:xfrm>
            <a:off x="1619250" y="1341438"/>
            <a:ext cx="1368425" cy="1511300"/>
            <a:chOff x="1619672" y="1412776"/>
            <a:chExt cx="1368152" cy="1512168"/>
          </a:xfrm>
        </p:grpSpPr>
        <p:sp>
          <p:nvSpPr>
            <p:cNvPr id="44041" name="AutoShape 13">
              <a:extLst>
                <a:ext uri="{FF2B5EF4-FFF2-40B4-BE49-F238E27FC236}">
                  <a16:creationId xmlns:a16="http://schemas.microsoft.com/office/drawing/2014/main" id="{6F174916-456B-4F60-9773-3AE7469298D7}"/>
                </a:ext>
              </a:extLst>
            </p:cNvPr>
            <p:cNvSpPr>
              <a:spLocks noChangeArrowheads="1"/>
            </p:cNvSpPr>
            <p:nvPr/>
          </p:nvSpPr>
          <p:spPr bwMode="auto">
            <a:xfrm rot="10800000">
              <a:off x="2051720" y="1844824"/>
              <a:ext cx="288032" cy="1080120"/>
            </a:xfrm>
            <a:prstGeom prst="downArrow">
              <a:avLst>
                <a:gd name="adj1" fmla="val 50000"/>
                <a:gd name="adj2" fmla="val 62500"/>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6" name="Text Box 21">
              <a:extLst>
                <a:ext uri="{FF2B5EF4-FFF2-40B4-BE49-F238E27FC236}">
                  <a16:creationId xmlns:a16="http://schemas.microsoft.com/office/drawing/2014/main" id="{BB0BB25F-6FD7-4BFE-B1F0-3BF60912E6A5}"/>
                </a:ext>
              </a:extLst>
            </p:cNvPr>
            <p:cNvSpPr txBox="1">
              <a:spLocks noChangeArrowheads="1"/>
            </p:cNvSpPr>
            <p:nvPr/>
          </p:nvSpPr>
          <p:spPr bwMode="auto">
            <a:xfrm>
              <a:off x="1619672" y="1412776"/>
              <a:ext cx="1368152" cy="370099"/>
            </a:xfrm>
            <a:prstGeom prst="rect">
              <a:avLst/>
            </a:prstGeom>
            <a:noFill/>
            <a:ln w="9525">
              <a:noFill/>
              <a:miter lim="800000"/>
              <a:headEnd/>
              <a:tailEnd/>
            </a:ln>
            <a:effectLst/>
          </p:spPr>
          <p:txBody>
            <a:bodyPr>
              <a:spAutoFit/>
            </a:bodyPr>
            <a:lstStyle/>
            <a:p>
              <a:pPr eaLnBrk="1" hangingPunct="1">
                <a:spcBef>
                  <a:spcPct val="50000"/>
                </a:spcBef>
                <a:defRPr/>
              </a:pPr>
              <a:r>
                <a:rPr lang="en-US" altLang="zh-CN" i="1" dirty="0">
                  <a:solidFill>
                    <a:srgbClr val="FF0000"/>
                  </a:solidFill>
                  <a:latin typeface="+mn-lt"/>
                </a:rPr>
                <a:t>s</a:t>
              </a:r>
              <a:r>
                <a:rPr lang="en-US" altLang="zh-CN" baseline="-25000" dirty="0">
                  <a:solidFill>
                    <a:srgbClr val="FF0000"/>
                  </a:solidFill>
                  <a:latin typeface="+mn-lt"/>
                </a:rPr>
                <a:t>2</a:t>
              </a:r>
              <a:r>
                <a:rPr lang="en-US" altLang="zh-CN" dirty="0">
                  <a:solidFill>
                    <a:srgbClr val="FF0000"/>
                  </a:solidFill>
                  <a:latin typeface="+mn-lt"/>
                </a:rPr>
                <a:t>=</a:t>
              </a:r>
              <a:r>
                <a:rPr lang="en-US" altLang="zh-CN" i="1" dirty="0">
                  <a:solidFill>
                    <a:srgbClr val="FF0000"/>
                  </a:solidFill>
                  <a:latin typeface="+mn-lt"/>
                </a:rPr>
                <a:t>T</a:t>
              </a:r>
              <a:r>
                <a:rPr lang="en-US" altLang="zh-CN" baseline="-25000" dirty="0">
                  <a:solidFill>
                    <a:srgbClr val="FF0000"/>
                  </a:solidFill>
                  <a:latin typeface="+mn-lt"/>
                </a:rPr>
                <a:t>2</a:t>
              </a:r>
              <a:r>
                <a:rPr lang="zh-CN" altLang="en-US" i="1" baseline="30000" dirty="0">
                  <a:solidFill>
                    <a:srgbClr val="FF0000"/>
                  </a:solidFill>
                </a:rPr>
                <a:t>*</a:t>
              </a:r>
              <a:r>
                <a:rPr lang="en-US" altLang="zh-CN" dirty="0">
                  <a:solidFill>
                    <a:srgbClr val="FF0000"/>
                  </a:solidFill>
                  <a:latin typeface="+mn-lt"/>
                </a:rPr>
                <a:t>(</a:t>
              </a:r>
              <a:r>
                <a:rPr lang="en-US" altLang="zh-CN" i="1" dirty="0">
                  <a:solidFill>
                    <a:srgbClr val="FF0000"/>
                  </a:solidFill>
                  <a:latin typeface="+mn-lt"/>
                </a:rPr>
                <a:t>s</a:t>
              </a:r>
              <a:r>
                <a:rPr lang="en-US" altLang="zh-CN" baseline="-25000" dirty="0">
                  <a:solidFill>
                    <a:srgbClr val="FF0000"/>
                  </a:solidFill>
                  <a:latin typeface="+mn-lt"/>
                </a:rPr>
                <a:t>3</a:t>
              </a:r>
              <a:r>
                <a:rPr lang="en-US" altLang="zh-CN" dirty="0">
                  <a:solidFill>
                    <a:srgbClr val="FF0000"/>
                  </a:solidFill>
                  <a:latin typeface="+mn-lt"/>
                </a:rPr>
                <a:t>,</a:t>
              </a:r>
              <a:r>
                <a:rPr lang="en-US" altLang="zh-CN" baseline="-25000" dirty="0">
                  <a:solidFill>
                    <a:srgbClr val="FF0000"/>
                  </a:solidFill>
                  <a:latin typeface="+mn-lt"/>
                </a:rPr>
                <a:t> </a:t>
              </a:r>
              <a:r>
                <a:rPr lang="en-US" altLang="zh-CN" i="1" dirty="0">
                  <a:solidFill>
                    <a:srgbClr val="FF0000"/>
                  </a:solidFill>
                  <a:latin typeface="+mn-lt"/>
                </a:rPr>
                <a:t>x</a:t>
              </a:r>
              <a:r>
                <a:rPr lang="en-US" altLang="zh-CN" baseline="-25000" dirty="0">
                  <a:solidFill>
                    <a:srgbClr val="FF0000"/>
                  </a:solidFill>
                  <a:latin typeface="+mn-lt"/>
                </a:rPr>
                <a:t>2</a:t>
              </a:r>
              <a:r>
                <a:rPr lang="en-US" altLang="zh-CN" dirty="0">
                  <a:solidFill>
                    <a:srgbClr val="FF0000"/>
                  </a:solidFill>
                  <a:latin typeface="+mn-lt"/>
                </a:rPr>
                <a:t>)</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9361CEE-5AD7-443C-B6FF-0DCF3A8FACD9}"/>
              </a:ext>
            </a:extLst>
          </p:cNvPr>
          <p:cNvSpPr>
            <a:spLocks noGrp="1" noChangeArrowheads="1"/>
          </p:cNvSpPr>
          <p:nvPr>
            <p:ph type="title"/>
          </p:nvPr>
        </p:nvSpPr>
        <p:spPr/>
        <p:txBody>
          <a:bodyPr/>
          <a:lstStyle/>
          <a:p>
            <a:pPr eaLnBrk="1" hangingPunct="1"/>
            <a:r>
              <a:rPr lang="zh-CN" altLang="en-US"/>
              <a:t>顺推解法</a:t>
            </a:r>
          </a:p>
        </p:txBody>
      </p:sp>
      <p:sp>
        <p:nvSpPr>
          <p:cNvPr id="53251" name="Rectangle 3">
            <a:extLst>
              <a:ext uri="{FF2B5EF4-FFF2-40B4-BE49-F238E27FC236}">
                <a16:creationId xmlns:a16="http://schemas.microsoft.com/office/drawing/2014/main" id="{9423E3CA-E514-431A-871D-3323BF23E12B}"/>
              </a:ext>
            </a:extLst>
          </p:cNvPr>
          <p:cNvSpPr>
            <a:spLocks noGrp="1" noChangeArrowheads="1"/>
          </p:cNvSpPr>
          <p:nvPr>
            <p:ph type="body" sz="half" idx="1"/>
          </p:nvPr>
        </p:nvSpPr>
        <p:spPr>
          <a:xfrm>
            <a:off x="457200" y="1143000"/>
            <a:ext cx="4038600" cy="5238750"/>
          </a:xfrm>
        </p:spPr>
        <p:txBody>
          <a:bodyPr/>
          <a:lstStyle/>
          <a:p>
            <a:pPr eaLnBrk="1" hangingPunct="1"/>
            <a:r>
              <a:rPr lang="en-US" altLang="zh-CN" sz="2800"/>
              <a:t>1 </a:t>
            </a:r>
            <a:r>
              <a:rPr lang="zh-CN" altLang="en-US" sz="2800"/>
              <a:t>阶段：</a:t>
            </a:r>
          </a:p>
          <a:p>
            <a:pPr eaLnBrk="1" hangingPunct="1"/>
            <a:endParaRPr lang="zh-CN" altLang="en-US" sz="2800" i="1"/>
          </a:p>
          <a:p>
            <a:pPr eaLnBrk="1" hangingPunct="1"/>
            <a:endParaRPr lang="zh-CN" altLang="en-US" sz="2800" i="1"/>
          </a:p>
          <a:p>
            <a:pPr eaLnBrk="1" hangingPunct="1"/>
            <a:r>
              <a:rPr lang="en-US" altLang="zh-CN" sz="2800"/>
              <a:t>2 </a:t>
            </a:r>
            <a:r>
              <a:rPr lang="zh-CN" altLang="en-US" sz="2800"/>
              <a:t>阶段：</a:t>
            </a:r>
          </a:p>
          <a:p>
            <a:pPr eaLnBrk="1" hangingPunct="1"/>
            <a:endParaRPr lang="zh-CN" altLang="en-US" sz="2800"/>
          </a:p>
          <a:p>
            <a:pPr eaLnBrk="1" hangingPunct="1"/>
            <a:r>
              <a:rPr lang="en-US" altLang="zh-CN" sz="2800"/>
              <a:t>…</a:t>
            </a:r>
          </a:p>
          <a:p>
            <a:pPr eaLnBrk="1" hangingPunct="1"/>
            <a:r>
              <a:rPr lang="en-US" altLang="zh-CN" sz="2800" i="1"/>
              <a:t>n </a:t>
            </a:r>
            <a:r>
              <a:rPr lang="zh-CN" altLang="en-US" sz="2800"/>
              <a:t>阶段：</a:t>
            </a:r>
          </a:p>
        </p:txBody>
      </p:sp>
      <p:grpSp>
        <p:nvGrpSpPr>
          <p:cNvPr id="2" name="Group 26">
            <a:extLst>
              <a:ext uri="{FF2B5EF4-FFF2-40B4-BE49-F238E27FC236}">
                <a16:creationId xmlns:a16="http://schemas.microsoft.com/office/drawing/2014/main" id="{360084A8-9A9B-484B-9C89-A38E3D443BD8}"/>
              </a:ext>
            </a:extLst>
          </p:cNvPr>
          <p:cNvGrpSpPr>
            <a:grpSpLocks/>
          </p:cNvGrpSpPr>
          <p:nvPr/>
        </p:nvGrpSpPr>
        <p:grpSpPr bwMode="auto">
          <a:xfrm>
            <a:off x="4572000" y="1819275"/>
            <a:ext cx="2376488" cy="531813"/>
            <a:chOff x="2880" y="1146"/>
            <a:chExt cx="1497" cy="335"/>
          </a:xfrm>
        </p:grpSpPr>
        <p:graphicFrame>
          <p:nvGraphicFramePr>
            <p:cNvPr id="45081" name="Object 5">
              <a:extLst>
                <a:ext uri="{FF2B5EF4-FFF2-40B4-BE49-F238E27FC236}">
                  <a16:creationId xmlns:a16="http://schemas.microsoft.com/office/drawing/2014/main" id="{132BD927-78CB-491F-B601-82B2F141E838}"/>
                </a:ext>
              </a:extLst>
            </p:cNvPr>
            <p:cNvGraphicFramePr>
              <a:graphicFrameLocks noChangeAspect="1"/>
            </p:cNvGraphicFramePr>
            <p:nvPr/>
          </p:nvGraphicFramePr>
          <p:xfrm>
            <a:off x="3334" y="1146"/>
            <a:ext cx="1043" cy="335"/>
          </p:xfrm>
          <a:graphic>
            <a:graphicData uri="http://schemas.openxmlformats.org/presentationml/2006/ole">
              <mc:AlternateContent xmlns:mc="http://schemas.openxmlformats.org/markup-compatibility/2006">
                <mc:Choice xmlns:v="urn:schemas-microsoft-com:vml" Requires="v">
                  <p:oleObj spid="_x0000_s45227" name="公式" r:id="rId3" imgW="672808" imgH="215806" progId="Equation.3">
                    <p:embed/>
                  </p:oleObj>
                </mc:Choice>
                <mc:Fallback>
                  <p:oleObj name="公式" r:id="rId3" imgW="672808" imgH="215806"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4" y="1146"/>
                          <a:ext cx="1043" cy="33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82" name="Line 6">
              <a:extLst>
                <a:ext uri="{FF2B5EF4-FFF2-40B4-BE49-F238E27FC236}">
                  <a16:creationId xmlns:a16="http://schemas.microsoft.com/office/drawing/2014/main" id="{60526ADB-5E33-462F-A53B-B40587E1DA22}"/>
                </a:ext>
              </a:extLst>
            </p:cNvPr>
            <p:cNvSpPr>
              <a:spLocks noChangeShapeType="1"/>
            </p:cNvSpPr>
            <p:nvPr/>
          </p:nvSpPr>
          <p:spPr bwMode="auto">
            <a:xfrm>
              <a:off x="2880" y="1344"/>
              <a:ext cx="27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7">
            <a:extLst>
              <a:ext uri="{FF2B5EF4-FFF2-40B4-BE49-F238E27FC236}">
                <a16:creationId xmlns:a16="http://schemas.microsoft.com/office/drawing/2014/main" id="{A17DA0A0-ABFD-49D7-8F66-E652A1BBDD9F}"/>
              </a:ext>
            </a:extLst>
          </p:cNvPr>
          <p:cNvGrpSpPr>
            <a:grpSpLocks/>
          </p:cNvGrpSpPr>
          <p:nvPr/>
        </p:nvGrpSpPr>
        <p:grpSpPr bwMode="auto">
          <a:xfrm>
            <a:off x="1260475" y="2636838"/>
            <a:ext cx="5294313" cy="1311275"/>
            <a:chOff x="794" y="1661"/>
            <a:chExt cx="3335" cy="826"/>
          </a:xfrm>
        </p:grpSpPr>
        <p:graphicFrame>
          <p:nvGraphicFramePr>
            <p:cNvPr id="45078" name="Object 7">
              <a:extLst>
                <a:ext uri="{FF2B5EF4-FFF2-40B4-BE49-F238E27FC236}">
                  <a16:creationId xmlns:a16="http://schemas.microsoft.com/office/drawing/2014/main" id="{812F395C-155B-48B7-9EBE-C2909BF1DB63}"/>
                </a:ext>
              </a:extLst>
            </p:cNvPr>
            <p:cNvGraphicFramePr>
              <a:graphicFrameLocks noChangeAspect="1"/>
            </p:cNvGraphicFramePr>
            <p:nvPr/>
          </p:nvGraphicFramePr>
          <p:xfrm>
            <a:off x="1498" y="1661"/>
            <a:ext cx="2631" cy="374"/>
          </p:xfrm>
          <a:graphic>
            <a:graphicData uri="http://schemas.openxmlformats.org/presentationml/2006/ole">
              <mc:AlternateContent xmlns:mc="http://schemas.openxmlformats.org/markup-compatibility/2006">
                <mc:Choice xmlns:v="urn:schemas-microsoft-com:vml" Requires="v">
                  <p:oleObj spid="_x0000_s45228" name="Equation" r:id="rId5" imgW="2057400" imgH="292100" progId="Equation.DSMT4">
                    <p:embed/>
                  </p:oleObj>
                </mc:Choice>
                <mc:Fallback>
                  <p:oleObj name="Equation" r:id="rId5" imgW="2057400" imgH="2921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8" y="1661"/>
                          <a:ext cx="2631" cy="37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79" name="Text Box 8">
              <a:extLst>
                <a:ext uri="{FF2B5EF4-FFF2-40B4-BE49-F238E27FC236}">
                  <a16:creationId xmlns:a16="http://schemas.microsoft.com/office/drawing/2014/main" id="{565F494B-376A-4388-94F3-58DAF0BF8FB5}"/>
                </a:ext>
              </a:extLst>
            </p:cNvPr>
            <p:cNvSpPr txBox="1">
              <a:spLocks noChangeArrowheads="1"/>
            </p:cNvSpPr>
            <p:nvPr/>
          </p:nvSpPr>
          <p:spPr bwMode="auto">
            <a:xfrm>
              <a:off x="794" y="2144"/>
              <a:ext cx="7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t>其中，</a:t>
              </a:r>
            </a:p>
          </p:txBody>
        </p:sp>
        <p:graphicFrame>
          <p:nvGraphicFramePr>
            <p:cNvPr id="45080" name="Object 9">
              <a:extLst>
                <a:ext uri="{FF2B5EF4-FFF2-40B4-BE49-F238E27FC236}">
                  <a16:creationId xmlns:a16="http://schemas.microsoft.com/office/drawing/2014/main" id="{86FBF1A1-F2F5-4309-B279-51C8236092E8}"/>
                </a:ext>
              </a:extLst>
            </p:cNvPr>
            <p:cNvGraphicFramePr>
              <a:graphicFrameLocks noChangeAspect="1"/>
            </p:cNvGraphicFramePr>
            <p:nvPr/>
          </p:nvGraphicFramePr>
          <p:xfrm>
            <a:off x="1502" y="2162"/>
            <a:ext cx="1215" cy="325"/>
          </p:xfrm>
          <a:graphic>
            <a:graphicData uri="http://schemas.openxmlformats.org/presentationml/2006/ole">
              <mc:AlternateContent xmlns:mc="http://schemas.openxmlformats.org/markup-compatibility/2006">
                <mc:Choice xmlns:v="urn:schemas-microsoft-com:vml" Requires="v">
                  <p:oleObj spid="_x0000_s45229" name="公式" r:id="rId7" imgW="901309" imgH="241195" progId="Equation.3">
                    <p:embed/>
                  </p:oleObj>
                </mc:Choice>
                <mc:Fallback>
                  <p:oleObj name="公式" r:id="rId7" imgW="901309" imgH="24119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2" y="2162"/>
                          <a:ext cx="1215"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28">
            <a:extLst>
              <a:ext uri="{FF2B5EF4-FFF2-40B4-BE49-F238E27FC236}">
                <a16:creationId xmlns:a16="http://schemas.microsoft.com/office/drawing/2014/main" id="{F0352942-1BEE-479B-877B-E0FCD5A6A9F5}"/>
              </a:ext>
            </a:extLst>
          </p:cNvPr>
          <p:cNvGrpSpPr>
            <a:grpSpLocks/>
          </p:cNvGrpSpPr>
          <p:nvPr/>
        </p:nvGrpSpPr>
        <p:grpSpPr bwMode="auto">
          <a:xfrm>
            <a:off x="4643438" y="3357563"/>
            <a:ext cx="2417762" cy="579437"/>
            <a:chOff x="2925" y="2115"/>
            <a:chExt cx="1523" cy="365"/>
          </a:xfrm>
        </p:grpSpPr>
        <p:sp>
          <p:nvSpPr>
            <p:cNvPr id="45076" name="Line 10">
              <a:extLst>
                <a:ext uri="{FF2B5EF4-FFF2-40B4-BE49-F238E27FC236}">
                  <a16:creationId xmlns:a16="http://schemas.microsoft.com/office/drawing/2014/main" id="{2A61DE3E-FA08-4859-A406-CC41B948D6E2}"/>
                </a:ext>
              </a:extLst>
            </p:cNvPr>
            <p:cNvSpPr>
              <a:spLocks noChangeShapeType="1"/>
            </p:cNvSpPr>
            <p:nvPr/>
          </p:nvSpPr>
          <p:spPr bwMode="auto">
            <a:xfrm>
              <a:off x="2925" y="2296"/>
              <a:ext cx="27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5077" name="Object 11">
              <a:extLst>
                <a:ext uri="{FF2B5EF4-FFF2-40B4-BE49-F238E27FC236}">
                  <a16:creationId xmlns:a16="http://schemas.microsoft.com/office/drawing/2014/main" id="{D099AFBC-AD28-4A62-A8C5-561FE539DF1B}"/>
                </a:ext>
              </a:extLst>
            </p:cNvPr>
            <p:cNvGraphicFramePr>
              <a:graphicFrameLocks noChangeAspect="1"/>
            </p:cNvGraphicFramePr>
            <p:nvPr/>
          </p:nvGraphicFramePr>
          <p:xfrm>
            <a:off x="3334" y="2115"/>
            <a:ext cx="1114" cy="365"/>
          </p:xfrm>
          <a:graphic>
            <a:graphicData uri="http://schemas.openxmlformats.org/presentationml/2006/ole">
              <mc:AlternateContent xmlns:mc="http://schemas.openxmlformats.org/markup-compatibility/2006">
                <mc:Choice xmlns:v="urn:schemas-microsoft-com:vml" Requires="v">
                  <p:oleObj spid="_x0000_s45230" name="公式" r:id="rId9" imgW="698500" imgH="228600" progId="Equation.3">
                    <p:embed/>
                  </p:oleObj>
                </mc:Choice>
                <mc:Fallback>
                  <p:oleObj name="公式" r:id="rId9" imgW="698500" imgH="2286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34" y="2115"/>
                          <a:ext cx="1114" cy="36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30">
            <a:extLst>
              <a:ext uri="{FF2B5EF4-FFF2-40B4-BE49-F238E27FC236}">
                <a16:creationId xmlns:a16="http://schemas.microsoft.com/office/drawing/2014/main" id="{37DA8D2F-929F-4CF4-8D91-36153E61C249}"/>
              </a:ext>
            </a:extLst>
          </p:cNvPr>
          <p:cNvGrpSpPr>
            <a:grpSpLocks/>
          </p:cNvGrpSpPr>
          <p:nvPr/>
        </p:nvGrpSpPr>
        <p:grpSpPr bwMode="auto">
          <a:xfrm>
            <a:off x="4716463" y="4997450"/>
            <a:ext cx="2497137" cy="579438"/>
            <a:chOff x="2971" y="3148"/>
            <a:chExt cx="1573" cy="365"/>
          </a:xfrm>
        </p:grpSpPr>
        <p:graphicFrame>
          <p:nvGraphicFramePr>
            <p:cNvPr id="45074" name="Object 18">
              <a:extLst>
                <a:ext uri="{FF2B5EF4-FFF2-40B4-BE49-F238E27FC236}">
                  <a16:creationId xmlns:a16="http://schemas.microsoft.com/office/drawing/2014/main" id="{E34CD68D-0019-4C6A-B332-75C77C2CC804}"/>
                </a:ext>
              </a:extLst>
            </p:cNvPr>
            <p:cNvGraphicFramePr>
              <a:graphicFrameLocks noChangeAspect="1"/>
            </p:cNvGraphicFramePr>
            <p:nvPr/>
          </p:nvGraphicFramePr>
          <p:xfrm>
            <a:off x="3268" y="3148"/>
            <a:ext cx="1276" cy="365"/>
          </p:xfrm>
          <a:graphic>
            <a:graphicData uri="http://schemas.openxmlformats.org/presentationml/2006/ole">
              <mc:AlternateContent xmlns:mc="http://schemas.openxmlformats.org/markup-compatibility/2006">
                <mc:Choice xmlns:v="urn:schemas-microsoft-com:vml" Requires="v">
                  <p:oleObj spid="_x0000_s45231" name="公式" r:id="rId11" imgW="800100" imgH="228600" progId="Equation.3">
                    <p:embed/>
                  </p:oleObj>
                </mc:Choice>
                <mc:Fallback>
                  <p:oleObj name="公式" r:id="rId11" imgW="800100" imgH="228600"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68" y="3148"/>
                          <a:ext cx="1276" cy="36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75" name="Line 19">
              <a:extLst>
                <a:ext uri="{FF2B5EF4-FFF2-40B4-BE49-F238E27FC236}">
                  <a16:creationId xmlns:a16="http://schemas.microsoft.com/office/drawing/2014/main" id="{67635A16-1634-402D-B6C5-F369D4C58A1D}"/>
                </a:ext>
              </a:extLst>
            </p:cNvPr>
            <p:cNvSpPr>
              <a:spLocks noChangeShapeType="1"/>
            </p:cNvSpPr>
            <p:nvPr/>
          </p:nvSpPr>
          <p:spPr bwMode="auto">
            <a:xfrm>
              <a:off x="2971" y="3339"/>
              <a:ext cx="27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3268" name="Text Box 20">
            <a:extLst>
              <a:ext uri="{FF2B5EF4-FFF2-40B4-BE49-F238E27FC236}">
                <a16:creationId xmlns:a16="http://schemas.microsoft.com/office/drawing/2014/main" id="{C7F7C8A4-A84B-4B5D-87B2-0EED1DE9FE9C}"/>
              </a:ext>
            </a:extLst>
          </p:cNvPr>
          <p:cNvSpPr txBox="1">
            <a:spLocks noChangeArrowheads="1"/>
          </p:cNvSpPr>
          <p:nvPr/>
        </p:nvSpPr>
        <p:spPr bwMode="auto">
          <a:xfrm>
            <a:off x="827088" y="5775325"/>
            <a:ext cx="56546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i="1">
                <a:latin typeface="Times New Roman" panose="02020603050405020304" pitchFamily="18" charset="0"/>
              </a:rPr>
              <a:t>s</a:t>
            </a:r>
            <a:r>
              <a:rPr lang="en-US" altLang="zh-CN" sz="2400" b="1" i="1" baseline="-25000">
                <a:latin typeface="Times New Roman" panose="02020603050405020304" pitchFamily="18" charset="0"/>
              </a:rPr>
              <a:t>n</a:t>
            </a:r>
            <a:r>
              <a:rPr lang="en-US" altLang="zh-CN" sz="2400" b="1" baseline="-25000">
                <a:latin typeface="Times New Roman" panose="02020603050405020304" pitchFamily="18" charset="0"/>
              </a:rPr>
              <a:t>+1</a:t>
            </a:r>
            <a:r>
              <a:rPr lang="zh-CN" altLang="en-US" sz="2400" b="1">
                <a:latin typeface="Times New Roman" panose="02020603050405020304" pitchFamily="18" charset="0"/>
              </a:rPr>
              <a:t>已知，故 </a:t>
            </a:r>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n</a:t>
            </a:r>
            <a:r>
              <a:rPr lang="en-US" altLang="zh-CN" sz="2400" b="1">
                <a:latin typeface="Times New Roman" panose="02020603050405020304" pitchFamily="18" charset="0"/>
              </a:rPr>
              <a:t>=</a:t>
            </a:r>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n</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i="1" baseline="-25000">
                <a:latin typeface="Times New Roman" panose="02020603050405020304" pitchFamily="18" charset="0"/>
              </a:rPr>
              <a:t>n</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  </a:t>
            </a:r>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n</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i="1" baseline="-25000">
                <a:latin typeface="Times New Roman" panose="02020603050405020304" pitchFamily="18" charset="0"/>
              </a:rPr>
              <a:t>n</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a:t>
            </a:r>
            <a:r>
              <a:rPr lang="zh-CN" altLang="en-US" sz="2400" b="1">
                <a:latin typeface="Times New Roman" panose="02020603050405020304" pitchFamily="18" charset="0"/>
              </a:rPr>
              <a:t>可确定，逆推上去，各阶段值均可确定。</a:t>
            </a:r>
          </a:p>
        </p:txBody>
      </p:sp>
      <p:grpSp>
        <p:nvGrpSpPr>
          <p:cNvPr id="6" name="Group 25">
            <a:extLst>
              <a:ext uri="{FF2B5EF4-FFF2-40B4-BE49-F238E27FC236}">
                <a16:creationId xmlns:a16="http://schemas.microsoft.com/office/drawing/2014/main" id="{9E43E1F9-D9EF-43FA-9733-FE99E3869072}"/>
              </a:ext>
            </a:extLst>
          </p:cNvPr>
          <p:cNvGrpSpPr>
            <a:grpSpLocks/>
          </p:cNvGrpSpPr>
          <p:nvPr/>
        </p:nvGrpSpPr>
        <p:grpSpPr bwMode="auto">
          <a:xfrm>
            <a:off x="1258888" y="1125538"/>
            <a:ext cx="3979862" cy="1208087"/>
            <a:chOff x="793" y="709"/>
            <a:chExt cx="2507" cy="761"/>
          </a:xfrm>
        </p:grpSpPr>
        <p:graphicFrame>
          <p:nvGraphicFramePr>
            <p:cNvPr id="45071" name="Object 4">
              <a:extLst>
                <a:ext uri="{FF2B5EF4-FFF2-40B4-BE49-F238E27FC236}">
                  <a16:creationId xmlns:a16="http://schemas.microsoft.com/office/drawing/2014/main" id="{3F958992-D23B-476C-8081-54B437E077F3}"/>
                </a:ext>
              </a:extLst>
            </p:cNvPr>
            <p:cNvGraphicFramePr>
              <a:graphicFrameLocks noChangeAspect="1"/>
            </p:cNvGraphicFramePr>
            <p:nvPr/>
          </p:nvGraphicFramePr>
          <p:xfrm>
            <a:off x="1506" y="709"/>
            <a:ext cx="1794" cy="362"/>
          </p:xfrm>
          <a:graphic>
            <a:graphicData uri="http://schemas.openxmlformats.org/presentationml/2006/ole">
              <mc:AlternateContent xmlns:mc="http://schemas.openxmlformats.org/markup-compatibility/2006">
                <mc:Choice xmlns:v="urn:schemas-microsoft-com:vml" Requires="v">
                  <p:oleObj spid="_x0000_s45232" name="Equation" r:id="rId13" imgW="1447172" imgH="291973" progId="Equation.DSMT4">
                    <p:embed/>
                  </p:oleObj>
                </mc:Choice>
                <mc:Fallback>
                  <p:oleObj name="Equation" r:id="rId13" imgW="1447172" imgH="291973" progId="Equation.DSMT4">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06" y="709"/>
                          <a:ext cx="1794" cy="3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72" name="Text Box 21">
              <a:extLst>
                <a:ext uri="{FF2B5EF4-FFF2-40B4-BE49-F238E27FC236}">
                  <a16:creationId xmlns:a16="http://schemas.microsoft.com/office/drawing/2014/main" id="{A5DD63B4-41DB-49FC-BCB1-D717BF8266E0}"/>
                </a:ext>
              </a:extLst>
            </p:cNvPr>
            <p:cNvSpPr txBox="1">
              <a:spLocks noChangeArrowheads="1"/>
            </p:cNvSpPr>
            <p:nvPr/>
          </p:nvSpPr>
          <p:spPr bwMode="auto">
            <a:xfrm>
              <a:off x="793" y="1162"/>
              <a:ext cx="7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t>其中，</a:t>
              </a:r>
            </a:p>
          </p:txBody>
        </p:sp>
        <p:graphicFrame>
          <p:nvGraphicFramePr>
            <p:cNvPr id="45073" name="Object 22">
              <a:extLst>
                <a:ext uri="{FF2B5EF4-FFF2-40B4-BE49-F238E27FC236}">
                  <a16:creationId xmlns:a16="http://schemas.microsoft.com/office/drawing/2014/main" id="{6341CD2B-E297-4AB2-8508-A1B3DCFAB6EE}"/>
                </a:ext>
              </a:extLst>
            </p:cNvPr>
            <p:cNvGraphicFramePr>
              <a:graphicFrameLocks noChangeAspect="1"/>
            </p:cNvGraphicFramePr>
            <p:nvPr/>
          </p:nvGraphicFramePr>
          <p:xfrm>
            <a:off x="1527" y="1162"/>
            <a:ext cx="1163" cy="308"/>
          </p:xfrm>
          <a:graphic>
            <a:graphicData uri="http://schemas.openxmlformats.org/presentationml/2006/ole">
              <mc:AlternateContent xmlns:mc="http://schemas.openxmlformats.org/markup-compatibility/2006">
                <mc:Choice xmlns:v="urn:schemas-microsoft-com:vml" Requires="v">
                  <p:oleObj spid="_x0000_s45233" name="公式" r:id="rId15" imgW="863225" imgH="228501" progId="Equation.3">
                    <p:embed/>
                  </p:oleObj>
                </mc:Choice>
                <mc:Fallback>
                  <p:oleObj name="公式" r:id="rId15" imgW="863225" imgH="228501"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27" y="1162"/>
                          <a:ext cx="1163"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29">
            <a:extLst>
              <a:ext uri="{FF2B5EF4-FFF2-40B4-BE49-F238E27FC236}">
                <a16:creationId xmlns:a16="http://schemas.microsoft.com/office/drawing/2014/main" id="{61F2EAC4-A25B-44A1-BF07-D89284FDD25D}"/>
              </a:ext>
            </a:extLst>
          </p:cNvPr>
          <p:cNvGrpSpPr>
            <a:grpSpLocks/>
          </p:cNvGrpSpPr>
          <p:nvPr/>
        </p:nvGrpSpPr>
        <p:grpSpPr bwMode="auto">
          <a:xfrm>
            <a:off x="1331913" y="4221163"/>
            <a:ext cx="5753100" cy="1295400"/>
            <a:chOff x="839" y="2659"/>
            <a:chExt cx="3624" cy="816"/>
          </a:xfrm>
        </p:grpSpPr>
        <p:graphicFrame>
          <p:nvGraphicFramePr>
            <p:cNvPr id="45068" name="Object 17">
              <a:extLst>
                <a:ext uri="{FF2B5EF4-FFF2-40B4-BE49-F238E27FC236}">
                  <a16:creationId xmlns:a16="http://schemas.microsoft.com/office/drawing/2014/main" id="{EED4FE58-CA8D-4AD4-88D1-7E3CB7497EE7}"/>
                </a:ext>
              </a:extLst>
            </p:cNvPr>
            <p:cNvGraphicFramePr>
              <a:graphicFrameLocks noChangeAspect="1"/>
            </p:cNvGraphicFramePr>
            <p:nvPr/>
          </p:nvGraphicFramePr>
          <p:xfrm>
            <a:off x="1441" y="2659"/>
            <a:ext cx="3022" cy="374"/>
          </p:xfrm>
          <a:graphic>
            <a:graphicData uri="http://schemas.openxmlformats.org/presentationml/2006/ole">
              <mc:AlternateContent xmlns:mc="http://schemas.openxmlformats.org/markup-compatibility/2006">
                <mc:Choice xmlns:v="urn:schemas-microsoft-com:vml" Requires="v">
                  <p:oleObj spid="_x0000_s45234" name="Equation" r:id="rId17" imgW="2362200" imgH="292100" progId="Equation.DSMT4">
                    <p:embed/>
                  </p:oleObj>
                </mc:Choice>
                <mc:Fallback>
                  <p:oleObj name="Equation" r:id="rId17" imgW="2362200" imgH="292100" progId="Equation.DSMT4">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41" y="2659"/>
                          <a:ext cx="3022" cy="37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9" name="Text Box 23">
              <a:extLst>
                <a:ext uri="{FF2B5EF4-FFF2-40B4-BE49-F238E27FC236}">
                  <a16:creationId xmlns:a16="http://schemas.microsoft.com/office/drawing/2014/main" id="{E5093C7B-50C9-4559-9126-0BEA0056AE63}"/>
                </a:ext>
              </a:extLst>
            </p:cNvPr>
            <p:cNvSpPr txBox="1">
              <a:spLocks noChangeArrowheads="1"/>
            </p:cNvSpPr>
            <p:nvPr/>
          </p:nvSpPr>
          <p:spPr bwMode="auto">
            <a:xfrm>
              <a:off x="839" y="3132"/>
              <a:ext cx="7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t>其中，</a:t>
              </a:r>
            </a:p>
          </p:txBody>
        </p:sp>
        <p:graphicFrame>
          <p:nvGraphicFramePr>
            <p:cNvPr id="45070" name="Object 24">
              <a:extLst>
                <a:ext uri="{FF2B5EF4-FFF2-40B4-BE49-F238E27FC236}">
                  <a16:creationId xmlns:a16="http://schemas.microsoft.com/office/drawing/2014/main" id="{D1D1529A-FBBF-4CC6-99BC-74BDA0BDF0CB}"/>
                </a:ext>
              </a:extLst>
            </p:cNvPr>
            <p:cNvGraphicFramePr>
              <a:graphicFrameLocks noChangeAspect="1"/>
            </p:cNvGraphicFramePr>
            <p:nvPr/>
          </p:nvGraphicFramePr>
          <p:xfrm>
            <a:off x="1488" y="3150"/>
            <a:ext cx="1334" cy="325"/>
          </p:xfrm>
          <a:graphic>
            <a:graphicData uri="http://schemas.openxmlformats.org/presentationml/2006/ole">
              <mc:AlternateContent xmlns:mc="http://schemas.openxmlformats.org/markup-compatibility/2006">
                <mc:Choice xmlns:v="urn:schemas-microsoft-com:vml" Requires="v">
                  <p:oleObj spid="_x0000_s45235" name="公式" r:id="rId19" imgW="990170" imgH="241195" progId="Equation.3">
                    <p:embed/>
                  </p:oleObj>
                </mc:Choice>
                <mc:Fallback>
                  <p:oleObj name="公式" r:id="rId19" imgW="990170" imgH="241195" progId="Equation.3">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88" y="3150"/>
                          <a:ext cx="1334"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45067" name="图片 8">
            <a:extLst>
              <a:ext uri="{FF2B5EF4-FFF2-40B4-BE49-F238E27FC236}">
                <a16:creationId xmlns:a16="http://schemas.microsoft.com/office/drawing/2014/main" id="{9CBF4F81-BAB3-4DC9-9BED-CFFC8A82FBF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56225" y="47625"/>
            <a:ext cx="3632200"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251">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25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251">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3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5326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23CD844-EB1B-42AC-96D0-13F7D0D0334A}"/>
              </a:ext>
            </a:extLst>
          </p:cNvPr>
          <p:cNvSpPr>
            <a:spLocks noGrp="1" noChangeArrowheads="1"/>
          </p:cNvSpPr>
          <p:nvPr>
            <p:ph type="title"/>
          </p:nvPr>
        </p:nvSpPr>
        <p:spPr/>
        <p:txBody>
          <a:bodyPr/>
          <a:lstStyle/>
          <a:p>
            <a:pPr eaLnBrk="1" hangingPunct="1"/>
            <a:r>
              <a:rPr lang="zh-CN" altLang="en-US"/>
              <a:t>顺推解法</a:t>
            </a:r>
          </a:p>
        </p:txBody>
      </p:sp>
      <p:sp>
        <p:nvSpPr>
          <p:cNvPr id="46083" name="矩形 1">
            <a:extLst>
              <a:ext uri="{FF2B5EF4-FFF2-40B4-BE49-F238E27FC236}">
                <a16:creationId xmlns:a16="http://schemas.microsoft.com/office/drawing/2014/main" id="{D7AE5823-3F4C-4040-9354-DC5FE1340C1A}"/>
              </a:ext>
            </a:extLst>
          </p:cNvPr>
          <p:cNvSpPr>
            <a:spLocks noChangeArrowheads="1"/>
          </p:cNvSpPr>
          <p:nvPr/>
        </p:nvSpPr>
        <p:spPr bwMode="auto">
          <a:xfrm>
            <a:off x="457200" y="765175"/>
            <a:ext cx="337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例子</a:t>
            </a:r>
            <a:r>
              <a:rPr lang="en-US" altLang="zh-CN"/>
              <a:t> </a:t>
            </a:r>
            <a:r>
              <a:rPr lang="zh-CN" altLang="en-US"/>
              <a:t>用顺推解法求解下面问题</a:t>
            </a:r>
          </a:p>
        </p:txBody>
      </p:sp>
      <p:graphicFrame>
        <p:nvGraphicFramePr>
          <p:cNvPr id="46084" name="对象 8">
            <a:extLst>
              <a:ext uri="{FF2B5EF4-FFF2-40B4-BE49-F238E27FC236}">
                <a16:creationId xmlns:a16="http://schemas.microsoft.com/office/drawing/2014/main" id="{637E52A0-94CC-4438-BED0-311A5B2EE781}"/>
              </a:ext>
            </a:extLst>
          </p:cNvPr>
          <p:cNvGraphicFramePr>
            <a:graphicFrameLocks noChangeAspect="1"/>
          </p:cNvGraphicFramePr>
          <p:nvPr/>
        </p:nvGraphicFramePr>
        <p:xfrm>
          <a:off x="539750" y="1182688"/>
          <a:ext cx="2008188" cy="1074737"/>
        </p:xfrm>
        <a:graphic>
          <a:graphicData uri="http://schemas.openxmlformats.org/presentationml/2006/ole">
            <mc:AlternateContent xmlns:mc="http://schemas.openxmlformats.org/markup-compatibility/2006">
              <mc:Choice xmlns:v="urn:schemas-microsoft-com:vml" Requires="v">
                <p:oleObj spid="_x0000_s46121" name="Equation" r:id="rId3" imgW="1422400" imgH="762000" progId="Equation.DSMT4">
                  <p:embed/>
                </p:oleObj>
              </mc:Choice>
              <mc:Fallback>
                <p:oleObj name="Equation" r:id="rId3" imgW="1422400" imgH="7620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182688"/>
                        <a:ext cx="2008188"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11">
            <a:extLst>
              <a:ext uri="{FF2B5EF4-FFF2-40B4-BE49-F238E27FC236}">
                <a16:creationId xmlns:a16="http://schemas.microsoft.com/office/drawing/2014/main" id="{262E907F-6AC7-4FC3-8FE4-2FFFB36512AF}"/>
              </a:ext>
            </a:extLst>
          </p:cNvPr>
          <p:cNvSpPr txBox="1">
            <a:spLocks noChangeArrowheads="1"/>
          </p:cNvSpPr>
          <p:nvPr/>
        </p:nvSpPr>
        <p:spPr bwMode="auto">
          <a:xfrm>
            <a:off x="611188" y="2505075"/>
            <a:ext cx="5688012" cy="2030413"/>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a:latin typeface="+mn-lt"/>
                <a:ea typeface="+mn-ea"/>
              </a:rPr>
              <a:t>(1)</a:t>
            </a:r>
            <a:r>
              <a:rPr lang="zh-CN" altLang="en-US" dirty="0">
                <a:latin typeface="+mn-lt"/>
                <a:ea typeface="+mn-ea"/>
              </a:rPr>
              <a:t>阶段：按问题的变量个数划分为</a:t>
            </a:r>
            <a:r>
              <a:rPr lang="en-US" altLang="zh-CN" dirty="0">
                <a:latin typeface="+mn-lt"/>
                <a:ea typeface="+mn-ea"/>
              </a:rPr>
              <a:t>3</a:t>
            </a:r>
            <a:r>
              <a:rPr lang="zh-CN" altLang="en-US" dirty="0">
                <a:latin typeface="+mn-lt"/>
                <a:ea typeface="+mn-ea"/>
              </a:rPr>
              <a:t>阶段</a:t>
            </a:r>
            <a:r>
              <a:rPr lang="en-US" altLang="zh-CN" dirty="0">
                <a:latin typeface="+mn-lt"/>
                <a:ea typeface="+mn-ea"/>
              </a:rPr>
              <a:t>;</a:t>
            </a:r>
          </a:p>
          <a:p>
            <a:pPr eaLnBrk="1" hangingPunct="1">
              <a:spcBef>
                <a:spcPct val="50000"/>
              </a:spcBef>
              <a:defRPr/>
            </a:pPr>
            <a:r>
              <a:rPr lang="en-US" altLang="zh-CN" dirty="0">
                <a:latin typeface="+mn-lt"/>
                <a:ea typeface="+mn-ea"/>
              </a:rPr>
              <a:t>(2)</a:t>
            </a:r>
            <a:r>
              <a:rPr lang="zh-CN" altLang="en-US" dirty="0">
                <a:latin typeface="+mn-lt"/>
                <a:ea typeface="+mn-ea"/>
              </a:rPr>
              <a:t>状态变量：假设为</a:t>
            </a:r>
            <a:r>
              <a:rPr lang="en-US" altLang="zh-CN" i="1" dirty="0">
                <a:latin typeface="+mn-lt"/>
                <a:ea typeface="+mn-ea"/>
              </a:rPr>
              <a:t>s</a:t>
            </a:r>
            <a:r>
              <a:rPr lang="en-US" altLang="zh-CN" baseline="-25000" dirty="0">
                <a:latin typeface="+mn-lt"/>
                <a:ea typeface="+mn-ea"/>
              </a:rPr>
              <a:t>1</a:t>
            </a:r>
            <a:r>
              <a:rPr lang="en-US" altLang="zh-CN" dirty="0">
                <a:latin typeface="+mn-lt"/>
                <a:ea typeface="+mn-ea"/>
              </a:rPr>
              <a:t>, </a:t>
            </a:r>
            <a:r>
              <a:rPr lang="en-US" altLang="zh-CN" i="1" dirty="0">
                <a:latin typeface="+mn-lt"/>
                <a:ea typeface="+mn-ea"/>
              </a:rPr>
              <a:t>s</a:t>
            </a:r>
            <a:r>
              <a:rPr lang="en-US" altLang="zh-CN" baseline="-25000" dirty="0">
                <a:latin typeface="+mn-lt"/>
                <a:ea typeface="+mn-ea"/>
              </a:rPr>
              <a:t>2</a:t>
            </a:r>
            <a:r>
              <a:rPr lang="en-US" altLang="zh-CN" dirty="0">
                <a:latin typeface="+mn-lt"/>
                <a:ea typeface="+mn-ea"/>
              </a:rPr>
              <a:t>, </a:t>
            </a:r>
            <a:r>
              <a:rPr lang="en-US" altLang="zh-CN" i="1" dirty="0">
                <a:latin typeface="+mn-lt"/>
                <a:ea typeface="+mn-ea"/>
              </a:rPr>
              <a:t>s</a:t>
            </a:r>
            <a:r>
              <a:rPr lang="en-US" altLang="zh-CN" baseline="-25000" dirty="0">
                <a:latin typeface="+mn-lt"/>
                <a:ea typeface="+mn-ea"/>
              </a:rPr>
              <a:t>3</a:t>
            </a:r>
            <a:r>
              <a:rPr lang="en-US" altLang="zh-CN" dirty="0">
                <a:latin typeface="+mn-lt"/>
                <a:ea typeface="+mn-ea"/>
              </a:rPr>
              <a:t>, </a:t>
            </a:r>
            <a:r>
              <a:rPr lang="en-US" altLang="zh-CN" i="1" dirty="0">
                <a:latin typeface="+mn-lt"/>
                <a:ea typeface="+mn-ea"/>
              </a:rPr>
              <a:t>s</a:t>
            </a:r>
            <a:r>
              <a:rPr lang="en-US" altLang="zh-CN" baseline="-25000" dirty="0">
                <a:latin typeface="+mn-lt"/>
                <a:ea typeface="+mn-ea"/>
              </a:rPr>
              <a:t>4</a:t>
            </a:r>
            <a:r>
              <a:rPr lang="en-US" altLang="zh-CN" dirty="0">
                <a:latin typeface="+mn-lt"/>
                <a:ea typeface="+mn-ea"/>
              </a:rPr>
              <a:t>, </a:t>
            </a:r>
            <a:r>
              <a:rPr lang="zh-CN" altLang="en-US" dirty="0">
                <a:latin typeface="+mn-lt"/>
                <a:ea typeface="+mn-ea"/>
              </a:rPr>
              <a:t>并且记</a:t>
            </a:r>
            <a:r>
              <a:rPr lang="en-US" altLang="zh-CN" i="1" dirty="0">
                <a:solidFill>
                  <a:srgbClr val="FF0000"/>
                </a:solidFill>
                <a:latin typeface="+mn-lt"/>
                <a:ea typeface="+mn-ea"/>
              </a:rPr>
              <a:t>s</a:t>
            </a:r>
            <a:r>
              <a:rPr lang="en-US" altLang="zh-CN" baseline="-25000" dirty="0">
                <a:solidFill>
                  <a:srgbClr val="FF0000"/>
                </a:solidFill>
                <a:latin typeface="+mn-lt"/>
                <a:ea typeface="+mn-ea"/>
              </a:rPr>
              <a:t>4</a:t>
            </a:r>
            <a:r>
              <a:rPr lang="en-US" altLang="zh-CN" dirty="0">
                <a:solidFill>
                  <a:srgbClr val="FF0000"/>
                </a:solidFill>
                <a:latin typeface="+mn-lt"/>
                <a:ea typeface="+mn-ea"/>
              </a:rPr>
              <a:t>=</a:t>
            </a:r>
            <a:r>
              <a:rPr lang="en-US" altLang="zh-CN" i="1" dirty="0">
                <a:solidFill>
                  <a:srgbClr val="FF0000"/>
                </a:solidFill>
                <a:latin typeface="+mn-lt"/>
                <a:ea typeface="+mn-ea"/>
              </a:rPr>
              <a:t>c</a:t>
            </a:r>
            <a:r>
              <a:rPr lang="en-US" altLang="zh-CN" dirty="0">
                <a:latin typeface="+mn-lt"/>
                <a:ea typeface="+mn-ea"/>
              </a:rPr>
              <a:t>;</a:t>
            </a:r>
          </a:p>
          <a:p>
            <a:pPr eaLnBrk="1" hangingPunct="1">
              <a:spcBef>
                <a:spcPct val="50000"/>
              </a:spcBef>
              <a:defRPr/>
            </a:pPr>
            <a:r>
              <a:rPr lang="en-US" altLang="zh-CN" dirty="0">
                <a:latin typeface="+mn-lt"/>
              </a:rPr>
              <a:t>(3)</a:t>
            </a:r>
            <a:r>
              <a:rPr lang="zh-CN" altLang="en-US" dirty="0">
                <a:latin typeface="+mn-lt"/>
              </a:rPr>
              <a:t>决策变量：</a:t>
            </a:r>
            <a:r>
              <a:rPr lang="en-US" altLang="zh-CN" i="1" dirty="0">
                <a:latin typeface="+mn-lt"/>
              </a:rPr>
              <a:t> x</a:t>
            </a:r>
            <a:r>
              <a:rPr lang="en-US" altLang="zh-CN" baseline="-25000" dirty="0">
                <a:latin typeface="+mn-lt"/>
              </a:rPr>
              <a:t>1</a:t>
            </a:r>
            <a:r>
              <a:rPr lang="en-US" altLang="zh-CN" dirty="0">
                <a:latin typeface="+mn-lt"/>
              </a:rPr>
              <a:t>, </a:t>
            </a:r>
            <a:r>
              <a:rPr lang="en-US" altLang="zh-CN" i="1" dirty="0">
                <a:latin typeface="+mn-lt"/>
              </a:rPr>
              <a:t>x</a:t>
            </a:r>
            <a:r>
              <a:rPr lang="en-US" altLang="zh-CN" baseline="-25000" dirty="0">
                <a:latin typeface="+mn-lt"/>
              </a:rPr>
              <a:t>2</a:t>
            </a:r>
            <a:r>
              <a:rPr lang="en-US" altLang="zh-CN" dirty="0">
                <a:latin typeface="+mn-lt"/>
              </a:rPr>
              <a:t>, </a:t>
            </a:r>
            <a:r>
              <a:rPr lang="en-US" altLang="zh-CN" i="1" dirty="0">
                <a:latin typeface="+mn-lt"/>
              </a:rPr>
              <a:t>x</a:t>
            </a:r>
            <a:r>
              <a:rPr lang="en-US" altLang="zh-CN" baseline="-25000" dirty="0">
                <a:latin typeface="+mn-lt"/>
              </a:rPr>
              <a:t>3</a:t>
            </a:r>
            <a:r>
              <a:rPr lang="en-US" altLang="zh-CN" dirty="0">
                <a:latin typeface="+mn-lt"/>
              </a:rPr>
              <a:t>;</a:t>
            </a:r>
          </a:p>
          <a:p>
            <a:pPr eaLnBrk="1" hangingPunct="1">
              <a:spcBef>
                <a:spcPct val="50000"/>
              </a:spcBef>
              <a:defRPr/>
            </a:pPr>
            <a:r>
              <a:rPr lang="en-US" altLang="zh-CN" dirty="0"/>
              <a:t>(4)</a:t>
            </a:r>
            <a:r>
              <a:rPr lang="zh-CN" altLang="en-US" dirty="0"/>
              <a:t>指标函数：各阶段指标函数按乘积方式结合</a:t>
            </a:r>
            <a:r>
              <a:rPr lang="en-US" altLang="zh-CN" dirty="0"/>
              <a:t>;</a:t>
            </a:r>
          </a:p>
          <a:p>
            <a:pPr eaLnBrk="1" hangingPunct="1">
              <a:spcBef>
                <a:spcPct val="50000"/>
              </a:spcBef>
              <a:defRPr/>
            </a:pPr>
            <a:r>
              <a:rPr lang="en-US" altLang="zh-CN" dirty="0"/>
              <a:t>(5)</a:t>
            </a:r>
            <a:r>
              <a:rPr lang="zh-CN" altLang="en-US" dirty="0"/>
              <a:t>状态转移方程：</a:t>
            </a:r>
            <a:endParaRPr lang="en-US" altLang="zh-CN" dirty="0"/>
          </a:p>
        </p:txBody>
      </p:sp>
      <p:graphicFrame>
        <p:nvGraphicFramePr>
          <p:cNvPr id="46086" name="对象 12">
            <a:extLst>
              <a:ext uri="{FF2B5EF4-FFF2-40B4-BE49-F238E27FC236}">
                <a16:creationId xmlns:a16="http://schemas.microsoft.com/office/drawing/2014/main" id="{972AF283-78F9-455E-A454-B0B9E1C809CC}"/>
              </a:ext>
            </a:extLst>
          </p:cNvPr>
          <p:cNvGraphicFramePr>
            <a:graphicFrameLocks noChangeAspect="1"/>
          </p:cNvGraphicFramePr>
          <p:nvPr/>
        </p:nvGraphicFramePr>
        <p:xfrm>
          <a:off x="660400" y="4724400"/>
          <a:ext cx="4602163" cy="1363663"/>
        </p:xfrm>
        <a:graphic>
          <a:graphicData uri="http://schemas.openxmlformats.org/presentationml/2006/ole">
            <mc:AlternateContent xmlns:mc="http://schemas.openxmlformats.org/markup-compatibility/2006">
              <mc:Choice xmlns:v="urn:schemas-microsoft-com:vml" Requires="v">
                <p:oleObj spid="_x0000_s46122" name="Equation" r:id="rId5" imgW="2400300" imgH="711200" progId="Equation.DSMT4">
                  <p:embed/>
                </p:oleObj>
              </mc:Choice>
              <mc:Fallback>
                <p:oleObj name="Equation" r:id="rId5" imgW="2400300" imgH="711200" progId="Equation.DSMT4">
                  <p:embed/>
                  <p:pic>
                    <p:nvPicPr>
                      <p:cNvPr id="0"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400" y="4724400"/>
                        <a:ext cx="4602163"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7" name="矩形 13">
            <a:extLst>
              <a:ext uri="{FF2B5EF4-FFF2-40B4-BE49-F238E27FC236}">
                <a16:creationId xmlns:a16="http://schemas.microsoft.com/office/drawing/2014/main" id="{4507B109-0C5F-4603-AB43-0F771AF6C13B}"/>
              </a:ext>
            </a:extLst>
          </p:cNvPr>
          <p:cNvSpPr>
            <a:spLocks noChangeArrowheads="1"/>
          </p:cNvSpPr>
          <p:nvPr/>
        </p:nvSpPr>
        <p:spPr bwMode="auto">
          <a:xfrm>
            <a:off x="5364163" y="5702300"/>
            <a:ext cx="2262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每阶段允许决策集合</a:t>
            </a:r>
          </a:p>
        </p:txBody>
      </p:sp>
      <p:pic>
        <p:nvPicPr>
          <p:cNvPr id="46088" name="图片 9">
            <a:extLst>
              <a:ext uri="{FF2B5EF4-FFF2-40B4-BE49-F238E27FC236}">
                <a16:creationId xmlns:a16="http://schemas.microsoft.com/office/drawing/2014/main" id="{928F6D61-480D-47D7-B261-0E2F06868BE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8850" y="0"/>
            <a:ext cx="4354513"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303CEFBA-0D35-4904-A805-730B634E4B2B}"/>
              </a:ext>
            </a:extLst>
          </p:cNvPr>
          <p:cNvSpPr>
            <a:spLocks noGrp="1" noChangeArrowheads="1"/>
          </p:cNvSpPr>
          <p:nvPr>
            <p:ph type="title"/>
          </p:nvPr>
        </p:nvSpPr>
        <p:spPr/>
        <p:txBody>
          <a:bodyPr/>
          <a:lstStyle/>
          <a:p>
            <a:pPr eaLnBrk="1" hangingPunct="1"/>
            <a:r>
              <a:rPr lang="zh-CN" altLang="en-US"/>
              <a:t>顺推解法</a:t>
            </a:r>
          </a:p>
        </p:txBody>
      </p:sp>
      <p:sp>
        <p:nvSpPr>
          <p:cNvPr id="8" name="Text Box 11">
            <a:extLst>
              <a:ext uri="{FF2B5EF4-FFF2-40B4-BE49-F238E27FC236}">
                <a16:creationId xmlns:a16="http://schemas.microsoft.com/office/drawing/2014/main" id="{755B1811-DEE4-47A1-AD8E-9DBF772F9011}"/>
              </a:ext>
            </a:extLst>
          </p:cNvPr>
          <p:cNvSpPr txBox="1">
            <a:spLocks noChangeArrowheads="1"/>
          </p:cNvSpPr>
          <p:nvPr/>
        </p:nvSpPr>
        <p:spPr bwMode="auto">
          <a:xfrm>
            <a:off x="457200" y="869950"/>
            <a:ext cx="3467100" cy="368300"/>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a:t>(6)</a:t>
            </a:r>
            <a:r>
              <a:rPr lang="zh-CN" altLang="en-US" dirty="0"/>
              <a:t>动态规划基本方程的建立：</a:t>
            </a:r>
            <a:endParaRPr lang="en-US" altLang="zh-CN" dirty="0">
              <a:latin typeface="+mn-lt"/>
              <a:ea typeface="+mn-ea"/>
            </a:endParaRPr>
          </a:p>
        </p:txBody>
      </p:sp>
      <p:sp>
        <p:nvSpPr>
          <p:cNvPr id="7" name="矩形 6">
            <a:extLst>
              <a:ext uri="{FF2B5EF4-FFF2-40B4-BE49-F238E27FC236}">
                <a16:creationId xmlns:a16="http://schemas.microsoft.com/office/drawing/2014/main" id="{04BA7920-3CB0-4B4E-89F0-EBFDBDBBD8B1}"/>
              </a:ext>
            </a:extLst>
          </p:cNvPr>
          <p:cNvSpPr/>
          <p:nvPr/>
        </p:nvSpPr>
        <p:spPr>
          <a:xfrm>
            <a:off x="457200" y="1257300"/>
            <a:ext cx="8593138" cy="646113"/>
          </a:xfrm>
          <a:prstGeom prst="rect">
            <a:avLst/>
          </a:prstGeom>
        </p:spPr>
        <p:txBody>
          <a:bodyPr wrap="none">
            <a:spAutoFit/>
          </a:bodyPr>
          <a:lstStyle/>
          <a:p>
            <a:pPr>
              <a:defRPr/>
            </a:pPr>
            <a:r>
              <a:rPr lang="zh-CN" altLang="en-US" dirty="0">
                <a:solidFill>
                  <a:srgbClr val="FF00FF"/>
                </a:solidFill>
                <a:latin typeface="+mn-lt"/>
              </a:rPr>
              <a:t>令最优值函数</a:t>
            </a:r>
            <a:r>
              <a:rPr lang="en-US" altLang="zh-CN" i="1" dirty="0" err="1">
                <a:solidFill>
                  <a:srgbClr val="FF00FF"/>
                </a:solidFill>
                <a:latin typeface="+mn-lt"/>
              </a:rPr>
              <a:t>f</a:t>
            </a:r>
            <a:r>
              <a:rPr lang="en-US" altLang="zh-CN" i="1" baseline="-25000" dirty="0" err="1">
                <a:solidFill>
                  <a:srgbClr val="FF00FF"/>
                </a:solidFill>
                <a:latin typeface="+mn-lt"/>
              </a:rPr>
              <a:t>k</a:t>
            </a:r>
            <a:r>
              <a:rPr lang="en-US" altLang="zh-CN" dirty="0">
                <a:solidFill>
                  <a:srgbClr val="FF00FF"/>
                </a:solidFill>
                <a:latin typeface="+mn-lt"/>
              </a:rPr>
              <a:t>(</a:t>
            </a:r>
            <a:r>
              <a:rPr lang="en-US" altLang="zh-CN" i="1" dirty="0">
                <a:solidFill>
                  <a:srgbClr val="FF00FF"/>
                </a:solidFill>
                <a:latin typeface="+mn-lt"/>
              </a:rPr>
              <a:t>s</a:t>
            </a:r>
            <a:r>
              <a:rPr lang="en-US" altLang="zh-CN" i="1" baseline="-25000" dirty="0">
                <a:solidFill>
                  <a:srgbClr val="FF00FF"/>
                </a:solidFill>
                <a:latin typeface="+mn-lt"/>
              </a:rPr>
              <a:t>k</a:t>
            </a:r>
            <a:r>
              <a:rPr lang="en-US" altLang="zh-CN" baseline="-25000" dirty="0">
                <a:solidFill>
                  <a:srgbClr val="FF00FF"/>
                </a:solidFill>
                <a:latin typeface="+mn-lt"/>
              </a:rPr>
              <a:t>+1</a:t>
            </a:r>
            <a:r>
              <a:rPr lang="en-US" altLang="zh-CN" dirty="0">
                <a:solidFill>
                  <a:srgbClr val="FF00FF"/>
                </a:solidFill>
                <a:latin typeface="+mn-lt"/>
              </a:rPr>
              <a:t>)</a:t>
            </a:r>
            <a:r>
              <a:rPr lang="zh-CN" altLang="en-US" dirty="0">
                <a:solidFill>
                  <a:srgbClr val="FF00FF"/>
                </a:solidFill>
                <a:latin typeface="+mn-lt"/>
              </a:rPr>
              <a:t>表示为第</a:t>
            </a:r>
            <a:r>
              <a:rPr lang="en-US" altLang="zh-CN" i="1" dirty="0">
                <a:solidFill>
                  <a:srgbClr val="FF00FF"/>
                </a:solidFill>
                <a:latin typeface="+mn-lt"/>
              </a:rPr>
              <a:t>k</a:t>
            </a:r>
            <a:r>
              <a:rPr lang="zh-CN" altLang="en-US" dirty="0">
                <a:solidFill>
                  <a:srgbClr val="FF00FF"/>
                </a:solidFill>
                <a:latin typeface="+mn-lt"/>
              </a:rPr>
              <a:t>阶段末的结束状态为</a:t>
            </a:r>
            <a:r>
              <a:rPr lang="en-US" altLang="zh-CN" i="1" dirty="0">
                <a:solidFill>
                  <a:srgbClr val="FF00FF"/>
                </a:solidFill>
                <a:latin typeface="+mn-lt"/>
              </a:rPr>
              <a:t>s</a:t>
            </a:r>
            <a:r>
              <a:rPr lang="en-US" altLang="zh-CN" i="1" baseline="-25000" dirty="0">
                <a:solidFill>
                  <a:srgbClr val="FF00FF"/>
                </a:solidFill>
                <a:latin typeface="+mn-lt"/>
              </a:rPr>
              <a:t>k</a:t>
            </a:r>
            <a:r>
              <a:rPr lang="en-US" altLang="zh-CN" baseline="-25000" dirty="0">
                <a:solidFill>
                  <a:srgbClr val="FF00FF"/>
                </a:solidFill>
                <a:latin typeface="+mn-lt"/>
              </a:rPr>
              <a:t>+1</a:t>
            </a:r>
            <a:r>
              <a:rPr lang="zh-CN" altLang="en-US" dirty="0">
                <a:solidFill>
                  <a:srgbClr val="FF00FF"/>
                </a:solidFill>
                <a:latin typeface="+mn-lt"/>
              </a:rPr>
              <a:t>，从</a:t>
            </a:r>
            <a:r>
              <a:rPr lang="en-US" altLang="zh-CN" dirty="0">
                <a:solidFill>
                  <a:srgbClr val="FF00FF"/>
                </a:solidFill>
                <a:latin typeface="+mn-lt"/>
              </a:rPr>
              <a:t>1</a:t>
            </a:r>
            <a:r>
              <a:rPr lang="zh-CN" altLang="en-US" dirty="0">
                <a:solidFill>
                  <a:srgbClr val="FF00FF"/>
                </a:solidFill>
                <a:latin typeface="+mn-lt"/>
              </a:rPr>
              <a:t>阶段到</a:t>
            </a:r>
            <a:r>
              <a:rPr lang="en-US" altLang="zh-CN" i="1" dirty="0">
                <a:solidFill>
                  <a:srgbClr val="FF00FF"/>
                </a:solidFill>
                <a:latin typeface="+mn-lt"/>
              </a:rPr>
              <a:t>k</a:t>
            </a:r>
            <a:r>
              <a:rPr lang="zh-CN" altLang="en-US" dirty="0">
                <a:solidFill>
                  <a:srgbClr val="FF00FF"/>
                </a:solidFill>
                <a:latin typeface="+mn-lt"/>
              </a:rPr>
              <a:t>阶段的最大值。</a:t>
            </a:r>
            <a:endParaRPr lang="en-US" altLang="zh-CN" dirty="0">
              <a:solidFill>
                <a:srgbClr val="FF00FF"/>
              </a:solidFill>
              <a:latin typeface="+mn-lt"/>
            </a:endParaRPr>
          </a:p>
          <a:p>
            <a:pPr>
              <a:defRPr/>
            </a:pPr>
            <a:r>
              <a:rPr lang="zh-CN" altLang="en-US" dirty="0">
                <a:solidFill>
                  <a:srgbClr val="FF00FF"/>
                </a:solidFill>
                <a:latin typeface="+mn-lt"/>
              </a:rPr>
              <a:t>采用顺推解法，从</a:t>
            </a:r>
            <a:r>
              <a:rPr lang="zh-CN" altLang="en-US" dirty="0">
                <a:solidFill>
                  <a:srgbClr val="FF00FF"/>
                </a:solidFill>
              </a:rPr>
              <a:t>前</a:t>
            </a:r>
            <a:r>
              <a:rPr lang="zh-CN" altLang="en-US" dirty="0">
                <a:solidFill>
                  <a:srgbClr val="FF00FF"/>
                </a:solidFill>
                <a:latin typeface="+mn-lt"/>
              </a:rPr>
              <a:t>向</a:t>
            </a:r>
            <a:r>
              <a:rPr lang="zh-CN" altLang="en-US" dirty="0">
                <a:solidFill>
                  <a:srgbClr val="FF00FF"/>
                </a:solidFill>
              </a:rPr>
              <a:t>后</a:t>
            </a:r>
            <a:r>
              <a:rPr lang="zh-CN" altLang="en-US" dirty="0">
                <a:solidFill>
                  <a:srgbClr val="FF00FF"/>
                </a:solidFill>
                <a:latin typeface="+mn-lt"/>
              </a:rPr>
              <a:t>依次有</a:t>
            </a:r>
            <a:endParaRPr lang="zh-CN" altLang="en-US" dirty="0">
              <a:latin typeface="+mn-lt"/>
            </a:endParaRPr>
          </a:p>
        </p:txBody>
      </p:sp>
      <p:graphicFrame>
        <p:nvGraphicFramePr>
          <p:cNvPr id="47109" name="对象 8">
            <a:extLst>
              <a:ext uri="{FF2B5EF4-FFF2-40B4-BE49-F238E27FC236}">
                <a16:creationId xmlns:a16="http://schemas.microsoft.com/office/drawing/2014/main" id="{57717A1E-F810-4647-8A3E-C098321E82E1}"/>
              </a:ext>
            </a:extLst>
          </p:cNvPr>
          <p:cNvGraphicFramePr>
            <a:graphicFrameLocks noChangeAspect="1"/>
          </p:cNvGraphicFramePr>
          <p:nvPr/>
        </p:nvGraphicFramePr>
        <p:xfrm>
          <a:off x="4368800" y="193675"/>
          <a:ext cx="3389313" cy="1003300"/>
        </p:xfrm>
        <a:graphic>
          <a:graphicData uri="http://schemas.openxmlformats.org/presentationml/2006/ole">
            <mc:AlternateContent xmlns:mc="http://schemas.openxmlformats.org/markup-compatibility/2006">
              <mc:Choice xmlns:v="urn:schemas-microsoft-com:vml" Requires="v">
                <p:oleObj spid="_x0000_s47212" name="Equation" r:id="rId3" imgW="2400300" imgH="711200" progId="Equation.DSMT4">
                  <p:embed/>
                </p:oleObj>
              </mc:Choice>
              <mc:Fallback>
                <p:oleObj name="Equation" r:id="rId3" imgW="2400300" imgH="7112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8800" y="193675"/>
                        <a:ext cx="3389313"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0" name="对象 9">
            <a:extLst>
              <a:ext uri="{FF2B5EF4-FFF2-40B4-BE49-F238E27FC236}">
                <a16:creationId xmlns:a16="http://schemas.microsoft.com/office/drawing/2014/main" id="{0361C2F1-C1C0-466D-9F7A-E4A319C8C94D}"/>
              </a:ext>
            </a:extLst>
          </p:cNvPr>
          <p:cNvGraphicFramePr>
            <a:graphicFrameLocks noChangeAspect="1"/>
          </p:cNvGraphicFramePr>
          <p:nvPr/>
        </p:nvGraphicFramePr>
        <p:xfrm>
          <a:off x="573088" y="1958975"/>
          <a:ext cx="3797300" cy="584200"/>
        </p:xfrm>
        <a:graphic>
          <a:graphicData uri="http://schemas.openxmlformats.org/presentationml/2006/ole">
            <mc:AlternateContent xmlns:mc="http://schemas.openxmlformats.org/markup-compatibility/2006">
              <mc:Choice xmlns:v="urn:schemas-microsoft-com:vml" Requires="v">
                <p:oleObj spid="_x0000_s47213" name="Equation" r:id="rId5" imgW="1981200" imgH="304800" progId="Equation.DSMT4">
                  <p:embed/>
                </p:oleObj>
              </mc:Choice>
              <mc:Fallback>
                <p:oleObj name="Equation" r:id="rId5" imgW="1981200" imgH="304800" progId="Equation.DSMT4">
                  <p:embed/>
                  <p:pic>
                    <p:nvPicPr>
                      <p:cNvPr id="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088" y="1958975"/>
                        <a:ext cx="37973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1" name="对象 13">
            <a:extLst>
              <a:ext uri="{FF2B5EF4-FFF2-40B4-BE49-F238E27FC236}">
                <a16:creationId xmlns:a16="http://schemas.microsoft.com/office/drawing/2014/main" id="{DC267F46-C193-4FEC-98B6-76ED7579A972}"/>
              </a:ext>
            </a:extLst>
          </p:cNvPr>
          <p:cNvGraphicFramePr>
            <a:graphicFrameLocks noChangeAspect="1"/>
          </p:cNvGraphicFramePr>
          <p:nvPr/>
        </p:nvGraphicFramePr>
        <p:xfrm>
          <a:off x="457200" y="2511425"/>
          <a:ext cx="8010525" cy="757238"/>
        </p:xfrm>
        <a:graphic>
          <a:graphicData uri="http://schemas.openxmlformats.org/presentationml/2006/ole">
            <mc:AlternateContent xmlns:mc="http://schemas.openxmlformats.org/markup-compatibility/2006">
              <mc:Choice xmlns:v="urn:schemas-microsoft-com:vml" Requires="v">
                <p:oleObj spid="_x0000_s47214" name="Equation" r:id="rId7" imgW="4178300" imgH="393700" progId="Equation.DSMT4">
                  <p:embed/>
                </p:oleObj>
              </mc:Choice>
              <mc:Fallback>
                <p:oleObj name="Equation" r:id="rId7" imgW="4178300" imgH="393700" progId="Equation.DSMT4">
                  <p:embed/>
                  <p:pic>
                    <p:nvPicPr>
                      <p:cNvPr id="0" name="对象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2511425"/>
                        <a:ext cx="8010525"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2" name="对象 11">
            <a:extLst>
              <a:ext uri="{FF2B5EF4-FFF2-40B4-BE49-F238E27FC236}">
                <a16:creationId xmlns:a16="http://schemas.microsoft.com/office/drawing/2014/main" id="{4EFEC491-CA89-4C4F-BD79-4C1098DD9D78}"/>
              </a:ext>
            </a:extLst>
          </p:cNvPr>
          <p:cNvGraphicFramePr>
            <a:graphicFrameLocks noChangeAspect="1"/>
          </p:cNvGraphicFramePr>
          <p:nvPr/>
        </p:nvGraphicFramePr>
        <p:xfrm>
          <a:off x="323850" y="3319463"/>
          <a:ext cx="8496300" cy="830262"/>
        </p:xfrm>
        <a:graphic>
          <a:graphicData uri="http://schemas.openxmlformats.org/presentationml/2006/ole">
            <mc:AlternateContent xmlns:mc="http://schemas.openxmlformats.org/markup-compatibility/2006">
              <mc:Choice xmlns:v="urn:schemas-microsoft-com:vml" Requires="v">
                <p:oleObj spid="_x0000_s47215" name="Equation" r:id="rId9" imgW="4432300" imgH="431800" progId="Equation.DSMT4">
                  <p:embed/>
                </p:oleObj>
              </mc:Choice>
              <mc:Fallback>
                <p:oleObj name="Equation" r:id="rId9" imgW="4432300" imgH="431800" progId="Equation.DSMT4">
                  <p:embed/>
                  <p:pic>
                    <p:nvPicPr>
                      <p:cNvPr id="0"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3850" y="3319463"/>
                        <a:ext cx="84963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3" name="矩形 12">
            <a:extLst>
              <a:ext uri="{FF2B5EF4-FFF2-40B4-BE49-F238E27FC236}">
                <a16:creationId xmlns:a16="http://schemas.microsoft.com/office/drawing/2014/main" id="{F91B636C-CF8B-408D-854F-504BE1729B66}"/>
              </a:ext>
            </a:extLst>
          </p:cNvPr>
          <p:cNvSpPr>
            <a:spLocks noChangeArrowheads="1"/>
          </p:cNvSpPr>
          <p:nvPr/>
        </p:nvSpPr>
        <p:spPr bwMode="auto">
          <a:xfrm>
            <a:off x="338138" y="4202113"/>
            <a:ext cx="49196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由于已知</a:t>
            </a:r>
            <a:r>
              <a:rPr lang="en-US" altLang="zh-CN" i="1"/>
              <a:t>s</a:t>
            </a:r>
            <a:r>
              <a:rPr lang="en-US" altLang="zh-CN" baseline="-25000"/>
              <a:t>4</a:t>
            </a:r>
            <a:r>
              <a:rPr lang="en-US" altLang="zh-CN"/>
              <a:t>=</a:t>
            </a:r>
            <a:r>
              <a:rPr lang="en-US" altLang="zh-CN" i="1"/>
              <a:t>c</a:t>
            </a:r>
            <a:r>
              <a:rPr lang="en-US" altLang="zh-CN"/>
              <a:t>, </a:t>
            </a:r>
            <a:r>
              <a:rPr lang="zh-CN" altLang="en-US"/>
              <a:t>故最优解和相应的最大值分别为</a:t>
            </a:r>
          </a:p>
        </p:txBody>
      </p:sp>
      <p:graphicFrame>
        <p:nvGraphicFramePr>
          <p:cNvPr id="47114" name="对象 18">
            <a:extLst>
              <a:ext uri="{FF2B5EF4-FFF2-40B4-BE49-F238E27FC236}">
                <a16:creationId xmlns:a16="http://schemas.microsoft.com/office/drawing/2014/main" id="{AE01D71E-4D36-4C76-95E6-2A51E9717677}"/>
              </a:ext>
            </a:extLst>
          </p:cNvPr>
          <p:cNvGraphicFramePr>
            <a:graphicFrameLocks noChangeAspect="1"/>
          </p:cNvGraphicFramePr>
          <p:nvPr/>
        </p:nvGraphicFramePr>
        <p:xfrm>
          <a:off x="733425" y="4786313"/>
          <a:ext cx="3603625" cy="755650"/>
        </p:xfrm>
        <a:graphic>
          <a:graphicData uri="http://schemas.openxmlformats.org/presentationml/2006/ole">
            <mc:AlternateContent xmlns:mc="http://schemas.openxmlformats.org/markup-compatibility/2006">
              <mc:Choice xmlns:v="urn:schemas-microsoft-com:vml" Requires="v">
                <p:oleObj spid="_x0000_s47216" name="Equation" r:id="rId11" imgW="1879600" imgH="393700" progId="Equation.DSMT4">
                  <p:embed/>
                </p:oleObj>
              </mc:Choice>
              <mc:Fallback>
                <p:oleObj name="Equation" r:id="rId11" imgW="1879600" imgH="393700" progId="Equation.DSMT4">
                  <p:embed/>
                  <p:pic>
                    <p:nvPicPr>
                      <p:cNvPr id="0" name="对象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3425" y="4786313"/>
                        <a:ext cx="36036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5" name="对象 20">
            <a:extLst>
              <a:ext uri="{FF2B5EF4-FFF2-40B4-BE49-F238E27FC236}">
                <a16:creationId xmlns:a16="http://schemas.microsoft.com/office/drawing/2014/main" id="{A485A2DA-C5EC-4673-88EF-49EB6AFC277A}"/>
              </a:ext>
            </a:extLst>
          </p:cNvPr>
          <p:cNvGraphicFramePr>
            <a:graphicFrameLocks noChangeAspect="1"/>
          </p:cNvGraphicFramePr>
          <p:nvPr/>
        </p:nvGraphicFramePr>
        <p:xfrm>
          <a:off x="855663" y="5646738"/>
          <a:ext cx="2727325" cy="755650"/>
        </p:xfrm>
        <a:graphic>
          <a:graphicData uri="http://schemas.openxmlformats.org/presentationml/2006/ole">
            <mc:AlternateContent xmlns:mc="http://schemas.openxmlformats.org/markup-compatibility/2006">
              <mc:Choice xmlns:v="urn:schemas-microsoft-com:vml" Requires="v">
                <p:oleObj spid="_x0000_s47217" name="Equation" r:id="rId13" imgW="1422400" imgH="393700" progId="Equation.DSMT4">
                  <p:embed/>
                </p:oleObj>
              </mc:Choice>
              <mc:Fallback>
                <p:oleObj name="Equation" r:id="rId13" imgW="1422400" imgH="393700" progId="Equation.DSMT4">
                  <p:embed/>
                  <p:pic>
                    <p:nvPicPr>
                      <p:cNvPr id="0" name="对象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5663" y="5646738"/>
                        <a:ext cx="27273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61A35660-A876-4B4D-B8CD-A1C3078C852A}"/>
              </a:ext>
            </a:extLst>
          </p:cNvPr>
          <p:cNvSpPr>
            <a:spLocks noGrp="1" noChangeArrowheads="1"/>
          </p:cNvSpPr>
          <p:nvPr>
            <p:ph type="ctrTitle"/>
          </p:nvPr>
        </p:nvSpPr>
        <p:spPr/>
        <p:txBody>
          <a:bodyPr/>
          <a:lstStyle/>
          <a:p>
            <a:pPr eaLnBrk="1" hangingPunct="1"/>
            <a:r>
              <a:rPr lang="zh-CN" altLang="en-US"/>
              <a:t>第九章之第五节</a:t>
            </a:r>
          </a:p>
        </p:txBody>
      </p:sp>
      <p:sp>
        <p:nvSpPr>
          <p:cNvPr id="48131" name="Rectangle 5">
            <a:extLst>
              <a:ext uri="{FF2B5EF4-FFF2-40B4-BE49-F238E27FC236}">
                <a16:creationId xmlns:a16="http://schemas.microsoft.com/office/drawing/2014/main" id="{EE56CF83-89C0-4BA3-BE8B-E92FE5B6FB7C}"/>
              </a:ext>
            </a:extLst>
          </p:cNvPr>
          <p:cNvSpPr>
            <a:spLocks noGrp="1" noChangeArrowheads="1"/>
          </p:cNvSpPr>
          <p:nvPr>
            <p:ph type="subTitle" idx="1"/>
          </p:nvPr>
        </p:nvSpPr>
        <p:spPr/>
        <p:txBody>
          <a:bodyPr/>
          <a:lstStyle/>
          <a:p>
            <a:pPr eaLnBrk="1" hangingPunct="1"/>
            <a:r>
              <a:rPr lang="zh-CN" altLang="en-US"/>
              <a:t>应用举例</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450A634-1F9A-4717-830F-DF19023320AF}"/>
              </a:ext>
            </a:extLst>
          </p:cNvPr>
          <p:cNvSpPr>
            <a:spLocks noGrp="1" noChangeArrowheads="1"/>
          </p:cNvSpPr>
          <p:nvPr>
            <p:ph type="title"/>
          </p:nvPr>
        </p:nvSpPr>
        <p:spPr/>
        <p:txBody>
          <a:bodyPr/>
          <a:lstStyle/>
          <a:p>
            <a:pPr eaLnBrk="1" hangingPunct="1"/>
            <a:r>
              <a:rPr lang="zh-CN" altLang="en-US"/>
              <a:t>优缺点（</a:t>
            </a:r>
            <a:r>
              <a:rPr lang="en-US" altLang="zh-CN"/>
              <a:t>P245</a:t>
            </a:r>
            <a:r>
              <a:rPr lang="zh-CN" altLang="en-US"/>
              <a:t>，注记）</a:t>
            </a:r>
          </a:p>
        </p:txBody>
      </p:sp>
      <p:sp>
        <p:nvSpPr>
          <p:cNvPr id="61443" name="Rectangle 3">
            <a:extLst>
              <a:ext uri="{FF2B5EF4-FFF2-40B4-BE49-F238E27FC236}">
                <a16:creationId xmlns:a16="http://schemas.microsoft.com/office/drawing/2014/main" id="{B43AF265-0923-4103-98CF-B2B1F4117343}"/>
              </a:ext>
            </a:extLst>
          </p:cNvPr>
          <p:cNvSpPr>
            <a:spLocks noGrp="1" noChangeArrowheads="1"/>
          </p:cNvSpPr>
          <p:nvPr>
            <p:ph type="body" idx="1"/>
          </p:nvPr>
        </p:nvSpPr>
        <p:spPr/>
        <p:txBody>
          <a:bodyPr/>
          <a:lstStyle/>
          <a:p>
            <a:pPr eaLnBrk="1" hangingPunct="1"/>
            <a:r>
              <a:rPr lang="zh-CN" altLang="en-US"/>
              <a:t>优点</a:t>
            </a:r>
          </a:p>
          <a:p>
            <a:pPr lvl="1" eaLnBrk="1" hangingPunct="1"/>
            <a:r>
              <a:rPr lang="zh-CN" altLang="en-US"/>
              <a:t>易于确定全局最优解</a:t>
            </a:r>
          </a:p>
          <a:p>
            <a:pPr lvl="1" eaLnBrk="1" hangingPunct="1"/>
            <a:r>
              <a:rPr lang="zh-CN" altLang="en-US"/>
              <a:t>能得到一族解</a:t>
            </a:r>
          </a:p>
          <a:p>
            <a:pPr lvl="1" eaLnBrk="1" hangingPunct="1"/>
            <a:r>
              <a:rPr lang="zh-CN" altLang="en-US"/>
              <a:t>能够利用经验提高求解效率 </a:t>
            </a:r>
          </a:p>
          <a:p>
            <a:pPr eaLnBrk="1" hangingPunct="1"/>
            <a:r>
              <a:rPr lang="zh-CN" altLang="en-US"/>
              <a:t>缺点</a:t>
            </a:r>
          </a:p>
          <a:p>
            <a:pPr lvl="1" eaLnBrk="1" hangingPunct="1"/>
            <a:r>
              <a:rPr lang="zh-CN" altLang="en-US"/>
              <a:t>没有统一模型</a:t>
            </a:r>
          </a:p>
          <a:p>
            <a:pPr lvl="1" eaLnBrk="1" hangingPunct="1"/>
            <a:r>
              <a:rPr lang="zh-CN" altLang="en-US"/>
              <a:t>应用的局限</a:t>
            </a:r>
          </a:p>
          <a:p>
            <a:pPr lvl="1" eaLnBrk="1" hangingPunct="1"/>
            <a:r>
              <a:rPr lang="zh-CN" altLang="en-US"/>
              <a:t>“维数障碍”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blinds(horizontal)">
                                      <p:cBhvr>
                                        <p:cTn id="7" dur="500"/>
                                        <p:tgtEl>
                                          <p:spTgt spid="61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43">
                                            <p:txEl>
                                              <p:pRg st="1" end="1"/>
                                            </p:txEl>
                                          </p:spTgt>
                                        </p:tgtEl>
                                        <p:attrNameLst>
                                          <p:attrName>style.visibility</p:attrName>
                                        </p:attrNameLst>
                                      </p:cBhvr>
                                      <p:to>
                                        <p:strVal val="visible"/>
                                      </p:to>
                                    </p:set>
                                    <p:animEffect transition="in" filter="blinds(horizontal)">
                                      <p:cBhvr>
                                        <p:cTn id="12" dur="500"/>
                                        <p:tgtEl>
                                          <p:spTgt spid="614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43">
                                            <p:txEl>
                                              <p:pRg st="2" end="2"/>
                                            </p:txEl>
                                          </p:spTgt>
                                        </p:tgtEl>
                                        <p:attrNameLst>
                                          <p:attrName>style.visibility</p:attrName>
                                        </p:attrNameLst>
                                      </p:cBhvr>
                                      <p:to>
                                        <p:strVal val="visible"/>
                                      </p:to>
                                    </p:set>
                                    <p:animEffect transition="in" filter="blinds(horizontal)">
                                      <p:cBhvr>
                                        <p:cTn id="17" dur="500"/>
                                        <p:tgtEl>
                                          <p:spTgt spid="614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443">
                                            <p:txEl>
                                              <p:pRg st="3" end="3"/>
                                            </p:txEl>
                                          </p:spTgt>
                                        </p:tgtEl>
                                        <p:attrNameLst>
                                          <p:attrName>style.visibility</p:attrName>
                                        </p:attrNameLst>
                                      </p:cBhvr>
                                      <p:to>
                                        <p:strVal val="visible"/>
                                      </p:to>
                                    </p:set>
                                    <p:animEffect transition="in" filter="blinds(horizontal)">
                                      <p:cBhvr>
                                        <p:cTn id="22" dur="500"/>
                                        <p:tgtEl>
                                          <p:spTgt spid="614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443">
                                            <p:txEl>
                                              <p:pRg st="4" end="4"/>
                                            </p:txEl>
                                          </p:spTgt>
                                        </p:tgtEl>
                                        <p:attrNameLst>
                                          <p:attrName>style.visibility</p:attrName>
                                        </p:attrNameLst>
                                      </p:cBhvr>
                                      <p:to>
                                        <p:strVal val="visible"/>
                                      </p:to>
                                    </p:set>
                                    <p:animEffect transition="in" filter="blinds(horizontal)">
                                      <p:cBhvr>
                                        <p:cTn id="27" dur="500"/>
                                        <p:tgtEl>
                                          <p:spTgt spid="614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443">
                                            <p:txEl>
                                              <p:pRg st="5" end="5"/>
                                            </p:txEl>
                                          </p:spTgt>
                                        </p:tgtEl>
                                        <p:attrNameLst>
                                          <p:attrName>style.visibility</p:attrName>
                                        </p:attrNameLst>
                                      </p:cBhvr>
                                      <p:to>
                                        <p:strVal val="visible"/>
                                      </p:to>
                                    </p:set>
                                    <p:animEffect transition="in" filter="blinds(horizontal)">
                                      <p:cBhvr>
                                        <p:cTn id="32" dur="500"/>
                                        <p:tgtEl>
                                          <p:spTgt spid="6144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443">
                                            <p:txEl>
                                              <p:pRg st="6" end="6"/>
                                            </p:txEl>
                                          </p:spTgt>
                                        </p:tgtEl>
                                        <p:attrNameLst>
                                          <p:attrName>style.visibility</p:attrName>
                                        </p:attrNameLst>
                                      </p:cBhvr>
                                      <p:to>
                                        <p:strVal val="visible"/>
                                      </p:to>
                                    </p:set>
                                    <p:animEffect transition="in" filter="blinds(horizontal)">
                                      <p:cBhvr>
                                        <p:cTn id="37" dur="500"/>
                                        <p:tgtEl>
                                          <p:spTgt spid="6144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443">
                                            <p:txEl>
                                              <p:pRg st="7" end="7"/>
                                            </p:txEl>
                                          </p:spTgt>
                                        </p:tgtEl>
                                        <p:attrNameLst>
                                          <p:attrName>style.visibility</p:attrName>
                                        </p:attrNameLst>
                                      </p:cBhvr>
                                      <p:to>
                                        <p:strVal val="visible"/>
                                      </p:to>
                                    </p:set>
                                    <p:animEffect transition="in" filter="blinds(horizontal)">
                                      <p:cBhvr>
                                        <p:cTn id="42" dur="500"/>
                                        <p:tgtEl>
                                          <p:spTgt spid="614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2"/>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7ABA0087-BF5F-4FEE-982A-1EFE74009608}"/>
              </a:ext>
            </a:extLst>
          </p:cNvPr>
          <p:cNvSpPr>
            <a:spLocks noGrp="1" noChangeArrowheads="1"/>
          </p:cNvSpPr>
          <p:nvPr>
            <p:ph type="title"/>
          </p:nvPr>
        </p:nvSpPr>
        <p:spPr/>
        <p:txBody>
          <a:bodyPr/>
          <a:lstStyle/>
          <a:p>
            <a:pPr eaLnBrk="1" hangingPunct="1"/>
            <a:r>
              <a:rPr lang="zh-CN" altLang="en-US"/>
              <a:t>一维资源分配问题</a:t>
            </a:r>
            <a:r>
              <a:rPr lang="en-US" altLang="zh-CN"/>
              <a:t>(P249, 10.1.1)</a:t>
            </a:r>
            <a:endParaRPr lang="zh-CN" altLang="en-US"/>
          </a:p>
        </p:txBody>
      </p:sp>
      <p:sp>
        <p:nvSpPr>
          <p:cNvPr id="50179" name="Rectangle 3">
            <a:extLst>
              <a:ext uri="{FF2B5EF4-FFF2-40B4-BE49-F238E27FC236}">
                <a16:creationId xmlns:a16="http://schemas.microsoft.com/office/drawing/2014/main" id="{B1056B86-993B-43B6-B325-E3638FB4047B}"/>
              </a:ext>
            </a:extLst>
          </p:cNvPr>
          <p:cNvSpPr>
            <a:spLocks noGrp="1" noChangeArrowheads="1"/>
          </p:cNvSpPr>
          <p:nvPr>
            <p:ph type="body" sz="half" idx="1"/>
          </p:nvPr>
        </p:nvSpPr>
        <p:spPr>
          <a:xfrm>
            <a:off x="457200" y="1143000"/>
            <a:ext cx="8147050" cy="4987925"/>
          </a:xfrm>
        </p:spPr>
        <p:txBody>
          <a:bodyPr/>
          <a:lstStyle/>
          <a:p>
            <a:pPr eaLnBrk="1" hangingPunct="1"/>
            <a:r>
              <a:rPr lang="zh-CN" altLang="en-US"/>
              <a:t>总数为 </a:t>
            </a:r>
            <a:r>
              <a:rPr lang="en-US" altLang="zh-CN" i="1"/>
              <a:t>a </a:t>
            </a:r>
            <a:r>
              <a:rPr lang="zh-CN" altLang="en-US"/>
              <a:t>的原料用于生产 </a:t>
            </a:r>
            <a:r>
              <a:rPr lang="en-US" altLang="zh-CN" i="1"/>
              <a:t>n </a:t>
            </a:r>
            <a:r>
              <a:rPr lang="zh-CN" altLang="en-US"/>
              <a:t>种产品。分配数量 </a:t>
            </a:r>
            <a:r>
              <a:rPr lang="en-US" altLang="zh-CN" i="1"/>
              <a:t>x</a:t>
            </a:r>
            <a:r>
              <a:rPr lang="en-US" altLang="zh-CN" i="1" baseline="-25000"/>
              <a:t>i </a:t>
            </a:r>
            <a:r>
              <a:rPr lang="zh-CN" altLang="en-US"/>
              <a:t>用于生产第</a:t>
            </a:r>
            <a:r>
              <a:rPr lang="en-US" altLang="zh-CN" i="1"/>
              <a:t>i</a:t>
            </a:r>
            <a:r>
              <a:rPr lang="zh-CN" altLang="en-US"/>
              <a:t>种产品，收益为</a:t>
            </a:r>
            <a:r>
              <a:rPr lang="en-US" altLang="zh-CN" i="1"/>
              <a:t>g</a:t>
            </a:r>
            <a:r>
              <a:rPr lang="en-US" altLang="zh-CN" i="1" baseline="-25000"/>
              <a:t>i</a:t>
            </a:r>
            <a:r>
              <a:rPr lang="en-US" altLang="zh-CN"/>
              <a:t>(</a:t>
            </a:r>
            <a:r>
              <a:rPr lang="en-US" altLang="zh-CN" i="1"/>
              <a:t>x</a:t>
            </a:r>
            <a:r>
              <a:rPr lang="en-US" altLang="zh-CN" i="1" baseline="-25000"/>
              <a:t>i</a:t>
            </a:r>
            <a:r>
              <a:rPr lang="en-US" altLang="zh-CN"/>
              <a:t>)</a:t>
            </a:r>
            <a:r>
              <a:rPr lang="zh-CN" altLang="en-US"/>
              <a:t>。问如何分配使总收入最大？ </a:t>
            </a:r>
          </a:p>
          <a:p>
            <a:pPr eaLnBrk="1" hangingPunct="1"/>
            <a:endParaRPr lang="zh-CN" altLang="en-US"/>
          </a:p>
          <a:p>
            <a:pPr eaLnBrk="1" hangingPunct="1">
              <a:buFont typeface="Wingdings" panose="05000000000000000000" pitchFamily="2" charset="2"/>
              <a:buNone/>
            </a:pPr>
            <a:r>
              <a:rPr lang="zh-CN" altLang="en-US"/>
              <a:t>    </a:t>
            </a:r>
            <a:r>
              <a:rPr lang="en-US" altLang="zh-CN"/>
              <a:t>max z=</a:t>
            </a:r>
            <a:r>
              <a:rPr lang="en-US" altLang="zh-CN" i="1"/>
              <a:t>g</a:t>
            </a:r>
            <a:r>
              <a:rPr lang="en-US" altLang="zh-CN" baseline="-25000"/>
              <a:t>1</a:t>
            </a:r>
            <a:r>
              <a:rPr lang="en-US" altLang="zh-CN"/>
              <a:t>(</a:t>
            </a:r>
            <a:r>
              <a:rPr lang="en-US" altLang="zh-CN" i="1"/>
              <a:t>x</a:t>
            </a:r>
            <a:r>
              <a:rPr lang="en-US" altLang="zh-CN" baseline="-25000"/>
              <a:t>1</a:t>
            </a:r>
            <a:r>
              <a:rPr lang="en-US" altLang="zh-CN"/>
              <a:t>)+</a:t>
            </a:r>
            <a:r>
              <a:rPr lang="en-US" altLang="zh-CN" i="1"/>
              <a:t>g</a:t>
            </a:r>
            <a:r>
              <a:rPr lang="en-US" altLang="zh-CN" baseline="-25000"/>
              <a:t>2</a:t>
            </a:r>
            <a:r>
              <a:rPr lang="en-US" altLang="zh-CN"/>
              <a:t>(</a:t>
            </a:r>
            <a:r>
              <a:rPr lang="en-US" altLang="zh-CN" i="1"/>
              <a:t>x</a:t>
            </a:r>
            <a:r>
              <a:rPr lang="en-US" altLang="zh-CN" baseline="-25000"/>
              <a:t>2</a:t>
            </a:r>
            <a:r>
              <a:rPr lang="en-US" altLang="zh-CN"/>
              <a:t>)+…+</a:t>
            </a:r>
            <a:r>
              <a:rPr lang="en-US" altLang="zh-CN" i="1"/>
              <a:t>g</a:t>
            </a:r>
            <a:r>
              <a:rPr lang="en-US" altLang="zh-CN" i="1" baseline="-25000"/>
              <a:t>n</a:t>
            </a:r>
            <a:r>
              <a:rPr lang="en-US" altLang="zh-CN"/>
              <a:t>(</a:t>
            </a:r>
            <a:r>
              <a:rPr lang="en-US" altLang="zh-CN" i="1"/>
              <a:t>x</a:t>
            </a:r>
            <a:r>
              <a:rPr lang="en-US" altLang="zh-CN" i="1" baseline="-25000"/>
              <a:t>n</a:t>
            </a:r>
            <a:r>
              <a:rPr lang="en-US" altLang="zh-CN"/>
              <a:t>)</a:t>
            </a:r>
          </a:p>
          <a:p>
            <a:pPr eaLnBrk="1" hangingPunct="1">
              <a:buFont typeface="Wingdings" panose="05000000000000000000" pitchFamily="2" charset="2"/>
              <a:buNone/>
            </a:pPr>
            <a:r>
              <a:rPr lang="en-US" altLang="zh-CN"/>
              <a:t>			</a:t>
            </a:r>
            <a:r>
              <a:rPr lang="en-US" altLang="zh-CN" i="1"/>
              <a:t>x</a:t>
            </a:r>
            <a:r>
              <a:rPr lang="en-US" altLang="zh-CN" baseline="-25000"/>
              <a:t>1</a:t>
            </a:r>
            <a:r>
              <a:rPr lang="en-US" altLang="zh-CN"/>
              <a:t>+</a:t>
            </a:r>
            <a:r>
              <a:rPr lang="en-US" altLang="zh-CN" i="1"/>
              <a:t>x</a:t>
            </a:r>
            <a:r>
              <a:rPr lang="en-US" altLang="zh-CN" baseline="-25000"/>
              <a:t>2</a:t>
            </a:r>
            <a:r>
              <a:rPr lang="en-US" altLang="zh-CN"/>
              <a:t>+…+</a:t>
            </a:r>
            <a:r>
              <a:rPr lang="en-US" altLang="zh-CN" i="1"/>
              <a:t>x</a:t>
            </a:r>
            <a:r>
              <a:rPr lang="en-US" altLang="zh-CN" i="1" baseline="-25000"/>
              <a:t>n</a:t>
            </a:r>
            <a:r>
              <a:rPr lang="en-US" altLang="zh-CN"/>
              <a:t>=</a:t>
            </a:r>
            <a:r>
              <a:rPr lang="en-US" altLang="zh-CN" i="1"/>
              <a:t>a</a:t>
            </a:r>
          </a:p>
          <a:p>
            <a:pPr eaLnBrk="1" hangingPunct="1">
              <a:buFont typeface="Wingdings" panose="05000000000000000000" pitchFamily="2" charset="2"/>
              <a:buNone/>
            </a:pPr>
            <a:r>
              <a:rPr lang="en-US" altLang="zh-CN"/>
              <a:t>                   </a:t>
            </a:r>
            <a:r>
              <a:rPr lang="en-US" altLang="zh-CN" i="1"/>
              <a:t>x</a:t>
            </a:r>
            <a:r>
              <a:rPr lang="en-US" altLang="zh-CN" i="1" baseline="-25000"/>
              <a:t>i</a:t>
            </a:r>
            <a:r>
              <a:rPr lang="en-US" altLang="zh-CN" sz="2800"/>
              <a:t>≥0, </a:t>
            </a:r>
            <a:r>
              <a:rPr lang="en-US" altLang="zh-CN" sz="2800" i="1"/>
              <a:t>i</a:t>
            </a:r>
            <a:r>
              <a:rPr lang="en-US" altLang="zh-CN" sz="2800"/>
              <a:t>=1,2,…,</a:t>
            </a:r>
            <a:r>
              <a:rPr lang="en-US" altLang="zh-CN" sz="2800" i="1"/>
              <a:t>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9FAC1189-276C-473C-A19B-823436CBB836}"/>
              </a:ext>
            </a:extLst>
          </p:cNvPr>
          <p:cNvGraphicFramePr>
            <a:graphicFrameLocks noGrp="1"/>
          </p:cNvGraphicFramePr>
          <p:nvPr>
            <p:extLst>
              <p:ext uri="{D42A27DB-BD31-4B8C-83A1-F6EECF244321}">
                <p14:modId xmlns:p14="http://schemas.microsoft.com/office/powerpoint/2010/main" val="2999780059"/>
              </p:ext>
            </p:extLst>
          </p:nvPr>
        </p:nvGraphicFramePr>
        <p:xfrm>
          <a:off x="485775" y="3497263"/>
          <a:ext cx="5165725" cy="2438400"/>
        </p:xfrm>
        <a:graphic>
          <a:graphicData uri="http://schemas.openxmlformats.org/drawingml/2006/table">
            <a:tbl>
              <a:tblPr/>
              <a:tblGrid>
                <a:gridCol w="1638300">
                  <a:extLst>
                    <a:ext uri="{9D8B030D-6E8A-4147-A177-3AD203B41FA5}">
                      <a16:colId xmlns:a16="http://schemas.microsoft.com/office/drawing/2014/main" val="20000"/>
                    </a:ext>
                  </a:extLst>
                </a:gridCol>
                <a:gridCol w="944563">
                  <a:extLst>
                    <a:ext uri="{9D8B030D-6E8A-4147-A177-3AD203B41FA5}">
                      <a16:colId xmlns:a16="http://schemas.microsoft.com/office/drawing/2014/main" val="20001"/>
                    </a:ext>
                  </a:extLst>
                </a:gridCol>
                <a:gridCol w="1290637">
                  <a:extLst>
                    <a:ext uri="{9D8B030D-6E8A-4147-A177-3AD203B41FA5}">
                      <a16:colId xmlns:a16="http://schemas.microsoft.com/office/drawing/2014/main" val="20002"/>
                    </a:ext>
                  </a:extLst>
                </a:gridCol>
                <a:gridCol w="1292225">
                  <a:extLst>
                    <a:ext uri="{9D8B030D-6E8A-4147-A177-3AD203B41FA5}">
                      <a16:colId xmlns:a16="http://schemas.microsoft.com/office/drawing/2014/main" val="20003"/>
                    </a:ext>
                  </a:extLst>
                </a:gridCol>
              </a:tblGrid>
              <a:tr h="27781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rPr>
                        <a:t> </a:t>
                      </a:r>
                      <a:r>
                        <a:rPr kumimoji="0" lang="en-US"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rPr>
                        <a:t>             </a:t>
                      </a:r>
                      <a:r>
                        <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rPr>
                        <a:t>工厂</a:t>
                      </a:r>
                    </a:p>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rPr>
                        <a:t>设备台数</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rPr>
                        <a:t>甲</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rPr>
                        <a:t>乙</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rPr>
                        <a:t>丙</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0</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0</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0</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0</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1</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3</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5</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4</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2</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7</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10</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6</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3</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9</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11</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11</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4</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12</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11</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12</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5</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宋体" panose="02010600030101010101" pitchFamily="2" charset="-122"/>
                          <a:ea typeface="华文行楷" panose="02010800040101010101" pitchFamily="2" charset="-122"/>
                        </a:rPr>
                        <a:t>13</a:t>
                      </a:r>
                      <a:endParaRPr kumimoji="0" lang="zh-CN" altLang="zh-CN" sz="2000" b="0" i="0" u="none" strike="noStrike" cap="none" normalizeH="0" baseline="0" dirty="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宋体" panose="02010600030101010101" pitchFamily="2" charset="-122"/>
                          <a:ea typeface="华文行楷" panose="02010800040101010101" pitchFamily="2" charset="-122"/>
                        </a:rPr>
                        <a:t>11</a:t>
                      </a:r>
                      <a:endParaRPr kumimoji="0" lang="zh-CN" altLang="zh-CN" sz="2000" b="0" i="0" u="none" strike="noStrike" cap="none" normalizeH="0" baseline="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宋体" panose="02010600030101010101" pitchFamily="2" charset="-122"/>
                          <a:ea typeface="华文行楷" panose="02010800040101010101" pitchFamily="2" charset="-122"/>
                        </a:rPr>
                        <a:t>12</a:t>
                      </a:r>
                      <a:endParaRPr kumimoji="0" lang="zh-CN" altLang="zh-CN" sz="2000" b="0" i="0" u="none" strike="noStrike" cap="none" normalizeH="0" baseline="0" dirty="0">
                        <a:ln>
                          <a:noFill/>
                        </a:ln>
                        <a:solidFill>
                          <a:srgbClr val="000000"/>
                        </a:solidFill>
                        <a:effectLst/>
                        <a:latin typeface="华文行楷" panose="02010800040101010101" pitchFamily="2" charset="-122"/>
                        <a:ea typeface="华文行楷" panose="0201080004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1245" name="Rectangle 3">
            <a:extLst>
              <a:ext uri="{FF2B5EF4-FFF2-40B4-BE49-F238E27FC236}">
                <a16:creationId xmlns:a16="http://schemas.microsoft.com/office/drawing/2014/main" id="{60C759CB-37F1-4448-8EE1-D57DA07B8C39}"/>
              </a:ext>
            </a:extLst>
          </p:cNvPr>
          <p:cNvSpPr>
            <a:spLocks noGrp="1" noChangeArrowheads="1"/>
          </p:cNvSpPr>
          <p:nvPr>
            <p:ph type="body" idx="1"/>
          </p:nvPr>
        </p:nvSpPr>
        <p:spPr>
          <a:xfrm>
            <a:off x="539750" y="620713"/>
            <a:ext cx="8064500" cy="2232223"/>
          </a:xfrm>
        </p:spPr>
        <p:txBody>
          <a:bodyPr/>
          <a:lstStyle/>
          <a:p>
            <a:pPr marL="0" indent="384175" algn="just">
              <a:spcBef>
                <a:spcPct val="15000"/>
              </a:spcBef>
              <a:buFont typeface="Wingdings" panose="05000000000000000000" pitchFamily="2" charset="2"/>
              <a:buNone/>
            </a:pPr>
            <a:r>
              <a:rPr lang="zh-CN" altLang="en-US" sz="2800" dirty="0">
                <a:solidFill>
                  <a:srgbClr val="000066"/>
                </a:solidFill>
              </a:rPr>
              <a:t>一、资源分配问题</a:t>
            </a:r>
          </a:p>
          <a:p>
            <a:pPr marL="0" indent="384175" algn="just">
              <a:spcBef>
                <a:spcPct val="15000"/>
              </a:spcBef>
              <a:buFont typeface="Wingdings" panose="05000000000000000000" pitchFamily="2" charset="2"/>
              <a:buNone/>
            </a:pPr>
            <a:r>
              <a:rPr lang="en-US" altLang="zh-CN" sz="2400" dirty="0"/>
              <a:t>1</a:t>
            </a:r>
            <a:r>
              <a:rPr lang="zh-CN" altLang="en-US" sz="2400" dirty="0"/>
              <a:t>、例</a:t>
            </a:r>
            <a:r>
              <a:rPr lang="en-US" altLang="zh-CN" sz="2400" dirty="0"/>
              <a:t>1-</a:t>
            </a:r>
            <a:r>
              <a:rPr lang="zh-CN" altLang="en-US" sz="2400" dirty="0"/>
              <a:t>资源平行分配问题（</a:t>
            </a:r>
            <a:r>
              <a:rPr lang="en-US" altLang="zh-CN" sz="2400" dirty="0"/>
              <a:t>P250</a:t>
            </a:r>
            <a:r>
              <a:rPr lang="zh-CN" altLang="en-US" sz="2400" dirty="0"/>
              <a:t>）：某工业部门按国家计划的安排，拟将某高效率的设备五台，分配给所属的甲、乙、丙三个工厂，各工厂若获得这种设备之后，可以为国家提供的盈利如下表所示。问：这五台设备如何分配给各工厂，才能使国家得到的盈利最大。</a:t>
            </a:r>
          </a:p>
          <a:p>
            <a:pPr marL="0" indent="384175">
              <a:lnSpc>
                <a:spcPct val="110000"/>
              </a:lnSpc>
              <a:buFont typeface="Wingdings" panose="05000000000000000000" pitchFamily="2" charset="2"/>
              <a:buNone/>
            </a:pPr>
            <a:endParaRPr lang="zh-CN" altLang="en-US" sz="2400" dirty="0"/>
          </a:p>
          <a:p>
            <a:pPr marL="0" indent="384175">
              <a:lnSpc>
                <a:spcPct val="110000"/>
              </a:lnSpc>
              <a:buClr>
                <a:schemeClr val="hlink"/>
              </a:buClr>
              <a:buFont typeface="Wingdings" panose="05000000000000000000" pitchFamily="2" charset="2"/>
              <a:buNone/>
            </a:pPr>
            <a:endParaRPr lang="zh-CN" altLang="en-US" sz="2400" dirty="0"/>
          </a:p>
        </p:txBody>
      </p:sp>
      <p:sp>
        <p:nvSpPr>
          <p:cNvPr id="3" name="矩形 2">
            <a:extLst>
              <a:ext uri="{FF2B5EF4-FFF2-40B4-BE49-F238E27FC236}">
                <a16:creationId xmlns:a16="http://schemas.microsoft.com/office/drawing/2014/main" id="{FD7F09E5-BA4A-4882-A75E-B2D5EC7E88AF}"/>
              </a:ext>
            </a:extLst>
          </p:cNvPr>
          <p:cNvSpPr>
            <a:spLocks noChangeArrowheads="1"/>
          </p:cNvSpPr>
          <p:nvPr/>
        </p:nvSpPr>
        <p:spPr bwMode="auto">
          <a:xfrm>
            <a:off x="5795963" y="4437063"/>
            <a:ext cx="2952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FF00FF"/>
                </a:solidFill>
                <a:latin typeface="Times New Roman" panose="02020603050405020304" pitchFamily="18" charset="0"/>
              </a:rPr>
              <a:t>P</a:t>
            </a:r>
            <a:r>
              <a:rPr lang="en-US" altLang="zh-CN" i="1" baseline="-30000">
                <a:solidFill>
                  <a:srgbClr val="FF00FF"/>
                </a:solidFill>
                <a:latin typeface="Times New Roman" panose="02020603050405020304" pitchFamily="18" charset="0"/>
              </a:rPr>
              <a:t>k</a:t>
            </a:r>
            <a:r>
              <a:rPr lang="en-US" altLang="zh-CN">
                <a:solidFill>
                  <a:srgbClr val="FF00FF"/>
                </a:solidFill>
                <a:latin typeface="Times New Roman" panose="02020603050405020304" pitchFamily="18" charset="0"/>
              </a:rPr>
              <a:t>(</a:t>
            </a:r>
            <a:r>
              <a:rPr lang="en-US" altLang="zh-CN" i="1">
                <a:solidFill>
                  <a:srgbClr val="FF00FF"/>
                </a:solidFill>
                <a:latin typeface="Times New Roman" panose="02020603050405020304" pitchFamily="18" charset="0"/>
              </a:rPr>
              <a:t>x</a:t>
            </a:r>
            <a:r>
              <a:rPr lang="en-US" altLang="zh-CN" i="1" baseline="-30000">
                <a:solidFill>
                  <a:srgbClr val="FF00FF"/>
                </a:solidFill>
                <a:latin typeface="Times New Roman" panose="02020603050405020304" pitchFamily="18" charset="0"/>
              </a:rPr>
              <a:t>k</a:t>
            </a:r>
            <a:r>
              <a:rPr lang="en-US" altLang="zh-CN">
                <a:solidFill>
                  <a:srgbClr val="FF00FF"/>
                </a:solidFill>
                <a:latin typeface="Times New Roman" panose="02020603050405020304" pitchFamily="18" charset="0"/>
              </a:rPr>
              <a:t>)</a:t>
            </a:r>
            <a:r>
              <a:rPr lang="zh-CN" altLang="en-US">
                <a:solidFill>
                  <a:srgbClr val="FF00FF"/>
                </a:solidFill>
                <a:latin typeface="Times New Roman" panose="02020603050405020304" pitchFamily="18" charset="0"/>
              </a:rPr>
              <a:t>表示为</a:t>
            </a:r>
            <a:r>
              <a:rPr lang="en-US" altLang="zh-CN" i="1">
                <a:solidFill>
                  <a:srgbClr val="FF00FF"/>
                </a:solidFill>
                <a:latin typeface="Times New Roman" panose="02020603050405020304" pitchFamily="18" charset="0"/>
              </a:rPr>
              <a:t>x</a:t>
            </a:r>
            <a:r>
              <a:rPr lang="en-US" altLang="zh-CN" i="1" baseline="-30000">
                <a:solidFill>
                  <a:srgbClr val="FF00FF"/>
                </a:solidFill>
                <a:latin typeface="Times New Roman" panose="02020603050405020304" pitchFamily="18" charset="0"/>
              </a:rPr>
              <a:t>k</a:t>
            </a:r>
            <a:r>
              <a:rPr lang="zh-CN" altLang="en-US">
                <a:solidFill>
                  <a:srgbClr val="FF00FF"/>
                </a:solidFill>
                <a:latin typeface="Times New Roman" panose="02020603050405020304" pitchFamily="18" charset="0"/>
              </a:rPr>
              <a:t>台设备分到第</a:t>
            </a:r>
            <a:r>
              <a:rPr lang="en-US" altLang="zh-CN" i="1">
                <a:solidFill>
                  <a:srgbClr val="FF00FF"/>
                </a:solidFill>
                <a:latin typeface="Times New Roman" panose="02020603050405020304" pitchFamily="18" charset="0"/>
              </a:rPr>
              <a:t>k</a:t>
            </a:r>
            <a:r>
              <a:rPr lang="zh-CN" altLang="en-US">
                <a:solidFill>
                  <a:srgbClr val="FF00FF"/>
                </a:solidFill>
                <a:latin typeface="Times New Roman" panose="02020603050405020304" pitchFamily="18" charset="0"/>
              </a:rPr>
              <a:t>个工厂所得的盈利值。</a:t>
            </a:r>
            <a:endParaRPr lang="zh-CN" altLang="en-US">
              <a:solidFill>
                <a:srgbClr val="FF00FF"/>
              </a:solidFill>
            </a:endParaRPr>
          </a:p>
        </p:txBody>
      </p:sp>
      <p:sp>
        <p:nvSpPr>
          <p:cNvPr id="4" name="矩形 3">
            <a:extLst>
              <a:ext uri="{FF2B5EF4-FFF2-40B4-BE49-F238E27FC236}">
                <a16:creationId xmlns:a16="http://schemas.microsoft.com/office/drawing/2014/main" id="{E05F95B1-B296-4DB8-B43A-6059DF1C0F3F}"/>
              </a:ext>
            </a:extLst>
          </p:cNvPr>
          <p:cNvSpPr>
            <a:spLocks noChangeArrowheads="1"/>
          </p:cNvSpPr>
          <p:nvPr/>
        </p:nvSpPr>
        <p:spPr bwMode="auto">
          <a:xfrm>
            <a:off x="3132138" y="4405313"/>
            <a:ext cx="554037"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solidFill>
                  <a:srgbClr val="FF00FF"/>
                </a:solidFill>
                <a:latin typeface="Times New Roman" panose="02020603050405020304" pitchFamily="18" charset="0"/>
              </a:rPr>
              <a:t>P</a:t>
            </a:r>
            <a:r>
              <a:rPr lang="en-US" altLang="zh-CN" sz="1100" baseline="-30000">
                <a:solidFill>
                  <a:srgbClr val="FF00FF"/>
                </a:solidFill>
                <a:latin typeface="Times New Roman" panose="02020603050405020304" pitchFamily="18" charset="0"/>
              </a:rPr>
              <a:t>2</a:t>
            </a:r>
            <a:r>
              <a:rPr lang="en-US" altLang="zh-CN" sz="1100">
                <a:solidFill>
                  <a:srgbClr val="FF00FF"/>
                </a:solidFill>
                <a:latin typeface="Times New Roman" panose="02020603050405020304" pitchFamily="18" charset="0"/>
              </a:rPr>
              <a:t>(1)=</a:t>
            </a:r>
            <a:endParaRPr lang="zh-CN" altLang="en-US" sz="1100">
              <a:solidFill>
                <a:srgbClr val="FF00FF"/>
              </a:solidFill>
            </a:endParaRPr>
          </a:p>
        </p:txBody>
      </p:sp>
      <p:sp>
        <p:nvSpPr>
          <p:cNvPr id="8" name="矩形 7">
            <a:extLst>
              <a:ext uri="{FF2B5EF4-FFF2-40B4-BE49-F238E27FC236}">
                <a16:creationId xmlns:a16="http://schemas.microsoft.com/office/drawing/2014/main" id="{DD1DF8FB-9E2C-4841-8629-350317C5561A}"/>
              </a:ext>
            </a:extLst>
          </p:cNvPr>
          <p:cNvSpPr>
            <a:spLocks noChangeArrowheads="1"/>
          </p:cNvSpPr>
          <p:nvPr/>
        </p:nvSpPr>
        <p:spPr bwMode="auto">
          <a:xfrm>
            <a:off x="2051050" y="5661025"/>
            <a:ext cx="5524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solidFill>
                  <a:srgbClr val="FF00FF"/>
                </a:solidFill>
                <a:latin typeface="Times New Roman" panose="02020603050405020304" pitchFamily="18" charset="0"/>
              </a:rPr>
              <a:t>P</a:t>
            </a:r>
            <a:r>
              <a:rPr lang="en-US" altLang="zh-CN" sz="1100" baseline="-30000">
                <a:solidFill>
                  <a:srgbClr val="FF00FF"/>
                </a:solidFill>
                <a:latin typeface="Times New Roman" panose="02020603050405020304" pitchFamily="18" charset="0"/>
              </a:rPr>
              <a:t>1</a:t>
            </a:r>
            <a:r>
              <a:rPr lang="en-US" altLang="zh-CN" sz="1100">
                <a:solidFill>
                  <a:srgbClr val="FF00FF"/>
                </a:solidFill>
                <a:latin typeface="Times New Roman" panose="02020603050405020304" pitchFamily="18" charset="0"/>
              </a:rPr>
              <a:t>(5)=</a:t>
            </a:r>
            <a:endParaRPr lang="zh-CN" altLang="en-US" sz="1100">
              <a:solidFill>
                <a:srgbClr val="FF00FF"/>
              </a:solidFill>
            </a:endParaRPr>
          </a:p>
        </p:txBody>
      </p:sp>
      <p:sp>
        <p:nvSpPr>
          <p:cNvPr id="51249" name="矩形 8">
            <a:extLst>
              <a:ext uri="{FF2B5EF4-FFF2-40B4-BE49-F238E27FC236}">
                <a16:creationId xmlns:a16="http://schemas.microsoft.com/office/drawing/2014/main" id="{BD5FF13A-8EFB-4D69-919F-0394E0474EB0}"/>
              </a:ext>
            </a:extLst>
          </p:cNvPr>
          <p:cNvSpPr>
            <a:spLocks noChangeArrowheads="1"/>
          </p:cNvSpPr>
          <p:nvPr/>
        </p:nvSpPr>
        <p:spPr bwMode="auto">
          <a:xfrm>
            <a:off x="2354263" y="3184525"/>
            <a:ext cx="992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latin typeface="Times New Roman" panose="02020603050405020304" pitchFamily="18" charset="0"/>
              </a:rPr>
              <a:t>表</a:t>
            </a:r>
            <a:r>
              <a:rPr lang="en-US" altLang="zh-CN">
                <a:latin typeface="Times New Roman" panose="02020603050405020304" pitchFamily="18" charset="0"/>
              </a:rPr>
              <a:t>10</a:t>
            </a:r>
            <a:r>
              <a:rPr lang="zh-CN" altLang="en-US">
                <a:latin typeface="Times New Roman" panose="02020603050405020304" pitchFamily="18" charset="0"/>
              </a:rPr>
              <a:t>－</a:t>
            </a:r>
            <a:r>
              <a:rPr lang="en-US" altLang="zh-CN">
                <a:latin typeface="Times New Roman" panose="02020603050405020304" pitchFamily="18" charset="0"/>
              </a:rPr>
              <a:t>1</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8"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346FFBD7-5BCD-435A-B469-44A56426E63C}"/>
              </a:ext>
            </a:extLst>
          </p:cNvPr>
          <p:cNvSpPr>
            <a:spLocks noGrp="1" noChangeArrowheads="1"/>
          </p:cNvSpPr>
          <p:nvPr>
            <p:ph type="body" idx="1"/>
          </p:nvPr>
        </p:nvSpPr>
        <p:spPr>
          <a:xfrm>
            <a:off x="107950" y="1276350"/>
            <a:ext cx="8185150" cy="5581650"/>
          </a:xfrm>
        </p:spPr>
        <p:txBody>
          <a:bodyPr/>
          <a:lstStyle/>
          <a:p>
            <a:pPr marL="0" indent="384175" algn="just">
              <a:buFont typeface="Wingdings" panose="05000000000000000000" pitchFamily="2" charset="2"/>
              <a:buNone/>
            </a:pPr>
            <a:r>
              <a:rPr lang="zh-CN" altLang="en-US" sz="2400"/>
              <a:t>一维资源分配</a:t>
            </a:r>
            <a:r>
              <a:rPr lang="en-US" altLang="zh-CN" sz="2400"/>
              <a:t>(</a:t>
            </a:r>
            <a:r>
              <a:rPr lang="zh-CN" altLang="en-US" sz="2400"/>
              <a:t>资源平行分配</a:t>
            </a:r>
            <a:r>
              <a:rPr lang="en-US" altLang="zh-CN" sz="2400"/>
              <a:t>)</a:t>
            </a:r>
            <a:endParaRPr lang="zh-CN" altLang="en-US" sz="2400"/>
          </a:p>
          <a:p>
            <a:pPr marL="0" indent="384175" algn="just">
              <a:buFont typeface="Wingdings" panose="05000000000000000000" pitchFamily="2" charset="2"/>
              <a:buNone/>
            </a:pPr>
            <a:r>
              <a:rPr lang="en-US" altLang="zh-CN" sz="2400"/>
              <a:t>1)</a:t>
            </a:r>
            <a:r>
              <a:rPr lang="zh-CN" altLang="en-US" sz="2400"/>
              <a:t>将问题按工厂分为三个</a:t>
            </a:r>
            <a:r>
              <a:rPr lang="zh-CN" altLang="en-US" sz="2400">
                <a:solidFill>
                  <a:srgbClr val="000066"/>
                </a:solidFill>
              </a:rPr>
              <a:t>阶段</a:t>
            </a:r>
            <a:r>
              <a:rPr lang="zh-CN" altLang="en-US" sz="2400"/>
              <a:t>，甲乙丙三个工厂的编号分别为</a:t>
            </a:r>
            <a:r>
              <a:rPr lang="en-US" altLang="zh-CN" sz="2400"/>
              <a:t>1</a:t>
            </a:r>
            <a:r>
              <a:rPr lang="zh-CN" altLang="en-US" sz="2400"/>
              <a:t>、</a:t>
            </a:r>
            <a:r>
              <a:rPr lang="en-US" altLang="zh-CN" sz="2400"/>
              <a:t>2</a:t>
            </a:r>
            <a:r>
              <a:rPr lang="zh-CN" altLang="en-US" sz="2400"/>
              <a:t>、</a:t>
            </a:r>
            <a:r>
              <a:rPr lang="en-US" altLang="zh-CN" sz="2400"/>
              <a:t>3</a:t>
            </a:r>
            <a:r>
              <a:rPr lang="zh-CN" altLang="en-US" sz="2400"/>
              <a:t>；</a:t>
            </a:r>
          </a:p>
          <a:p>
            <a:pPr marL="0" indent="384175" algn="just">
              <a:spcBef>
                <a:spcPct val="15000"/>
              </a:spcBef>
              <a:buFont typeface="Wingdings" panose="05000000000000000000" pitchFamily="2" charset="2"/>
              <a:buNone/>
            </a:pPr>
            <a:r>
              <a:rPr lang="en-US" altLang="zh-CN" sz="2400"/>
              <a:t>2)</a:t>
            </a:r>
            <a:r>
              <a:rPr lang="zh-CN" altLang="en-US" sz="2400"/>
              <a:t>设</a:t>
            </a:r>
            <a:r>
              <a:rPr lang="en-US" altLang="zh-CN" sz="2400" i="1">
                <a:solidFill>
                  <a:srgbClr val="000066"/>
                </a:solidFill>
              </a:rPr>
              <a:t>s</a:t>
            </a:r>
            <a:r>
              <a:rPr lang="en-US" altLang="zh-CN" sz="2400" i="1" baseline="-30000">
                <a:solidFill>
                  <a:srgbClr val="000066"/>
                </a:solidFill>
              </a:rPr>
              <a:t>k</a:t>
            </a:r>
            <a:r>
              <a:rPr lang="zh-CN" altLang="en-US" sz="2400"/>
              <a:t>表示为分配给第</a:t>
            </a:r>
            <a:r>
              <a:rPr lang="en-US" altLang="zh-CN" sz="2400" i="1"/>
              <a:t>k</a:t>
            </a:r>
            <a:r>
              <a:rPr lang="zh-CN" altLang="en-US" sz="2400"/>
              <a:t>个工厂到第</a:t>
            </a:r>
            <a:r>
              <a:rPr lang="en-US" altLang="zh-CN" sz="2400" i="1"/>
              <a:t>n</a:t>
            </a:r>
            <a:r>
              <a:rPr lang="zh-CN" altLang="en-US" sz="2400"/>
              <a:t>个工厂的设备台数，</a:t>
            </a:r>
          </a:p>
          <a:p>
            <a:pPr marL="0" indent="384175" algn="just">
              <a:spcBef>
                <a:spcPct val="15000"/>
              </a:spcBef>
              <a:buFont typeface="Wingdings" panose="05000000000000000000" pitchFamily="2" charset="2"/>
              <a:buNone/>
            </a:pPr>
            <a:r>
              <a:rPr lang="en-US" altLang="zh-CN" sz="2400" i="1"/>
              <a:t>x</a:t>
            </a:r>
            <a:r>
              <a:rPr lang="en-US" altLang="zh-CN" sz="2400" i="1" baseline="-30000"/>
              <a:t>k</a:t>
            </a:r>
            <a:r>
              <a:rPr lang="zh-CN" altLang="en-US" sz="2400"/>
              <a:t>设为</a:t>
            </a:r>
            <a:r>
              <a:rPr lang="zh-CN" altLang="en-US" sz="2400">
                <a:solidFill>
                  <a:srgbClr val="000066"/>
                </a:solidFill>
              </a:rPr>
              <a:t>决策变量</a:t>
            </a:r>
            <a:r>
              <a:rPr lang="zh-CN" altLang="en-US" sz="2400"/>
              <a:t>，表示为分配给第</a:t>
            </a:r>
            <a:r>
              <a:rPr lang="en-US" altLang="zh-CN" sz="2400" i="1"/>
              <a:t>k</a:t>
            </a:r>
            <a:r>
              <a:rPr lang="zh-CN" altLang="en-US" sz="2400"/>
              <a:t>个工厂的设备台数，</a:t>
            </a:r>
          </a:p>
          <a:p>
            <a:pPr marL="0" indent="384175" algn="just">
              <a:spcBef>
                <a:spcPct val="15000"/>
              </a:spcBef>
              <a:buFont typeface="Wingdings" panose="05000000000000000000" pitchFamily="2" charset="2"/>
              <a:buNone/>
            </a:pPr>
            <a:r>
              <a:rPr lang="zh-CN" altLang="en-US" sz="2400">
                <a:solidFill>
                  <a:srgbClr val="000066"/>
                </a:solidFill>
              </a:rPr>
              <a:t>状态转移方程为</a:t>
            </a:r>
            <a:r>
              <a:rPr lang="zh-CN" altLang="en-US" sz="2400"/>
              <a:t> </a:t>
            </a:r>
            <a:r>
              <a:rPr lang="en-US" altLang="zh-CN" sz="2400" i="1">
                <a:solidFill>
                  <a:srgbClr val="000066"/>
                </a:solidFill>
              </a:rPr>
              <a:t>s</a:t>
            </a:r>
            <a:r>
              <a:rPr lang="en-US" altLang="zh-CN" sz="2400" i="1" baseline="-30000"/>
              <a:t>k</a:t>
            </a:r>
            <a:r>
              <a:rPr lang="zh-CN" altLang="en-US" sz="2400" baseline="-30000"/>
              <a:t>＋</a:t>
            </a:r>
            <a:r>
              <a:rPr lang="en-US" altLang="zh-CN" sz="2400" baseline="-30000"/>
              <a:t>1</a:t>
            </a:r>
            <a:r>
              <a:rPr lang="zh-CN" altLang="en-US" sz="2400"/>
              <a:t>＝</a:t>
            </a:r>
            <a:r>
              <a:rPr lang="en-US" altLang="zh-CN" sz="2400" i="1">
                <a:solidFill>
                  <a:srgbClr val="000066"/>
                </a:solidFill>
              </a:rPr>
              <a:t>s</a:t>
            </a:r>
            <a:r>
              <a:rPr lang="en-US" altLang="zh-CN" sz="2400" i="1" baseline="-30000"/>
              <a:t>k</a:t>
            </a:r>
            <a:r>
              <a:rPr lang="zh-CN" altLang="en-US" sz="2400"/>
              <a:t>－</a:t>
            </a:r>
            <a:r>
              <a:rPr lang="en-US" altLang="zh-CN" sz="2400" i="1"/>
              <a:t>x</a:t>
            </a:r>
            <a:r>
              <a:rPr lang="en-US" altLang="zh-CN" sz="2400" i="1" baseline="-30000"/>
              <a:t>k</a:t>
            </a:r>
            <a:r>
              <a:rPr lang="zh-CN" altLang="en-US" sz="2400"/>
              <a:t>。</a:t>
            </a:r>
          </a:p>
          <a:p>
            <a:pPr marL="0" indent="384175" algn="just">
              <a:spcBef>
                <a:spcPct val="15000"/>
              </a:spcBef>
              <a:buFont typeface="Wingdings" panose="05000000000000000000" pitchFamily="2" charset="2"/>
              <a:buNone/>
            </a:pPr>
            <a:r>
              <a:rPr lang="en-US" altLang="zh-CN" sz="2400"/>
              <a:t>P</a:t>
            </a:r>
            <a:r>
              <a:rPr lang="en-US" altLang="zh-CN" sz="2400" i="1" baseline="-30000"/>
              <a:t>k</a:t>
            </a:r>
            <a:r>
              <a:rPr lang="en-US" altLang="zh-CN" sz="2400"/>
              <a:t>(</a:t>
            </a:r>
            <a:r>
              <a:rPr lang="en-US" altLang="zh-CN" sz="2400" i="1"/>
              <a:t>x</a:t>
            </a:r>
            <a:r>
              <a:rPr lang="en-US" altLang="zh-CN" sz="2400" i="1" baseline="-30000"/>
              <a:t>k</a:t>
            </a:r>
            <a:r>
              <a:rPr lang="en-US" altLang="zh-CN" sz="2400"/>
              <a:t>)</a:t>
            </a:r>
            <a:r>
              <a:rPr lang="zh-CN" altLang="en-US" sz="2400"/>
              <a:t>表示为</a:t>
            </a:r>
            <a:r>
              <a:rPr lang="en-US" altLang="zh-CN" sz="2400" i="1"/>
              <a:t>x</a:t>
            </a:r>
            <a:r>
              <a:rPr lang="en-US" altLang="zh-CN" sz="2400" i="1" baseline="-30000"/>
              <a:t>k</a:t>
            </a:r>
            <a:r>
              <a:rPr lang="zh-CN" altLang="en-US" sz="2400"/>
              <a:t>台设备分到第</a:t>
            </a:r>
            <a:r>
              <a:rPr lang="en-US" altLang="zh-CN" sz="2400" i="1"/>
              <a:t>k</a:t>
            </a:r>
            <a:r>
              <a:rPr lang="zh-CN" altLang="en-US" sz="2400"/>
              <a:t>个工厂所得的盈利值。</a:t>
            </a:r>
          </a:p>
          <a:p>
            <a:pPr marL="0" indent="384175" algn="just">
              <a:spcBef>
                <a:spcPct val="15000"/>
              </a:spcBef>
              <a:buFont typeface="Wingdings" panose="05000000000000000000" pitchFamily="2" charset="2"/>
              <a:buNone/>
            </a:pPr>
            <a:r>
              <a:rPr lang="en-US" altLang="zh-CN" sz="2400">
                <a:solidFill>
                  <a:srgbClr val="000066"/>
                </a:solidFill>
              </a:rPr>
              <a:t>f</a:t>
            </a:r>
            <a:r>
              <a:rPr lang="en-US" altLang="zh-CN" sz="2400" i="1" baseline="-30000">
                <a:solidFill>
                  <a:srgbClr val="000066"/>
                </a:solidFill>
              </a:rPr>
              <a:t>k</a:t>
            </a:r>
            <a:r>
              <a:rPr lang="en-US" altLang="zh-CN" sz="2400">
                <a:solidFill>
                  <a:srgbClr val="000066"/>
                </a:solidFill>
              </a:rPr>
              <a:t>(</a:t>
            </a:r>
            <a:r>
              <a:rPr lang="en-US" altLang="zh-CN" sz="2400" i="1">
                <a:solidFill>
                  <a:srgbClr val="000066"/>
                </a:solidFill>
              </a:rPr>
              <a:t>s</a:t>
            </a:r>
            <a:r>
              <a:rPr lang="en-US" altLang="zh-CN" sz="2400" i="1" baseline="-30000">
                <a:solidFill>
                  <a:srgbClr val="000066"/>
                </a:solidFill>
              </a:rPr>
              <a:t>k</a:t>
            </a:r>
            <a:r>
              <a:rPr lang="en-US" altLang="zh-CN" sz="2400">
                <a:solidFill>
                  <a:srgbClr val="000066"/>
                </a:solidFill>
              </a:rPr>
              <a:t>)</a:t>
            </a:r>
            <a:r>
              <a:rPr lang="zh-CN" altLang="en-US" sz="2400"/>
              <a:t>表示为</a:t>
            </a:r>
            <a:r>
              <a:rPr lang="en-US" altLang="zh-CN" sz="2400" i="1">
                <a:solidFill>
                  <a:srgbClr val="000066"/>
                </a:solidFill>
              </a:rPr>
              <a:t>s</a:t>
            </a:r>
            <a:r>
              <a:rPr lang="en-US" altLang="zh-CN" sz="2400" i="1" baseline="-30000"/>
              <a:t>k</a:t>
            </a:r>
            <a:r>
              <a:rPr lang="zh-CN" altLang="en-US" sz="2400"/>
              <a:t>台设备分配给第</a:t>
            </a:r>
            <a:r>
              <a:rPr lang="en-US" altLang="zh-CN" sz="2400" i="1"/>
              <a:t>k</a:t>
            </a:r>
            <a:r>
              <a:rPr lang="zh-CN" altLang="en-US" sz="2400"/>
              <a:t>个工厂到第</a:t>
            </a:r>
            <a:r>
              <a:rPr lang="en-US" altLang="zh-CN" sz="2400" i="1"/>
              <a:t>n</a:t>
            </a:r>
            <a:r>
              <a:rPr lang="zh-CN" altLang="en-US" sz="2400"/>
              <a:t>个工厂的最大盈利值。</a:t>
            </a:r>
          </a:p>
          <a:p>
            <a:pPr marL="0" indent="384175" algn="just">
              <a:spcBef>
                <a:spcPct val="15000"/>
              </a:spcBef>
              <a:buFont typeface="Wingdings" panose="05000000000000000000" pitchFamily="2" charset="2"/>
              <a:buNone/>
            </a:pPr>
            <a:r>
              <a:rPr lang="en-US" altLang="zh-CN" sz="2400"/>
              <a:t>3)</a:t>
            </a:r>
            <a:r>
              <a:rPr lang="zh-CN" altLang="en-US" sz="2400">
                <a:solidFill>
                  <a:srgbClr val="000066"/>
                </a:solidFill>
              </a:rPr>
              <a:t>递推关系式</a:t>
            </a:r>
            <a:r>
              <a:rPr lang="zh-CN" altLang="en-US" sz="2400"/>
              <a:t>：</a:t>
            </a:r>
          </a:p>
          <a:p>
            <a:pPr marL="0" indent="384175" algn="just">
              <a:spcBef>
                <a:spcPct val="15000"/>
              </a:spcBef>
              <a:buFont typeface="Wingdings" panose="05000000000000000000" pitchFamily="2" charset="2"/>
              <a:buNone/>
            </a:pPr>
            <a:r>
              <a:rPr lang="en-US" altLang="zh-CN" sz="2400"/>
              <a:t>f</a:t>
            </a:r>
            <a:r>
              <a:rPr lang="en-US" altLang="zh-CN" sz="2400" i="1" baseline="-30000"/>
              <a:t>k</a:t>
            </a:r>
            <a:r>
              <a:rPr lang="en-US" altLang="zh-CN" sz="2400"/>
              <a:t>(</a:t>
            </a:r>
            <a:r>
              <a:rPr lang="en-US" altLang="zh-CN" sz="2400" i="1">
                <a:solidFill>
                  <a:srgbClr val="000066"/>
                </a:solidFill>
              </a:rPr>
              <a:t>s</a:t>
            </a:r>
            <a:r>
              <a:rPr lang="en-US" altLang="zh-CN" sz="2400" i="1" baseline="-30000"/>
              <a:t>k</a:t>
            </a:r>
            <a:r>
              <a:rPr lang="en-US" altLang="zh-CN" sz="2400"/>
              <a:t>)</a:t>
            </a:r>
            <a:r>
              <a:rPr lang="zh-CN" altLang="en-US" sz="2400"/>
              <a:t>＝</a:t>
            </a:r>
            <a:r>
              <a:rPr lang="en-US" altLang="zh-CN" sz="2400"/>
              <a:t>max[ P</a:t>
            </a:r>
            <a:r>
              <a:rPr lang="en-US" altLang="zh-CN" sz="2400" i="1" baseline="-30000"/>
              <a:t>k</a:t>
            </a:r>
            <a:r>
              <a:rPr lang="en-US" altLang="zh-CN" sz="2400"/>
              <a:t>(</a:t>
            </a:r>
            <a:r>
              <a:rPr lang="en-US" altLang="zh-CN" sz="2400" i="1"/>
              <a:t>x</a:t>
            </a:r>
            <a:r>
              <a:rPr lang="en-US" altLang="zh-CN" sz="2400" i="1" baseline="-30000"/>
              <a:t>k</a:t>
            </a:r>
            <a:r>
              <a:rPr lang="en-US" altLang="zh-CN" sz="2400"/>
              <a:t>)+ f</a:t>
            </a:r>
            <a:r>
              <a:rPr lang="en-US" altLang="zh-CN" sz="2400" i="1" baseline="-30000"/>
              <a:t>k</a:t>
            </a:r>
            <a:r>
              <a:rPr lang="en-US" altLang="zh-CN" sz="2400" baseline="-30000"/>
              <a:t>+1</a:t>
            </a:r>
            <a:r>
              <a:rPr lang="en-US" altLang="zh-CN" sz="2400"/>
              <a:t>(</a:t>
            </a:r>
            <a:r>
              <a:rPr lang="en-US" altLang="zh-CN" sz="2400" i="1">
                <a:solidFill>
                  <a:srgbClr val="000066"/>
                </a:solidFill>
              </a:rPr>
              <a:t>s</a:t>
            </a:r>
            <a:r>
              <a:rPr lang="en-US" altLang="zh-CN" sz="2400" i="1" baseline="-30000"/>
              <a:t>k</a:t>
            </a:r>
            <a:r>
              <a:rPr lang="zh-CN" altLang="en-US" sz="2400"/>
              <a:t>－</a:t>
            </a:r>
            <a:r>
              <a:rPr lang="en-US" altLang="zh-CN" sz="2400" i="1"/>
              <a:t>x</a:t>
            </a:r>
            <a:r>
              <a:rPr lang="en-US" altLang="zh-CN" sz="2400" i="1" baseline="-30000"/>
              <a:t>k</a:t>
            </a:r>
            <a:r>
              <a:rPr lang="en-US" altLang="zh-CN" sz="2400"/>
              <a:t>) ]     </a:t>
            </a:r>
            <a:r>
              <a:rPr lang="en-US" altLang="zh-CN" sz="2400" i="1"/>
              <a:t>k</a:t>
            </a:r>
            <a:r>
              <a:rPr lang="en-US" altLang="zh-CN" sz="2400"/>
              <a:t>=3,2,1</a:t>
            </a:r>
          </a:p>
          <a:p>
            <a:pPr marL="0" indent="384175" algn="just">
              <a:spcBef>
                <a:spcPct val="15000"/>
              </a:spcBef>
              <a:buFont typeface="Wingdings" panose="05000000000000000000" pitchFamily="2" charset="2"/>
              <a:buNone/>
            </a:pPr>
            <a:r>
              <a:rPr lang="zh-CN" altLang="en-US" sz="2400">
                <a:solidFill>
                  <a:srgbClr val="000066"/>
                </a:solidFill>
              </a:rPr>
              <a:t>边界条件：</a:t>
            </a:r>
            <a:r>
              <a:rPr lang="en-US" altLang="zh-CN" sz="2400"/>
              <a:t>f</a:t>
            </a:r>
            <a:r>
              <a:rPr lang="en-US" altLang="zh-CN" sz="2400" baseline="-30000"/>
              <a:t>4</a:t>
            </a:r>
            <a:r>
              <a:rPr lang="en-US" altLang="zh-CN" sz="2400"/>
              <a:t>(</a:t>
            </a:r>
            <a:r>
              <a:rPr lang="en-US" altLang="zh-CN" sz="2400" i="1">
                <a:solidFill>
                  <a:srgbClr val="000066"/>
                </a:solidFill>
              </a:rPr>
              <a:t>s</a:t>
            </a:r>
            <a:r>
              <a:rPr lang="en-US" altLang="zh-CN" sz="2400" baseline="-30000"/>
              <a:t>4</a:t>
            </a:r>
            <a:r>
              <a:rPr lang="en-US" altLang="zh-CN" sz="2400"/>
              <a:t>)</a:t>
            </a:r>
            <a:r>
              <a:rPr lang="zh-CN" altLang="en-US" sz="2400"/>
              <a:t>＝</a:t>
            </a:r>
            <a:r>
              <a:rPr lang="en-US" altLang="zh-CN" sz="2400"/>
              <a:t>0</a:t>
            </a:r>
          </a:p>
          <a:p>
            <a:pPr marL="0" indent="384175" algn="just">
              <a:spcBef>
                <a:spcPct val="15000"/>
              </a:spcBef>
              <a:buFont typeface="Wingdings" panose="05000000000000000000" pitchFamily="2" charset="2"/>
              <a:buNone/>
            </a:pPr>
            <a:r>
              <a:rPr lang="en-US" altLang="zh-CN" sz="2400"/>
              <a:t>4)</a:t>
            </a:r>
            <a:r>
              <a:rPr lang="zh-CN" altLang="en-US" sz="2400"/>
              <a:t>从最后一个阶段开始向前逆推计算。</a:t>
            </a:r>
          </a:p>
          <a:p>
            <a:pPr marL="0" indent="384175">
              <a:lnSpc>
                <a:spcPct val="110000"/>
              </a:lnSpc>
              <a:buFont typeface="Wingdings" panose="05000000000000000000" pitchFamily="2" charset="2"/>
              <a:buNone/>
            </a:pPr>
            <a:endParaRPr lang="zh-CN" altLang="en-US" sz="2400"/>
          </a:p>
        </p:txBody>
      </p:sp>
      <p:pic>
        <p:nvPicPr>
          <p:cNvPr id="52227" name="图片 2">
            <a:extLst>
              <a:ext uri="{FF2B5EF4-FFF2-40B4-BE49-F238E27FC236}">
                <a16:creationId xmlns:a16="http://schemas.microsoft.com/office/drawing/2014/main" id="{182CB1E8-FCFB-43B7-BEA2-F1C139FBAC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7500" y="0"/>
            <a:ext cx="3606800" cy="17557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973FAE-0F3C-4CE6-9D5B-FF645299276A}"/>
              </a:ext>
            </a:extLst>
          </p:cNvPr>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3824E83-412F-4069-AA17-3125C13F9939}"/>
                  </a:ext>
                </a:extLst>
              </p:cNvPr>
              <p:cNvSpPr txBox="1"/>
              <p:nvPr/>
            </p:nvSpPr>
            <p:spPr>
              <a:xfrm>
                <a:off x="539552" y="1205736"/>
                <a:ext cx="7848872" cy="49866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max</m:t>
                              </m:r>
                            </m:e>
                            <m:li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4</m:t>
                                  </m:r>
                                </m:sub>
                              </m:sSub>
                            </m:lim>
                          </m:limLow>
                        </m:fName>
                        <m:e>
                          <m:r>
                            <a:rPr lang="en-US" altLang="zh-CN" i="1">
                              <a:latin typeface="Cambria Math" panose="02040503050406030204" pitchFamily="18" charset="0"/>
                            </a:rPr>
                            <m:t>𝑣</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3</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e>
                      </m:func>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oMath>
                  </m:oMathPara>
                </a14:m>
                <a:endParaRPr lang="zh-CN" altLang="en-US" dirty="0"/>
              </a:p>
            </p:txBody>
          </p:sp>
        </mc:Choice>
        <mc:Fallback xmlns="">
          <p:sp>
            <p:nvSpPr>
              <p:cNvPr id="6" name="文本框 5">
                <a:extLst>
                  <a:ext uri="{FF2B5EF4-FFF2-40B4-BE49-F238E27FC236}">
                    <a16:creationId xmlns:a16="http://schemas.microsoft.com/office/drawing/2014/main" id="{E3824E83-412F-4069-AA17-3125C13F9939}"/>
                  </a:ext>
                </a:extLst>
              </p:cNvPr>
              <p:cNvSpPr txBox="1">
                <a:spLocks noRot="1" noChangeAspect="1" noMove="1" noResize="1" noEditPoints="1" noAdjustHandles="1" noChangeArrowheads="1" noChangeShapeType="1" noTextEdit="1"/>
              </p:cNvSpPr>
              <p:nvPr/>
            </p:nvSpPr>
            <p:spPr>
              <a:xfrm>
                <a:off x="539552" y="1205736"/>
                <a:ext cx="7848872" cy="498663"/>
              </a:xfrm>
              <a:prstGeom prst="rect">
                <a:avLst/>
              </a:prstGeom>
              <a:blipFill>
                <a:blip r:embed="rId2"/>
                <a:stretch>
                  <a:fillRect l="-2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6E9C2A1-EDE5-4E43-BB36-E4FEB78E46CB}"/>
                  </a:ext>
                </a:extLst>
              </p:cNvPr>
              <p:cNvSpPr txBox="1"/>
              <p:nvPr/>
            </p:nvSpPr>
            <p:spPr>
              <a:xfrm>
                <a:off x="539552" y="1860079"/>
                <a:ext cx="7848872" cy="88697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max</m:t>
                              </m:r>
                            </m:e>
                            <m:li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lim>
                          </m:limLow>
                        </m:fName>
                        <m:e>
                          <m:r>
                            <a:rPr lang="en-US" altLang="zh-CN" i="1">
                              <a:latin typeface="Cambria Math" panose="02040503050406030204" pitchFamily="18" charset="0"/>
                            </a:rPr>
                            <m:t>𝑣</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e>
                      </m:func>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max</m:t>
                              </m:r>
                            </m:e>
                            <m:lim>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0≤</m:t>
                                  </m:r>
                                  <m:r>
                                    <a:rPr lang="en-US" altLang="zh-CN" i="1">
                                      <a:latin typeface="Cambria Math" panose="02040503050406030204" pitchFamily="18" charset="0"/>
                                    </a:rPr>
                                    <m:t>𝑠</m:t>
                                  </m:r>
                                </m:e>
                                <m:sub>
                                  <m:r>
                                    <a:rPr lang="en-US" altLang="zh-CN" i="1">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lim>
                          </m:limLow>
                        </m:fNa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r>
                            <a:rPr lang="en-US" altLang="zh-CN" i="1">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3</m:t>
                              </m:r>
                            </m:sub>
                          </m:sSub>
                          <m:r>
                            <a:rPr lang="en-US" altLang="zh-CN" i="1">
                              <a:latin typeface="Cambria Math" panose="02040503050406030204" pitchFamily="18" charset="0"/>
                            </a:rPr>
                            <m:t>)</m:t>
                          </m:r>
                        </m:e>
                      </m:func>
                      <m:r>
                        <a:rPr lang="en-US" altLang="zh-CN" b="0" i="1" smtClean="0">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max</m:t>
                              </m:r>
                            </m:e>
                            <m:lim>
                              <m:sSub>
                                <m:sSubPr>
                                  <m:ctrlPr>
                                    <a:rPr lang="en-US" altLang="zh-CN" i="1">
                                      <a:latin typeface="Cambria Math" panose="02040503050406030204" pitchFamily="18" charset="0"/>
                                    </a:rPr>
                                  </m:ctrlPr>
                                </m:sSubPr>
                                <m:e>
                                  <m:r>
                                    <a:rPr lang="en-US" altLang="zh-CN" i="1">
                                      <a:latin typeface="Cambria Math" panose="02040503050406030204" pitchFamily="18" charset="0"/>
                                    </a:rPr>
                                    <m:t>0≤</m:t>
                                  </m:r>
                                  <m:r>
                                    <a:rPr lang="en-US" altLang="zh-CN" i="1">
                                      <a:latin typeface="Cambria Math" panose="02040503050406030204" pitchFamily="18" charset="0"/>
                                    </a:rPr>
                                    <m:t>𝑠</m:t>
                                  </m:r>
                                </m:e>
                                <m:sub>
                                  <m:r>
                                    <a:rPr lang="en-US" altLang="zh-CN" i="1">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lim>
                          </m:limLow>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3</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3</m:t>
                              </m:r>
                            </m:sub>
                          </m:sSub>
                          <m:r>
                            <a:rPr lang="en-US" altLang="zh-CN" i="1">
                              <a:latin typeface="Cambria Math" panose="02040503050406030204" pitchFamily="18" charset="0"/>
                            </a:rPr>
                            <m:t>)</m:t>
                          </m:r>
                        </m:e>
                      </m:func>
                    </m:oMath>
                  </m:oMathPara>
                </a14:m>
                <a:endParaRPr lang="zh-CN" altLang="en-US" dirty="0"/>
              </a:p>
            </p:txBody>
          </p:sp>
        </mc:Choice>
        <mc:Fallback xmlns="">
          <p:sp>
            <p:nvSpPr>
              <p:cNvPr id="7" name="文本框 6">
                <a:extLst>
                  <a:ext uri="{FF2B5EF4-FFF2-40B4-BE49-F238E27FC236}">
                    <a16:creationId xmlns:a16="http://schemas.microsoft.com/office/drawing/2014/main" id="{36E9C2A1-EDE5-4E43-BB36-E4FEB78E46CB}"/>
                  </a:ext>
                </a:extLst>
              </p:cNvPr>
              <p:cNvSpPr txBox="1">
                <a:spLocks noRot="1" noChangeAspect="1" noMove="1" noResize="1" noEditPoints="1" noAdjustHandles="1" noChangeArrowheads="1" noChangeShapeType="1" noTextEdit="1"/>
              </p:cNvSpPr>
              <p:nvPr/>
            </p:nvSpPr>
            <p:spPr>
              <a:xfrm>
                <a:off x="539552" y="1860079"/>
                <a:ext cx="7848872" cy="886974"/>
              </a:xfrm>
              <a:prstGeom prst="rect">
                <a:avLst/>
              </a:prstGeom>
              <a:blipFill>
                <a:blip r:embed="rId3"/>
                <a:stretch>
                  <a:fillRect l="-233"/>
                </a:stretch>
              </a:blipFill>
            </p:spPr>
            <p:txBody>
              <a:bodyPr/>
              <a:lstStyle/>
              <a:p>
                <a:r>
                  <a:rPr lang="zh-CN" altLang="en-US">
                    <a:noFill/>
                  </a:rPr>
                  <a:t> </a:t>
                </a:r>
              </a:p>
            </p:txBody>
          </p:sp>
        </mc:Fallback>
      </mc:AlternateContent>
      <p:graphicFrame>
        <p:nvGraphicFramePr>
          <p:cNvPr id="8" name="表格 7">
            <a:extLst>
              <a:ext uri="{FF2B5EF4-FFF2-40B4-BE49-F238E27FC236}">
                <a16:creationId xmlns:a16="http://schemas.microsoft.com/office/drawing/2014/main" id="{F94B117B-6AE4-4A87-8E75-0A8B41B41312}"/>
              </a:ext>
            </a:extLst>
          </p:cNvPr>
          <p:cNvGraphicFramePr>
            <a:graphicFrameLocks noGrp="1"/>
          </p:cNvGraphicFramePr>
          <p:nvPr>
            <p:extLst>
              <p:ext uri="{D42A27DB-BD31-4B8C-83A1-F6EECF244321}">
                <p14:modId xmlns:p14="http://schemas.microsoft.com/office/powerpoint/2010/main" val="4132568023"/>
              </p:ext>
            </p:extLst>
          </p:nvPr>
        </p:nvGraphicFramePr>
        <p:xfrm>
          <a:off x="323529" y="3029340"/>
          <a:ext cx="3000900" cy="3496004"/>
        </p:xfrm>
        <a:graphic>
          <a:graphicData uri="http://schemas.openxmlformats.org/drawingml/2006/table">
            <a:tbl>
              <a:tblPr/>
              <a:tblGrid>
                <a:gridCol w="1164696">
                  <a:extLst>
                    <a:ext uri="{9D8B030D-6E8A-4147-A177-3AD203B41FA5}">
                      <a16:colId xmlns:a16="http://schemas.microsoft.com/office/drawing/2014/main" val="20000"/>
                    </a:ext>
                  </a:extLst>
                </a:gridCol>
                <a:gridCol w="917537">
                  <a:extLst>
                    <a:ext uri="{9D8B030D-6E8A-4147-A177-3AD203B41FA5}">
                      <a16:colId xmlns:a16="http://schemas.microsoft.com/office/drawing/2014/main" val="20002"/>
                    </a:ext>
                  </a:extLst>
                </a:gridCol>
                <a:gridCol w="918667">
                  <a:extLst>
                    <a:ext uri="{9D8B030D-6E8A-4147-A177-3AD203B41FA5}">
                      <a16:colId xmlns:a16="http://schemas.microsoft.com/office/drawing/2014/main" val="20003"/>
                    </a:ext>
                  </a:extLst>
                </a:gridCol>
              </a:tblGrid>
              <a:tr h="1165334">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ea"/>
                          <a:ea typeface="+mn-ea"/>
                        </a:rPr>
                        <a:t> </a:t>
                      </a:r>
                      <a:r>
                        <a:rPr kumimoji="0" lang="en-US" altLang="zh-CN" sz="2000" b="0" i="0" u="none" strike="noStrike" cap="none" normalizeH="0" baseline="0" dirty="0">
                          <a:ln>
                            <a:noFill/>
                          </a:ln>
                          <a:solidFill>
                            <a:srgbClr val="000000"/>
                          </a:solidFill>
                          <a:effectLst/>
                          <a:latin typeface="+mn-ea"/>
                          <a:ea typeface="+mn-ea"/>
                        </a:rPr>
                        <a:t>             </a:t>
                      </a:r>
                      <a:r>
                        <a:rPr kumimoji="0" lang="zh-CN" altLang="zh-CN" sz="2000" b="0" i="0" u="none" strike="noStrike" cap="none" normalizeH="0" baseline="0" dirty="0">
                          <a:ln>
                            <a:noFill/>
                          </a:ln>
                          <a:solidFill>
                            <a:srgbClr val="000000"/>
                          </a:solidFill>
                          <a:effectLst/>
                          <a:latin typeface="+mn-ea"/>
                          <a:ea typeface="+mn-ea"/>
                        </a:rPr>
                        <a:t>工厂</a:t>
                      </a:r>
                    </a:p>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ea"/>
                          <a:ea typeface="+mn-ea"/>
                        </a:rPr>
                        <a:t>设备台数</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ea"/>
                          <a:ea typeface="+mn-ea"/>
                        </a:rPr>
                        <a:t>乙</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mn-ea"/>
                          <a:ea typeface="+mn-ea"/>
                        </a:rPr>
                        <a:t>丙</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44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0</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0</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0</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44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1</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5</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4</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44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2</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10</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6</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44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3</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11</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11</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44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4</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11</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12</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44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5</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mn-ea"/>
                          <a:ea typeface="+mn-ea"/>
                        </a:rPr>
                        <a:t>11</a:t>
                      </a:r>
                      <a:endParaRPr kumimoji="0" lang="zh-CN" altLang="zh-CN" sz="2000" b="0" i="0" u="none" strike="noStrike" cap="none" normalizeH="0" baseline="0" dirty="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mn-ea"/>
                          <a:ea typeface="+mn-ea"/>
                        </a:rPr>
                        <a:t>12</a:t>
                      </a:r>
                      <a:endParaRPr kumimoji="0" lang="zh-CN" altLang="zh-CN" sz="2000" b="0" i="0" u="none" strike="noStrike" cap="none" normalizeH="0" baseline="0" dirty="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2A0DE6C4-F477-4979-99B8-B2F1B5BF783E}"/>
                  </a:ext>
                </a:extLst>
              </p:cNvPr>
              <p:cNvSpPr/>
              <p:nvPr/>
            </p:nvSpPr>
            <p:spPr>
              <a:xfrm>
                <a:off x="4071906" y="2706174"/>
                <a:ext cx="4820574" cy="3336554"/>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r>
                            <a:rPr lang="en-US" altLang="zh-CN" b="0" i="1" smtClean="0">
                              <a:latin typeface="Cambria Math" panose="02040503050406030204" pitchFamily="18" charset="0"/>
                            </a:rPr>
                            <m:t>=0</m:t>
                          </m:r>
                        </m:e>
                      </m:d>
                      <m:r>
                        <a:rPr lang="en-US" altLang="zh-CN" b="0" i="1" smtClean="0">
                          <a:latin typeface="Cambria Math" panose="02040503050406030204" pitchFamily="18" charset="0"/>
                        </a:rPr>
                        <m:t>=0</m:t>
                      </m:r>
                    </m:oMath>
                  </m:oMathPara>
                </a14:m>
                <a:endParaRPr lang="en-US" altLang="zh-CN" b="0" dirty="0"/>
              </a:p>
              <a:p>
                <a:pPr>
                  <a:lnSpc>
                    <a:spcPct val="1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2</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3</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3</m:t>
                                  </m:r>
                                </m:sub>
                              </m:sSub>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e>
                          </m:d>
                        </m:e>
                      </m:func>
                    </m:oMath>
                  </m:oMathPara>
                </a14:m>
                <a:endParaRPr lang="en-US" altLang="zh-CN" b="0" dirty="0"/>
              </a:p>
              <a:p>
                <a:pPr>
                  <a:lnSpc>
                    <a:spcPct val="1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max</m:t>
                          </m:r>
                        </m:fName>
                        <m:e>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5</m:t>
                              </m:r>
                              <m:r>
                                <a:rPr lang="en-US" altLang="zh-CN" i="1">
                                  <a:latin typeface="Cambria Math" panose="02040503050406030204" pitchFamily="18" charset="0"/>
                                </a:rPr>
                                <m:t>,</m:t>
                              </m:r>
                              <m:r>
                                <a:rPr lang="en-US" altLang="zh-CN" b="0" i="1" smtClean="0">
                                  <a:latin typeface="Cambria Math" panose="02040503050406030204" pitchFamily="18" charset="0"/>
                                </a:rPr>
                                <m:t>4</m:t>
                              </m:r>
                            </m:e>
                          </m:d>
                        </m:e>
                      </m:func>
                      <m:r>
                        <a:rPr lang="en-US" altLang="zh-CN" b="0" i="1" smtClean="0">
                          <a:latin typeface="Cambria Math" panose="02040503050406030204" pitchFamily="18" charset="0"/>
                        </a:rPr>
                        <m:t>=5</m:t>
                      </m:r>
                    </m:oMath>
                  </m:oMathPara>
                </a14:m>
                <a:endParaRPr lang="en-US" altLang="zh-CN" dirty="0"/>
              </a:p>
              <a:p>
                <a:pPr>
                  <a:lnSpc>
                    <a:spcPct val="1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2</m:t>
                          </m:r>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max</m:t>
                          </m:r>
                        </m:fName>
                        <m:e>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r>
                                    <a:rPr lang="en-US" altLang="zh-CN" b="0" i="1" smtClean="0">
                                      <a:latin typeface="Cambria Math" panose="02040503050406030204" pitchFamily="18" charset="0"/>
                                    </a:rPr>
                                    <m:t>2</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3</m:t>
                                  </m:r>
                                </m:sub>
                              </m:sSub>
                              <m:d>
                                <m:dPr>
                                  <m:ctrlPr>
                                    <a:rPr lang="en-US" altLang="zh-CN" i="1">
                                      <a:latin typeface="Cambria Math" panose="02040503050406030204" pitchFamily="18" charset="0"/>
                                    </a:rPr>
                                  </m:ctrlPr>
                                </m:dPr>
                                <m:e>
                                  <m:r>
                                    <a:rPr lang="en-US" altLang="zh-CN" i="1">
                                      <a:latin typeface="Cambria Math" panose="02040503050406030204" pitchFamily="18" charset="0"/>
                                    </a:rPr>
                                    <m:t>0</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3</m:t>
                                  </m:r>
                                </m:sub>
                              </m:sSub>
                              <m:d>
                                <m:dPr>
                                  <m:ctrlPr>
                                    <a:rPr lang="en-US" altLang="zh-CN" i="1">
                                      <a:latin typeface="Cambria Math" panose="02040503050406030204" pitchFamily="18" charset="0"/>
                                    </a:rPr>
                                  </m:ctrlPr>
                                </m:dPr>
                                <m:e>
                                  <m:r>
                                    <a:rPr lang="en-US" altLang="zh-CN" i="1">
                                      <a:latin typeface="Cambria Math" panose="02040503050406030204" pitchFamily="18" charset="0"/>
                                    </a:rPr>
                                    <m:t>1</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3</m:t>
                                  </m:r>
                                </m:sub>
                              </m:sSub>
                              <m:d>
                                <m:dPr>
                                  <m:ctrlPr>
                                    <a:rPr lang="en-US" altLang="zh-CN" i="1">
                                      <a:latin typeface="Cambria Math" panose="02040503050406030204" pitchFamily="18" charset="0"/>
                                    </a:rPr>
                                  </m:ctrlPr>
                                </m:dPr>
                                <m:e>
                                  <m:r>
                                    <a:rPr lang="en-US" altLang="zh-CN" b="0" i="1" smtClean="0">
                                      <a:latin typeface="Cambria Math" panose="02040503050406030204" pitchFamily="18" charset="0"/>
                                    </a:rPr>
                                    <m:t>2</m:t>
                                  </m:r>
                                </m:e>
                              </m:d>
                            </m:e>
                          </m:d>
                        </m:e>
                      </m:func>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max</m:t>
                          </m:r>
                        </m:fName>
                        <m:e>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10,9,6</m:t>
                              </m:r>
                            </m:e>
                          </m:d>
                        </m:e>
                      </m:func>
                      <m:r>
                        <a:rPr lang="en-US" altLang="zh-CN" i="1">
                          <a:latin typeface="Cambria Math" panose="02040503050406030204" pitchFamily="18" charset="0"/>
                        </a:rPr>
                        <m:t>=</m:t>
                      </m:r>
                      <m:r>
                        <a:rPr lang="en-US" altLang="zh-CN" b="0" i="1" smtClean="0">
                          <a:latin typeface="Cambria Math" panose="02040503050406030204" pitchFamily="18" charset="0"/>
                        </a:rPr>
                        <m:t>10</m:t>
                      </m:r>
                    </m:oMath>
                  </m:oMathPara>
                </a14:m>
                <a:endParaRPr lang="zh-CN" altLang="en-US" dirty="0"/>
              </a:p>
              <a:p>
                <a:pPr>
                  <a:lnSpc>
                    <a:spcPct val="150000"/>
                  </a:lnSpc>
                </a:pPr>
                <a:endParaRPr lang="zh-CN" altLang="en-US" dirty="0"/>
              </a:p>
            </p:txBody>
          </p:sp>
        </mc:Choice>
        <mc:Fallback xmlns="">
          <p:sp>
            <p:nvSpPr>
              <p:cNvPr id="9" name="矩形 8">
                <a:extLst>
                  <a:ext uri="{FF2B5EF4-FFF2-40B4-BE49-F238E27FC236}">
                    <a16:creationId xmlns:a16="http://schemas.microsoft.com/office/drawing/2014/main" id="{2A0DE6C4-F477-4979-99B8-B2F1B5BF783E}"/>
                  </a:ext>
                </a:extLst>
              </p:cNvPr>
              <p:cNvSpPr>
                <a:spLocks noRot="1" noChangeAspect="1" noMove="1" noResize="1" noEditPoints="1" noAdjustHandles="1" noChangeArrowheads="1" noChangeShapeType="1" noTextEdit="1"/>
              </p:cNvSpPr>
              <p:nvPr/>
            </p:nvSpPr>
            <p:spPr>
              <a:xfrm>
                <a:off x="4071906" y="2706174"/>
                <a:ext cx="4820574" cy="3336554"/>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714300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2559BBC-C3DD-4D75-B5E4-E60F3E76CD8C}"/>
              </a:ext>
            </a:extLst>
          </p:cNvPr>
          <p:cNvSpPr>
            <a:spLocks noGrp="1" noChangeArrowheads="1"/>
          </p:cNvSpPr>
          <p:nvPr>
            <p:ph type="title"/>
          </p:nvPr>
        </p:nvSpPr>
        <p:spPr>
          <a:xfrm>
            <a:off x="611188" y="981075"/>
            <a:ext cx="8064500" cy="1223963"/>
          </a:xfrm>
        </p:spPr>
        <p:txBody>
          <a:bodyPr/>
          <a:lstStyle/>
          <a:p>
            <a:pPr indent="384175">
              <a:lnSpc>
                <a:spcPct val="105000"/>
              </a:lnSpc>
            </a:pPr>
            <a:r>
              <a:rPr lang="zh-CN" altLang="en-US" sz="2400" b="0">
                <a:solidFill>
                  <a:srgbClr val="000066"/>
                </a:solidFill>
                <a:latin typeface="Times New Roman" panose="02020603050405020304" pitchFamily="18" charset="0"/>
              </a:rPr>
              <a:t>第三阶段：</a:t>
            </a:r>
            <a:r>
              <a:rPr lang="zh-CN" altLang="en-US" sz="2400">
                <a:solidFill>
                  <a:schemeClr val="tx1"/>
                </a:solidFill>
                <a:latin typeface="Times New Roman" panose="02020603050405020304" pitchFamily="18" charset="0"/>
              </a:rPr>
              <a:t>设将</a:t>
            </a:r>
            <a:r>
              <a:rPr lang="en-US" altLang="zh-CN" sz="2400" i="1">
                <a:solidFill>
                  <a:schemeClr val="tx1"/>
                </a:solidFill>
                <a:latin typeface="Times New Roman" panose="02020603050405020304" pitchFamily="18" charset="0"/>
              </a:rPr>
              <a:t>s</a:t>
            </a:r>
            <a:r>
              <a:rPr lang="en-US" altLang="zh-CN" sz="2400" baseline="-30000">
                <a:solidFill>
                  <a:schemeClr val="tx1"/>
                </a:solidFill>
                <a:latin typeface="Times New Roman" panose="02020603050405020304" pitchFamily="18" charset="0"/>
              </a:rPr>
              <a:t>3</a:t>
            </a:r>
            <a:r>
              <a:rPr lang="zh-CN" altLang="en-US" sz="2400">
                <a:solidFill>
                  <a:schemeClr val="tx1"/>
                </a:solidFill>
                <a:latin typeface="Times New Roman" panose="02020603050405020304" pitchFamily="18" charset="0"/>
              </a:rPr>
              <a:t>台设备（</a:t>
            </a:r>
            <a:r>
              <a:rPr lang="en-US" altLang="zh-CN" sz="2400" i="1">
                <a:solidFill>
                  <a:schemeClr val="tx1"/>
                </a:solidFill>
                <a:latin typeface="Times New Roman" panose="02020603050405020304" pitchFamily="18" charset="0"/>
              </a:rPr>
              <a:t>s</a:t>
            </a:r>
            <a:r>
              <a:rPr lang="en-US" altLang="zh-CN" sz="2400" baseline="-30000">
                <a:solidFill>
                  <a:schemeClr val="tx1"/>
                </a:solidFill>
                <a:latin typeface="Times New Roman" panose="02020603050405020304" pitchFamily="18" charset="0"/>
              </a:rPr>
              <a:t>3</a:t>
            </a:r>
            <a:r>
              <a:rPr lang="zh-CN" altLang="en-US" sz="2400">
                <a:solidFill>
                  <a:schemeClr val="tx1"/>
                </a:solidFill>
                <a:latin typeface="Times New Roman" panose="02020603050405020304" pitchFamily="18" charset="0"/>
              </a:rPr>
              <a:t>＝</a:t>
            </a:r>
            <a:r>
              <a:rPr lang="en-US" altLang="zh-CN" sz="2400">
                <a:solidFill>
                  <a:schemeClr val="tx1"/>
                </a:solidFill>
                <a:latin typeface="Times New Roman" panose="02020603050405020304" pitchFamily="18" charset="0"/>
              </a:rPr>
              <a:t>0,1,2,3,4,5</a:t>
            </a:r>
            <a:r>
              <a:rPr lang="zh-CN" altLang="en-US" sz="2400">
                <a:solidFill>
                  <a:schemeClr val="tx1"/>
                </a:solidFill>
                <a:latin typeface="Times New Roman" panose="02020603050405020304" pitchFamily="18" charset="0"/>
              </a:rPr>
              <a:t>）全部分配给丙厂时，最大盈利值为： </a:t>
            </a:r>
            <a:r>
              <a:rPr lang="en-US" altLang="zh-CN" sz="2400">
                <a:solidFill>
                  <a:schemeClr val="tx1"/>
                </a:solidFill>
                <a:latin typeface="Times New Roman" panose="02020603050405020304" pitchFamily="18" charset="0"/>
              </a:rPr>
              <a:t>f</a:t>
            </a:r>
            <a:r>
              <a:rPr lang="en-US" altLang="zh-CN" sz="2400" baseline="-30000">
                <a:solidFill>
                  <a:schemeClr val="tx1"/>
                </a:solidFill>
                <a:latin typeface="Times New Roman" panose="02020603050405020304" pitchFamily="18" charset="0"/>
              </a:rPr>
              <a:t>3</a:t>
            </a:r>
            <a:r>
              <a:rPr lang="en-US" altLang="zh-CN" sz="2400">
                <a:solidFill>
                  <a:schemeClr val="tx1"/>
                </a:solidFill>
                <a:latin typeface="Times New Roman" panose="02020603050405020304" pitchFamily="18" charset="0"/>
              </a:rPr>
              <a:t>(</a:t>
            </a:r>
            <a:r>
              <a:rPr lang="en-US" altLang="zh-CN" sz="2400" i="1">
                <a:solidFill>
                  <a:schemeClr val="tx1"/>
                </a:solidFill>
                <a:latin typeface="Times New Roman" panose="02020603050405020304" pitchFamily="18" charset="0"/>
              </a:rPr>
              <a:t>s</a:t>
            </a:r>
            <a:r>
              <a:rPr lang="en-US" altLang="zh-CN" sz="2400" baseline="-30000">
                <a:solidFill>
                  <a:schemeClr val="tx1"/>
                </a:solidFill>
                <a:latin typeface="Times New Roman" panose="02020603050405020304" pitchFamily="18" charset="0"/>
              </a:rPr>
              <a:t>3</a:t>
            </a:r>
            <a:r>
              <a:rPr lang="en-US" altLang="zh-CN" sz="2400">
                <a:solidFill>
                  <a:schemeClr val="tx1"/>
                </a:solidFill>
                <a:latin typeface="Times New Roman" panose="02020603050405020304" pitchFamily="18" charset="0"/>
              </a:rPr>
              <a:t>)</a:t>
            </a:r>
            <a:r>
              <a:rPr lang="zh-CN" altLang="en-US" sz="2400">
                <a:solidFill>
                  <a:schemeClr val="tx1"/>
                </a:solidFill>
                <a:latin typeface="Times New Roman" panose="02020603050405020304" pitchFamily="18" charset="0"/>
              </a:rPr>
              <a:t>＝</a:t>
            </a:r>
            <a:r>
              <a:rPr lang="en-US" altLang="zh-CN" sz="2400">
                <a:solidFill>
                  <a:schemeClr val="tx1"/>
                </a:solidFill>
                <a:latin typeface="Times New Roman" panose="02020603050405020304" pitchFamily="18" charset="0"/>
              </a:rPr>
              <a:t>max[P</a:t>
            </a:r>
            <a:r>
              <a:rPr lang="en-US" altLang="zh-CN" sz="2400" baseline="-30000">
                <a:solidFill>
                  <a:schemeClr val="tx1"/>
                </a:solidFill>
                <a:latin typeface="Times New Roman" panose="02020603050405020304" pitchFamily="18" charset="0"/>
              </a:rPr>
              <a:t>3</a:t>
            </a:r>
            <a:r>
              <a:rPr lang="en-US" altLang="zh-CN" sz="2400">
                <a:solidFill>
                  <a:schemeClr val="tx1"/>
                </a:solidFill>
                <a:latin typeface="Times New Roman" panose="02020603050405020304" pitchFamily="18" charset="0"/>
              </a:rPr>
              <a:t>(</a:t>
            </a:r>
            <a:r>
              <a:rPr lang="en-US" altLang="zh-CN" sz="2400" i="1">
                <a:solidFill>
                  <a:schemeClr val="tx1"/>
                </a:solidFill>
                <a:latin typeface="Times New Roman" panose="02020603050405020304" pitchFamily="18" charset="0"/>
              </a:rPr>
              <a:t>x</a:t>
            </a:r>
            <a:r>
              <a:rPr lang="en-US" altLang="zh-CN" sz="2400" baseline="-30000">
                <a:solidFill>
                  <a:schemeClr val="tx1"/>
                </a:solidFill>
                <a:latin typeface="Times New Roman" panose="02020603050405020304" pitchFamily="18" charset="0"/>
              </a:rPr>
              <a:t>3</a:t>
            </a:r>
            <a:r>
              <a:rPr lang="en-US" altLang="zh-CN" sz="2400">
                <a:solidFill>
                  <a:schemeClr val="tx1"/>
                </a:solidFill>
                <a:latin typeface="Times New Roman" panose="02020603050405020304" pitchFamily="18" charset="0"/>
              </a:rPr>
              <a:t>)]  </a:t>
            </a:r>
            <a:r>
              <a:rPr lang="zh-CN" altLang="en-US" sz="2400">
                <a:solidFill>
                  <a:schemeClr val="tx1"/>
                </a:solidFill>
                <a:latin typeface="Times New Roman" panose="02020603050405020304" pitchFamily="18" charset="0"/>
              </a:rPr>
              <a:t>其中</a:t>
            </a:r>
            <a:r>
              <a:rPr lang="en-US" altLang="zh-CN" sz="2400" i="1">
                <a:solidFill>
                  <a:schemeClr val="tx1"/>
                </a:solidFill>
                <a:latin typeface="Times New Roman" panose="02020603050405020304" pitchFamily="18" charset="0"/>
              </a:rPr>
              <a:t>x</a:t>
            </a:r>
            <a:r>
              <a:rPr lang="en-US" altLang="zh-CN" sz="2400" baseline="-30000">
                <a:solidFill>
                  <a:schemeClr val="tx1"/>
                </a:solidFill>
                <a:latin typeface="Times New Roman" panose="02020603050405020304" pitchFamily="18" charset="0"/>
              </a:rPr>
              <a:t>3</a:t>
            </a:r>
            <a:r>
              <a:rPr lang="zh-CN" altLang="en-US" sz="2400">
                <a:solidFill>
                  <a:schemeClr val="tx1"/>
                </a:solidFill>
                <a:latin typeface="Times New Roman" panose="02020603050405020304" pitchFamily="18" charset="0"/>
              </a:rPr>
              <a:t>＝</a:t>
            </a:r>
            <a:r>
              <a:rPr lang="en-US" altLang="zh-CN" sz="2400" i="1">
                <a:solidFill>
                  <a:schemeClr val="tx1"/>
                </a:solidFill>
                <a:latin typeface="Times New Roman" panose="02020603050405020304" pitchFamily="18" charset="0"/>
              </a:rPr>
              <a:t>s</a:t>
            </a:r>
            <a:r>
              <a:rPr lang="en-US" altLang="zh-CN" sz="2400" baseline="-30000">
                <a:solidFill>
                  <a:schemeClr val="tx1"/>
                </a:solidFill>
                <a:latin typeface="Times New Roman" panose="02020603050405020304" pitchFamily="18" charset="0"/>
              </a:rPr>
              <a:t>3</a:t>
            </a:r>
            <a:r>
              <a:rPr lang="zh-CN" altLang="en-US" sz="2400">
                <a:solidFill>
                  <a:schemeClr val="tx1"/>
                </a:solidFill>
                <a:latin typeface="Times New Roman" panose="02020603050405020304" pitchFamily="18" charset="0"/>
              </a:rPr>
              <a:t>＝</a:t>
            </a:r>
            <a:r>
              <a:rPr lang="en-US" altLang="zh-CN" sz="2400">
                <a:solidFill>
                  <a:schemeClr val="tx1"/>
                </a:solidFill>
                <a:latin typeface="Times New Roman" panose="02020603050405020304" pitchFamily="18" charset="0"/>
              </a:rPr>
              <a:t>0,1,2,3,4,5,    </a:t>
            </a:r>
            <a:r>
              <a:rPr lang="en-US" altLang="zh-CN" sz="2400" i="1">
                <a:solidFill>
                  <a:schemeClr val="tx1"/>
                </a:solidFill>
                <a:latin typeface="Times New Roman" panose="02020603050405020304" pitchFamily="18" charset="0"/>
              </a:rPr>
              <a:t>x</a:t>
            </a:r>
            <a:r>
              <a:rPr lang="en-US" altLang="zh-CN" sz="2400" baseline="-30000">
                <a:solidFill>
                  <a:schemeClr val="tx1"/>
                </a:solidFill>
                <a:latin typeface="Times New Roman" panose="02020603050405020304" pitchFamily="18" charset="0"/>
              </a:rPr>
              <a:t>3</a:t>
            </a:r>
            <a:r>
              <a:rPr lang="en-US" altLang="zh-CN" sz="2400" baseline="30000">
                <a:solidFill>
                  <a:schemeClr val="tx1"/>
                </a:solidFill>
                <a:latin typeface="Times New Roman" panose="02020603050405020304" pitchFamily="18" charset="0"/>
              </a:rPr>
              <a:t>*</a:t>
            </a:r>
            <a:r>
              <a:rPr lang="zh-CN" altLang="en-US" sz="2400" b="0">
                <a:solidFill>
                  <a:schemeClr val="tx1"/>
                </a:solidFill>
                <a:latin typeface="Times New Roman" panose="02020603050405020304" pitchFamily="18" charset="0"/>
              </a:rPr>
              <a:t>表示使得</a:t>
            </a:r>
            <a:r>
              <a:rPr lang="en-US" altLang="zh-CN" sz="2400">
                <a:solidFill>
                  <a:schemeClr val="tx1"/>
                </a:solidFill>
                <a:latin typeface="Times New Roman" panose="02020603050405020304" pitchFamily="18" charset="0"/>
              </a:rPr>
              <a:t>f</a:t>
            </a:r>
            <a:r>
              <a:rPr lang="en-US" altLang="zh-CN" sz="2400" baseline="-30000">
                <a:solidFill>
                  <a:schemeClr val="tx1"/>
                </a:solidFill>
                <a:latin typeface="Times New Roman" panose="02020603050405020304" pitchFamily="18" charset="0"/>
              </a:rPr>
              <a:t>3</a:t>
            </a:r>
            <a:r>
              <a:rPr lang="en-US" altLang="zh-CN" sz="2400">
                <a:solidFill>
                  <a:schemeClr val="tx1"/>
                </a:solidFill>
                <a:latin typeface="Times New Roman" panose="02020603050405020304" pitchFamily="18" charset="0"/>
              </a:rPr>
              <a:t>(</a:t>
            </a:r>
            <a:r>
              <a:rPr lang="en-US" altLang="zh-CN" sz="2400" i="1">
                <a:solidFill>
                  <a:schemeClr val="tx1"/>
                </a:solidFill>
                <a:latin typeface="Times New Roman" panose="02020603050405020304" pitchFamily="18" charset="0"/>
              </a:rPr>
              <a:t>s</a:t>
            </a:r>
            <a:r>
              <a:rPr lang="en-US" altLang="zh-CN" sz="2400" baseline="-30000">
                <a:solidFill>
                  <a:schemeClr val="tx1"/>
                </a:solidFill>
                <a:latin typeface="Times New Roman" panose="02020603050405020304" pitchFamily="18" charset="0"/>
              </a:rPr>
              <a:t>3</a:t>
            </a:r>
            <a:r>
              <a:rPr lang="en-US" altLang="zh-CN" sz="2400">
                <a:solidFill>
                  <a:schemeClr val="tx1"/>
                </a:solidFill>
                <a:latin typeface="Times New Roman" panose="02020603050405020304" pitchFamily="18" charset="0"/>
              </a:rPr>
              <a:t>)</a:t>
            </a:r>
            <a:r>
              <a:rPr lang="zh-CN" altLang="en-US" sz="2400" b="0">
                <a:solidFill>
                  <a:schemeClr val="tx1"/>
                </a:solidFill>
                <a:latin typeface="Times New Roman" panose="02020603050405020304" pitchFamily="18" charset="0"/>
              </a:rPr>
              <a:t>为最大值时的最优决策。</a:t>
            </a:r>
            <a:endParaRPr lang="en-US" altLang="zh-CN" sz="2400" b="0">
              <a:solidFill>
                <a:schemeClr val="tx1"/>
              </a:solidFill>
              <a:latin typeface="Times New Roman" panose="02020603050405020304" pitchFamily="18" charset="0"/>
            </a:endParaRPr>
          </a:p>
        </p:txBody>
      </p:sp>
      <p:graphicFrame>
        <p:nvGraphicFramePr>
          <p:cNvPr id="711780" name="Group 100">
            <a:extLst>
              <a:ext uri="{FF2B5EF4-FFF2-40B4-BE49-F238E27FC236}">
                <a16:creationId xmlns:a16="http://schemas.microsoft.com/office/drawing/2014/main" id="{AABB3F98-F6C4-4E47-9643-8D990E0646ED}"/>
              </a:ext>
            </a:extLst>
          </p:cNvPr>
          <p:cNvGraphicFramePr>
            <a:graphicFrameLocks noGrp="1"/>
          </p:cNvGraphicFramePr>
          <p:nvPr>
            <p:ph type="tbl" idx="1"/>
            <p:extLst>
              <p:ext uri="{D42A27DB-BD31-4B8C-83A1-F6EECF244321}">
                <p14:modId xmlns:p14="http://schemas.microsoft.com/office/powerpoint/2010/main" val="1048296902"/>
              </p:ext>
            </p:extLst>
          </p:nvPr>
        </p:nvGraphicFramePr>
        <p:xfrm>
          <a:off x="831850" y="2746375"/>
          <a:ext cx="7772400" cy="3806825"/>
        </p:xfrm>
        <a:graphic>
          <a:graphicData uri="http://schemas.openxmlformats.org/drawingml/2006/table">
            <a:tbl>
              <a:tblPr/>
              <a:tblGrid>
                <a:gridCol w="863600">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89000">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863600">
                  <a:extLst>
                    <a:ext uri="{9D8B030D-6E8A-4147-A177-3AD203B41FA5}">
                      <a16:colId xmlns:a16="http://schemas.microsoft.com/office/drawing/2014/main" val="20006"/>
                    </a:ext>
                  </a:extLst>
                </a:gridCol>
                <a:gridCol w="863600">
                  <a:extLst>
                    <a:ext uri="{9D8B030D-6E8A-4147-A177-3AD203B41FA5}">
                      <a16:colId xmlns:a16="http://schemas.microsoft.com/office/drawing/2014/main" val="20007"/>
                    </a:ext>
                  </a:extLst>
                </a:gridCol>
                <a:gridCol w="863600">
                  <a:extLst>
                    <a:ext uri="{9D8B030D-6E8A-4147-A177-3AD203B41FA5}">
                      <a16:colId xmlns:a16="http://schemas.microsoft.com/office/drawing/2014/main" val="20008"/>
                    </a:ext>
                  </a:extLst>
                </a:gridCol>
              </a:tblGrid>
              <a:tr h="466725">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cap="none" normalizeH="0" baseline="0" dirty="0">
                          <a:ln>
                            <a:noFill/>
                          </a:ln>
                          <a:solidFill>
                            <a:srgbClr val="376546"/>
                          </a:solidFill>
                          <a:effectLst/>
                          <a:latin typeface="Times New Roman" panose="02020603050405020304" pitchFamily="18" charset="0"/>
                          <a:ea typeface="楷体_GB2312" pitchFamily="49" charset="-122"/>
                        </a:rPr>
                        <a:t>x</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3</a:t>
                      </a:r>
                      <a:endPar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kern="1200" cap="none" normalizeH="0" baseline="0" dirty="0">
                          <a:ln>
                            <a:noFill/>
                          </a:ln>
                          <a:solidFill>
                            <a:srgbClr val="376546"/>
                          </a:solidFill>
                          <a:effectLst/>
                          <a:latin typeface="Times New Roman" panose="02020603050405020304" pitchFamily="18" charset="0"/>
                          <a:ea typeface="楷体_GB2312" pitchFamily="49" charset="-122"/>
                          <a:cs typeface="+mn-cs"/>
                        </a:rPr>
                        <a:t>s</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3</a:t>
                      </a: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gridSpan="6">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P</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3</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0" i="1" u="none" strike="noStrike" cap="none" normalizeH="0" baseline="0">
                          <a:ln>
                            <a:noFill/>
                          </a:ln>
                          <a:solidFill>
                            <a:srgbClr val="FF0000"/>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3</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FF0000"/>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f</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3</a:t>
                      </a: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a:t>
                      </a:r>
                      <a:r>
                        <a:rPr kumimoji="0" lang="en-US" altLang="zh-CN" sz="2400" b="1" i="1" u="none" strike="noStrike" kern="1200" cap="none" normalizeH="0" baseline="0" dirty="0">
                          <a:ln>
                            <a:noFill/>
                          </a:ln>
                          <a:solidFill>
                            <a:srgbClr val="376546"/>
                          </a:solidFill>
                          <a:effectLst/>
                          <a:latin typeface="Times New Roman" panose="02020603050405020304" pitchFamily="18" charset="0"/>
                          <a:ea typeface="楷体_GB2312" pitchFamily="49" charset="-122"/>
                          <a:cs typeface="+mn-cs"/>
                        </a:rPr>
                        <a:t>s</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3</a:t>
                      </a: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cap="none" normalizeH="0" baseline="0">
                          <a:ln>
                            <a:noFill/>
                          </a:ln>
                          <a:solidFill>
                            <a:srgbClr val="37654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376546"/>
                          </a:solidFill>
                          <a:effectLst/>
                          <a:latin typeface="Times New Roman" panose="02020603050405020304" pitchFamily="18" charset="0"/>
                          <a:ea typeface="楷体_GB2312" pitchFamily="49" charset="-122"/>
                        </a:rPr>
                        <a:t>3</a:t>
                      </a:r>
                      <a:r>
                        <a:rPr kumimoji="0" lang="en-US" altLang="zh-CN" sz="2400" b="1" i="0" u="none" strike="noStrike" cap="none" normalizeH="0" baseline="3000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9750">
                <a:tc vMerge="1">
                  <a:txBody>
                    <a:bodyPr/>
                    <a:lstStyle/>
                    <a:p>
                      <a:endParaRPr lang="zh-CN" altLang="en-US"/>
                    </a:p>
                  </a:txBody>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3</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5</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46672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06" marB="45706"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0</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06" marB="45706"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06" marB="45706"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4</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06" marB="45706"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06" marB="45706"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6</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6</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06" marB="45706"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72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3</a:t>
                      </a:r>
                    </a:p>
                  </a:txBody>
                  <a:tcPr marT="45706" marB="45706"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11</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3</a:t>
                      </a:r>
                    </a:p>
                  </a:txBody>
                  <a:tcPr marT="45706" marB="45706"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72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06" marB="45706"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12</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06" marB="45706"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672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5</a:t>
                      </a:r>
                    </a:p>
                  </a:txBody>
                  <a:tcPr marT="45706" marB="45706"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12</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5</a:t>
                      </a:r>
                    </a:p>
                  </a:txBody>
                  <a:tcPr marT="45706" marB="45706"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3334" name="矩形 1">
            <a:extLst>
              <a:ext uri="{FF2B5EF4-FFF2-40B4-BE49-F238E27FC236}">
                <a16:creationId xmlns:a16="http://schemas.microsoft.com/office/drawing/2014/main" id="{34442BD5-76F7-41C1-BFBA-0C8683F1387D}"/>
              </a:ext>
            </a:extLst>
          </p:cNvPr>
          <p:cNvSpPr>
            <a:spLocks noChangeArrowheads="1"/>
          </p:cNvSpPr>
          <p:nvPr/>
        </p:nvSpPr>
        <p:spPr bwMode="auto">
          <a:xfrm>
            <a:off x="3995738" y="2349500"/>
            <a:ext cx="992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latin typeface="Times New Roman" panose="02020603050405020304" pitchFamily="18" charset="0"/>
              </a:rPr>
              <a:t>表</a:t>
            </a:r>
            <a:r>
              <a:rPr lang="en-US" altLang="zh-CN">
                <a:latin typeface="Times New Roman" panose="02020603050405020304" pitchFamily="18" charset="0"/>
              </a:rPr>
              <a:t>10</a:t>
            </a:r>
            <a:r>
              <a:rPr lang="zh-CN" altLang="en-US">
                <a:latin typeface="Times New Roman" panose="02020603050405020304" pitchFamily="18" charset="0"/>
              </a:rPr>
              <a:t>－</a:t>
            </a:r>
            <a:r>
              <a:rPr lang="en-US" altLang="zh-CN">
                <a:latin typeface="Times New Roman" panose="02020603050405020304" pitchFamily="18" charset="0"/>
              </a:rPr>
              <a:t>2</a:t>
            </a:r>
            <a:endParaRPr lang="zh-CN" altLang="en-US"/>
          </a:p>
        </p:txBody>
      </p:sp>
      <p:sp>
        <p:nvSpPr>
          <p:cNvPr id="53335" name="矩形 4">
            <a:extLst>
              <a:ext uri="{FF2B5EF4-FFF2-40B4-BE49-F238E27FC236}">
                <a16:creationId xmlns:a16="http://schemas.microsoft.com/office/drawing/2014/main" id="{1C546481-8403-441B-8186-BC2C3797A998}"/>
              </a:ext>
            </a:extLst>
          </p:cNvPr>
          <p:cNvSpPr>
            <a:spLocks noChangeArrowheads="1"/>
          </p:cNvSpPr>
          <p:nvPr/>
        </p:nvSpPr>
        <p:spPr bwMode="auto">
          <a:xfrm>
            <a:off x="1627188" y="304800"/>
            <a:ext cx="6032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FF00FF"/>
                </a:solidFill>
                <a:latin typeface="Times New Roman" panose="02020603050405020304" pitchFamily="18" charset="0"/>
              </a:rPr>
              <a:t>P</a:t>
            </a:r>
            <a:r>
              <a:rPr lang="en-US" altLang="zh-CN" i="1" baseline="-30000">
                <a:solidFill>
                  <a:srgbClr val="FF00FF"/>
                </a:solidFill>
                <a:latin typeface="Times New Roman" panose="02020603050405020304" pitchFamily="18" charset="0"/>
              </a:rPr>
              <a:t>k</a:t>
            </a:r>
            <a:r>
              <a:rPr lang="en-US" altLang="zh-CN">
                <a:solidFill>
                  <a:srgbClr val="FF00FF"/>
                </a:solidFill>
                <a:latin typeface="Times New Roman" panose="02020603050405020304" pitchFamily="18" charset="0"/>
              </a:rPr>
              <a:t>(</a:t>
            </a:r>
            <a:r>
              <a:rPr lang="en-US" altLang="zh-CN" i="1">
                <a:solidFill>
                  <a:srgbClr val="FF00FF"/>
                </a:solidFill>
                <a:latin typeface="Times New Roman" panose="02020603050405020304" pitchFamily="18" charset="0"/>
              </a:rPr>
              <a:t>x</a:t>
            </a:r>
            <a:r>
              <a:rPr lang="en-US" altLang="zh-CN" i="1" baseline="-30000">
                <a:solidFill>
                  <a:srgbClr val="FF00FF"/>
                </a:solidFill>
                <a:latin typeface="Times New Roman" panose="02020603050405020304" pitchFamily="18" charset="0"/>
              </a:rPr>
              <a:t>k</a:t>
            </a:r>
            <a:r>
              <a:rPr lang="en-US" altLang="zh-CN">
                <a:solidFill>
                  <a:srgbClr val="FF00FF"/>
                </a:solidFill>
                <a:latin typeface="Times New Roman" panose="02020603050405020304" pitchFamily="18" charset="0"/>
              </a:rPr>
              <a:t>)</a:t>
            </a:r>
            <a:r>
              <a:rPr lang="zh-CN" altLang="en-US">
                <a:solidFill>
                  <a:srgbClr val="FF00FF"/>
                </a:solidFill>
                <a:latin typeface="Times New Roman" panose="02020603050405020304" pitchFamily="18" charset="0"/>
              </a:rPr>
              <a:t>表示为</a:t>
            </a:r>
            <a:r>
              <a:rPr lang="en-US" altLang="zh-CN" i="1">
                <a:solidFill>
                  <a:srgbClr val="FF00FF"/>
                </a:solidFill>
                <a:latin typeface="Times New Roman" panose="02020603050405020304" pitchFamily="18" charset="0"/>
              </a:rPr>
              <a:t>x</a:t>
            </a:r>
            <a:r>
              <a:rPr lang="en-US" altLang="zh-CN" i="1" baseline="-30000">
                <a:solidFill>
                  <a:srgbClr val="FF00FF"/>
                </a:solidFill>
                <a:latin typeface="Times New Roman" panose="02020603050405020304" pitchFamily="18" charset="0"/>
              </a:rPr>
              <a:t>k</a:t>
            </a:r>
            <a:r>
              <a:rPr lang="zh-CN" altLang="en-US">
                <a:solidFill>
                  <a:srgbClr val="FF00FF"/>
                </a:solidFill>
                <a:latin typeface="Times New Roman" panose="02020603050405020304" pitchFamily="18" charset="0"/>
              </a:rPr>
              <a:t>台设备分到第</a:t>
            </a:r>
            <a:r>
              <a:rPr lang="en-US" altLang="zh-CN" i="1">
                <a:solidFill>
                  <a:srgbClr val="FF00FF"/>
                </a:solidFill>
                <a:latin typeface="Times New Roman" panose="02020603050405020304" pitchFamily="18" charset="0"/>
              </a:rPr>
              <a:t>k</a:t>
            </a:r>
            <a:r>
              <a:rPr lang="zh-CN" altLang="en-US">
                <a:solidFill>
                  <a:srgbClr val="FF00FF"/>
                </a:solidFill>
                <a:latin typeface="Times New Roman" panose="02020603050405020304" pitchFamily="18" charset="0"/>
              </a:rPr>
              <a:t>个工厂所得的盈利值。</a:t>
            </a:r>
            <a:endParaRPr lang="zh-CN" altLang="en-US">
              <a:solidFill>
                <a:srgbClr val="FF00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E553FDA-82EF-41F9-B730-B265DBD14549}"/>
              </a:ext>
            </a:extLst>
          </p:cNvPr>
          <p:cNvSpPr>
            <a:spLocks noGrp="1" noChangeArrowheads="1"/>
          </p:cNvSpPr>
          <p:nvPr>
            <p:ph type="title"/>
          </p:nvPr>
        </p:nvSpPr>
        <p:spPr>
          <a:xfrm>
            <a:off x="414338" y="623888"/>
            <a:ext cx="7343775" cy="1371600"/>
          </a:xfrm>
        </p:spPr>
        <p:txBody>
          <a:bodyPr/>
          <a:lstStyle/>
          <a:p>
            <a:pPr indent="384175" algn="just">
              <a:lnSpc>
                <a:spcPct val="130000"/>
              </a:lnSpc>
            </a:pPr>
            <a:r>
              <a:rPr lang="zh-CN" altLang="en-US" sz="2000" b="0">
                <a:solidFill>
                  <a:srgbClr val="000066"/>
                </a:solidFill>
                <a:latin typeface="Times New Roman" panose="02020603050405020304" pitchFamily="18" charset="0"/>
              </a:rPr>
              <a:t>第二阶段：</a:t>
            </a:r>
            <a:r>
              <a:rPr lang="zh-CN" altLang="en-US" sz="2000">
                <a:solidFill>
                  <a:schemeClr val="tx1"/>
                </a:solidFill>
                <a:latin typeface="Times New Roman" panose="02020603050405020304" pitchFamily="18" charset="0"/>
              </a:rPr>
              <a:t>设将</a:t>
            </a:r>
            <a:r>
              <a:rPr lang="en-US" altLang="zh-CN" sz="2000" i="1">
                <a:solidFill>
                  <a:schemeClr val="tx1"/>
                </a:solidFill>
                <a:latin typeface="Times New Roman" panose="02020603050405020304" pitchFamily="18" charset="0"/>
              </a:rPr>
              <a:t>s</a:t>
            </a:r>
            <a:r>
              <a:rPr lang="en-US" altLang="zh-CN" sz="2000" baseline="-30000">
                <a:solidFill>
                  <a:schemeClr val="tx1"/>
                </a:solidFill>
                <a:latin typeface="Times New Roman" panose="02020603050405020304" pitchFamily="18" charset="0"/>
              </a:rPr>
              <a:t>2</a:t>
            </a:r>
            <a:r>
              <a:rPr lang="zh-CN" altLang="en-US" sz="2000">
                <a:solidFill>
                  <a:schemeClr val="tx1"/>
                </a:solidFill>
                <a:latin typeface="Times New Roman" panose="02020603050405020304" pitchFamily="18" charset="0"/>
              </a:rPr>
              <a:t>台设备（</a:t>
            </a:r>
            <a:r>
              <a:rPr lang="en-US" altLang="zh-CN" sz="2000" i="1">
                <a:solidFill>
                  <a:schemeClr val="tx1"/>
                </a:solidFill>
                <a:latin typeface="Times New Roman" panose="02020603050405020304" pitchFamily="18" charset="0"/>
              </a:rPr>
              <a:t>s</a:t>
            </a:r>
            <a:r>
              <a:rPr lang="en-US" altLang="zh-CN" sz="2000" baseline="-30000">
                <a:solidFill>
                  <a:schemeClr val="tx1"/>
                </a:solidFill>
                <a:latin typeface="Times New Roman" panose="02020603050405020304" pitchFamily="18" charset="0"/>
              </a:rPr>
              <a:t>2</a:t>
            </a:r>
            <a:r>
              <a:rPr lang="zh-CN" altLang="en-US" sz="2000">
                <a:solidFill>
                  <a:schemeClr val="tx1"/>
                </a:solidFill>
                <a:latin typeface="Times New Roman" panose="02020603050405020304" pitchFamily="18" charset="0"/>
              </a:rPr>
              <a:t>＝</a:t>
            </a:r>
            <a:r>
              <a:rPr lang="en-US" altLang="zh-CN" sz="2000">
                <a:solidFill>
                  <a:schemeClr val="tx1"/>
                </a:solidFill>
                <a:latin typeface="Times New Roman" panose="02020603050405020304" pitchFamily="18" charset="0"/>
              </a:rPr>
              <a:t>0,1,2,3,4,5</a:t>
            </a:r>
            <a:r>
              <a:rPr lang="zh-CN" altLang="en-US" sz="2000">
                <a:solidFill>
                  <a:schemeClr val="tx1"/>
                </a:solidFill>
                <a:latin typeface="Times New Roman" panose="02020603050405020304" pitchFamily="18" charset="0"/>
              </a:rPr>
              <a:t>）分配给乙厂和丙厂时，对每一个</a:t>
            </a:r>
            <a:r>
              <a:rPr lang="en-US" altLang="zh-CN" sz="2000" i="1">
                <a:solidFill>
                  <a:schemeClr val="tx1"/>
                </a:solidFill>
                <a:latin typeface="Times New Roman" panose="02020603050405020304" pitchFamily="18" charset="0"/>
              </a:rPr>
              <a:t>s</a:t>
            </a:r>
            <a:r>
              <a:rPr lang="en-US" altLang="zh-CN" sz="2000" baseline="-30000">
                <a:solidFill>
                  <a:schemeClr val="tx1"/>
                </a:solidFill>
                <a:latin typeface="Times New Roman" panose="02020603050405020304" pitchFamily="18" charset="0"/>
              </a:rPr>
              <a:t>2</a:t>
            </a:r>
            <a:r>
              <a:rPr lang="zh-CN" altLang="en-US" sz="2000">
                <a:solidFill>
                  <a:schemeClr val="tx1"/>
                </a:solidFill>
                <a:latin typeface="Times New Roman" panose="02020603050405020304" pitchFamily="18" charset="0"/>
              </a:rPr>
              <a:t>值，都有一种最优分配方案，使得最大盈利值为：</a:t>
            </a:r>
            <a:r>
              <a:rPr lang="en-US" altLang="zh-CN" sz="2000">
                <a:solidFill>
                  <a:schemeClr val="tx1"/>
                </a:solidFill>
                <a:latin typeface="Times New Roman" panose="02020603050405020304" pitchFamily="18" charset="0"/>
              </a:rPr>
              <a:t>f</a:t>
            </a:r>
            <a:r>
              <a:rPr lang="en-US" altLang="zh-CN" sz="2000" baseline="-30000">
                <a:solidFill>
                  <a:schemeClr val="tx1"/>
                </a:solidFill>
                <a:latin typeface="Times New Roman" panose="02020603050405020304" pitchFamily="18" charset="0"/>
              </a:rPr>
              <a:t>2</a:t>
            </a:r>
            <a:r>
              <a:rPr lang="en-US" altLang="zh-CN" sz="2000">
                <a:solidFill>
                  <a:schemeClr val="tx1"/>
                </a:solidFill>
                <a:latin typeface="Times New Roman" panose="02020603050405020304" pitchFamily="18" charset="0"/>
              </a:rPr>
              <a:t>(</a:t>
            </a:r>
            <a:r>
              <a:rPr lang="en-US" altLang="zh-CN" sz="2000" i="1">
                <a:solidFill>
                  <a:schemeClr val="tx1"/>
                </a:solidFill>
                <a:latin typeface="Times New Roman" panose="02020603050405020304" pitchFamily="18" charset="0"/>
              </a:rPr>
              <a:t>s</a:t>
            </a:r>
            <a:r>
              <a:rPr lang="en-US" altLang="zh-CN" sz="2000" baseline="-30000">
                <a:solidFill>
                  <a:schemeClr val="tx1"/>
                </a:solidFill>
                <a:latin typeface="Times New Roman" panose="02020603050405020304" pitchFamily="18" charset="0"/>
              </a:rPr>
              <a:t>2</a:t>
            </a:r>
            <a:r>
              <a:rPr lang="en-US" altLang="zh-CN" sz="2000">
                <a:solidFill>
                  <a:schemeClr val="tx1"/>
                </a:solidFill>
                <a:latin typeface="Times New Roman" panose="02020603050405020304" pitchFamily="18" charset="0"/>
              </a:rPr>
              <a:t>)</a:t>
            </a:r>
            <a:r>
              <a:rPr lang="zh-CN" altLang="en-US" sz="2000">
                <a:solidFill>
                  <a:schemeClr val="tx1"/>
                </a:solidFill>
                <a:latin typeface="Times New Roman" panose="02020603050405020304" pitchFamily="18" charset="0"/>
              </a:rPr>
              <a:t>＝</a:t>
            </a:r>
            <a:r>
              <a:rPr lang="en-US" altLang="zh-CN" sz="2000">
                <a:solidFill>
                  <a:schemeClr val="tx1"/>
                </a:solidFill>
                <a:latin typeface="Times New Roman" panose="02020603050405020304" pitchFamily="18" charset="0"/>
              </a:rPr>
              <a:t>max[ P</a:t>
            </a:r>
            <a:r>
              <a:rPr lang="en-US" altLang="zh-CN" sz="2000" baseline="-30000">
                <a:solidFill>
                  <a:schemeClr val="tx1"/>
                </a:solidFill>
                <a:latin typeface="Times New Roman" panose="02020603050405020304" pitchFamily="18" charset="0"/>
              </a:rPr>
              <a:t>2</a:t>
            </a:r>
            <a:r>
              <a:rPr lang="en-US" altLang="zh-CN" sz="2000">
                <a:solidFill>
                  <a:schemeClr val="tx1"/>
                </a:solidFill>
                <a:latin typeface="Times New Roman" panose="02020603050405020304" pitchFamily="18" charset="0"/>
              </a:rPr>
              <a:t>(</a:t>
            </a:r>
            <a:r>
              <a:rPr lang="en-US" altLang="zh-CN" sz="2000" i="1">
                <a:solidFill>
                  <a:schemeClr val="tx1"/>
                </a:solidFill>
                <a:latin typeface="Times New Roman" panose="02020603050405020304" pitchFamily="18" charset="0"/>
              </a:rPr>
              <a:t>x</a:t>
            </a:r>
            <a:r>
              <a:rPr lang="en-US" altLang="zh-CN" sz="2000" baseline="-30000">
                <a:solidFill>
                  <a:schemeClr val="tx1"/>
                </a:solidFill>
                <a:latin typeface="Times New Roman" panose="02020603050405020304" pitchFamily="18" charset="0"/>
              </a:rPr>
              <a:t>2</a:t>
            </a:r>
            <a:r>
              <a:rPr lang="en-US" altLang="zh-CN" sz="2000">
                <a:solidFill>
                  <a:schemeClr val="tx1"/>
                </a:solidFill>
                <a:latin typeface="Times New Roman" panose="02020603050405020304" pitchFamily="18" charset="0"/>
              </a:rPr>
              <a:t>)+ f</a:t>
            </a:r>
            <a:r>
              <a:rPr lang="en-US" altLang="zh-CN" sz="2000" baseline="-30000">
                <a:solidFill>
                  <a:schemeClr val="tx1"/>
                </a:solidFill>
                <a:latin typeface="Times New Roman" panose="02020603050405020304" pitchFamily="18" charset="0"/>
              </a:rPr>
              <a:t>3</a:t>
            </a:r>
            <a:r>
              <a:rPr lang="en-US" altLang="zh-CN" sz="2000">
                <a:solidFill>
                  <a:schemeClr val="tx1"/>
                </a:solidFill>
                <a:latin typeface="Times New Roman" panose="02020603050405020304" pitchFamily="18" charset="0"/>
              </a:rPr>
              <a:t>(</a:t>
            </a:r>
            <a:r>
              <a:rPr lang="en-US" altLang="zh-CN" sz="2000" i="1">
                <a:solidFill>
                  <a:schemeClr val="tx1"/>
                </a:solidFill>
                <a:latin typeface="Times New Roman" panose="02020603050405020304" pitchFamily="18" charset="0"/>
              </a:rPr>
              <a:t>s</a:t>
            </a:r>
            <a:r>
              <a:rPr lang="en-US" altLang="zh-CN" sz="2000" baseline="-30000">
                <a:solidFill>
                  <a:schemeClr val="tx1"/>
                </a:solidFill>
                <a:latin typeface="Times New Roman" panose="02020603050405020304" pitchFamily="18" charset="0"/>
              </a:rPr>
              <a:t>2</a:t>
            </a:r>
            <a:r>
              <a:rPr lang="zh-CN" altLang="en-US" sz="2000">
                <a:solidFill>
                  <a:schemeClr val="tx1"/>
                </a:solidFill>
                <a:latin typeface="Times New Roman" panose="02020603050405020304" pitchFamily="18" charset="0"/>
              </a:rPr>
              <a:t>－</a:t>
            </a:r>
            <a:r>
              <a:rPr lang="en-US" altLang="zh-CN" sz="2000" i="1">
                <a:solidFill>
                  <a:schemeClr val="tx1"/>
                </a:solidFill>
                <a:latin typeface="Times New Roman" panose="02020603050405020304" pitchFamily="18" charset="0"/>
              </a:rPr>
              <a:t>x</a:t>
            </a:r>
            <a:r>
              <a:rPr lang="en-US" altLang="zh-CN" sz="2000" baseline="-30000">
                <a:solidFill>
                  <a:schemeClr val="tx1"/>
                </a:solidFill>
                <a:latin typeface="Times New Roman" panose="02020603050405020304" pitchFamily="18" charset="0"/>
              </a:rPr>
              <a:t>2</a:t>
            </a:r>
            <a:r>
              <a:rPr lang="en-US" altLang="zh-CN" sz="2000">
                <a:solidFill>
                  <a:schemeClr val="tx1"/>
                </a:solidFill>
                <a:latin typeface="Times New Roman" panose="02020603050405020304" pitchFamily="18" charset="0"/>
              </a:rPr>
              <a:t>) ] </a:t>
            </a:r>
            <a:r>
              <a:rPr lang="zh-CN" altLang="en-US" sz="2000">
                <a:solidFill>
                  <a:schemeClr val="tx1"/>
                </a:solidFill>
                <a:latin typeface="Times New Roman" panose="02020603050405020304" pitchFamily="18" charset="0"/>
              </a:rPr>
              <a:t>，</a:t>
            </a:r>
            <a:r>
              <a:rPr lang="en-US" altLang="zh-CN" sz="2000" i="1">
                <a:solidFill>
                  <a:schemeClr val="tx1"/>
                </a:solidFill>
                <a:latin typeface="Times New Roman" panose="02020603050405020304" pitchFamily="18" charset="0"/>
              </a:rPr>
              <a:t>x</a:t>
            </a:r>
            <a:r>
              <a:rPr lang="en-US" altLang="zh-CN" sz="2000" baseline="-30000">
                <a:solidFill>
                  <a:schemeClr val="tx1"/>
                </a:solidFill>
                <a:latin typeface="Times New Roman" panose="02020603050405020304" pitchFamily="18" charset="0"/>
              </a:rPr>
              <a:t>2</a:t>
            </a:r>
            <a:r>
              <a:rPr lang="zh-CN" altLang="en-US" sz="2000">
                <a:solidFill>
                  <a:schemeClr val="tx1"/>
                </a:solidFill>
                <a:latin typeface="Times New Roman" panose="02020603050405020304" pitchFamily="18" charset="0"/>
              </a:rPr>
              <a:t>＝</a:t>
            </a:r>
            <a:r>
              <a:rPr lang="en-US" altLang="zh-CN" sz="2000">
                <a:solidFill>
                  <a:schemeClr val="tx1"/>
                </a:solidFill>
                <a:latin typeface="Times New Roman" panose="02020603050405020304" pitchFamily="18" charset="0"/>
              </a:rPr>
              <a:t>0,1,2,3,4,5</a:t>
            </a:r>
            <a:endParaRPr lang="en-US" altLang="zh-CN" sz="2400" b="0">
              <a:solidFill>
                <a:schemeClr val="tx1"/>
              </a:solidFill>
              <a:latin typeface="Times New Roman" panose="02020603050405020304" pitchFamily="18" charset="0"/>
            </a:endParaRPr>
          </a:p>
        </p:txBody>
      </p:sp>
      <p:graphicFrame>
        <p:nvGraphicFramePr>
          <p:cNvPr id="712823" name="Group 119">
            <a:extLst>
              <a:ext uri="{FF2B5EF4-FFF2-40B4-BE49-F238E27FC236}">
                <a16:creationId xmlns:a16="http://schemas.microsoft.com/office/drawing/2014/main" id="{C18DDEE4-BB83-41D7-8CF2-330273C222D8}"/>
              </a:ext>
            </a:extLst>
          </p:cNvPr>
          <p:cNvGraphicFramePr>
            <a:graphicFrameLocks noGrp="1"/>
          </p:cNvGraphicFramePr>
          <p:nvPr>
            <p:ph type="tbl" idx="1"/>
            <p:extLst>
              <p:ext uri="{D42A27DB-BD31-4B8C-83A1-F6EECF244321}">
                <p14:modId xmlns:p14="http://schemas.microsoft.com/office/powerpoint/2010/main" val="943356419"/>
              </p:ext>
            </p:extLst>
          </p:nvPr>
        </p:nvGraphicFramePr>
        <p:xfrm>
          <a:off x="511175" y="2282825"/>
          <a:ext cx="8232775" cy="4094163"/>
        </p:xfrm>
        <a:graphic>
          <a:graphicData uri="http://schemas.openxmlformats.org/drawingml/2006/table">
            <a:tbl>
              <a:tblPr/>
              <a:tblGrid>
                <a:gridCol w="685800">
                  <a:extLst>
                    <a:ext uri="{9D8B030D-6E8A-4147-A177-3AD203B41FA5}">
                      <a16:colId xmlns:a16="http://schemas.microsoft.com/office/drawing/2014/main" val="20000"/>
                    </a:ext>
                  </a:extLst>
                </a:gridCol>
                <a:gridCol w="946150">
                  <a:extLst>
                    <a:ext uri="{9D8B030D-6E8A-4147-A177-3AD203B41FA5}">
                      <a16:colId xmlns:a16="http://schemas.microsoft.com/office/drawing/2014/main" val="20001"/>
                    </a:ext>
                  </a:extLst>
                </a:gridCol>
                <a:gridCol w="946150">
                  <a:extLst>
                    <a:ext uri="{9D8B030D-6E8A-4147-A177-3AD203B41FA5}">
                      <a16:colId xmlns:a16="http://schemas.microsoft.com/office/drawing/2014/main" val="20002"/>
                    </a:ext>
                  </a:extLst>
                </a:gridCol>
                <a:gridCol w="1098550">
                  <a:extLst>
                    <a:ext uri="{9D8B030D-6E8A-4147-A177-3AD203B41FA5}">
                      <a16:colId xmlns:a16="http://schemas.microsoft.com/office/drawing/2014/main" val="20003"/>
                    </a:ext>
                  </a:extLst>
                </a:gridCol>
                <a:gridCol w="1025525">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gridCol w="987425">
                  <a:extLst>
                    <a:ext uri="{9D8B030D-6E8A-4147-A177-3AD203B41FA5}">
                      <a16:colId xmlns:a16="http://schemas.microsoft.com/office/drawing/2014/main" val="20006"/>
                    </a:ext>
                  </a:extLst>
                </a:gridCol>
                <a:gridCol w="912813">
                  <a:extLst>
                    <a:ext uri="{9D8B030D-6E8A-4147-A177-3AD203B41FA5}">
                      <a16:colId xmlns:a16="http://schemas.microsoft.com/office/drawing/2014/main" val="20007"/>
                    </a:ext>
                  </a:extLst>
                </a:gridCol>
                <a:gridCol w="639762">
                  <a:extLst>
                    <a:ext uri="{9D8B030D-6E8A-4147-A177-3AD203B41FA5}">
                      <a16:colId xmlns:a16="http://schemas.microsoft.com/office/drawing/2014/main" val="20008"/>
                    </a:ext>
                  </a:extLst>
                </a:gridCol>
              </a:tblGrid>
              <a:tr h="514350">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cap="none" normalizeH="0" baseline="0" dirty="0">
                          <a:ln>
                            <a:noFill/>
                          </a:ln>
                          <a:solidFill>
                            <a:srgbClr val="376546"/>
                          </a:solidFill>
                          <a:effectLst/>
                          <a:latin typeface="Times New Roman" panose="02020603050405020304" pitchFamily="18" charset="0"/>
                          <a:ea typeface="楷体_GB2312" pitchFamily="49" charset="-122"/>
                        </a:rPr>
                        <a:t>x</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2</a:t>
                      </a:r>
                      <a:endPar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kern="1200" cap="none" normalizeH="0" baseline="0" dirty="0">
                          <a:ln>
                            <a:noFill/>
                          </a:ln>
                          <a:solidFill>
                            <a:srgbClr val="376546"/>
                          </a:solidFill>
                          <a:effectLst/>
                          <a:latin typeface="Times New Roman" panose="02020603050405020304" pitchFamily="18" charset="0"/>
                          <a:ea typeface="楷体_GB2312" pitchFamily="49" charset="-122"/>
                          <a:cs typeface="+mn-cs"/>
                        </a:rPr>
                        <a:t>s</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2</a:t>
                      </a:r>
                      <a:endPar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endParaRPr>
                    </a:p>
                  </a:txBody>
                  <a:tcPr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gridSpan="6">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P</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0" i="1" u="none" strike="noStrike" cap="none" normalizeH="0" baseline="0">
                          <a:ln>
                            <a:noFill/>
                          </a:ln>
                          <a:solidFill>
                            <a:srgbClr val="FF0000"/>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zh-CN" altLang="en-US"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f</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3</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0" i="1" u="none" strike="noStrike" cap="none" normalizeH="0" baseline="0">
                          <a:ln>
                            <a:noFill/>
                          </a:ln>
                          <a:solidFill>
                            <a:srgbClr val="FF0000"/>
                          </a:solidFill>
                          <a:effectLst/>
                          <a:latin typeface="Times New Roman" panose="02020603050405020304" pitchFamily="18" charset="0"/>
                          <a:ea typeface="楷体_GB2312" pitchFamily="49" charset="-122"/>
                        </a:rPr>
                        <a:t>s</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2</a:t>
                      </a:r>
                      <a:r>
                        <a:rPr kumimoji="0" lang="zh-CN" altLang="en-US"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0" i="1" u="none" strike="noStrike" cap="none" normalizeH="0" baseline="0">
                          <a:ln>
                            <a:noFill/>
                          </a:ln>
                          <a:solidFill>
                            <a:srgbClr val="FF0000"/>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FF0000"/>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f</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2</a:t>
                      </a: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a:t>
                      </a:r>
                      <a:r>
                        <a:rPr kumimoji="0" lang="en-US" altLang="zh-CN" sz="2400" b="0" i="1" u="none" strike="noStrike" kern="1200" cap="none" normalizeH="0" baseline="0" dirty="0">
                          <a:ln>
                            <a:noFill/>
                          </a:ln>
                          <a:solidFill>
                            <a:srgbClr val="376546"/>
                          </a:solidFill>
                          <a:effectLst/>
                          <a:latin typeface="Times New Roman" panose="02020603050405020304" pitchFamily="18" charset="0"/>
                          <a:ea typeface="楷体_GB2312" pitchFamily="49" charset="-122"/>
                          <a:cs typeface="+mn-cs"/>
                        </a:rPr>
                        <a:t>s</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2</a:t>
                      </a: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cap="none" normalizeH="0" baseline="0">
                          <a:ln>
                            <a:noFill/>
                          </a:ln>
                          <a:solidFill>
                            <a:srgbClr val="37654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376546"/>
                          </a:solidFill>
                          <a:effectLst/>
                          <a:latin typeface="Times New Roman" panose="02020603050405020304" pitchFamily="18" charset="0"/>
                          <a:ea typeface="楷体_GB2312" pitchFamily="49" charset="-122"/>
                        </a:rPr>
                        <a:t>2</a:t>
                      </a:r>
                      <a:r>
                        <a:rPr kumimoji="0" lang="en-US" altLang="zh-CN" sz="2400" b="1" i="0" u="none" strike="noStrike" cap="none" normalizeH="0" baseline="3000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4350">
                <a:tc vMerge="1">
                  <a:txBody>
                    <a:bodyPr/>
                    <a:lstStyle/>
                    <a:p>
                      <a:endParaRPr lang="zh-CN" altLang="en-US"/>
                    </a:p>
                  </a:txBody>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0</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0+0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1</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5</a:t>
                      </a:r>
                      <a:r>
                        <a:rPr kumimoji="0" lang="zh-CN" altLang="en-US" sz="2400" b="0" i="0" u="none" strike="noStrike" cap="none" normalizeH="0" baseline="0" dirty="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1</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2</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371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3</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14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4</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16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5</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11</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21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2</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4358" name="矩形 4">
            <a:extLst>
              <a:ext uri="{FF2B5EF4-FFF2-40B4-BE49-F238E27FC236}">
                <a16:creationId xmlns:a16="http://schemas.microsoft.com/office/drawing/2014/main" id="{E0315045-3743-4638-BF85-B73218A37271}"/>
              </a:ext>
            </a:extLst>
          </p:cNvPr>
          <p:cNvSpPr>
            <a:spLocks noChangeArrowheads="1"/>
          </p:cNvSpPr>
          <p:nvPr/>
        </p:nvSpPr>
        <p:spPr bwMode="auto">
          <a:xfrm>
            <a:off x="4211638" y="1931988"/>
            <a:ext cx="99218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latin typeface="Times New Roman" panose="02020603050405020304" pitchFamily="18" charset="0"/>
              </a:rPr>
              <a:t>表</a:t>
            </a:r>
            <a:r>
              <a:rPr lang="en-US" altLang="zh-CN">
                <a:latin typeface="Times New Roman" panose="02020603050405020304" pitchFamily="18" charset="0"/>
              </a:rPr>
              <a:t>10</a:t>
            </a:r>
            <a:r>
              <a:rPr lang="zh-CN" altLang="en-US">
                <a:latin typeface="Times New Roman" panose="02020603050405020304" pitchFamily="18" charset="0"/>
              </a:rPr>
              <a:t>－</a:t>
            </a:r>
            <a:r>
              <a:rPr lang="en-US" altLang="zh-CN">
                <a:latin typeface="Times New Roman" panose="02020603050405020304" pitchFamily="18" charset="0"/>
              </a:rPr>
              <a:t>3</a:t>
            </a:r>
            <a:endParaRPr lang="zh-CN" altLang="en-US"/>
          </a:p>
        </p:txBody>
      </p:sp>
      <p:sp>
        <p:nvSpPr>
          <p:cNvPr id="6" name="矩形 5">
            <a:extLst>
              <a:ext uri="{FF2B5EF4-FFF2-40B4-BE49-F238E27FC236}">
                <a16:creationId xmlns:a16="http://schemas.microsoft.com/office/drawing/2014/main" id="{F697286F-80FF-4C95-BE42-0AA7544D535F}"/>
              </a:ext>
            </a:extLst>
          </p:cNvPr>
          <p:cNvSpPr>
            <a:spLocks noChangeArrowheads="1"/>
          </p:cNvSpPr>
          <p:nvPr/>
        </p:nvSpPr>
        <p:spPr bwMode="auto">
          <a:xfrm>
            <a:off x="1290638" y="3743325"/>
            <a:ext cx="83343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solidFill>
                  <a:srgbClr val="FF00FF"/>
                </a:solidFill>
                <a:latin typeface="Times New Roman" panose="02020603050405020304" pitchFamily="18" charset="0"/>
              </a:rPr>
              <a:t>P</a:t>
            </a:r>
            <a:r>
              <a:rPr lang="en-US" altLang="zh-CN" sz="1100" baseline="-30000">
                <a:solidFill>
                  <a:srgbClr val="FF00FF"/>
                </a:solidFill>
                <a:latin typeface="Times New Roman" panose="02020603050405020304" pitchFamily="18" charset="0"/>
              </a:rPr>
              <a:t>2</a:t>
            </a:r>
            <a:r>
              <a:rPr lang="en-US" altLang="zh-CN" sz="1100">
                <a:solidFill>
                  <a:srgbClr val="FF00FF"/>
                </a:solidFill>
                <a:latin typeface="Times New Roman" panose="02020603050405020304" pitchFamily="18" charset="0"/>
              </a:rPr>
              <a:t>(0)+f</a:t>
            </a:r>
            <a:r>
              <a:rPr lang="en-US" altLang="zh-CN" sz="1100" baseline="-25000">
                <a:solidFill>
                  <a:srgbClr val="FF00FF"/>
                </a:solidFill>
                <a:latin typeface="Times New Roman" panose="02020603050405020304" pitchFamily="18" charset="0"/>
              </a:rPr>
              <a:t>3</a:t>
            </a:r>
            <a:r>
              <a:rPr lang="en-US" altLang="zh-CN" sz="1100">
                <a:solidFill>
                  <a:srgbClr val="FF00FF"/>
                </a:solidFill>
                <a:latin typeface="Times New Roman" panose="02020603050405020304" pitchFamily="18" charset="0"/>
              </a:rPr>
              <a:t>(1)</a:t>
            </a:r>
            <a:endParaRPr lang="zh-CN" altLang="en-US" sz="1100">
              <a:solidFill>
                <a:srgbClr val="FF00FF"/>
              </a:solidFill>
            </a:endParaRPr>
          </a:p>
        </p:txBody>
      </p:sp>
      <p:sp>
        <p:nvSpPr>
          <p:cNvPr id="7" name="矩形 6">
            <a:extLst>
              <a:ext uri="{FF2B5EF4-FFF2-40B4-BE49-F238E27FC236}">
                <a16:creationId xmlns:a16="http://schemas.microsoft.com/office/drawing/2014/main" id="{32D914A1-369E-4BCB-9E45-CFBD8E4E98FE}"/>
              </a:ext>
            </a:extLst>
          </p:cNvPr>
          <p:cNvSpPr>
            <a:spLocks noChangeArrowheads="1"/>
          </p:cNvSpPr>
          <p:nvPr/>
        </p:nvSpPr>
        <p:spPr bwMode="auto">
          <a:xfrm>
            <a:off x="2195513" y="3743325"/>
            <a:ext cx="809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solidFill>
                  <a:srgbClr val="FF00FF"/>
                </a:solidFill>
                <a:latin typeface="Times New Roman" panose="02020603050405020304" pitchFamily="18" charset="0"/>
              </a:rPr>
              <a:t>P</a:t>
            </a:r>
            <a:r>
              <a:rPr lang="en-US" altLang="zh-CN" sz="1100" baseline="-30000">
                <a:solidFill>
                  <a:srgbClr val="FF00FF"/>
                </a:solidFill>
                <a:latin typeface="Times New Roman" panose="02020603050405020304" pitchFamily="18" charset="0"/>
              </a:rPr>
              <a:t>2</a:t>
            </a:r>
            <a:r>
              <a:rPr lang="en-US" altLang="zh-CN" sz="1100">
                <a:solidFill>
                  <a:srgbClr val="FF00FF"/>
                </a:solidFill>
                <a:latin typeface="Times New Roman" panose="02020603050405020304" pitchFamily="18" charset="0"/>
              </a:rPr>
              <a:t>(1)+f</a:t>
            </a:r>
            <a:r>
              <a:rPr lang="en-US" altLang="zh-CN" sz="1100" baseline="-25000">
                <a:solidFill>
                  <a:srgbClr val="FF00FF"/>
                </a:solidFill>
                <a:latin typeface="Times New Roman" panose="02020603050405020304" pitchFamily="18" charset="0"/>
              </a:rPr>
              <a:t>3</a:t>
            </a:r>
            <a:r>
              <a:rPr lang="en-US" altLang="zh-CN" sz="1100">
                <a:solidFill>
                  <a:srgbClr val="FF00FF"/>
                </a:solidFill>
                <a:latin typeface="Times New Roman" panose="02020603050405020304" pitchFamily="18" charset="0"/>
              </a:rPr>
              <a:t>(0)</a:t>
            </a:r>
            <a:endParaRPr lang="zh-CN" altLang="en-US" sz="1100">
              <a:solidFill>
                <a:srgbClr val="FF00FF"/>
              </a:solidFill>
            </a:endParaRPr>
          </a:p>
        </p:txBody>
      </p:sp>
      <p:sp>
        <p:nvSpPr>
          <p:cNvPr id="8" name="矩形 7">
            <a:extLst>
              <a:ext uri="{FF2B5EF4-FFF2-40B4-BE49-F238E27FC236}">
                <a16:creationId xmlns:a16="http://schemas.microsoft.com/office/drawing/2014/main" id="{EE13B0D3-9B72-4102-B0EA-BDF5FF9ED364}"/>
              </a:ext>
            </a:extLst>
          </p:cNvPr>
          <p:cNvSpPr>
            <a:spLocks noChangeArrowheads="1"/>
          </p:cNvSpPr>
          <p:nvPr/>
        </p:nvSpPr>
        <p:spPr bwMode="auto">
          <a:xfrm>
            <a:off x="1290638" y="4292600"/>
            <a:ext cx="809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solidFill>
                  <a:srgbClr val="FF00FF"/>
                </a:solidFill>
                <a:latin typeface="Times New Roman" panose="02020603050405020304" pitchFamily="18" charset="0"/>
              </a:rPr>
              <a:t>P</a:t>
            </a:r>
            <a:r>
              <a:rPr lang="en-US" altLang="zh-CN" sz="1100" baseline="-30000">
                <a:solidFill>
                  <a:srgbClr val="FF00FF"/>
                </a:solidFill>
                <a:latin typeface="Times New Roman" panose="02020603050405020304" pitchFamily="18" charset="0"/>
              </a:rPr>
              <a:t>2</a:t>
            </a:r>
            <a:r>
              <a:rPr lang="en-US" altLang="zh-CN" sz="1100">
                <a:solidFill>
                  <a:srgbClr val="FF00FF"/>
                </a:solidFill>
                <a:latin typeface="Times New Roman" panose="02020603050405020304" pitchFamily="18" charset="0"/>
              </a:rPr>
              <a:t>(0)+f</a:t>
            </a:r>
            <a:r>
              <a:rPr lang="en-US" altLang="zh-CN" sz="1100" baseline="-25000">
                <a:solidFill>
                  <a:srgbClr val="FF00FF"/>
                </a:solidFill>
                <a:latin typeface="Times New Roman" panose="02020603050405020304" pitchFamily="18" charset="0"/>
              </a:rPr>
              <a:t>3</a:t>
            </a:r>
            <a:r>
              <a:rPr lang="en-US" altLang="zh-CN" sz="1100">
                <a:solidFill>
                  <a:srgbClr val="FF00FF"/>
                </a:solidFill>
                <a:latin typeface="Times New Roman" panose="02020603050405020304" pitchFamily="18" charset="0"/>
              </a:rPr>
              <a:t>(2)</a:t>
            </a:r>
            <a:endParaRPr lang="zh-CN" altLang="en-US" sz="1100">
              <a:solidFill>
                <a:srgbClr val="FF00FF"/>
              </a:solidFill>
            </a:endParaRPr>
          </a:p>
        </p:txBody>
      </p:sp>
      <p:sp>
        <p:nvSpPr>
          <p:cNvPr id="9" name="矩形 8">
            <a:extLst>
              <a:ext uri="{FF2B5EF4-FFF2-40B4-BE49-F238E27FC236}">
                <a16:creationId xmlns:a16="http://schemas.microsoft.com/office/drawing/2014/main" id="{A5DEF208-6AB2-480D-8611-60BEF500F1C2}"/>
              </a:ext>
            </a:extLst>
          </p:cNvPr>
          <p:cNvSpPr>
            <a:spLocks noChangeArrowheads="1"/>
          </p:cNvSpPr>
          <p:nvPr/>
        </p:nvSpPr>
        <p:spPr bwMode="auto">
          <a:xfrm>
            <a:off x="2225675" y="4292600"/>
            <a:ext cx="809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solidFill>
                  <a:srgbClr val="FF00FF"/>
                </a:solidFill>
                <a:latin typeface="Times New Roman" panose="02020603050405020304" pitchFamily="18" charset="0"/>
              </a:rPr>
              <a:t>P</a:t>
            </a:r>
            <a:r>
              <a:rPr lang="en-US" altLang="zh-CN" sz="1100" baseline="-30000">
                <a:solidFill>
                  <a:srgbClr val="FF00FF"/>
                </a:solidFill>
                <a:latin typeface="Times New Roman" panose="02020603050405020304" pitchFamily="18" charset="0"/>
              </a:rPr>
              <a:t>2</a:t>
            </a:r>
            <a:r>
              <a:rPr lang="en-US" altLang="zh-CN" sz="1100">
                <a:solidFill>
                  <a:srgbClr val="FF00FF"/>
                </a:solidFill>
                <a:latin typeface="Times New Roman" panose="02020603050405020304" pitchFamily="18" charset="0"/>
              </a:rPr>
              <a:t>(1)+f</a:t>
            </a:r>
            <a:r>
              <a:rPr lang="en-US" altLang="zh-CN" sz="1100" baseline="-25000">
                <a:solidFill>
                  <a:srgbClr val="FF00FF"/>
                </a:solidFill>
                <a:latin typeface="Times New Roman" panose="02020603050405020304" pitchFamily="18" charset="0"/>
              </a:rPr>
              <a:t>3</a:t>
            </a:r>
            <a:r>
              <a:rPr lang="en-US" altLang="zh-CN" sz="1100">
                <a:solidFill>
                  <a:srgbClr val="FF00FF"/>
                </a:solidFill>
                <a:latin typeface="Times New Roman" panose="02020603050405020304" pitchFamily="18" charset="0"/>
              </a:rPr>
              <a:t>(1)</a:t>
            </a:r>
            <a:endParaRPr lang="zh-CN" altLang="en-US" sz="1100">
              <a:solidFill>
                <a:srgbClr val="FF00FF"/>
              </a:solidFill>
            </a:endParaRPr>
          </a:p>
        </p:txBody>
      </p:sp>
      <p:sp>
        <p:nvSpPr>
          <p:cNvPr id="10" name="矩形 9">
            <a:extLst>
              <a:ext uri="{FF2B5EF4-FFF2-40B4-BE49-F238E27FC236}">
                <a16:creationId xmlns:a16="http://schemas.microsoft.com/office/drawing/2014/main" id="{069DF4BC-9900-4822-BE45-48C84A1073F7}"/>
              </a:ext>
            </a:extLst>
          </p:cNvPr>
          <p:cNvSpPr>
            <a:spLocks noChangeArrowheads="1"/>
          </p:cNvSpPr>
          <p:nvPr/>
        </p:nvSpPr>
        <p:spPr bwMode="auto">
          <a:xfrm>
            <a:off x="3276600" y="4292600"/>
            <a:ext cx="809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solidFill>
                  <a:srgbClr val="FF00FF"/>
                </a:solidFill>
                <a:latin typeface="Times New Roman" panose="02020603050405020304" pitchFamily="18" charset="0"/>
              </a:rPr>
              <a:t>P</a:t>
            </a:r>
            <a:r>
              <a:rPr lang="en-US" altLang="zh-CN" sz="1100" baseline="-30000">
                <a:solidFill>
                  <a:srgbClr val="FF00FF"/>
                </a:solidFill>
                <a:latin typeface="Times New Roman" panose="02020603050405020304" pitchFamily="18" charset="0"/>
              </a:rPr>
              <a:t>2</a:t>
            </a:r>
            <a:r>
              <a:rPr lang="en-US" altLang="zh-CN" sz="1100">
                <a:solidFill>
                  <a:srgbClr val="FF00FF"/>
                </a:solidFill>
                <a:latin typeface="Times New Roman" panose="02020603050405020304" pitchFamily="18" charset="0"/>
              </a:rPr>
              <a:t>(2)+f</a:t>
            </a:r>
            <a:r>
              <a:rPr lang="en-US" altLang="zh-CN" sz="1100" baseline="-25000">
                <a:solidFill>
                  <a:srgbClr val="FF00FF"/>
                </a:solidFill>
                <a:latin typeface="Times New Roman" panose="02020603050405020304" pitchFamily="18" charset="0"/>
              </a:rPr>
              <a:t>3</a:t>
            </a:r>
            <a:r>
              <a:rPr lang="en-US" altLang="zh-CN" sz="1100">
                <a:solidFill>
                  <a:srgbClr val="FF00FF"/>
                </a:solidFill>
                <a:latin typeface="Times New Roman" panose="02020603050405020304" pitchFamily="18" charset="0"/>
              </a:rPr>
              <a:t>(0)</a:t>
            </a:r>
            <a:endParaRPr lang="zh-CN" altLang="en-US" sz="1100">
              <a:solidFill>
                <a:srgbClr val="FF00FF"/>
              </a:solidFill>
            </a:endParaRPr>
          </a:p>
        </p:txBody>
      </p:sp>
      <p:sp>
        <p:nvSpPr>
          <p:cNvPr id="54364" name="矩形 10">
            <a:extLst>
              <a:ext uri="{FF2B5EF4-FFF2-40B4-BE49-F238E27FC236}">
                <a16:creationId xmlns:a16="http://schemas.microsoft.com/office/drawing/2014/main" id="{5EBB7EE8-F9EA-4DCF-8160-DFB7D353A4AE}"/>
              </a:ext>
            </a:extLst>
          </p:cNvPr>
          <p:cNvSpPr>
            <a:spLocks noChangeArrowheads="1"/>
          </p:cNvSpPr>
          <p:nvPr/>
        </p:nvSpPr>
        <p:spPr bwMode="auto">
          <a:xfrm>
            <a:off x="1547813" y="244475"/>
            <a:ext cx="5708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FF00FF"/>
                </a:solidFill>
                <a:latin typeface="Times New Roman" panose="02020603050405020304" pitchFamily="18" charset="0"/>
              </a:rPr>
              <a:t>P</a:t>
            </a:r>
            <a:r>
              <a:rPr lang="en-US" altLang="zh-CN" i="1" baseline="-30000">
                <a:solidFill>
                  <a:srgbClr val="FF00FF"/>
                </a:solidFill>
                <a:latin typeface="Times New Roman" panose="02020603050405020304" pitchFamily="18" charset="0"/>
              </a:rPr>
              <a:t>k</a:t>
            </a:r>
            <a:r>
              <a:rPr lang="en-US" altLang="zh-CN">
                <a:solidFill>
                  <a:srgbClr val="FF00FF"/>
                </a:solidFill>
                <a:latin typeface="Times New Roman" panose="02020603050405020304" pitchFamily="18" charset="0"/>
              </a:rPr>
              <a:t>(</a:t>
            </a:r>
            <a:r>
              <a:rPr lang="en-US" altLang="zh-CN" i="1">
                <a:solidFill>
                  <a:srgbClr val="FF00FF"/>
                </a:solidFill>
                <a:latin typeface="Times New Roman" panose="02020603050405020304" pitchFamily="18" charset="0"/>
              </a:rPr>
              <a:t>x</a:t>
            </a:r>
            <a:r>
              <a:rPr lang="en-US" altLang="zh-CN" i="1" baseline="-30000">
                <a:solidFill>
                  <a:srgbClr val="FF00FF"/>
                </a:solidFill>
                <a:latin typeface="Times New Roman" panose="02020603050405020304" pitchFamily="18" charset="0"/>
              </a:rPr>
              <a:t>k</a:t>
            </a:r>
            <a:r>
              <a:rPr lang="en-US" altLang="zh-CN">
                <a:solidFill>
                  <a:srgbClr val="FF00FF"/>
                </a:solidFill>
                <a:latin typeface="Times New Roman" panose="02020603050405020304" pitchFamily="18" charset="0"/>
              </a:rPr>
              <a:t>)</a:t>
            </a:r>
            <a:r>
              <a:rPr lang="zh-CN" altLang="en-US">
                <a:solidFill>
                  <a:srgbClr val="FF00FF"/>
                </a:solidFill>
                <a:latin typeface="Times New Roman" panose="02020603050405020304" pitchFamily="18" charset="0"/>
              </a:rPr>
              <a:t>表示为</a:t>
            </a:r>
            <a:r>
              <a:rPr lang="en-US" altLang="zh-CN" i="1">
                <a:solidFill>
                  <a:srgbClr val="FF00FF"/>
                </a:solidFill>
                <a:latin typeface="Times New Roman" panose="02020603050405020304" pitchFamily="18" charset="0"/>
              </a:rPr>
              <a:t>x</a:t>
            </a:r>
            <a:r>
              <a:rPr lang="en-US" altLang="zh-CN" i="1" baseline="-30000">
                <a:solidFill>
                  <a:srgbClr val="FF00FF"/>
                </a:solidFill>
                <a:latin typeface="Times New Roman" panose="02020603050405020304" pitchFamily="18" charset="0"/>
              </a:rPr>
              <a:t>k</a:t>
            </a:r>
            <a:r>
              <a:rPr lang="zh-CN" altLang="en-US">
                <a:solidFill>
                  <a:srgbClr val="FF00FF"/>
                </a:solidFill>
                <a:latin typeface="Times New Roman" panose="02020603050405020304" pitchFamily="18" charset="0"/>
              </a:rPr>
              <a:t>台设备分到第</a:t>
            </a:r>
            <a:r>
              <a:rPr lang="en-US" altLang="zh-CN" i="1">
                <a:solidFill>
                  <a:srgbClr val="FF00FF"/>
                </a:solidFill>
                <a:latin typeface="Times New Roman" panose="02020603050405020304" pitchFamily="18" charset="0"/>
              </a:rPr>
              <a:t>k</a:t>
            </a:r>
            <a:r>
              <a:rPr lang="zh-CN" altLang="en-US">
                <a:solidFill>
                  <a:srgbClr val="FF00FF"/>
                </a:solidFill>
                <a:latin typeface="Times New Roman" panose="02020603050405020304" pitchFamily="18" charset="0"/>
              </a:rPr>
              <a:t>个工厂所得的盈利值。</a:t>
            </a:r>
            <a:endParaRPr lang="zh-CN" altLang="en-US">
              <a:solidFill>
                <a:srgbClr val="FF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0614F6-0F71-4DA2-BF91-F526745BA98B}"/>
              </a:ext>
            </a:extLst>
          </p:cNvPr>
          <p:cNvSpPr>
            <a:spLocks noGrp="1"/>
          </p:cNvSpPr>
          <p:nvPr>
            <p:ph type="title"/>
          </p:nvPr>
        </p:nvSpPr>
        <p:spPr/>
        <p:txBody>
          <a:bodyPr/>
          <a:lstStyle/>
          <a:p>
            <a:endParaRPr lang="zh-CN" altLang="en-US"/>
          </a:p>
        </p:txBody>
      </p:sp>
      <p:graphicFrame>
        <p:nvGraphicFramePr>
          <p:cNvPr id="4" name="表格占位符 3">
            <a:extLst>
              <a:ext uri="{FF2B5EF4-FFF2-40B4-BE49-F238E27FC236}">
                <a16:creationId xmlns:a16="http://schemas.microsoft.com/office/drawing/2014/main" id="{A2DD0D35-6A12-40D5-B6FA-E9534E0B923F}"/>
              </a:ext>
            </a:extLst>
          </p:cNvPr>
          <p:cNvGraphicFramePr>
            <a:graphicFrameLocks noGrp="1"/>
          </p:cNvGraphicFramePr>
          <p:nvPr>
            <p:ph type="tbl" idx="1"/>
            <p:extLst>
              <p:ext uri="{D42A27DB-BD31-4B8C-83A1-F6EECF244321}">
                <p14:modId xmlns:p14="http://schemas.microsoft.com/office/powerpoint/2010/main" val="974291009"/>
              </p:ext>
            </p:extLst>
          </p:nvPr>
        </p:nvGraphicFramePr>
        <p:xfrm>
          <a:off x="971600" y="1628800"/>
          <a:ext cx="912813" cy="4094163"/>
        </p:xfrm>
        <a:graphic>
          <a:graphicData uri="http://schemas.openxmlformats.org/drawingml/2006/table">
            <a:tbl>
              <a:tblPr/>
              <a:tblGrid>
                <a:gridCol w="912813">
                  <a:extLst>
                    <a:ext uri="{9D8B030D-6E8A-4147-A177-3AD203B41FA5}">
                      <a16:colId xmlns:a16="http://schemas.microsoft.com/office/drawing/2014/main" val="1312670215"/>
                    </a:ext>
                  </a:extLst>
                </a:gridCol>
              </a:tblGrid>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f</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2</a:t>
                      </a: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a:t>
                      </a:r>
                      <a:r>
                        <a:rPr kumimoji="0" lang="en-US" altLang="zh-CN" sz="2400" b="0" i="1" u="none" strike="noStrike" kern="1200" cap="none" normalizeH="0" baseline="0" dirty="0">
                          <a:ln>
                            <a:noFill/>
                          </a:ln>
                          <a:solidFill>
                            <a:srgbClr val="376546"/>
                          </a:solidFill>
                          <a:effectLst/>
                          <a:latin typeface="Times New Roman" panose="02020603050405020304" pitchFamily="18" charset="0"/>
                          <a:ea typeface="楷体_GB2312" pitchFamily="49" charset="-122"/>
                          <a:cs typeface="+mn-cs"/>
                        </a:rPr>
                        <a:t>s</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2</a:t>
                      </a: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 </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29469182"/>
                  </a:ext>
                </a:extLst>
              </a:tr>
              <a:tr h="514350">
                <a:tc>
                  <a:txBody>
                    <a:bodyPr/>
                    <a:lstStyle/>
                    <a:p>
                      <a:endParaRPr lang="zh-CN" alt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50377884"/>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122440684"/>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3295473763"/>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4027277585"/>
                  </a:ext>
                </a:extLst>
              </a:tr>
              <a:tr h="49371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14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2525236119"/>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16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32917549"/>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rPr>
                        <a:t>21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248330059"/>
                  </a:ext>
                </a:extLst>
              </a:tr>
            </a:tbl>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DDC4CB5-824F-4201-B220-165F2C80BEC2}"/>
                  </a:ext>
                </a:extLst>
              </p:cNvPr>
              <p:cNvSpPr/>
              <p:nvPr/>
            </p:nvSpPr>
            <p:spPr>
              <a:xfrm>
                <a:off x="2286000" y="1700808"/>
                <a:ext cx="4158208" cy="1433341"/>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=5</m:t>
                          </m:r>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max</m:t>
                              </m:r>
                            </m:e>
                            <m:lim>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3</m:t>
                                  </m:r>
                                </m:sub>
                              </m:sSub>
                              <m:r>
                                <a:rPr lang="en-US" altLang="zh-CN" i="1">
                                  <a:latin typeface="Cambria Math" panose="02040503050406030204" pitchFamily="18" charset="0"/>
                                </a:rPr>
                                <m:t>∈</m:t>
                              </m:r>
                              <m:r>
                                <a:rPr lang="en-US" altLang="zh-CN" i="1">
                                  <a:latin typeface="Cambria Math" panose="02040503050406030204" pitchFamily="18" charset="0"/>
                                </a:rPr>
                                <m:t>𝐷</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r>
                                <a:rPr lang="en-US" altLang="zh-CN" i="1">
                                  <a:latin typeface="Cambria Math" panose="02040503050406030204" pitchFamily="18" charset="0"/>
                                </a:rPr>
                                <m:t>)</m:t>
                              </m:r>
                            </m:lim>
                          </m:limLow>
                        </m:fName>
                        <m:e>
                          <m:r>
                            <a:rPr lang="en-US" altLang="zh-CN" i="1">
                              <a:latin typeface="Cambria Math" panose="02040503050406030204" pitchFamily="18" charset="0"/>
                            </a:rPr>
                            <m:t>𝑣</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e>
                          </m:d>
                          <m:r>
                            <a:rPr lang="en-US" altLang="zh-CN" i="1">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e>
                      </m:func>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max</m:t>
                              </m:r>
                            </m:e>
                            <m:lim>
                              <m:sSub>
                                <m:sSubPr>
                                  <m:ctrlPr>
                                    <a:rPr lang="en-US" altLang="zh-CN" i="1">
                                      <a:latin typeface="Cambria Math" panose="02040503050406030204" pitchFamily="18" charset="0"/>
                                    </a:rPr>
                                  </m:ctrlPr>
                                </m:sSubPr>
                                <m:e>
                                  <m:r>
                                    <a:rPr lang="en-US" altLang="zh-CN" i="1">
                                      <a:latin typeface="Cambria Math" panose="02040503050406030204" pitchFamily="18" charset="0"/>
                                    </a:rPr>
                                    <m:t>0≤</m:t>
                                  </m:r>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5</m:t>
                              </m:r>
                            </m:lim>
                          </m:limLow>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r>
                            <a:rPr lang="en-US" altLang="zh-CN" i="1">
                              <a:latin typeface="Cambria Math" panose="02040503050406030204" pitchFamily="18" charset="0"/>
                            </a:rPr>
                            <m:t>)</m:t>
                          </m:r>
                        </m:e>
                      </m:func>
                    </m:oMath>
                  </m:oMathPara>
                </a14:m>
                <a:endParaRPr lang="en-US" altLang="zh-CN" dirty="0"/>
              </a:p>
              <a:p>
                <a14:m>
                  <m:oMath xmlns:m="http://schemas.openxmlformats.org/officeDocument/2006/math">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13+0,12+5,9+10,7+14,3+16,0+21</m:t>
                            </m:r>
                          </m:e>
                        </m:d>
                      </m:e>
                    </m:func>
                  </m:oMath>
                </a14:m>
                <a:r>
                  <a:rPr lang="en-US" altLang="zh-CN" dirty="0"/>
                  <a:t>=21</a:t>
                </a:r>
              </a:p>
            </p:txBody>
          </p:sp>
        </mc:Choice>
        <mc:Fallback xmlns="">
          <p:sp>
            <p:nvSpPr>
              <p:cNvPr id="5" name="矩形 4">
                <a:extLst>
                  <a:ext uri="{FF2B5EF4-FFF2-40B4-BE49-F238E27FC236}">
                    <a16:creationId xmlns:a16="http://schemas.microsoft.com/office/drawing/2014/main" id="{0DDC4CB5-824F-4201-B220-165F2C80BEC2}"/>
                  </a:ext>
                </a:extLst>
              </p:cNvPr>
              <p:cNvSpPr>
                <a:spLocks noRot="1" noChangeAspect="1" noMove="1" noResize="1" noEditPoints="1" noAdjustHandles="1" noChangeArrowheads="1" noChangeShapeType="1" noTextEdit="1"/>
              </p:cNvSpPr>
              <p:nvPr/>
            </p:nvSpPr>
            <p:spPr>
              <a:xfrm>
                <a:off x="2286000" y="1700808"/>
                <a:ext cx="4158208" cy="1433341"/>
              </a:xfrm>
              <a:prstGeom prst="rect">
                <a:avLst/>
              </a:prstGeom>
              <a:blipFill>
                <a:blip r:embed="rId2"/>
                <a:stretch>
                  <a:fillRect l="-440" b="-48936"/>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EFF4D568-2CC0-41DE-84FE-B9107B5A1C29}"/>
              </a:ext>
            </a:extLst>
          </p:cNvPr>
          <p:cNvGraphicFramePr>
            <a:graphicFrameLocks noGrp="1"/>
          </p:cNvGraphicFramePr>
          <p:nvPr>
            <p:extLst>
              <p:ext uri="{D42A27DB-BD31-4B8C-83A1-F6EECF244321}">
                <p14:modId xmlns:p14="http://schemas.microsoft.com/office/powerpoint/2010/main" val="729935120"/>
              </p:ext>
            </p:extLst>
          </p:nvPr>
        </p:nvGraphicFramePr>
        <p:xfrm>
          <a:off x="6444208" y="2492896"/>
          <a:ext cx="2582863" cy="2743200"/>
        </p:xfrm>
        <a:graphic>
          <a:graphicData uri="http://schemas.openxmlformats.org/drawingml/2006/table">
            <a:tbl>
              <a:tblPr/>
              <a:tblGrid>
                <a:gridCol w="1638300">
                  <a:extLst>
                    <a:ext uri="{9D8B030D-6E8A-4147-A177-3AD203B41FA5}">
                      <a16:colId xmlns:a16="http://schemas.microsoft.com/office/drawing/2014/main" val="2017565119"/>
                    </a:ext>
                  </a:extLst>
                </a:gridCol>
                <a:gridCol w="944563">
                  <a:extLst>
                    <a:ext uri="{9D8B030D-6E8A-4147-A177-3AD203B41FA5}">
                      <a16:colId xmlns:a16="http://schemas.microsoft.com/office/drawing/2014/main" val="645659450"/>
                    </a:ext>
                  </a:extLst>
                </a:gridCol>
              </a:tblGrid>
              <a:tr h="27781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mn-ea"/>
                          <a:ea typeface="+mn-ea"/>
                        </a:rPr>
                        <a:t> </a:t>
                      </a:r>
                      <a:r>
                        <a:rPr kumimoji="0" lang="en-US" altLang="zh-CN" sz="2000" b="0" i="0" u="none" strike="noStrike" cap="none" normalizeH="0" baseline="0">
                          <a:ln>
                            <a:noFill/>
                          </a:ln>
                          <a:solidFill>
                            <a:srgbClr val="000000"/>
                          </a:solidFill>
                          <a:effectLst/>
                          <a:latin typeface="+mn-ea"/>
                          <a:ea typeface="+mn-ea"/>
                        </a:rPr>
                        <a:t>             </a:t>
                      </a:r>
                      <a:r>
                        <a:rPr kumimoji="0" lang="zh-CN" altLang="zh-CN" sz="2000" b="0" i="0" u="none" strike="noStrike" cap="none" normalizeH="0" baseline="0">
                          <a:ln>
                            <a:noFill/>
                          </a:ln>
                          <a:solidFill>
                            <a:srgbClr val="000000"/>
                          </a:solidFill>
                          <a:effectLst/>
                          <a:latin typeface="+mn-ea"/>
                          <a:ea typeface="+mn-ea"/>
                        </a:rPr>
                        <a:t>工厂</a:t>
                      </a:r>
                    </a:p>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mn-ea"/>
                          <a:ea typeface="+mn-ea"/>
                        </a:rPr>
                        <a:t>设备台数</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mn-ea"/>
                          <a:ea typeface="+mn-ea"/>
                        </a:rPr>
                        <a:t>甲</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68098145"/>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0</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0</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25698754"/>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1</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3</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20872246"/>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2</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7</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1038566"/>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3</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9</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04727571"/>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4</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12</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1074028"/>
                  </a:ext>
                </a:extLst>
              </a:tr>
              <a:tr h="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mn-ea"/>
                          <a:ea typeface="+mn-ea"/>
                        </a:rPr>
                        <a:t>5</a:t>
                      </a:r>
                      <a:endParaRPr kumimoji="0" lang="zh-CN" altLang="zh-CN" sz="2000" b="0" i="0" u="none" strike="noStrike" cap="none" normalizeH="0" baseline="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mn-ea"/>
                          <a:ea typeface="+mn-ea"/>
                        </a:rPr>
                        <a:t>13</a:t>
                      </a:r>
                      <a:endParaRPr kumimoji="0" lang="zh-CN" altLang="zh-CN" sz="2000" b="0" i="0" u="none" strike="noStrike" cap="none" normalizeH="0" baseline="0" dirty="0">
                        <a:ln>
                          <a:noFill/>
                        </a:ln>
                        <a:solidFill>
                          <a:srgbClr val="000000"/>
                        </a:solidFill>
                        <a:effectLst/>
                        <a:latin typeface="+mn-ea"/>
                        <a:ea typeface="+mn-ea"/>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46743446"/>
                  </a:ext>
                </a:extLst>
              </a:tr>
            </a:tbl>
          </a:graphicData>
        </a:graphic>
      </p:graphicFrame>
      <p:graphicFrame>
        <p:nvGraphicFramePr>
          <p:cNvPr id="7" name="表格 6">
            <a:extLst>
              <a:ext uri="{FF2B5EF4-FFF2-40B4-BE49-F238E27FC236}">
                <a16:creationId xmlns:a16="http://schemas.microsoft.com/office/drawing/2014/main" id="{0856241E-C98B-419A-B16A-587484E31A9F}"/>
              </a:ext>
            </a:extLst>
          </p:cNvPr>
          <p:cNvGraphicFramePr>
            <a:graphicFrameLocks noGrp="1"/>
          </p:cNvGraphicFramePr>
          <p:nvPr>
            <p:extLst>
              <p:ext uri="{D42A27DB-BD31-4B8C-83A1-F6EECF244321}">
                <p14:modId xmlns:p14="http://schemas.microsoft.com/office/powerpoint/2010/main" val="2295324738"/>
              </p:ext>
            </p:extLst>
          </p:nvPr>
        </p:nvGraphicFramePr>
        <p:xfrm>
          <a:off x="285800" y="1136173"/>
          <a:ext cx="685800" cy="4585653"/>
        </p:xfrm>
        <a:graphic>
          <a:graphicData uri="http://schemas.openxmlformats.org/drawingml/2006/table">
            <a:tbl>
              <a:tblPr/>
              <a:tblGrid>
                <a:gridCol w="685800">
                  <a:extLst>
                    <a:ext uri="{9D8B030D-6E8A-4147-A177-3AD203B41FA5}">
                      <a16:colId xmlns:a16="http://schemas.microsoft.com/office/drawing/2014/main" val="916422948"/>
                    </a:ext>
                  </a:extLst>
                </a:gridCol>
              </a:tblGrid>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cap="none" normalizeH="0" baseline="0" dirty="0">
                          <a:ln>
                            <a:noFill/>
                          </a:ln>
                          <a:solidFill>
                            <a:srgbClr val="376546"/>
                          </a:solidFill>
                          <a:effectLst/>
                          <a:latin typeface="Times New Roman" panose="02020603050405020304" pitchFamily="18" charset="0"/>
                          <a:ea typeface="楷体_GB2312" pitchFamily="49" charset="-122"/>
                        </a:rPr>
                        <a:t>x</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2</a:t>
                      </a:r>
                      <a:endPar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kern="1200" cap="none" normalizeH="0" baseline="0" dirty="0">
                          <a:ln>
                            <a:noFill/>
                          </a:ln>
                          <a:solidFill>
                            <a:srgbClr val="376546"/>
                          </a:solidFill>
                          <a:effectLst/>
                          <a:latin typeface="Times New Roman" panose="02020603050405020304" pitchFamily="18" charset="0"/>
                          <a:ea typeface="楷体_GB2312" pitchFamily="49" charset="-122"/>
                          <a:cs typeface="+mn-cs"/>
                        </a:rPr>
                        <a:t>s</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2</a:t>
                      </a:r>
                      <a:endPar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endParaRPr>
                    </a:p>
                  </a:txBody>
                  <a:tcPr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extLst>
                  <a:ext uri="{0D108BD9-81ED-4DB2-BD59-A6C34878D82A}">
                    <a16:rowId xmlns:a16="http://schemas.microsoft.com/office/drawing/2014/main" val="2349314740"/>
                  </a:ext>
                </a:extLst>
              </a:tr>
              <a:tr h="514350">
                <a:tc>
                  <a:txBody>
                    <a:bodyPr/>
                    <a:lstStyle/>
                    <a:p>
                      <a:endParaRPr lang="zh-CN" alt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47299375"/>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0</a:t>
                      </a:r>
                    </a:p>
                  </a:txBody>
                  <a:tcPr anchor="ctr" anchorCtr="1" horzOverflow="overflow">
                    <a:lnL>
                      <a:noFill/>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5810552"/>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1</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7665851"/>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2</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0150665"/>
                  </a:ext>
                </a:extLst>
              </a:tr>
              <a:tr h="49371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3</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92557073"/>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4</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56675964"/>
                  </a:ext>
                </a:extLst>
              </a:tr>
              <a:tr h="514350">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dirty="0">
                          <a:ln>
                            <a:noFill/>
                          </a:ln>
                          <a:solidFill>
                            <a:srgbClr val="376546"/>
                          </a:solidFill>
                          <a:effectLst/>
                          <a:latin typeface="Times New Roman" panose="02020603050405020304" pitchFamily="18" charset="0"/>
                          <a:ea typeface="楷体_GB2312" pitchFamily="49" charset="-122"/>
                        </a:rPr>
                        <a:t>5</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434291"/>
                  </a:ext>
                </a:extLst>
              </a:tr>
            </a:tbl>
          </a:graphicData>
        </a:graphic>
      </p:graphicFrame>
    </p:spTree>
    <p:extLst>
      <p:ext uri="{BB962C8B-B14F-4D97-AF65-F5344CB8AC3E}">
        <p14:creationId xmlns:p14="http://schemas.microsoft.com/office/powerpoint/2010/main" val="29341902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E16D188-9794-44B0-B7BF-D724EBFE860D}"/>
              </a:ext>
            </a:extLst>
          </p:cNvPr>
          <p:cNvSpPr>
            <a:spLocks noGrp="1" noChangeArrowheads="1"/>
          </p:cNvSpPr>
          <p:nvPr>
            <p:ph type="title"/>
          </p:nvPr>
        </p:nvSpPr>
        <p:spPr>
          <a:xfrm>
            <a:off x="336550" y="979488"/>
            <a:ext cx="8424863" cy="1371600"/>
          </a:xfrm>
        </p:spPr>
        <p:txBody>
          <a:bodyPr/>
          <a:lstStyle/>
          <a:p>
            <a:pPr indent="384175">
              <a:lnSpc>
                <a:spcPct val="110000"/>
              </a:lnSpc>
            </a:pPr>
            <a:r>
              <a:rPr lang="zh-CN" altLang="en-US" sz="2400" b="0">
                <a:solidFill>
                  <a:srgbClr val="000066"/>
                </a:solidFill>
                <a:latin typeface="Times New Roman" panose="02020603050405020304" pitchFamily="18" charset="0"/>
              </a:rPr>
              <a:t>第一阶段：</a:t>
            </a:r>
            <a:r>
              <a:rPr lang="zh-CN" altLang="en-US" sz="2400">
                <a:solidFill>
                  <a:schemeClr val="tx1"/>
                </a:solidFill>
                <a:latin typeface="Times New Roman" panose="02020603050405020304" pitchFamily="18" charset="0"/>
              </a:rPr>
              <a:t>设将</a:t>
            </a:r>
            <a:r>
              <a:rPr lang="en-US" altLang="zh-CN" sz="2400" i="1">
                <a:solidFill>
                  <a:schemeClr val="tx1"/>
                </a:solidFill>
                <a:latin typeface="Times New Roman" panose="02020603050405020304" pitchFamily="18" charset="0"/>
              </a:rPr>
              <a:t>s</a:t>
            </a:r>
            <a:r>
              <a:rPr lang="en-US" altLang="zh-CN" sz="2400" baseline="-30000">
                <a:solidFill>
                  <a:schemeClr val="tx1"/>
                </a:solidFill>
                <a:latin typeface="Times New Roman" panose="02020603050405020304" pitchFamily="18" charset="0"/>
              </a:rPr>
              <a:t>1</a:t>
            </a:r>
            <a:r>
              <a:rPr lang="zh-CN" altLang="en-US" sz="2400">
                <a:solidFill>
                  <a:schemeClr val="tx1"/>
                </a:solidFill>
                <a:latin typeface="Times New Roman" panose="02020603050405020304" pitchFamily="18" charset="0"/>
              </a:rPr>
              <a:t>台设备（</a:t>
            </a:r>
            <a:r>
              <a:rPr lang="en-US" altLang="zh-CN" sz="2400" i="1">
                <a:solidFill>
                  <a:schemeClr val="tx1"/>
                </a:solidFill>
                <a:latin typeface="Times New Roman" panose="02020603050405020304" pitchFamily="18" charset="0"/>
              </a:rPr>
              <a:t>s</a:t>
            </a:r>
            <a:r>
              <a:rPr lang="en-US" altLang="zh-CN" sz="2400" baseline="-30000">
                <a:solidFill>
                  <a:schemeClr val="tx1"/>
                </a:solidFill>
                <a:latin typeface="Times New Roman" panose="02020603050405020304" pitchFamily="18" charset="0"/>
              </a:rPr>
              <a:t>1</a:t>
            </a:r>
            <a:r>
              <a:rPr lang="zh-CN" altLang="en-US" sz="2400">
                <a:solidFill>
                  <a:schemeClr val="tx1"/>
                </a:solidFill>
                <a:latin typeface="Times New Roman" panose="02020603050405020304" pitchFamily="18" charset="0"/>
              </a:rPr>
              <a:t>＝</a:t>
            </a:r>
            <a:r>
              <a:rPr lang="en-US" altLang="zh-CN" sz="2400">
                <a:solidFill>
                  <a:schemeClr val="tx1"/>
                </a:solidFill>
                <a:latin typeface="Times New Roman" panose="02020603050405020304" pitchFamily="18" charset="0"/>
              </a:rPr>
              <a:t>5</a:t>
            </a:r>
            <a:r>
              <a:rPr lang="zh-CN" altLang="en-US" sz="2400">
                <a:solidFill>
                  <a:schemeClr val="tx1"/>
                </a:solidFill>
                <a:latin typeface="Times New Roman" panose="02020603050405020304" pitchFamily="18" charset="0"/>
              </a:rPr>
              <a:t>）分配给甲厂、乙厂和丙厂时，则最大盈利值为：</a:t>
            </a:r>
            <a:r>
              <a:rPr lang="en-US" altLang="zh-CN" sz="2400">
                <a:solidFill>
                  <a:schemeClr val="tx1"/>
                </a:solidFill>
                <a:latin typeface="Times New Roman" panose="02020603050405020304" pitchFamily="18" charset="0"/>
              </a:rPr>
              <a:t>f</a:t>
            </a:r>
            <a:r>
              <a:rPr lang="en-US" altLang="zh-CN" sz="2400" baseline="-30000">
                <a:solidFill>
                  <a:schemeClr val="tx1"/>
                </a:solidFill>
                <a:latin typeface="Times New Roman" panose="02020603050405020304" pitchFamily="18" charset="0"/>
              </a:rPr>
              <a:t>1</a:t>
            </a:r>
            <a:r>
              <a:rPr lang="en-US" altLang="zh-CN" sz="2400">
                <a:solidFill>
                  <a:schemeClr val="tx1"/>
                </a:solidFill>
                <a:latin typeface="Times New Roman" panose="02020603050405020304" pitchFamily="18" charset="0"/>
              </a:rPr>
              <a:t>(</a:t>
            </a:r>
            <a:r>
              <a:rPr lang="en-US" altLang="zh-CN" sz="2400" i="1">
                <a:solidFill>
                  <a:schemeClr val="tx1"/>
                </a:solidFill>
                <a:latin typeface="Times New Roman" panose="02020603050405020304" pitchFamily="18" charset="0"/>
              </a:rPr>
              <a:t>s</a:t>
            </a:r>
            <a:r>
              <a:rPr lang="en-US" altLang="zh-CN" sz="2400" baseline="-30000">
                <a:solidFill>
                  <a:schemeClr val="tx1"/>
                </a:solidFill>
                <a:latin typeface="Times New Roman" panose="02020603050405020304" pitchFamily="18" charset="0"/>
              </a:rPr>
              <a:t>1</a:t>
            </a:r>
            <a:r>
              <a:rPr lang="en-US" altLang="zh-CN" sz="2400">
                <a:solidFill>
                  <a:schemeClr val="tx1"/>
                </a:solidFill>
                <a:latin typeface="Times New Roman" panose="02020603050405020304" pitchFamily="18" charset="0"/>
              </a:rPr>
              <a:t>)</a:t>
            </a:r>
            <a:r>
              <a:rPr lang="zh-CN" altLang="en-US" sz="2400">
                <a:solidFill>
                  <a:schemeClr val="tx1"/>
                </a:solidFill>
                <a:latin typeface="Times New Roman" panose="02020603050405020304" pitchFamily="18" charset="0"/>
              </a:rPr>
              <a:t>＝</a:t>
            </a:r>
            <a:r>
              <a:rPr lang="en-US" altLang="zh-CN" sz="2400">
                <a:solidFill>
                  <a:schemeClr val="tx1"/>
                </a:solidFill>
                <a:latin typeface="Times New Roman" panose="02020603050405020304" pitchFamily="18" charset="0"/>
              </a:rPr>
              <a:t>max[ P</a:t>
            </a:r>
            <a:r>
              <a:rPr lang="en-US" altLang="zh-CN" sz="2400" baseline="-30000">
                <a:solidFill>
                  <a:schemeClr val="tx1"/>
                </a:solidFill>
                <a:latin typeface="Times New Roman" panose="02020603050405020304" pitchFamily="18" charset="0"/>
              </a:rPr>
              <a:t>1</a:t>
            </a:r>
            <a:r>
              <a:rPr lang="en-US" altLang="zh-CN" sz="2400">
                <a:solidFill>
                  <a:schemeClr val="tx1"/>
                </a:solidFill>
                <a:latin typeface="Times New Roman" panose="02020603050405020304" pitchFamily="18" charset="0"/>
              </a:rPr>
              <a:t>(</a:t>
            </a:r>
            <a:r>
              <a:rPr lang="en-US" altLang="zh-CN" sz="2400" i="1">
                <a:solidFill>
                  <a:schemeClr val="tx1"/>
                </a:solidFill>
                <a:latin typeface="Times New Roman" panose="02020603050405020304" pitchFamily="18" charset="0"/>
              </a:rPr>
              <a:t>x</a:t>
            </a:r>
            <a:r>
              <a:rPr lang="en-US" altLang="zh-CN" sz="2400" baseline="-30000">
                <a:solidFill>
                  <a:schemeClr val="tx1"/>
                </a:solidFill>
                <a:latin typeface="Times New Roman" panose="02020603050405020304" pitchFamily="18" charset="0"/>
              </a:rPr>
              <a:t>1</a:t>
            </a:r>
            <a:r>
              <a:rPr lang="en-US" altLang="zh-CN" sz="2400">
                <a:solidFill>
                  <a:schemeClr val="tx1"/>
                </a:solidFill>
                <a:latin typeface="Times New Roman" panose="02020603050405020304" pitchFamily="18" charset="0"/>
              </a:rPr>
              <a:t>)+ f</a:t>
            </a:r>
            <a:r>
              <a:rPr lang="en-US" altLang="zh-CN" sz="2400" baseline="-30000">
                <a:solidFill>
                  <a:schemeClr val="tx1"/>
                </a:solidFill>
                <a:latin typeface="Times New Roman" panose="02020603050405020304" pitchFamily="18" charset="0"/>
              </a:rPr>
              <a:t>2</a:t>
            </a:r>
            <a:r>
              <a:rPr lang="en-US" altLang="zh-CN" sz="2400">
                <a:solidFill>
                  <a:schemeClr val="tx1"/>
                </a:solidFill>
                <a:latin typeface="Times New Roman" panose="02020603050405020304" pitchFamily="18" charset="0"/>
              </a:rPr>
              <a:t>(5</a:t>
            </a:r>
            <a:r>
              <a:rPr lang="zh-CN" altLang="en-US" sz="2400">
                <a:solidFill>
                  <a:schemeClr val="tx1"/>
                </a:solidFill>
                <a:latin typeface="Times New Roman" panose="02020603050405020304" pitchFamily="18" charset="0"/>
              </a:rPr>
              <a:t>－</a:t>
            </a:r>
            <a:r>
              <a:rPr lang="en-US" altLang="zh-CN" sz="2400" i="1">
                <a:solidFill>
                  <a:schemeClr val="tx1"/>
                </a:solidFill>
                <a:latin typeface="Times New Roman" panose="02020603050405020304" pitchFamily="18" charset="0"/>
              </a:rPr>
              <a:t>x</a:t>
            </a:r>
            <a:r>
              <a:rPr lang="en-US" altLang="zh-CN" sz="2400" baseline="-30000">
                <a:solidFill>
                  <a:schemeClr val="tx1"/>
                </a:solidFill>
                <a:latin typeface="Times New Roman" panose="02020603050405020304" pitchFamily="18" charset="0"/>
              </a:rPr>
              <a:t>1</a:t>
            </a:r>
            <a:r>
              <a:rPr lang="en-US" altLang="zh-CN" sz="2400">
                <a:solidFill>
                  <a:schemeClr val="tx1"/>
                </a:solidFill>
                <a:latin typeface="Times New Roman" panose="02020603050405020304" pitchFamily="18" charset="0"/>
              </a:rPr>
              <a:t>) ]</a:t>
            </a:r>
            <a:br>
              <a:rPr lang="en-US" altLang="zh-CN" sz="2400">
                <a:solidFill>
                  <a:schemeClr val="tx1"/>
                </a:solidFill>
                <a:latin typeface="Times New Roman" panose="02020603050405020304" pitchFamily="18" charset="0"/>
              </a:rPr>
            </a:br>
            <a:r>
              <a:rPr lang="zh-CN" altLang="en-US" sz="2400">
                <a:solidFill>
                  <a:schemeClr val="tx1"/>
                </a:solidFill>
                <a:latin typeface="Times New Roman" panose="02020603050405020304" pitchFamily="18" charset="0"/>
              </a:rPr>
              <a:t>其中，</a:t>
            </a:r>
            <a:r>
              <a:rPr lang="en-US" altLang="zh-CN" sz="2400" i="1">
                <a:solidFill>
                  <a:schemeClr val="tx1"/>
                </a:solidFill>
                <a:latin typeface="Times New Roman" panose="02020603050405020304" pitchFamily="18" charset="0"/>
              </a:rPr>
              <a:t>x</a:t>
            </a:r>
            <a:r>
              <a:rPr lang="en-US" altLang="zh-CN" sz="2400" baseline="-30000">
                <a:solidFill>
                  <a:schemeClr val="tx1"/>
                </a:solidFill>
                <a:latin typeface="Times New Roman" panose="02020603050405020304" pitchFamily="18" charset="0"/>
              </a:rPr>
              <a:t>1</a:t>
            </a:r>
            <a:r>
              <a:rPr lang="zh-CN" altLang="en-US" sz="2400">
                <a:solidFill>
                  <a:schemeClr val="tx1"/>
                </a:solidFill>
                <a:latin typeface="Times New Roman" panose="02020603050405020304" pitchFamily="18" charset="0"/>
              </a:rPr>
              <a:t>＝</a:t>
            </a:r>
            <a:r>
              <a:rPr lang="en-US" altLang="zh-CN" sz="2400">
                <a:solidFill>
                  <a:schemeClr val="tx1"/>
                </a:solidFill>
                <a:latin typeface="Times New Roman" panose="02020603050405020304" pitchFamily="18" charset="0"/>
              </a:rPr>
              <a:t>0,1,2,3,4,5</a:t>
            </a:r>
          </a:p>
        </p:txBody>
      </p:sp>
      <p:graphicFrame>
        <p:nvGraphicFramePr>
          <p:cNvPr id="713786" name="Group 58">
            <a:extLst>
              <a:ext uri="{FF2B5EF4-FFF2-40B4-BE49-F238E27FC236}">
                <a16:creationId xmlns:a16="http://schemas.microsoft.com/office/drawing/2014/main" id="{4629C2AF-2D29-481A-8674-6B7912B5AB16}"/>
              </a:ext>
            </a:extLst>
          </p:cNvPr>
          <p:cNvGraphicFramePr>
            <a:graphicFrameLocks noGrp="1"/>
          </p:cNvGraphicFramePr>
          <p:nvPr>
            <p:ph type="tbl" idx="1"/>
          </p:nvPr>
        </p:nvGraphicFramePr>
        <p:xfrm>
          <a:off x="663575" y="2343150"/>
          <a:ext cx="7972425" cy="1590676"/>
        </p:xfrm>
        <a:graphic>
          <a:graphicData uri="http://schemas.openxmlformats.org/drawingml/2006/table">
            <a:tbl>
              <a:tblPr/>
              <a:tblGrid>
                <a:gridCol w="676275">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89013">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976312">
                  <a:extLst>
                    <a:ext uri="{9D8B030D-6E8A-4147-A177-3AD203B41FA5}">
                      <a16:colId xmlns:a16="http://schemas.microsoft.com/office/drawing/2014/main" val="20004"/>
                    </a:ext>
                  </a:extLst>
                </a:gridCol>
                <a:gridCol w="1027113">
                  <a:extLst>
                    <a:ext uri="{9D8B030D-6E8A-4147-A177-3AD203B41FA5}">
                      <a16:colId xmlns:a16="http://schemas.microsoft.com/office/drawing/2014/main" val="20005"/>
                    </a:ext>
                  </a:extLst>
                </a:gridCol>
                <a:gridCol w="989012">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457234">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cap="none" normalizeH="0" baseline="0" dirty="0">
                          <a:ln>
                            <a:noFill/>
                          </a:ln>
                          <a:solidFill>
                            <a:srgbClr val="376546"/>
                          </a:solidFill>
                          <a:effectLst/>
                          <a:latin typeface="Times New Roman" panose="02020603050405020304" pitchFamily="18" charset="0"/>
                          <a:ea typeface="楷体_GB2312" pitchFamily="49" charset="-122"/>
                        </a:rPr>
                        <a:t>x</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1</a:t>
                      </a:r>
                      <a:endPar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kern="1200" cap="none" normalizeH="0" baseline="0" dirty="0">
                          <a:ln>
                            <a:noFill/>
                          </a:ln>
                          <a:solidFill>
                            <a:srgbClr val="376546"/>
                          </a:solidFill>
                          <a:effectLst/>
                          <a:latin typeface="Times New Roman" panose="02020603050405020304" pitchFamily="18" charset="0"/>
                          <a:ea typeface="楷体_GB2312" pitchFamily="49" charset="-122"/>
                          <a:cs typeface="+mn-cs"/>
                        </a:rPr>
                        <a:t>s</a:t>
                      </a:r>
                      <a:r>
                        <a:rPr kumimoji="0" lang="en-US" altLang="zh-CN" sz="2400" b="1" i="0" u="none" strike="noStrike" cap="none" normalizeH="0" baseline="-30000" dirty="0">
                          <a:ln>
                            <a:noFill/>
                          </a:ln>
                          <a:solidFill>
                            <a:srgbClr val="376546"/>
                          </a:solidFill>
                          <a:effectLst/>
                          <a:latin typeface="Times New Roman" panose="02020603050405020304" pitchFamily="18" charset="0"/>
                          <a:ea typeface="楷体_GB2312" pitchFamily="49" charset="-122"/>
                        </a:rPr>
                        <a:t>1</a:t>
                      </a:r>
                      <a:endPar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endParaRPr>
                    </a:p>
                  </a:txBody>
                  <a:tcPr marT="45737" marB="45737"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gridSpan="6">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P</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1</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0" i="1" u="none" strike="noStrike" cap="none" normalizeH="0" baseline="0">
                          <a:ln>
                            <a:noFill/>
                          </a:ln>
                          <a:solidFill>
                            <a:srgbClr val="FF0000"/>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1</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zh-CN" altLang="en-US"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f</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(5</a:t>
                      </a:r>
                      <a:r>
                        <a:rPr kumimoji="0" lang="zh-CN" altLang="en-US"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0" i="1" u="none" strike="noStrike" cap="none" normalizeH="0" baseline="0">
                          <a:ln>
                            <a:noFill/>
                          </a:ln>
                          <a:solidFill>
                            <a:srgbClr val="FF0000"/>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FF0000"/>
                          </a:solidFill>
                          <a:effectLst/>
                          <a:latin typeface="Times New Roman" panose="02020603050405020304" pitchFamily="18" charset="0"/>
                          <a:ea typeface="楷体_GB2312" pitchFamily="49" charset="-122"/>
                        </a:rPr>
                        <a:t>1</a:t>
                      </a:r>
                      <a:r>
                        <a:rPr kumimoji="0" lang="en-US" altLang="zh-CN" sz="2400" b="1" i="0" u="none" strike="noStrike" cap="none" normalizeH="0" baseline="0">
                          <a:ln>
                            <a:noFill/>
                          </a:ln>
                          <a:solidFill>
                            <a:srgbClr val="FF0000"/>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FF0000"/>
                          </a:solidFill>
                          <a:effectLst/>
                          <a:latin typeface="Times New Roman" panose="02020603050405020304" pitchFamily="18" charset="0"/>
                          <a:ea typeface="楷体_GB2312" pitchFamily="49" charset="-122"/>
                        </a:rPr>
                        <a:t> </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f</a:t>
                      </a:r>
                      <a:r>
                        <a:rPr kumimoji="0" lang="en-US" altLang="zh-CN" sz="2400" b="1" i="0" u="none" strike="noStrike" cap="none" normalizeH="0" baseline="-30000">
                          <a:ln>
                            <a:noFill/>
                          </a:ln>
                          <a:solidFill>
                            <a:srgbClr val="376546"/>
                          </a:solidFill>
                          <a:effectLst/>
                          <a:latin typeface="Times New Roman" panose="02020603050405020304" pitchFamily="18" charset="0"/>
                          <a:ea typeface="楷体_GB2312" pitchFamily="49" charset="-122"/>
                        </a:rPr>
                        <a:t>1</a:t>
                      </a: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1" u="none" strike="noStrike" cap="none" normalizeH="0" baseline="0">
                          <a:ln>
                            <a:noFill/>
                          </a:ln>
                          <a:solidFill>
                            <a:srgbClr val="37654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376546"/>
                          </a:solidFill>
                          <a:effectLst/>
                          <a:latin typeface="Times New Roman" panose="02020603050405020304" pitchFamily="18" charset="0"/>
                          <a:ea typeface="楷体_GB2312" pitchFamily="49" charset="-122"/>
                        </a:rPr>
                        <a:t>1</a:t>
                      </a:r>
                      <a:r>
                        <a:rPr kumimoji="0" lang="en-US" altLang="zh-CN" sz="2400" b="1" i="0" u="none" strike="noStrike" cap="none" normalizeH="0" baseline="3000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37" marB="45737"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9259">
                <a:tc vMerge="1">
                  <a:txBody>
                    <a:bodyPr/>
                    <a:lstStyle/>
                    <a:p>
                      <a:endParaRPr lang="zh-CN" altLang="en-US"/>
                    </a:p>
                  </a:txBody>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3</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5</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58418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376546"/>
                          </a:solidFill>
                          <a:effectLst/>
                          <a:latin typeface="Times New Roman" panose="02020603050405020304" pitchFamily="18" charset="0"/>
                          <a:ea typeface="楷体_GB2312" pitchFamily="49" charset="-122"/>
                        </a:rPr>
                        <a:t>5</a:t>
                      </a:r>
                    </a:p>
                  </a:txBody>
                  <a:tcPr marT="45737" marB="4573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21 </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3</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16 </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7</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14 </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9</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10 </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12</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5 </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13</a:t>
                      </a:r>
                      <a:r>
                        <a:rPr kumimoji="0" lang="zh-CN" altLang="en-US" sz="24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a:ln>
                            <a:noFill/>
                          </a:ln>
                          <a:solidFill>
                            <a:srgbClr val="376546"/>
                          </a:solidFill>
                          <a:effectLst/>
                          <a:latin typeface="Times New Roman" panose="02020603050405020304" pitchFamily="18" charset="0"/>
                          <a:ea typeface="楷体_GB2312" pitchFamily="49" charset="-122"/>
                        </a:rPr>
                        <a:t>21</a:t>
                      </a:r>
                    </a:p>
                  </a:txBody>
                  <a:tcPr marT="45737" marB="4573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0" i="0" u="none" strike="noStrike" cap="none" normalizeH="0" baseline="0" dirty="0">
                          <a:ln>
                            <a:noFill/>
                          </a:ln>
                          <a:solidFill>
                            <a:srgbClr val="376546"/>
                          </a:solidFill>
                          <a:effectLst/>
                          <a:latin typeface="Times New Roman" panose="02020603050405020304" pitchFamily="18" charset="0"/>
                          <a:ea typeface="楷体_GB2312" pitchFamily="49" charset="-122"/>
                        </a:rPr>
                        <a:t>0,2</a:t>
                      </a:r>
                    </a:p>
                  </a:txBody>
                  <a:tcPr marT="45737" marB="4573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5332" name="Text Box 39">
            <a:extLst>
              <a:ext uri="{FF2B5EF4-FFF2-40B4-BE49-F238E27FC236}">
                <a16:creationId xmlns:a16="http://schemas.microsoft.com/office/drawing/2014/main" id="{0915BCBA-96AB-41D5-9726-A7DB6EB999DA}"/>
              </a:ext>
            </a:extLst>
          </p:cNvPr>
          <p:cNvSpPr txBox="1">
            <a:spLocks noChangeArrowheads="1"/>
          </p:cNvSpPr>
          <p:nvPr/>
        </p:nvSpPr>
        <p:spPr bwMode="auto">
          <a:xfrm>
            <a:off x="663575" y="4005263"/>
            <a:ext cx="7772400"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pPr>
            <a:r>
              <a:rPr kumimoji="1" lang="zh-CN" altLang="en-US"/>
              <a:t>按计算表格的顺序反推，可知最优分配方案有两个：</a:t>
            </a:r>
          </a:p>
          <a:p>
            <a:pPr algn="just" eaLnBrk="1" hangingPunct="1">
              <a:spcBef>
                <a:spcPct val="20000"/>
              </a:spcBef>
            </a:pPr>
            <a:r>
              <a:rPr kumimoji="1" lang="en-US" altLang="zh-CN"/>
              <a:t>1</a:t>
            </a:r>
            <a:r>
              <a:rPr kumimoji="1" lang="zh-CN" altLang="en-US"/>
              <a:t>）由</a:t>
            </a:r>
            <a:r>
              <a:rPr lang="en-US" altLang="zh-CN" i="1">
                <a:latin typeface="Times New Roman" panose="02020603050405020304" pitchFamily="18" charset="0"/>
              </a:rPr>
              <a:t>x</a:t>
            </a:r>
            <a:r>
              <a:rPr kumimoji="1" lang="en-US" altLang="zh-CN" baseline="-25000"/>
              <a:t>1</a:t>
            </a:r>
            <a:r>
              <a:rPr kumimoji="1" lang="en-US" altLang="zh-CN"/>
              <a:t>*</a:t>
            </a:r>
            <a:r>
              <a:rPr kumimoji="1" lang="zh-CN" altLang="en-US"/>
              <a:t>＝</a:t>
            </a:r>
            <a:r>
              <a:rPr kumimoji="1" lang="en-US" altLang="zh-CN"/>
              <a:t>0</a:t>
            </a:r>
            <a:r>
              <a:rPr kumimoji="1" lang="zh-CN" altLang="en-US"/>
              <a:t>，</a:t>
            </a:r>
            <a:r>
              <a:rPr lang="en-US" altLang="zh-CN" i="1">
                <a:latin typeface="Times New Roman" panose="02020603050405020304" pitchFamily="18" charset="0"/>
              </a:rPr>
              <a:t>s</a:t>
            </a:r>
            <a:r>
              <a:rPr kumimoji="1" lang="en-US" altLang="zh-CN" baseline="-25000"/>
              <a:t>2</a:t>
            </a:r>
            <a:r>
              <a:rPr kumimoji="1" lang="zh-CN" altLang="en-US"/>
              <a:t>＝</a:t>
            </a:r>
            <a:r>
              <a:rPr lang="en-US" altLang="zh-CN" i="1">
                <a:latin typeface="Times New Roman" panose="02020603050405020304" pitchFamily="18" charset="0"/>
              </a:rPr>
              <a:t>s</a:t>
            </a:r>
            <a:r>
              <a:rPr kumimoji="1" lang="en-US" altLang="zh-CN" baseline="-25000"/>
              <a:t>1</a:t>
            </a:r>
            <a:r>
              <a:rPr kumimoji="1" lang="zh-CN" altLang="en-US"/>
              <a:t>－</a:t>
            </a:r>
            <a:r>
              <a:rPr lang="en-US" altLang="zh-CN" i="1">
                <a:latin typeface="Times New Roman" panose="02020603050405020304" pitchFamily="18" charset="0"/>
              </a:rPr>
              <a:t>x</a:t>
            </a:r>
            <a:r>
              <a:rPr kumimoji="1" lang="en-US" altLang="zh-CN" baseline="-25000"/>
              <a:t>1</a:t>
            </a:r>
            <a:r>
              <a:rPr kumimoji="1" lang="en-US" altLang="zh-CN"/>
              <a:t>*</a:t>
            </a:r>
            <a:r>
              <a:rPr kumimoji="1" lang="zh-CN" altLang="en-US"/>
              <a:t>＝</a:t>
            </a:r>
            <a:r>
              <a:rPr kumimoji="1" lang="en-US" altLang="zh-CN"/>
              <a:t>5</a:t>
            </a:r>
            <a:r>
              <a:rPr kumimoji="1" lang="zh-CN" altLang="en-US"/>
              <a:t>－</a:t>
            </a:r>
            <a:r>
              <a:rPr kumimoji="1" lang="en-US" altLang="zh-CN"/>
              <a:t>0</a:t>
            </a:r>
            <a:r>
              <a:rPr kumimoji="1" lang="zh-CN" altLang="en-US"/>
              <a:t>＝</a:t>
            </a:r>
            <a:r>
              <a:rPr kumimoji="1" lang="en-US" altLang="zh-CN"/>
              <a:t>5</a:t>
            </a:r>
            <a:r>
              <a:rPr kumimoji="1" lang="zh-CN" altLang="en-US"/>
              <a:t>。再由表</a:t>
            </a:r>
            <a:r>
              <a:rPr kumimoji="1" lang="en-US" altLang="zh-CN"/>
              <a:t>10</a:t>
            </a:r>
            <a:r>
              <a:rPr kumimoji="1" lang="zh-CN" altLang="en-US"/>
              <a:t>－</a:t>
            </a:r>
            <a:r>
              <a:rPr kumimoji="1" lang="en-US" altLang="zh-CN"/>
              <a:t>3</a:t>
            </a:r>
            <a:r>
              <a:rPr kumimoji="1" lang="zh-CN" altLang="en-US"/>
              <a:t>，可知</a:t>
            </a:r>
            <a:r>
              <a:rPr lang="en-US" altLang="zh-CN" i="1">
                <a:latin typeface="Times New Roman" panose="02020603050405020304" pitchFamily="18" charset="0"/>
              </a:rPr>
              <a:t>x</a:t>
            </a:r>
            <a:r>
              <a:rPr kumimoji="1" lang="en-US" altLang="zh-CN" baseline="-25000"/>
              <a:t>2</a:t>
            </a:r>
            <a:r>
              <a:rPr kumimoji="1" lang="en-US" altLang="zh-CN"/>
              <a:t>*</a:t>
            </a:r>
            <a:r>
              <a:rPr kumimoji="1" lang="zh-CN" altLang="en-US"/>
              <a:t>＝</a:t>
            </a:r>
            <a:r>
              <a:rPr kumimoji="1" lang="en-US" altLang="zh-CN"/>
              <a:t>2</a:t>
            </a:r>
            <a:r>
              <a:rPr kumimoji="1" lang="zh-CN" altLang="en-US"/>
              <a:t>。</a:t>
            </a:r>
            <a:r>
              <a:rPr lang="en-US" altLang="zh-CN" i="1">
                <a:latin typeface="Times New Roman" panose="02020603050405020304" pitchFamily="18" charset="0"/>
              </a:rPr>
              <a:t>s</a:t>
            </a:r>
            <a:r>
              <a:rPr kumimoji="1" lang="en-US" altLang="zh-CN" baseline="-25000"/>
              <a:t>3</a:t>
            </a:r>
            <a:r>
              <a:rPr kumimoji="1" lang="zh-CN" altLang="en-US"/>
              <a:t>＝</a:t>
            </a:r>
            <a:r>
              <a:rPr lang="en-US" altLang="zh-CN" i="1">
                <a:latin typeface="Times New Roman" panose="02020603050405020304" pitchFamily="18" charset="0"/>
              </a:rPr>
              <a:t>s</a:t>
            </a:r>
            <a:r>
              <a:rPr kumimoji="1" lang="en-US" altLang="zh-CN" baseline="-25000"/>
              <a:t>2</a:t>
            </a:r>
            <a:r>
              <a:rPr kumimoji="1" lang="zh-CN" altLang="en-US"/>
              <a:t>－</a:t>
            </a:r>
            <a:r>
              <a:rPr lang="en-US" altLang="zh-CN" i="1">
                <a:latin typeface="Times New Roman" panose="02020603050405020304" pitchFamily="18" charset="0"/>
              </a:rPr>
              <a:t>x</a:t>
            </a:r>
            <a:r>
              <a:rPr kumimoji="1" lang="en-US" altLang="zh-CN" baseline="-25000"/>
              <a:t>2</a:t>
            </a:r>
            <a:r>
              <a:rPr kumimoji="1" lang="en-US" altLang="zh-CN"/>
              <a:t>*</a:t>
            </a:r>
            <a:r>
              <a:rPr kumimoji="1" lang="zh-CN" altLang="en-US"/>
              <a:t>＝</a:t>
            </a:r>
            <a:r>
              <a:rPr kumimoji="1" lang="en-US" altLang="zh-CN"/>
              <a:t>5</a:t>
            </a:r>
            <a:r>
              <a:rPr kumimoji="1" lang="zh-CN" altLang="en-US"/>
              <a:t>－</a:t>
            </a:r>
            <a:r>
              <a:rPr kumimoji="1" lang="en-US" altLang="zh-CN"/>
              <a:t>2</a:t>
            </a:r>
            <a:r>
              <a:rPr kumimoji="1" lang="zh-CN" altLang="en-US"/>
              <a:t>＝</a:t>
            </a:r>
            <a:r>
              <a:rPr kumimoji="1" lang="en-US" altLang="zh-CN"/>
              <a:t>3</a:t>
            </a:r>
            <a:r>
              <a:rPr kumimoji="1" lang="zh-CN" altLang="en-US"/>
              <a:t>，故</a:t>
            </a:r>
            <a:r>
              <a:rPr lang="en-US" altLang="zh-CN" i="1">
                <a:latin typeface="Times New Roman" panose="02020603050405020304" pitchFamily="18" charset="0"/>
              </a:rPr>
              <a:t>x</a:t>
            </a:r>
            <a:r>
              <a:rPr kumimoji="1" lang="en-US" altLang="zh-CN" baseline="-25000"/>
              <a:t>3</a:t>
            </a:r>
            <a:r>
              <a:rPr kumimoji="1" lang="en-US" altLang="zh-CN"/>
              <a:t>*</a:t>
            </a:r>
            <a:r>
              <a:rPr kumimoji="1" lang="zh-CN" altLang="en-US"/>
              <a:t>＝</a:t>
            </a:r>
            <a:r>
              <a:rPr lang="en-US" altLang="zh-CN" i="1">
                <a:latin typeface="Times New Roman" panose="02020603050405020304" pitchFamily="18" charset="0"/>
              </a:rPr>
              <a:t>s</a:t>
            </a:r>
            <a:r>
              <a:rPr kumimoji="1" lang="en-US" altLang="zh-CN" baseline="-25000"/>
              <a:t>3</a:t>
            </a:r>
            <a:r>
              <a:rPr kumimoji="1" lang="zh-CN" altLang="en-US"/>
              <a:t>＝</a:t>
            </a:r>
            <a:r>
              <a:rPr kumimoji="1" lang="en-US" altLang="zh-CN"/>
              <a:t>3</a:t>
            </a:r>
            <a:r>
              <a:rPr kumimoji="1" lang="zh-CN" altLang="en-US"/>
              <a:t>。即得甲厂分得</a:t>
            </a:r>
            <a:r>
              <a:rPr kumimoji="1" lang="en-US" altLang="zh-CN"/>
              <a:t>0</a:t>
            </a:r>
            <a:r>
              <a:rPr kumimoji="1" lang="zh-CN" altLang="en-US"/>
              <a:t>台，乙厂分得</a:t>
            </a:r>
            <a:r>
              <a:rPr kumimoji="1" lang="en-US" altLang="zh-CN"/>
              <a:t>2</a:t>
            </a:r>
            <a:r>
              <a:rPr kumimoji="1" lang="zh-CN" altLang="en-US"/>
              <a:t>台，丙厂分得</a:t>
            </a:r>
            <a:r>
              <a:rPr kumimoji="1" lang="en-US" altLang="zh-CN"/>
              <a:t>3</a:t>
            </a:r>
            <a:r>
              <a:rPr kumimoji="1" lang="zh-CN" altLang="en-US"/>
              <a:t>台。</a:t>
            </a:r>
          </a:p>
          <a:p>
            <a:pPr algn="just" eaLnBrk="1" hangingPunct="1">
              <a:spcBef>
                <a:spcPct val="20000"/>
              </a:spcBef>
            </a:pPr>
            <a:r>
              <a:rPr kumimoji="1" lang="en-US" altLang="zh-CN"/>
              <a:t>2</a:t>
            </a:r>
            <a:r>
              <a:rPr kumimoji="1" lang="zh-CN" altLang="en-US"/>
              <a:t>）由</a:t>
            </a:r>
            <a:r>
              <a:rPr lang="en-US" altLang="zh-CN" i="1">
                <a:latin typeface="Times New Roman" panose="02020603050405020304" pitchFamily="18" charset="0"/>
              </a:rPr>
              <a:t>x</a:t>
            </a:r>
            <a:r>
              <a:rPr kumimoji="1" lang="en-US" altLang="zh-CN" baseline="-25000"/>
              <a:t>1</a:t>
            </a:r>
            <a:r>
              <a:rPr kumimoji="1" lang="en-US" altLang="zh-CN"/>
              <a:t>*</a:t>
            </a:r>
            <a:r>
              <a:rPr kumimoji="1" lang="zh-CN" altLang="en-US"/>
              <a:t>＝</a:t>
            </a:r>
            <a:r>
              <a:rPr kumimoji="1" lang="en-US" altLang="zh-CN"/>
              <a:t>2</a:t>
            </a:r>
            <a:r>
              <a:rPr kumimoji="1" lang="zh-CN" altLang="en-US"/>
              <a:t>，</a:t>
            </a:r>
            <a:r>
              <a:rPr lang="en-US" altLang="zh-CN" i="1">
                <a:latin typeface="Times New Roman" panose="02020603050405020304" pitchFamily="18" charset="0"/>
              </a:rPr>
              <a:t>s</a:t>
            </a:r>
            <a:r>
              <a:rPr kumimoji="1" lang="en-US" altLang="zh-CN" baseline="-25000"/>
              <a:t>2</a:t>
            </a:r>
            <a:r>
              <a:rPr kumimoji="1" lang="zh-CN" altLang="en-US"/>
              <a:t>＝</a:t>
            </a:r>
            <a:r>
              <a:rPr lang="en-US" altLang="zh-CN" i="1">
                <a:latin typeface="Times New Roman" panose="02020603050405020304" pitchFamily="18" charset="0"/>
              </a:rPr>
              <a:t>s</a:t>
            </a:r>
            <a:r>
              <a:rPr kumimoji="1" lang="en-US" altLang="zh-CN" baseline="-25000"/>
              <a:t>1</a:t>
            </a:r>
            <a:r>
              <a:rPr kumimoji="1" lang="zh-CN" altLang="en-US"/>
              <a:t>－</a:t>
            </a:r>
            <a:r>
              <a:rPr lang="en-US" altLang="zh-CN" i="1">
                <a:latin typeface="Times New Roman" panose="02020603050405020304" pitchFamily="18" charset="0"/>
              </a:rPr>
              <a:t>x</a:t>
            </a:r>
            <a:r>
              <a:rPr kumimoji="1" lang="en-US" altLang="zh-CN" baseline="-25000"/>
              <a:t>1</a:t>
            </a:r>
            <a:r>
              <a:rPr kumimoji="1" lang="en-US" altLang="zh-CN"/>
              <a:t>*</a:t>
            </a:r>
            <a:r>
              <a:rPr kumimoji="1" lang="zh-CN" altLang="en-US"/>
              <a:t>＝</a:t>
            </a:r>
            <a:r>
              <a:rPr kumimoji="1" lang="en-US" altLang="zh-CN"/>
              <a:t>5</a:t>
            </a:r>
            <a:r>
              <a:rPr kumimoji="1" lang="zh-CN" altLang="en-US"/>
              <a:t>－</a:t>
            </a:r>
            <a:r>
              <a:rPr kumimoji="1" lang="en-US" altLang="zh-CN"/>
              <a:t>2</a:t>
            </a:r>
            <a:r>
              <a:rPr kumimoji="1" lang="zh-CN" altLang="en-US"/>
              <a:t>＝</a:t>
            </a:r>
            <a:r>
              <a:rPr kumimoji="1" lang="en-US" altLang="zh-CN"/>
              <a:t>3</a:t>
            </a:r>
            <a:r>
              <a:rPr kumimoji="1" lang="zh-CN" altLang="en-US"/>
              <a:t>。再由表</a:t>
            </a:r>
            <a:r>
              <a:rPr kumimoji="1" lang="en-US" altLang="zh-CN"/>
              <a:t>10</a:t>
            </a:r>
            <a:r>
              <a:rPr kumimoji="1" lang="zh-CN" altLang="en-US"/>
              <a:t>－</a:t>
            </a:r>
            <a:r>
              <a:rPr kumimoji="1" lang="en-US" altLang="zh-CN"/>
              <a:t>3</a:t>
            </a:r>
            <a:r>
              <a:rPr kumimoji="1" lang="zh-CN" altLang="en-US"/>
              <a:t>，可知</a:t>
            </a:r>
            <a:r>
              <a:rPr lang="en-US" altLang="zh-CN" i="1">
                <a:latin typeface="Times New Roman" panose="02020603050405020304" pitchFamily="18" charset="0"/>
              </a:rPr>
              <a:t>x</a:t>
            </a:r>
            <a:r>
              <a:rPr kumimoji="1" lang="en-US" altLang="zh-CN" baseline="-25000"/>
              <a:t>2</a:t>
            </a:r>
            <a:r>
              <a:rPr kumimoji="1" lang="en-US" altLang="zh-CN"/>
              <a:t>*</a:t>
            </a:r>
            <a:r>
              <a:rPr kumimoji="1" lang="zh-CN" altLang="en-US"/>
              <a:t>＝</a:t>
            </a:r>
            <a:r>
              <a:rPr kumimoji="1" lang="en-US" altLang="zh-CN"/>
              <a:t>2</a:t>
            </a:r>
            <a:r>
              <a:rPr kumimoji="1" lang="zh-CN" altLang="en-US"/>
              <a:t>。</a:t>
            </a:r>
            <a:r>
              <a:rPr lang="en-US" altLang="zh-CN" i="1">
                <a:latin typeface="Times New Roman" panose="02020603050405020304" pitchFamily="18" charset="0"/>
              </a:rPr>
              <a:t>s</a:t>
            </a:r>
            <a:r>
              <a:rPr kumimoji="1" lang="en-US" altLang="zh-CN" baseline="-25000"/>
              <a:t>3</a:t>
            </a:r>
            <a:r>
              <a:rPr kumimoji="1" lang="zh-CN" altLang="en-US"/>
              <a:t>＝</a:t>
            </a:r>
            <a:r>
              <a:rPr lang="en-US" altLang="zh-CN" i="1">
                <a:latin typeface="Times New Roman" panose="02020603050405020304" pitchFamily="18" charset="0"/>
              </a:rPr>
              <a:t>s</a:t>
            </a:r>
            <a:r>
              <a:rPr kumimoji="1" lang="en-US" altLang="zh-CN" baseline="-25000"/>
              <a:t>2</a:t>
            </a:r>
            <a:r>
              <a:rPr kumimoji="1" lang="zh-CN" altLang="en-US"/>
              <a:t>－</a:t>
            </a:r>
            <a:r>
              <a:rPr lang="en-US" altLang="zh-CN" i="1">
                <a:latin typeface="Times New Roman" panose="02020603050405020304" pitchFamily="18" charset="0"/>
              </a:rPr>
              <a:t>x</a:t>
            </a:r>
            <a:r>
              <a:rPr kumimoji="1" lang="en-US" altLang="zh-CN" baseline="-25000"/>
              <a:t>2</a:t>
            </a:r>
            <a:r>
              <a:rPr kumimoji="1" lang="en-US" altLang="zh-CN"/>
              <a:t>*</a:t>
            </a:r>
            <a:r>
              <a:rPr kumimoji="1" lang="zh-CN" altLang="en-US"/>
              <a:t>＝</a:t>
            </a:r>
            <a:r>
              <a:rPr kumimoji="1" lang="en-US" altLang="zh-CN"/>
              <a:t>3</a:t>
            </a:r>
            <a:r>
              <a:rPr kumimoji="1" lang="zh-CN" altLang="en-US"/>
              <a:t>－</a:t>
            </a:r>
            <a:r>
              <a:rPr kumimoji="1" lang="en-US" altLang="zh-CN"/>
              <a:t>2</a:t>
            </a:r>
            <a:r>
              <a:rPr kumimoji="1" lang="zh-CN" altLang="en-US"/>
              <a:t>＝</a:t>
            </a:r>
            <a:r>
              <a:rPr kumimoji="1" lang="en-US" altLang="zh-CN"/>
              <a:t>1</a:t>
            </a:r>
            <a:r>
              <a:rPr kumimoji="1" lang="zh-CN" altLang="en-US"/>
              <a:t>，故</a:t>
            </a:r>
            <a:r>
              <a:rPr lang="en-US" altLang="zh-CN" i="1">
                <a:latin typeface="Times New Roman" panose="02020603050405020304" pitchFamily="18" charset="0"/>
              </a:rPr>
              <a:t>x</a:t>
            </a:r>
            <a:r>
              <a:rPr kumimoji="1" lang="en-US" altLang="zh-CN" baseline="-25000"/>
              <a:t>3</a:t>
            </a:r>
            <a:r>
              <a:rPr kumimoji="1" lang="en-US" altLang="zh-CN"/>
              <a:t>*</a:t>
            </a:r>
            <a:r>
              <a:rPr kumimoji="1" lang="zh-CN" altLang="en-US"/>
              <a:t>＝</a:t>
            </a:r>
            <a:r>
              <a:rPr lang="en-US" altLang="zh-CN" i="1">
                <a:latin typeface="Times New Roman" panose="02020603050405020304" pitchFamily="18" charset="0"/>
              </a:rPr>
              <a:t>s</a:t>
            </a:r>
            <a:r>
              <a:rPr kumimoji="1" lang="en-US" altLang="zh-CN" baseline="-25000"/>
              <a:t>3</a:t>
            </a:r>
            <a:r>
              <a:rPr kumimoji="1" lang="zh-CN" altLang="en-US"/>
              <a:t>＝</a:t>
            </a:r>
            <a:r>
              <a:rPr kumimoji="1" lang="en-US" altLang="zh-CN"/>
              <a:t>1</a:t>
            </a:r>
            <a:r>
              <a:rPr kumimoji="1" lang="zh-CN" altLang="en-US"/>
              <a:t>。即得甲厂分得</a:t>
            </a:r>
            <a:r>
              <a:rPr kumimoji="1" lang="en-US" altLang="zh-CN"/>
              <a:t>2</a:t>
            </a:r>
            <a:r>
              <a:rPr kumimoji="1" lang="zh-CN" altLang="en-US"/>
              <a:t>台，乙厂分得</a:t>
            </a:r>
            <a:r>
              <a:rPr kumimoji="1" lang="en-US" altLang="zh-CN"/>
              <a:t>2</a:t>
            </a:r>
            <a:r>
              <a:rPr kumimoji="1" lang="zh-CN" altLang="en-US"/>
              <a:t>台，丙厂分得</a:t>
            </a:r>
            <a:r>
              <a:rPr kumimoji="1" lang="en-US" altLang="zh-CN"/>
              <a:t>1</a:t>
            </a:r>
            <a:r>
              <a:rPr kumimoji="1" lang="zh-CN" altLang="en-US"/>
              <a:t>台。</a:t>
            </a:r>
          </a:p>
          <a:p>
            <a:pPr algn="just" eaLnBrk="1" hangingPunct="1">
              <a:spcBef>
                <a:spcPct val="20000"/>
              </a:spcBef>
            </a:pPr>
            <a:r>
              <a:rPr kumimoji="1" lang="zh-CN" altLang="en-US"/>
              <a:t>以上两种最优方案的总盈利均为</a:t>
            </a:r>
            <a:r>
              <a:rPr kumimoji="1" lang="en-US" altLang="zh-CN"/>
              <a:t>21</a:t>
            </a:r>
            <a:r>
              <a:rPr kumimoji="1" lang="zh-CN" altLang="en-US"/>
              <a:t>万元。</a:t>
            </a:r>
          </a:p>
        </p:txBody>
      </p:sp>
      <p:sp>
        <p:nvSpPr>
          <p:cNvPr id="55333" name="矩形 4">
            <a:extLst>
              <a:ext uri="{FF2B5EF4-FFF2-40B4-BE49-F238E27FC236}">
                <a16:creationId xmlns:a16="http://schemas.microsoft.com/office/drawing/2014/main" id="{A87A1C09-AFA5-4F66-8E0D-836AD36C8C65}"/>
              </a:ext>
            </a:extLst>
          </p:cNvPr>
          <p:cNvSpPr>
            <a:spLocks noChangeArrowheads="1"/>
          </p:cNvSpPr>
          <p:nvPr/>
        </p:nvSpPr>
        <p:spPr bwMode="auto">
          <a:xfrm>
            <a:off x="1547813" y="341313"/>
            <a:ext cx="5708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FF00FF"/>
                </a:solidFill>
                <a:latin typeface="Times New Roman" panose="02020603050405020304" pitchFamily="18" charset="0"/>
              </a:rPr>
              <a:t>P</a:t>
            </a:r>
            <a:r>
              <a:rPr lang="en-US" altLang="zh-CN" i="1" baseline="-30000">
                <a:solidFill>
                  <a:srgbClr val="FF00FF"/>
                </a:solidFill>
                <a:latin typeface="Times New Roman" panose="02020603050405020304" pitchFamily="18" charset="0"/>
              </a:rPr>
              <a:t>k</a:t>
            </a:r>
            <a:r>
              <a:rPr lang="en-US" altLang="zh-CN">
                <a:solidFill>
                  <a:srgbClr val="FF00FF"/>
                </a:solidFill>
                <a:latin typeface="Times New Roman" panose="02020603050405020304" pitchFamily="18" charset="0"/>
              </a:rPr>
              <a:t>(</a:t>
            </a:r>
            <a:r>
              <a:rPr lang="en-US" altLang="zh-CN" i="1">
                <a:solidFill>
                  <a:srgbClr val="FF00FF"/>
                </a:solidFill>
                <a:latin typeface="Times New Roman" panose="02020603050405020304" pitchFamily="18" charset="0"/>
              </a:rPr>
              <a:t>x</a:t>
            </a:r>
            <a:r>
              <a:rPr lang="en-US" altLang="zh-CN" i="1" baseline="-30000">
                <a:solidFill>
                  <a:srgbClr val="FF00FF"/>
                </a:solidFill>
                <a:latin typeface="Times New Roman" panose="02020603050405020304" pitchFamily="18" charset="0"/>
              </a:rPr>
              <a:t>k</a:t>
            </a:r>
            <a:r>
              <a:rPr lang="en-US" altLang="zh-CN">
                <a:solidFill>
                  <a:srgbClr val="FF00FF"/>
                </a:solidFill>
                <a:latin typeface="Times New Roman" panose="02020603050405020304" pitchFamily="18" charset="0"/>
              </a:rPr>
              <a:t>)</a:t>
            </a:r>
            <a:r>
              <a:rPr lang="zh-CN" altLang="en-US">
                <a:solidFill>
                  <a:srgbClr val="FF00FF"/>
                </a:solidFill>
                <a:latin typeface="Times New Roman" panose="02020603050405020304" pitchFamily="18" charset="0"/>
              </a:rPr>
              <a:t>表示为</a:t>
            </a:r>
            <a:r>
              <a:rPr lang="en-US" altLang="zh-CN" i="1">
                <a:solidFill>
                  <a:srgbClr val="FF00FF"/>
                </a:solidFill>
                <a:latin typeface="Times New Roman" panose="02020603050405020304" pitchFamily="18" charset="0"/>
              </a:rPr>
              <a:t>x</a:t>
            </a:r>
            <a:r>
              <a:rPr lang="en-US" altLang="zh-CN" i="1" baseline="-30000">
                <a:solidFill>
                  <a:srgbClr val="FF00FF"/>
                </a:solidFill>
                <a:latin typeface="Times New Roman" panose="02020603050405020304" pitchFamily="18" charset="0"/>
              </a:rPr>
              <a:t>k</a:t>
            </a:r>
            <a:r>
              <a:rPr lang="zh-CN" altLang="en-US">
                <a:solidFill>
                  <a:srgbClr val="FF00FF"/>
                </a:solidFill>
                <a:latin typeface="Times New Roman" panose="02020603050405020304" pitchFamily="18" charset="0"/>
              </a:rPr>
              <a:t>台设备分到第</a:t>
            </a:r>
            <a:r>
              <a:rPr lang="en-US" altLang="zh-CN" i="1">
                <a:solidFill>
                  <a:srgbClr val="FF00FF"/>
                </a:solidFill>
                <a:latin typeface="Times New Roman" panose="02020603050405020304" pitchFamily="18" charset="0"/>
              </a:rPr>
              <a:t>k</a:t>
            </a:r>
            <a:r>
              <a:rPr lang="zh-CN" altLang="en-US">
                <a:solidFill>
                  <a:srgbClr val="FF00FF"/>
                </a:solidFill>
                <a:latin typeface="Times New Roman" panose="02020603050405020304" pitchFamily="18" charset="0"/>
              </a:rPr>
              <a:t>个工厂所得的盈利值。</a:t>
            </a:r>
            <a:endParaRPr lang="zh-CN" altLang="en-US">
              <a:solidFill>
                <a:srgbClr val="FF00FF"/>
              </a:solidFill>
            </a:endParaRPr>
          </a:p>
        </p:txBody>
      </p:sp>
      <p:sp>
        <p:nvSpPr>
          <p:cNvPr id="6" name="矩形 5">
            <a:extLst>
              <a:ext uri="{FF2B5EF4-FFF2-40B4-BE49-F238E27FC236}">
                <a16:creationId xmlns:a16="http://schemas.microsoft.com/office/drawing/2014/main" id="{E4691A39-4A76-440F-A03F-2132E8453EB3}"/>
              </a:ext>
            </a:extLst>
          </p:cNvPr>
          <p:cNvSpPr>
            <a:spLocks noChangeArrowheads="1"/>
          </p:cNvSpPr>
          <p:nvPr/>
        </p:nvSpPr>
        <p:spPr bwMode="auto">
          <a:xfrm>
            <a:off x="1403350" y="3297238"/>
            <a:ext cx="8096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solidFill>
                  <a:srgbClr val="FF00FF"/>
                </a:solidFill>
                <a:latin typeface="Times New Roman" panose="02020603050405020304" pitchFamily="18" charset="0"/>
              </a:rPr>
              <a:t>P</a:t>
            </a:r>
            <a:r>
              <a:rPr lang="en-US" altLang="zh-CN" sz="1100" baseline="-30000">
                <a:solidFill>
                  <a:srgbClr val="FF00FF"/>
                </a:solidFill>
                <a:latin typeface="Times New Roman" panose="02020603050405020304" pitchFamily="18" charset="0"/>
              </a:rPr>
              <a:t>1</a:t>
            </a:r>
            <a:r>
              <a:rPr lang="en-US" altLang="zh-CN" sz="1100">
                <a:solidFill>
                  <a:srgbClr val="FF00FF"/>
                </a:solidFill>
                <a:latin typeface="Times New Roman" panose="02020603050405020304" pitchFamily="18" charset="0"/>
              </a:rPr>
              <a:t>(0)+f</a:t>
            </a:r>
            <a:r>
              <a:rPr lang="en-US" altLang="zh-CN" sz="1100" baseline="-25000">
                <a:solidFill>
                  <a:srgbClr val="FF00FF"/>
                </a:solidFill>
                <a:latin typeface="Times New Roman" panose="02020603050405020304" pitchFamily="18" charset="0"/>
              </a:rPr>
              <a:t>2</a:t>
            </a:r>
            <a:r>
              <a:rPr lang="en-US" altLang="zh-CN" sz="1100">
                <a:solidFill>
                  <a:srgbClr val="FF00FF"/>
                </a:solidFill>
                <a:latin typeface="Times New Roman" panose="02020603050405020304" pitchFamily="18" charset="0"/>
              </a:rPr>
              <a:t>(5)</a:t>
            </a:r>
            <a:endParaRPr lang="zh-CN" altLang="en-US" sz="1100">
              <a:solidFill>
                <a:srgbClr val="FF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EC6CEDC-F57A-4223-8FFD-980929AAC915}"/>
              </a:ext>
            </a:extLst>
          </p:cNvPr>
          <p:cNvSpPr>
            <a:spLocks noGrp="1" noChangeArrowheads="1"/>
          </p:cNvSpPr>
          <p:nvPr>
            <p:ph type="title"/>
          </p:nvPr>
        </p:nvSpPr>
        <p:spPr/>
        <p:txBody>
          <a:bodyPr/>
          <a:lstStyle/>
          <a:p>
            <a:pPr eaLnBrk="1" hangingPunct="1"/>
            <a:r>
              <a:rPr lang="en-US" altLang="zh-CN"/>
              <a:t>Matlab</a:t>
            </a:r>
            <a:r>
              <a:rPr lang="zh-CN" altLang="en-US"/>
              <a:t>求解</a:t>
            </a:r>
            <a:endParaRPr lang="en-US" altLang="zh-CN"/>
          </a:p>
        </p:txBody>
      </p:sp>
      <p:sp>
        <p:nvSpPr>
          <p:cNvPr id="56323" name="矩形 8">
            <a:extLst>
              <a:ext uri="{FF2B5EF4-FFF2-40B4-BE49-F238E27FC236}">
                <a16:creationId xmlns:a16="http://schemas.microsoft.com/office/drawing/2014/main" id="{01009868-1064-40D0-8014-85DF8CB9FCF5}"/>
              </a:ext>
            </a:extLst>
          </p:cNvPr>
          <p:cNvSpPr>
            <a:spLocks noChangeArrowheads="1"/>
          </p:cNvSpPr>
          <p:nvPr/>
        </p:nvSpPr>
        <p:spPr bwMode="auto">
          <a:xfrm>
            <a:off x="4787900" y="333375"/>
            <a:ext cx="1825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资源分配问题</a:t>
            </a:r>
            <a:r>
              <a:rPr lang="en-US" altLang="zh-CN"/>
              <a:t>.m</a:t>
            </a:r>
            <a:endParaRPr lang="zh-CN" altLang="en-US"/>
          </a:p>
        </p:txBody>
      </p:sp>
      <p:sp>
        <p:nvSpPr>
          <p:cNvPr id="2" name="矩形 1">
            <a:extLst>
              <a:ext uri="{FF2B5EF4-FFF2-40B4-BE49-F238E27FC236}">
                <a16:creationId xmlns:a16="http://schemas.microsoft.com/office/drawing/2014/main" id="{4CCDB529-2576-4636-97F0-E911FBDB27EB}"/>
              </a:ext>
            </a:extLst>
          </p:cNvPr>
          <p:cNvSpPr/>
          <p:nvPr/>
        </p:nvSpPr>
        <p:spPr>
          <a:xfrm>
            <a:off x="457200" y="908050"/>
            <a:ext cx="2746375" cy="5586413"/>
          </a:xfrm>
          <a:prstGeom prst="rect">
            <a:avLst/>
          </a:prstGeom>
        </p:spPr>
        <p:txBody>
          <a:bodyPr>
            <a:spAutoFit/>
          </a:bodyPr>
          <a:lstStyle/>
          <a:p>
            <a:pPr algn="just">
              <a:spcAft>
                <a:spcPts val="0"/>
              </a:spcAft>
              <a:defRPr/>
            </a:pPr>
            <a:r>
              <a:rPr lang="en-US" altLang="zh-CN" sz="1050" kern="100" dirty="0">
                <a:latin typeface="Times New Roman" panose="02020603050405020304" pitchFamily="18" charset="0"/>
              </a:rPr>
              <a:t>% </a:t>
            </a:r>
            <a:r>
              <a:rPr lang="zh-CN" altLang="zh-CN" sz="1050" kern="100" dirty="0">
                <a:latin typeface="Times New Roman" panose="02020603050405020304" pitchFamily="18" charset="0"/>
              </a:rPr>
              <a:t>首先将数据赋给三个向量；</a:t>
            </a:r>
          </a:p>
          <a:p>
            <a:pPr algn="just">
              <a:spcAft>
                <a:spcPts val="0"/>
              </a:spcAft>
              <a:defRPr/>
            </a:pPr>
            <a:r>
              <a:rPr lang="en-US" altLang="zh-CN" sz="1050" kern="100" dirty="0">
                <a:latin typeface="Times New Roman" panose="02020603050405020304" pitchFamily="18" charset="0"/>
              </a:rPr>
              <a:t>x1=[0 3 7 9 12 13];</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x2=[0 5 10 11 11 11];</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x3=[0 4 6 11 12 12];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zh-CN" altLang="zh-CN" sz="1050" kern="100" dirty="0">
                <a:latin typeface="Times New Roman" panose="02020603050405020304" pitchFamily="18" charset="0"/>
              </a:rPr>
              <a:t>用来储存得到的总效益；</a:t>
            </a:r>
          </a:p>
          <a:p>
            <a:pPr algn="just">
              <a:spcAft>
                <a:spcPts val="0"/>
              </a:spcAft>
              <a:defRPr/>
            </a:pPr>
            <a:r>
              <a:rPr lang="en-US" altLang="zh-CN" sz="1050" kern="100" dirty="0">
                <a:latin typeface="Times New Roman" panose="02020603050405020304" pitchFamily="18" charset="0"/>
              </a:rPr>
              <a:t>x=[];</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zh-CN" altLang="zh-CN" sz="1050" kern="100" dirty="0">
                <a:latin typeface="Times New Roman" panose="02020603050405020304" pitchFamily="18" charset="0"/>
              </a:rPr>
              <a:t>用来储存相应的规划策略；</a:t>
            </a:r>
          </a:p>
          <a:p>
            <a:pPr algn="just">
              <a:spcAft>
                <a:spcPts val="0"/>
              </a:spcAft>
              <a:defRPr/>
            </a:pPr>
            <a:r>
              <a:rPr lang="en-US" altLang="zh-CN" sz="1050" kern="100" dirty="0" err="1">
                <a:latin typeface="Times New Roman" panose="02020603050405020304" pitchFamily="18" charset="0"/>
              </a:rPr>
              <a:t>bj</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zh-CN" altLang="zh-CN" sz="1050" kern="100" dirty="0">
                <a:latin typeface="Times New Roman" panose="02020603050405020304" pitchFamily="18" charset="0"/>
              </a:rPr>
              <a:t>开始规划；</a:t>
            </a:r>
          </a:p>
          <a:p>
            <a:pPr algn="just">
              <a:spcAft>
                <a:spcPts val="0"/>
              </a:spcAft>
              <a:defRPr/>
            </a:pPr>
            <a:r>
              <a:rPr lang="en-US" altLang="zh-CN" sz="1050" kern="100" dirty="0">
                <a:latin typeface="Times New Roman" panose="02020603050405020304" pitchFamily="18" charset="0"/>
              </a:rPr>
              <a:t>for </a:t>
            </a: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=0:5</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for j=0:5</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for k=0:5</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if </a:t>
            </a:r>
            <a:r>
              <a:rPr lang="en-US" altLang="zh-CN" sz="1050" kern="100" dirty="0" err="1">
                <a:latin typeface="Times New Roman" panose="02020603050405020304" pitchFamily="18" charset="0"/>
              </a:rPr>
              <a:t>i+j+k</a:t>
            </a:r>
            <a:r>
              <a:rPr lang="en-US" altLang="zh-CN" sz="1050" kern="100" dirty="0">
                <a:latin typeface="Times New Roman" panose="02020603050405020304" pitchFamily="18" charset="0"/>
              </a:rPr>
              <a:t>==5</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en-US" altLang="zh-CN" sz="1050" kern="100" dirty="0" err="1">
                <a:latin typeface="Times New Roman" panose="02020603050405020304" pitchFamily="18" charset="0"/>
              </a:rPr>
              <a:t>bj</a:t>
            </a:r>
            <a:r>
              <a:rPr lang="en-US" altLang="zh-CN" sz="1050" kern="100" dirty="0">
                <a:latin typeface="Times New Roman" panose="02020603050405020304" pitchFamily="18" charset="0"/>
              </a:rPr>
              <a:t>=[</a:t>
            </a:r>
            <a:r>
              <a:rPr lang="en-US" altLang="zh-CN" sz="1050" kern="100" dirty="0" err="1">
                <a:latin typeface="Times New Roman" panose="02020603050405020304" pitchFamily="18" charset="0"/>
              </a:rPr>
              <a:t>bj;i</a:t>
            </a:r>
            <a:r>
              <a:rPr lang="en-US" altLang="zh-CN" sz="1050" kern="100" dirty="0">
                <a:latin typeface="Times New Roman" panose="02020603050405020304" pitchFamily="18" charset="0"/>
              </a:rPr>
              <a:t> j k];</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a=x1(i+1)+x2(j+1)+x3(k+1);</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x=[x a];</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end</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end</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end</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end</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zh-CN" altLang="zh-CN" sz="1050" kern="100" dirty="0">
                <a:latin typeface="Times New Roman" panose="02020603050405020304" pitchFamily="18" charset="0"/>
              </a:rPr>
              <a:t>寻找最大值；</a:t>
            </a:r>
          </a:p>
          <a:p>
            <a:pPr algn="just">
              <a:spcAft>
                <a:spcPts val="0"/>
              </a:spcAft>
              <a:defRPr/>
            </a:pPr>
            <a:r>
              <a:rPr lang="en-US" altLang="zh-CN" sz="1050" kern="100" dirty="0">
                <a:latin typeface="Times New Roman" panose="02020603050405020304" pitchFamily="18" charset="0"/>
              </a:rPr>
              <a:t>mx=max(x);</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lg</a:t>
            </a:r>
            <a:r>
              <a:rPr lang="en-US" altLang="zh-CN" sz="1050" kern="100" dirty="0">
                <a:latin typeface="Times New Roman" panose="02020603050405020304" pitchFamily="18" charset="0"/>
              </a:rPr>
              <a:t>=length(x);</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jh</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zh-CN" altLang="zh-CN" sz="1050" kern="100" dirty="0">
                <a:latin typeface="Times New Roman" panose="02020603050405020304" pitchFamily="18" charset="0"/>
              </a:rPr>
              <a:t>寻找最优规划；</a:t>
            </a:r>
          </a:p>
          <a:p>
            <a:pPr algn="just">
              <a:spcAft>
                <a:spcPts val="0"/>
              </a:spcAft>
              <a:defRPr/>
            </a:pPr>
            <a:r>
              <a:rPr lang="en-US" altLang="zh-CN" sz="1050" kern="100" dirty="0">
                <a:latin typeface="Times New Roman" panose="02020603050405020304" pitchFamily="18" charset="0"/>
              </a:rPr>
              <a:t>for </a:t>
            </a: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=1:lg</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if x(</a:t>
            </a: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)==mx</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en-US" altLang="zh-CN" sz="1050" kern="100" dirty="0" err="1">
                <a:latin typeface="Times New Roman" panose="02020603050405020304" pitchFamily="18" charset="0"/>
              </a:rPr>
              <a:t>jh</a:t>
            </a:r>
            <a:r>
              <a:rPr lang="en-US" altLang="zh-CN" sz="1050" kern="100" dirty="0">
                <a:latin typeface="Times New Roman" panose="02020603050405020304" pitchFamily="18" charset="0"/>
              </a:rPr>
              <a:t>=[</a:t>
            </a:r>
            <a:r>
              <a:rPr lang="en-US" altLang="zh-CN" sz="1050" kern="100" dirty="0" err="1">
                <a:latin typeface="Times New Roman" panose="02020603050405020304" pitchFamily="18" charset="0"/>
              </a:rPr>
              <a:t>jh;bj</a:t>
            </a:r>
            <a:r>
              <a:rPr lang="en-US" altLang="zh-CN" sz="1050" kern="100" dirty="0">
                <a:latin typeface="Times New Roman" panose="02020603050405020304" pitchFamily="18" charset="0"/>
              </a:rPr>
              <a:t>(</a:t>
            </a: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end</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end</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('\n</a:t>
            </a:r>
            <a:r>
              <a:rPr lang="zh-CN" altLang="zh-CN" sz="1050" kern="100" dirty="0">
                <a:latin typeface="Times New Roman" panose="02020603050405020304" pitchFamily="18" charset="0"/>
              </a:rPr>
              <a:t>此问题的最优解为：</a:t>
            </a:r>
            <a:r>
              <a:rPr lang="en-US" altLang="zh-CN" sz="1050" kern="100" dirty="0">
                <a:latin typeface="Times New Roman" panose="02020603050405020304" pitchFamily="18" charset="0"/>
              </a:rPr>
              <a:t>%</a:t>
            </a:r>
            <a:r>
              <a:rPr lang="en-US" altLang="zh-CN" sz="1050" kern="100" dirty="0" err="1">
                <a:latin typeface="Times New Roman" panose="02020603050405020304" pitchFamily="18" charset="0"/>
              </a:rPr>
              <a:t>d',mx</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('\n\n</a:t>
            </a:r>
            <a:r>
              <a:rPr lang="zh-CN" altLang="zh-CN" sz="1050" kern="100" dirty="0">
                <a:latin typeface="Times New Roman" panose="02020603050405020304" pitchFamily="18" charset="0"/>
              </a:rPr>
              <a:t>相应的最优规划为：</a:t>
            </a:r>
            <a:r>
              <a:rPr lang="en-US" altLang="zh-CN" sz="1050" kern="100" dirty="0">
                <a:latin typeface="Times New Roman" panose="02020603050405020304" pitchFamily="18" charset="0"/>
              </a:rPr>
              <a:t>\n');</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第一车间 第二车间 第三车间</a:t>
            </a:r>
            <a:r>
              <a:rPr lang="en-US" altLang="zh-CN" sz="1050" kern="100" dirty="0">
                <a:latin typeface="Times New Roman" panose="02020603050405020304" pitchFamily="18" charset="0"/>
              </a:rPr>
              <a:t>\n');</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a:t>
            </a:r>
            <a:r>
              <a:rPr lang="en-US" altLang="zh-CN" sz="1050" kern="100" dirty="0" err="1">
                <a:latin typeface="Times New Roman" panose="02020603050405020304" pitchFamily="18" charset="0"/>
              </a:rPr>
              <a:t>jh</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p:txBody>
      </p:sp>
      <p:pic>
        <p:nvPicPr>
          <p:cNvPr id="56325" name="Picture 2">
            <a:extLst>
              <a:ext uri="{FF2B5EF4-FFF2-40B4-BE49-F238E27FC236}">
                <a16:creationId xmlns:a16="http://schemas.microsoft.com/office/drawing/2014/main" id="{BDFEA3D1-91D0-45D3-8E7A-6670A6347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263" y="1484313"/>
            <a:ext cx="1773237"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DDF3B468-A1A6-4018-988B-A36C1736DE48}"/>
              </a:ext>
            </a:extLst>
          </p:cNvPr>
          <p:cNvSpPr>
            <a:spLocks noGrp="1" noChangeArrowheads="1"/>
          </p:cNvSpPr>
          <p:nvPr>
            <p:ph type="title"/>
          </p:nvPr>
        </p:nvSpPr>
        <p:spPr/>
        <p:txBody>
          <a:bodyPr/>
          <a:lstStyle/>
          <a:p>
            <a:pPr eaLnBrk="1" hangingPunct="1"/>
            <a:r>
              <a:rPr lang="en-US" altLang="zh-CN"/>
              <a:t>Matlab</a:t>
            </a:r>
            <a:r>
              <a:rPr lang="zh-CN" altLang="en-US"/>
              <a:t>求解</a:t>
            </a:r>
            <a:endParaRPr lang="en-US" altLang="zh-CN"/>
          </a:p>
        </p:txBody>
      </p:sp>
      <p:sp>
        <p:nvSpPr>
          <p:cNvPr id="57347" name="矩形 8">
            <a:extLst>
              <a:ext uri="{FF2B5EF4-FFF2-40B4-BE49-F238E27FC236}">
                <a16:creationId xmlns:a16="http://schemas.microsoft.com/office/drawing/2014/main" id="{834801CE-B6FE-4552-9572-FFF443850961}"/>
              </a:ext>
            </a:extLst>
          </p:cNvPr>
          <p:cNvSpPr>
            <a:spLocks noChangeArrowheads="1"/>
          </p:cNvSpPr>
          <p:nvPr/>
        </p:nvSpPr>
        <p:spPr bwMode="auto">
          <a:xfrm>
            <a:off x="5292725" y="331788"/>
            <a:ext cx="24018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资源平行分配问题</a:t>
            </a:r>
            <a:r>
              <a:rPr lang="en-US" altLang="zh-CN"/>
              <a:t>.lg4</a:t>
            </a:r>
            <a:endParaRPr lang="zh-CN" altLang="en-US"/>
          </a:p>
        </p:txBody>
      </p:sp>
      <p:sp>
        <p:nvSpPr>
          <p:cNvPr id="57348" name="矩形 2">
            <a:extLst>
              <a:ext uri="{FF2B5EF4-FFF2-40B4-BE49-F238E27FC236}">
                <a16:creationId xmlns:a16="http://schemas.microsoft.com/office/drawing/2014/main" id="{2C97F991-0AF2-4FCA-89E7-C4CE519BD4C6}"/>
              </a:ext>
            </a:extLst>
          </p:cNvPr>
          <p:cNvSpPr>
            <a:spLocks noChangeArrowheads="1"/>
          </p:cNvSpPr>
          <p:nvPr/>
        </p:nvSpPr>
        <p:spPr bwMode="auto">
          <a:xfrm>
            <a:off x="323850" y="908050"/>
            <a:ext cx="5256213" cy="563245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200">
                <a:solidFill>
                  <a:srgbClr val="0000FF"/>
                </a:solidFill>
                <a:latin typeface="Courier New" panose="02070309020205020404" pitchFamily="49" charset="0"/>
              </a:rPr>
              <a:t>model</a:t>
            </a:r>
            <a:r>
              <a:rPr lang="en-US" altLang="zh-CN" sz="1200">
                <a:solidFill>
                  <a:srgbClr val="000000"/>
                </a:solidFill>
                <a:latin typeface="Courier New" panose="02070309020205020404" pitchFamily="49" charset="0"/>
              </a:rPr>
              <a:t>:</a:t>
            </a:r>
          </a:p>
          <a:p>
            <a:r>
              <a:rPr lang="en-US" altLang="zh-CN" sz="1200">
                <a:solidFill>
                  <a:srgbClr val="0000FF"/>
                </a:solidFill>
                <a:latin typeface="Courier New" panose="02070309020205020404" pitchFamily="49" charset="0"/>
              </a:rPr>
              <a:t>sets</a:t>
            </a:r>
            <a:r>
              <a:rPr lang="en-US" altLang="zh-CN" sz="1200">
                <a:solidFill>
                  <a:srgbClr val="000000"/>
                </a:solidFill>
                <a:latin typeface="Courier New" panose="02070309020205020404" pitchFamily="49" charset="0"/>
              </a:rPr>
              <a:t>:</a:t>
            </a:r>
          </a:p>
          <a:p>
            <a:r>
              <a:rPr lang="en-US" altLang="zh-CN" sz="1200">
                <a:solidFill>
                  <a:srgbClr val="00AF00"/>
                </a:solidFill>
                <a:latin typeface="Courier New" panose="02070309020205020404" pitchFamily="49" charset="0"/>
              </a:rPr>
              <a:t>!</a:t>
            </a:r>
            <a:r>
              <a:rPr lang="zh-CN" altLang="en-US" sz="1200">
                <a:solidFill>
                  <a:srgbClr val="00AF00"/>
                </a:solidFill>
                <a:latin typeface="宋体" panose="02010600030101010101" pitchFamily="2" charset="-122"/>
              </a:rPr>
              <a:t>工厂</a:t>
            </a:r>
            <a:r>
              <a:rPr lang="en-US" altLang="zh-CN" sz="1200">
                <a:solidFill>
                  <a:srgbClr val="00AF00"/>
                </a:solidFill>
                <a:latin typeface="Courier New" panose="02070309020205020404" pitchFamily="49" charset="0"/>
              </a:rPr>
              <a:t>;</a:t>
            </a:r>
            <a:endParaRPr lang="en-US" altLang="zh-CN" sz="1200">
              <a:solidFill>
                <a:srgbClr val="000000"/>
              </a:solidFill>
              <a:latin typeface="Courier New" panose="02070309020205020404" pitchFamily="49" charset="0"/>
            </a:endParaRPr>
          </a:p>
          <a:p>
            <a:r>
              <a:rPr lang="en-US" altLang="zh-CN" sz="1200">
                <a:solidFill>
                  <a:srgbClr val="000000"/>
                </a:solidFill>
                <a:latin typeface="Courier New" panose="02070309020205020404" pitchFamily="49" charset="0"/>
              </a:rPr>
              <a:t>factory/1..3/;</a:t>
            </a:r>
          </a:p>
          <a:p>
            <a:r>
              <a:rPr lang="en-US" altLang="zh-CN" sz="1200">
                <a:solidFill>
                  <a:srgbClr val="00AF00"/>
                </a:solidFill>
                <a:latin typeface="Courier New" panose="02070309020205020404" pitchFamily="49" charset="0"/>
              </a:rPr>
              <a:t>!</a:t>
            </a:r>
            <a:r>
              <a:rPr lang="zh-CN" altLang="en-US" sz="1200">
                <a:solidFill>
                  <a:srgbClr val="00AF00"/>
                </a:solidFill>
                <a:latin typeface="宋体" panose="02010600030101010101" pitchFamily="2" charset="-122"/>
              </a:rPr>
              <a:t>设备台数</a:t>
            </a:r>
            <a:r>
              <a:rPr lang="en-US" altLang="zh-CN" sz="1200">
                <a:solidFill>
                  <a:srgbClr val="00AF00"/>
                </a:solidFill>
                <a:latin typeface="Courier New" panose="02070309020205020404" pitchFamily="49" charset="0"/>
              </a:rPr>
              <a:t>;</a:t>
            </a:r>
            <a:endParaRPr lang="en-US" altLang="zh-CN" sz="1200">
              <a:solidFill>
                <a:srgbClr val="000000"/>
              </a:solidFill>
              <a:latin typeface="Courier New" panose="02070309020205020404" pitchFamily="49" charset="0"/>
            </a:endParaRPr>
          </a:p>
          <a:p>
            <a:r>
              <a:rPr lang="en-US" altLang="zh-CN" sz="1200">
                <a:solidFill>
                  <a:srgbClr val="000000"/>
                </a:solidFill>
                <a:latin typeface="Courier New" panose="02070309020205020404" pitchFamily="49" charset="0"/>
              </a:rPr>
              <a:t>amount/1..6/;</a:t>
            </a:r>
          </a:p>
          <a:p>
            <a:r>
              <a:rPr lang="en-US" altLang="zh-CN" sz="1200">
                <a:solidFill>
                  <a:srgbClr val="00AF00"/>
                </a:solidFill>
                <a:latin typeface="Courier New" panose="02070309020205020404" pitchFamily="49" charset="0"/>
              </a:rPr>
              <a:t>!</a:t>
            </a:r>
            <a:r>
              <a:rPr lang="zh-CN" altLang="en-US" sz="1200">
                <a:solidFill>
                  <a:srgbClr val="00AF00"/>
                </a:solidFill>
                <a:latin typeface="宋体" panose="02010600030101010101" pitchFamily="2" charset="-122"/>
              </a:rPr>
              <a:t>分配方案</a:t>
            </a:r>
            <a:r>
              <a:rPr lang="en-US" altLang="zh-CN" sz="1200">
                <a:solidFill>
                  <a:srgbClr val="00AF00"/>
                </a:solidFill>
                <a:latin typeface="Courier New" panose="02070309020205020404" pitchFamily="49" charset="0"/>
              </a:rPr>
              <a:t>;</a:t>
            </a:r>
            <a:endParaRPr lang="en-US" altLang="zh-CN" sz="1200">
              <a:solidFill>
                <a:srgbClr val="000000"/>
              </a:solidFill>
              <a:latin typeface="Courier New" panose="02070309020205020404" pitchFamily="49" charset="0"/>
            </a:endParaRPr>
          </a:p>
          <a:p>
            <a:r>
              <a:rPr lang="en-US" altLang="zh-CN" sz="1200">
                <a:solidFill>
                  <a:srgbClr val="000000"/>
                </a:solidFill>
                <a:latin typeface="Courier New" panose="02070309020205020404" pitchFamily="49" charset="0"/>
              </a:rPr>
              <a:t>arcs(factory,amount):benefit,status,selection;</a:t>
            </a:r>
          </a:p>
          <a:p>
            <a:r>
              <a:rPr lang="en-US" altLang="zh-CN" sz="1200">
                <a:solidFill>
                  <a:srgbClr val="0000FF"/>
                </a:solidFill>
                <a:latin typeface="Courier New" panose="02070309020205020404" pitchFamily="49" charset="0"/>
              </a:rPr>
              <a:t>end</a:t>
            </a:r>
            <a:r>
              <a:rPr lang="en-US" altLang="zh-CN" sz="1200">
                <a:solidFill>
                  <a:srgbClr val="000000"/>
                </a:solidFill>
                <a:latin typeface="Courier New" panose="02070309020205020404" pitchFamily="49" charset="0"/>
              </a:rPr>
              <a:t> </a:t>
            </a:r>
            <a:r>
              <a:rPr lang="en-US" altLang="zh-CN" sz="1200">
                <a:solidFill>
                  <a:srgbClr val="0000FF"/>
                </a:solidFill>
                <a:latin typeface="Courier New" panose="02070309020205020404" pitchFamily="49" charset="0"/>
              </a:rPr>
              <a:t>sets</a:t>
            </a:r>
            <a:endParaRPr lang="en-US" altLang="zh-CN" sz="1200">
              <a:solidFill>
                <a:srgbClr val="000000"/>
              </a:solidFill>
              <a:latin typeface="Courier New" panose="02070309020205020404" pitchFamily="49" charset="0"/>
            </a:endParaRPr>
          </a:p>
          <a:p>
            <a:endParaRPr lang="en-US" altLang="zh-CN" sz="1200">
              <a:solidFill>
                <a:srgbClr val="000000"/>
              </a:solidFill>
              <a:latin typeface="Courier New" panose="02070309020205020404" pitchFamily="49" charset="0"/>
            </a:endParaRPr>
          </a:p>
          <a:p>
            <a:r>
              <a:rPr lang="en-US" altLang="zh-CN" sz="1200">
                <a:solidFill>
                  <a:srgbClr val="0000FF"/>
                </a:solidFill>
                <a:latin typeface="Courier New" panose="02070309020205020404" pitchFamily="49" charset="0"/>
              </a:rPr>
              <a:t>data</a:t>
            </a:r>
            <a:r>
              <a:rPr lang="en-US" altLang="zh-CN" sz="1200">
                <a:solidFill>
                  <a:srgbClr val="000000"/>
                </a:solidFill>
                <a:latin typeface="Courier New" panose="02070309020205020404" pitchFamily="49" charset="0"/>
              </a:rPr>
              <a:t>:</a:t>
            </a:r>
          </a:p>
          <a:p>
            <a:r>
              <a:rPr lang="en-US" altLang="zh-CN" sz="1200">
                <a:solidFill>
                  <a:srgbClr val="00AF00"/>
                </a:solidFill>
                <a:latin typeface="Courier New" panose="02070309020205020404" pitchFamily="49" charset="0"/>
              </a:rPr>
              <a:t>!</a:t>
            </a:r>
            <a:r>
              <a:rPr lang="zh-CN" altLang="en-US" sz="1200">
                <a:solidFill>
                  <a:srgbClr val="00AF00"/>
                </a:solidFill>
                <a:latin typeface="宋体" panose="02010600030101010101" pitchFamily="2" charset="-122"/>
              </a:rPr>
              <a:t>赢利</a:t>
            </a:r>
            <a:r>
              <a:rPr lang="en-US" altLang="zh-CN" sz="1200">
                <a:solidFill>
                  <a:srgbClr val="00AF00"/>
                </a:solidFill>
                <a:latin typeface="Courier New" panose="02070309020205020404" pitchFamily="49" charset="0"/>
              </a:rPr>
              <a:t>;</a:t>
            </a:r>
            <a:endParaRPr lang="en-US" altLang="zh-CN" sz="1200">
              <a:solidFill>
                <a:srgbClr val="000000"/>
              </a:solidFill>
              <a:latin typeface="Courier New" panose="02070309020205020404" pitchFamily="49" charset="0"/>
            </a:endParaRPr>
          </a:p>
          <a:p>
            <a:r>
              <a:rPr lang="en-US" altLang="zh-CN" sz="1200">
                <a:solidFill>
                  <a:srgbClr val="000000"/>
                </a:solidFill>
                <a:latin typeface="Courier New" panose="02070309020205020404" pitchFamily="49" charset="0"/>
              </a:rPr>
              <a:t>benefit= 0 3 7 9 12 13</a:t>
            </a:r>
          </a:p>
          <a:p>
            <a:r>
              <a:rPr lang="en-US" altLang="zh-CN" sz="1200">
                <a:solidFill>
                  <a:srgbClr val="000000"/>
                </a:solidFill>
                <a:latin typeface="Courier New" panose="02070309020205020404" pitchFamily="49" charset="0"/>
              </a:rPr>
              <a:t>          0 5 10 11 11 11</a:t>
            </a:r>
          </a:p>
          <a:p>
            <a:r>
              <a:rPr lang="en-US" altLang="zh-CN" sz="1200">
                <a:solidFill>
                  <a:srgbClr val="000000"/>
                </a:solidFill>
                <a:latin typeface="Courier New" panose="02070309020205020404" pitchFamily="49" charset="0"/>
              </a:rPr>
              <a:t>          0 4 6 11 12 12;</a:t>
            </a:r>
          </a:p>
          <a:p>
            <a:r>
              <a:rPr lang="en-US" altLang="zh-CN" sz="1200">
                <a:solidFill>
                  <a:srgbClr val="00AF00"/>
                </a:solidFill>
                <a:latin typeface="Courier New" panose="02070309020205020404" pitchFamily="49" charset="0"/>
              </a:rPr>
              <a:t>!</a:t>
            </a:r>
            <a:r>
              <a:rPr lang="zh-CN" altLang="en-US" sz="1200">
                <a:solidFill>
                  <a:srgbClr val="00AF00"/>
                </a:solidFill>
                <a:latin typeface="宋体" panose="02010600030101010101" pitchFamily="2" charset="-122"/>
              </a:rPr>
              <a:t>待定分配量</a:t>
            </a:r>
            <a:r>
              <a:rPr lang="en-US" altLang="zh-CN" sz="1200">
                <a:solidFill>
                  <a:srgbClr val="00AF00"/>
                </a:solidFill>
                <a:latin typeface="Courier New" panose="02070309020205020404" pitchFamily="49" charset="0"/>
              </a:rPr>
              <a:t>;</a:t>
            </a:r>
            <a:endParaRPr lang="en-US" altLang="zh-CN" sz="1200">
              <a:solidFill>
                <a:srgbClr val="000000"/>
              </a:solidFill>
              <a:latin typeface="Courier New" panose="02070309020205020404" pitchFamily="49" charset="0"/>
            </a:endParaRPr>
          </a:p>
          <a:p>
            <a:r>
              <a:rPr lang="en-US" altLang="zh-CN" sz="1200">
                <a:solidFill>
                  <a:srgbClr val="000000"/>
                </a:solidFill>
                <a:latin typeface="Courier New" panose="02070309020205020404" pitchFamily="49" charset="0"/>
              </a:rPr>
              <a:t>status=0 1 2 3 4 5</a:t>
            </a:r>
          </a:p>
          <a:p>
            <a:r>
              <a:rPr lang="en-US" altLang="zh-CN" sz="1200">
                <a:solidFill>
                  <a:srgbClr val="000000"/>
                </a:solidFill>
                <a:latin typeface="Courier New" panose="02070309020205020404" pitchFamily="49" charset="0"/>
              </a:rPr>
              <a:t>        0 1 2 3 4 5</a:t>
            </a:r>
          </a:p>
          <a:p>
            <a:r>
              <a:rPr lang="en-US" altLang="zh-CN" sz="1200">
                <a:solidFill>
                  <a:srgbClr val="000000"/>
                </a:solidFill>
                <a:latin typeface="Courier New" panose="02070309020205020404" pitchFamily="49" charset="0"/>
              </a:rPr>
              <a:t>        0 1 2 3 4 5;</a:t>
            </a:r>
          </a:p>
          <a:p>
            <a:r>
              <a:rPr lang="en-US" altLang="zh-CN" sz="1200">
                <a:solidFill>
                  <a:srgbClr val="0000FF"/>
                </a:solidFill>
                <a:latin typeface="Courier New" panose="02070309020205020404" pitchFamily="49" charset="0"/>
              </a:rPr>
              <a:t>end</a:t>
            </a:r>
            <a:r>
              <a:rPr lang="en-US" altLang="zh-CN" sz="1200">
                <a:solidFill>
                  <a:srgbClr val="000000"/>
                </a:solidFill>
                <a:latin typeface="Courier New" panose="02070309020205020404" pitchFamily="49" charset="0"/>
              </a:rPr>
              <a:t> </a:t>
            </a:r>
            <a:r>
              <a:rPr lang="en-US" altLang="zh-CN" sz="1200">
                <a:solidFill>
                  <a:srgbClr val="0000FF"/>
                </a:solidFill>
                <a:latin typeface="Courier New" panose="02070309020205020404" pitchFamily="49" charset="0"/>
              </a:rPr>
              <a:t>data</a:t>
            </a:r>
            <a:endParaRPr lang="en-US" altLang="zh-CN" sz="1200">
              <a:solidFill>
                <a:srgbClr val="000000"/>
              </a:solidFill>
              <a:latin typeface="Courier New" panose="02070309020205020404" pitchFamily="49" charset="0"/>
            </a:endParaRPr>
          </a:p>
          <a:p>
            <a:endParaRPr lang="en-US" altLang="zh-CN" sz="1200">
              <a:solidFill>
                <a:srgbClr val="000000"/>
              </a:solidFill>
              <a:latin typeface="Courier New" panose="02070309020205020404" pitchFamily="49" charset="0"/>
            </a:endParaRPr>
          </a:p>
          <a:p>
            <a:r>
              <a:rPr lang="en-US" altLang="zh-CN" sz="1200">
                <a:solidFill>
                  <a:srgbClr val="00AF00"/>
                </a:solidFill>
                <a:latin typeface="Courier New" panose="02070309020205020404" pitchFamily="49" charset="0"/>
              </a:rPr>
              <a:t>!</a:t>
            </a:r>
            <a:r>
              <a:rPr lang="zh-CN" altLang="en-US" sz="1200">
                <a:solidFill>
                  <a:srgbClr val="00AF00"/>
                </a:solidFill>
                <a:latin typeface="宋体" panose="02010600030101010101" pitchFamily="2" charset="-122"/>
              </a:rPr>
              <a:t>赢利矩阵与分配矩阵乘积的最大值（即最大赢利）</a:t>
            </a:r>
            <a:r>
              <a:rPr lang="en-US" altLang="zh-CN" sz="1200">
                <a:solidFill>
                  <a:srgbClr val="00AF00"/>
                </a:solidFill>
                <a:latin typeface="Courier New" panose="02070309020205020404" pitchFamily="49" charset="0"/>
              </a:rPr>
              <a:t>;</a:t>
            </a:r>
            <a:endParaRPr lang="en-US" altLang="zh-CN" sz="1200">
              <a:solidFill>
                <a:srgbClr val="000000"/>
              </a:solidFill>
              <a:latin typeface="Courier New" panose="02070309020205020404" pitchFamily="49" charset="0"/>
            </a:endParaRPr>
          </a:p>
          <a:p>
            <a:r>
              <a:rPr lang="en-US" altLang="zh-CN" sz="1200">
                <a:solidFill>
                  <a:srgbClr val="0000FF"/>
                </a:solidFill>
                <a:latin typeface="Courier New" panose="02070309020205020404" pitchFamily="49" charset="0"/>
              </a:rPr>
              <a:t>max</a:t>
            </a:r>
            <a:r>
              <a:rPr lang="en-US" altLang="zh-CN" sz="1200">
                <a:solidFill>
                  <a:srgbClr val="000000"/>
                </a:solidFill>
                <a:latin typeface="Courier New" panose="02070309020205020404" pitchFamily="49" charset="0"/>
              </a:rPr>
              <a:t>=</a:t>
            </a:r>
            <a:r>
              <a:rPr lang="en-US" altLang="zh-CN" sz="1200">
                <a:solidFill>
                  <a:srgbClr val="0000FF"/>
                </a:solidFill>
                <a:latin typeface="Courier New" panose="02070309020205020404" pitchFamily="49" charset="0"/>
              </a:rPr>
              <a:t>@sum</a:t>
            </a:r>
            <a:r>
              <a:rPr lang="en-US" altLang="zh-CN" sz="1200">
                <a:solidFill>
                  <a:srgbClr val="000000"/>
                </a:solidFill>
                <a:latin typeface="Courier New" panose="02070309020205020404" pitchFamily="49" charset="0"/>
              </a:rPr>
              <a:t>(arcs(i,j):benefit(i,j)*selection(i,j));</a:t>
            </a:r>
          </a:p>
          <a:p>
            <a:r>
              <a:rPr lang="en-US" altLang="zh-CN" sz="1200">
                <a:solidFill>
                  <a:srgbClr val="00AF00"/>
                </a:solidFill>
                <a:latin typeface="Courier New" panose="02070309020205020404" pitchFamily="49" charset="0"/>
              </a:rPr>
              <a:t>!</a:t>
            </a:r>
            <a:r>
              <a:rPr lang="zh-CN" altLang="en-US" sz="1200">
                <a:solidFill>
                  <a:srgbClr val="00AF00"/>
                </a:solidFill>
                <a:latin typeface="宋体" panose="02010600030101010101" pitchFamily="2" charset="-122"/>
              </a:rPr>
              <a:t>将</a:t>
            </a:r>
            <a:r>
              <a:rPr lang="en-US" altLang="zh-CN" sz="1200">
                <a:solidFill>
                  <a:srgbClr val="00AF00"/>
                </a:solidFill>
                <a:latin typeface="Courier New" panose="02070309020205020404" pitchFamily="49" charset="0"/>
              </a:rPr>
              <a:t>selection</a:t>
            </a:r>
            <a:r>
              <a:rPr lang="zh-CN" altLang="en-US" sz="1200">
                <a:solidFill>
                  <a:srgbClr val="00AF00"/>
                </a:solidFill>
                <a:latin typeface="宋体" panose="02010600030101010101" pitchFamily="2" charset="-122"/>
              </a:rPr>
              <a:t>归一化</a:t>
            </a:r>
            <a:r>
              <a:rPr lang="en-US" altLang="zh-CN" sz="1200">
                <a:solidFill>
                  <a:srgbClr val="00AF00"/>
                </a:solidFill>
                <a:latin typeface="Courier New" panose="02070309020205020404" pitchFamily="49" charset="0"/>
              </a:rPr>
              <a:t>;</a:t>
            </a:r>
            <a:endParaRPr lang="en-US" altLang="zh-CN" sz="1200">
              <a:solidFill>
                <a:srgbClr val="000000"/>
              </a:solidFill>
              <a:latin typeface="Courier New" panose="02070309020205020404" pitchFamily="49" charset="0"/>
            </a:endParaRPr>
          </a:p>
          <a:p>
            <a:r>
              <a:rPr lang="en-US" altLang="zh-CN" sz="1200">
                <a:solidFill>
                  <a:srgbClr val="000000"/>
                </a:solidFill>
                <a:latin typeface="Courier New" panose="02070309020205020404" pitchFamily="49" charset="0"/>
              </a:rPr>
              <a:t>    </a:t>
            </a:r>
            <a:r>
              <a:rPr lang="en-US" altLang="zh-CN" sz="1200">
                <a:solidFill>
                  <a:srgbClr val="0000FF"/>
                </a:solidFill>
                <a:latin typeface="Courier New" panose="02070309020205020404" pitchFamily="49" charset="0"/>
              </a:rPr>
              <a:t>@for</a:t>
            </a:r>
            <a:r>
              <a:rPr lang="en-US" altLang="zh-CN" sz="1200">
                <a:solidFill>
                  <a:srgbClr val="000000"/>
                </a:solidFill>
                <a:latin typeface="Courier New" panose="02070309020205020404" pitchFamily="49" charset="0"/>
              </a:rPr>
              <a:t>(arcs:</a:t>
            </a:r>
            <a:r>
              <a:rPr lang="en-US" altLang="zh-CN" sz="1200">
                <a:solidFill>
                  <a:srgbClr val="0000FF"/>
                </a:solidFill>
                <a:latin typeface="Courier New" panose="02070309020205020404" pitchFamily="49" charset="0"/>
              </a:rPr>
              <a:t>@bin</a:t>
            </a:r>
            <a:r>
              <a:rPr lang="en-US" altLang="zh-CN" sz="1200">
                <a:solidFill>
                  <a:srgbClr val="000000"/>
                </a:solidFill>
                <a:latin typeface="Courier New" panose="02070309020205020404" pitchFamily="49" charset="0"/>
              </a:rPr>
              <a:t>(selection));</a:t>
            </a:r>
          </a:p>
          <a:p>
            <a:r>
              <a:rPr lang="en-US" altLang="zh-CN" sz="1200">
                <a:solidFill>
                  <a:srgbClr val="00AF00"/>
                </a:solidFill>
                <a:latin typeface="Courier New" panose="02070309020205020404" pitchFamily="49" charset="0"/>
              </a:rPr>
              <a:t>!</a:t>
            </a:r>
            <a:r>
              <a:rPr lang="zh-CN" altLang="en-US" sz="1200">
                <a:solidFill>
                  <a:srgbClr val="00AF00"/>
                </a:solidFill>
                <a:latin typeface="宋体" panose="02010600030101010101" pitchFamily="2" charset="-122"/>
              </a:rPr>
              <a:t>保证无重选</a:t>
            </a:r>
            <a:r>
              <a:rPr lang="en-US" altLang="zh-CN" sz="1200">
                <a:solidFill>
                  <a:srgbClr val="00AF00"/>
                </a:solidFill>
                <a:latin typeface="Courier New" panose="02070309020205020404" pitchFamily="49" charset="0"/>
              </a:rPr>
              <a:t>;</a:t>
            </a:r>
            <a:endParaRPr lang="en-US" altLang="zh-CN" sz="1200">
              <a:solidFill>
                <a:srgbClr val="000000"/>
              </a:solidFill>
              <a:latin typeface="Courier New" panose="02070309020205020404" pitchFamily="49" charset="0"/>
            </a:endParaRPr>
          </a:p>
          <a:p>
            <a:r>
              <a:rPr lang="en-US" altLang="zh-CN" sz="1200">
                <a:solidFill>
                  <a:srgbClr val="000000"/>
                </a:solidFill>
                <a:latin typeface="Courier New" panose="02070309020205020404" pitchFamily="49" charset="0"/>
              </a:rPr>
              <a:t>    </a:t>
            </a:r>
            <a:r>
              <a:rPr lang="en-US" altLang="zh-CN" sz="1200">
                <a:solidFill>
                  <a:srgbClr val="0000FF"/>
                </a:solidFill>
                <a:latin typeface="Courier New" panose="02070309020205020404" pitchFamily="49" charset="0"/>
              </a:rPr>
              <a:t>@for</a:t>
            </a:r>
            <a:r>
              <a:rPr lang="en-US" altLang="zh-CN" sz="1200">
                <a:solidFill>
                  <a:srgbClr val="000000"/>
                </a:solidFill>
                <a:latin typeface="Courier New" panose="02070309020205020404" pitchFamily="49" charset="0"/>
              </a:rPr>
              <a:t>(factory(i):</a:t>
            </a:r>
            <a:r>
              <a:rPr lang="en-US" altLang="zh-CN" sz="1200">
                <a:solidFill>
                  <a:srgbClr val="0000FF"/>
                </a:solidFill>
                <a:latin typeface="Courier New" panose="02070309020205020404" pitchFamily="49" charset="0"/>
              </a:rPr>
              <a:t>@sum</a:t>
            </a:r>
            <a:r>
              <a:rPr lang="en-US" altLang="zh-CN" sz="1200">
                <a:solidFill>
                  <a:srgbClr val="000000"/>
                </a:solidFill>
                <a:latin typeface="Courier New" panose="02070309020205020404" pitchFamily="49" charset="0"/>
              </a:rPr>
              <a:t>(arcs(i,k):selection(i,k))=1);</a:t>
            </a:r>
          </a:p>
          <a:p>
            <a:r>
              <a:rPr lang="en-US" altLang="zh-CN" sz="1200">
                <a:solidFill>
                  <a:srgbClr val="00AF00"/>
                </a:solidFill>
                <a:latin typeface="Courier New" panose="02070309020205020404" pitchFamily="49" charset="0"/>
              </a:rPr>
              <a:t>!</a:t>
            </a:r>
            <a:r>
              <a:rPr lang="zh-CN" altLang="en-US" sz="1200">
                <a:solidFill>
                  <a:srgbClr val="00AF00"/>
                </a:solidFill>
                <a:latin typeface="宋体" panose="02010600030101010101" pitchFamily="2" charset="-122"/>
              </a:rPr>
              <a:t>总设备数量为</a:t>
            </a:r>
            <a:r>
              <a:rPr lang="en-US" altLang="zh-CN" sz="1200">
                <a:solidFill>
                  <a:srgbClr val="00AF00"/>
                </a:solidFill>
                <a:latin typeface="Courier New" panose="02070309020205020404" pitchFamily="49" charset="0"/>
              </a:rPr>
              <a:t>5;</a:t>
            </a:r>
            <a:endParaRPr lang="zh-CN" altLang="en-US" sz="1200">
              <a:solidFill>
                <a:srgbClr val="000000"/>
              </a:solidFill>
              <a:latin typeface="Courier New" panose="02070309020205020404" pitchFamily="49" charset="0"/>
            </a:endParaRPr>
          </a:p>
          <a:p>
            <a:r>
              <a:rPr lang="zh-CN" altLang="en-US" sz="1200">
                <a:solidFill>
                  <a:srgbClr val="000000"/>
                </a:solidFill>
                <a:latin typeface="Courier New" panose="02070309020205020404" pitchFamily="49" charset="0"/>
              </a:rPr>
              <a:t>    </a:t>
            </a:r>
            <a:r>
              <a:rPr lang="en-US" altLang="zh-CN" sz="1200">
                <a:solidFill>
                  <a:srgbClr val="0000FF"/>
                </a:solidFill>
                <a:latin typeface="Courier New" panose="02070309020205020404" pitchFamily="49" charset="0"/>
              </a:rPr>
              <a:t>@sum</a:t>
            </a:r>
            <a:r>
              <a:rPr lang="en-US" altLang="zh-CN" sz="1200">
                <a:solidFill>
                  <a:srgbClr val="000000"/>
                </a:solidFill>
                <a:latin typeface="Courier New" panose="02070309020205020404" pitchFamily="49" charset="0"/>
              </a:rPr>
              <a:t>(arcs(i,j):status(i,j)*selection(i,j))=5;</a:t>
            </a:r>
            <a:endParaRPr lang="zh-CN" altLang="en-US" sz="1200">
              <a:solidFill>
                <a:srgbClr val="000000"/>
              </a:solidFill>
              <a:latin typeface="Courier New" panose="02070309020205020404" pitchFamily="49" charset="0"/>
            </a:endParaRPr>
          </a:p>
          <a:p>
            <a:r>
              <a:rPr lang="en-US" altLang="zh-CN" sz="1200">
                <a:solidFill>
                  <a:srgbClr val="0000FF"/>
                </a:solidFill>
                <a:latin typeface="Courier New" panose="02070309020205020404" pitchFamily="49" charset="0"/>
              </a:rPr>
              <a:t>end</a:t>
            </a:r>
            <a:endParaRPr lang="en-US" altLang="zh-CN" sz="1200">
              <a:solidFill>
                <a:srgbClr val="000000"/>
              </a:solidFill>
              <a:latin typeface="Times New Roman" panose="02020603050405020304" pitchFamily="18" charset="0"/>
            </a:endParaRPr>
          </a:p>
        </p:txBody>
      </p:sp>
      <p:pic>
        <p:nvPicPr>
          <p:cNvPr id="57349" name="图片 4">
            <a:extLst>
              <a:ext uri="{FF2B5EF4-FFF2-40B4-BE49-F238E27FC236}">
                <a16:creationId xmlns:a16="http://schemas.microsoft.com/office/drawing/2014/main" id="{A503C594-A9BF-47F7-A647-F7F4B6388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463" y="765175"/>
            <a:ext cx="423862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图片 7">
            <a:extLst>
              <a:ext uri="{FF2B5EF4-FFF2-40B4-BE49-F238E27FC236}">
                <a16:creationId xmlns:a16="http://schemas.microsoft.com/office/drawing/2014/main" id="{C8C21468-F860-4609-8028-5F63577442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6488" y="2347913"/>
            <a:ext cx="40386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0C1860EB-3C44-405D-8D73-3C406B1BB39E}"/>
              </a:ext>
            </a:extLst>
          </p:cNvPr>
          <p:cNvSpPr/>
          <p:nvPr/>
        </p:nvSpPr>
        <p:spPr>
          <a:xfrm>
            <a:off x="5935663" y="5532438"/>
            <a:ext cx="2430462" cy="577850"/>
          </a:xfrm>
          <a:prstGeom prst="rect">
            <a:avLst/>
          </a:prstGeom>
        </p:spPr>
        <p:txBody>
          <a:bodyPr>
            <a:spAutoFit/>
          </a:bodyPr>
          <a:lstStyle/>
          <a:p>
            <a:pPr>
              <a:defRPr/>
            </a:pPr>
            <a:r>
              <a:rPr lang="zh-CN" altLang="zh-CN" sz="1050" dirty="0">
                <a:solidFill>
                  <a:srgbClr val="474747"/>
                </a:solidFill>
                <a:ea typeface="等线" panose="02010600030101010101" pitchFamily="2" charset="-122"/>
                <a:cs typeface="Times New Roman" panose="02020603050405020304" pitchFamily="18" charset="0"/>
              </a:rPr>
              <a:t>得到分配方案为：甲工厂分配</a:t>
            </a:r>
            <a:r>
              <a:rPr lang="en-US" altLang="zh-CN" sz="1050" dirty="0">
                <a:solidFill>
                  <a:srgbClr val="474747"/>
                </a:solidFill>
                <a:ea typeface="等线" panose="02010600030101010101" pitchFamily="2" charset="-122"/>
                <a:cs typeface="Times New Roman" panose="02020603050405020304" pitchFamily="18" charset="0"/>
              </a:rPr>
              <a:t>0</a:t>
            </a:r>
            <a:r>
              <a:rPr lang="zh-CN" altLang="zh-CN" sz="1050" dirty="0">
                <a:solidFill>
                  <a:srgbClr val="474747"/>
                </a:solidFill>
                <a:ea typeface="等线" panose="02010600030101010101" pitchFamily="2" charset="-122"/>
                <a:cs typeface="Times New Roman" panose="02020603050405020304" pitchFamily="18" charset="0"/>
              </a:rPr>
              <a:t>台，乙工厂分配</a:t>
            </a:r>
            <a:r>
              <a:rPr lang="en-US" altLang="zh-CN" sz="1050" dirty="0">
                <a:solidFill>
                  <a:srgbClr val="474747"/>
                </a:solidFill>
                <a:ea typeface="等线" panose="02010600030101010101" pitchFamily="2" charset="-122"/>
                <a:cs typeface="Times New Roman" panose="02020603050405020304" pitchFamily="18" charset="0"/>
              </a:rPr>
              <a:t>2</a:t>
            </a:r>
            <a:r>
              <a:rPr lang="zh-CN" altLang="zh-CN" sz="1050" dirty="0">
                <a:solidFill>
                  <a:srgbClr val="474747"/>
                </a:solidFill>
                <a:ea typeface="等线" panose="02010600030101010101" pitchFamily="2" charset="-122"/>
                <a:cs typeface="Times New Roman" panose="02020603050405020304" pitchFamily="18" charset="0"/>
              </a:rPr>
              <a:t>台，丙工厂分配</a:t>
            </a:r>
            <a:r>
              <a:rPr lang="en-US" altLang="zh-CN" sz="1050" dirty="0">
                <a:solidFill>
                  <a:srgbClr val="474747"/>
                </a:solidFill>
                <a:ea typeface="等线" panose="02010600030101010101" pitchFamily="2" charset="-122"/>
                <a:cs typeface="Times New Roman" panose="02020603050405020304" pitchFamily="18" charset="0"/>
              </a:rPr>
              <a:t>3</a:t>
            </a:r>
            <a:r>
              <a:rPr lang="zh-CN" altLang="zh-CN" sz="1050" dirty="0">
                <a:solidFill>
                  <a:srgbClr val="474747"/>
                </a:solidFill>
                <a:ea typeface="等线" panose="02010600030101010101" pitchFamily="2" charset="-122"/>
                <a:cs typeface="Times New Roman" panose="02020603050405020304" pitchFamily="18" charset="0"/>
              </a:rPr>
              <a:t>台。最大总赢利为</a:t>
            </a:r>
            <a:r>
              <a:rPr lang="en-US" altLang="zh-CN" sz="1050" dirty="0">
                <a:solidFill>
                  <a:srgbClr val="474747"/>
                </a:solidFill>
                <a:ea typeface="等线" panose="02010600030101010101" pitchFamily="2" charset="-122"/>
                <a:cs typeface="Times New Roman" panose="02020603050405020304" pitchFamily="18" charset="0"/>
              </a:rPr>
              <a:t>21</a:t>
            </a:r>
            <a:r>
              <a:rPr lang="zh-CN" altLang="zh-CN" sz="1050" dirty="0">
                <a:solidFill>
                  <a:srgbClr val="474747"/>
                </a:solidFill>
                <a:ea typeface="等线" panose="02010600030101010101" pitchFamily="2" charset="-122"/>
                <a:cs typeface="Times New Roman" panose="02020603050405020304" pitchFamily="18" charset="0"/>
              </a:rPr>
              <a:t>万元。</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041779E-210E-4A4B-A46B-FE32B02A5FEA}"/>
              </a:ext>
            </a:extLst>
          </p:cNvPr>
          <p:cNvSpPr>
            <a:spLocks noGrp="1" noChangeArrowheads="1"/>
          </p:cNvSpPr>
          <p:nvPr>
            <p:ph type="title"/>
          </p:nvPr>
        </p:nvSpPr>
        <p:spPr/>
        <p:txBody>
          <a:bodyPr/>
          <a:lstStyle/>
          <a:p>
            <a:pPr eaLnBrk="1" hangingPunct="1"/>
            <a:r>
              <a:rPr lang="zh-CN" altLang="en-US"/>
              <a:t>生产与存储问题</a:t>
            </a:r>
            <a:r>
              <a:rPr lang="en-US" altLang="zh-CN"/>
              <a:t>(P261, 10.2)</a:t>
            </a:r>
            <a:r>
              <a:rPr lang="zh-CN" altLang="en-US"/>
              <a:t> </a:t>
            </a:r>
          </a:p>
        </p:txBody>
      </p:sp>
      <p:sp>
        <p:nvSpPr>
          <p:cNvPr id="58371" name="Rectangle 3">
            <a:extLst>
              <a:ext uri="{FF2B5EF4-FFF2-40B4-BE49-F238E27FC236}">
                <a16:creationId xmlns:a16="http://schemas.microsoft.com/office/drawing/2014/main" id="{B8D3FE97-93AD-4C1F-BC56-6E91BCDA8D01}"/>
              </a:ext>
            </a:extLst>
          </p:cNvPr>
          <p:cNvSpPr>
            <a:spLocks noGrp="1" noChangeArrowheads="1"/>
          </p:cNvSpPr>
          <p:nvPr>
            <p:ph type="body" idx="1"/>
          </p:nvPr>
        </p:nvSpPr>
        <p:spPr/>
        <p:txBody>
          <a:bodyPr/>
          <a:lstStyle/>
          <a:p>
            <a:pPr eaLnBrk="1" hangingPunct="1"/>
            <a:r>
              <a:rPr lang="zh-CN" altLang="en-US"/>
              <a:t>对某产品制定</a:t>
            </a:r>
            <a:r>
              <a:rPr lang="en-US" altLang="zh-CN" i="1"/>
              <a:t>n</a:t>
            </a:r>
            <a:r>
              <a:rPr lang="zh-CN" altLang="en-US"/>
              <a:t>个阶段的生产计划，满足：</a:t>
            </a:r>
          </a:p>
          <a:p>
            <a:pPr lvl="1" eaLnBrk="1" hangingPunct="1"/>
            <a:r>
              <a:rPr lang="zh-CN" altLang="en-US"/>
              <a:t>初始库存为零</a:t>
            </a:r>
          </a:p>
          <a:p>
            <a:pPr lvl="1" eaLnBrk="1" hangingPunct="1"/>
            <a:r>
              <a:rPr lang="zh-CN" altLang="en-US"/>
              <a:t>每阶段最多能生产数量为</a:t>
            </a:r>
            <a:r>
              <a:rPr lang="en-US" altLang="zh-CN" i="1"/>
              <a:t>m</a:t>
            </a:r>
          </a:p>
          <a:p>
            <a:pPr lvl="1" eaLnBrk="1" hangingPunct="1"/>
            <a:r>
              <a:rPr lang="zh-CN" altLang="en-US"/>
              <a:t>第</a:t>
            </a:r>
            <a:r>
              <a:rPr lang="en-US" altLang="zh-CN" i="1"/>
              <a:t>k</a:t>
            </a:r>
            <a:r>
              <a:rPr lang="zh-CN" altLang="en-US"/>
              <a:t>阶段对产品的需求量为</a:t>
            </a:r>
            <a:r>
              <a:rPr lang="en-US" altLang="zh-CN" i="1"/>
              <a:t>d</a:t>
            </a:r>
            <a:r>
              <a:rPr lang="en-US" altLang="zh-CN" i="1" baseline="-25000"/>
              <a:t>k</a:t>
            </a:r>
          </a:p>
          <a:p>
            <a:pPr lvl="1" eaLnBrk="1" hangingPunct="1"/>
            <a:r>
              <a:rPr lang="en-US" altLang="zh-CN" i="1"/>
              <a:t>n </a:t>
            </a:r>
            <a:r>
              <a:rPr lang="zh-CN" altLang="en-US"/>
              <a:t>阶段末库存为零</a:t>
            </a:r>
          </a:p>
          <a:p>
            <a:pPr eaLnBrk="1" hangingPunct="1"/>
            <a:r>
              <a:rPr lang="zh-CN" altLang="en-US"/>
              <a:t>如何制定每阶段生产计划，使总成本最小</a:t>
            </a:r>
            <a:r>
              <a:rPr lang="en-US" altLang="zh-CN"/>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D0CCC1DB-B619-488C-B4FF-A8FD4E78365D}"/>
              </a:ext>
            </a:extLst>
          </p:cNvPr>
          <p:cNvSpPr>
            <a:spLocks noGrp="1" noChangeArrowheads="1"/>
          </p:cNvSpPr>
          <p:nvPr>
            <p:ph type="body" idx="1"/>
          </p:nvPr>
        </p:nvSpPr>
        <p:spPr>
          <a:xfrm>
            <a:off x="609600" y="334963"/>
            <a:ext cx="8153400" cy="6189662"/>
          </a:xfrm>
        </p:spPr>
        <p:txBody>
          <a:bodyPr/>
          <a:lstStyle/>
          <a:p>
            <a:pPr marL="0" indent="384175">
              <a:lnSpc>
                <a:spcPct val="105000"/>
              </a:lnSpc>
              <a:buFont typeface="Wingdings" panose="05000000000000000000" pitchFamily="2" charset="2"/>
              <a:buNone/>
            </a:pPr>
            <a:r>
              <a:rPr lang="zh-CN" altLang="en-US" sz="2800">
                <a:solidFill>
                  <a:srgbClr val="000066"/>
                </a:solidFill>
              </a:rPr>
              <a:t>二、生产与存储问题</a:t>
            </a:r>
          </a:p>
          <a:p>
            <a:pPr marL="0" indent="384175">
              <a:lnSpc>
                <a:spcPct val="105000"/>
              </a:lnSpc>
              <a:buFont typeface="Wingdings" panose="05000000000000000000" pitchFamily="2" charset="2"/>
              <a:buNone/>
            </a:pPr>
            <a:r>
              <a:rPr lang="en-US" altLang="zh-CN" sz="2400"/>
              <a:t>1</a:t>
            </a:r>
            <a:r>
              <a:rPr lang="zh-CN" altLang="en-US" sz="2400"/>
              <a:t>、例</a:t>
            </a:r>
            <a:r>
              <a:rPr lang="en-US" altLang="zh-CN" sz="2400"/>
              <a:t>4—</a:t>
            </a:r>
            <a:r>
              <a:rPr lang="zh-CN" altLang="en-US" sz="2400"/>
              <a:t>生产计划问题：</a:t>
            </a:r>
            <a:endParaRPr lang="en-US" altLang="zh-CN" sz="2400"/>
          </a:p>
          <a:p>
            <a:pPr marL="0" indent="384175" algn="just">
              <a:lnSpc>
                <a:spcPct val="105000"/>
              </a:lnSpc>
              <a:spcBef>
                <a:spcPct val="15000"/>
              </a:spcBef>
              <a:buFont typeface="Wingdings" panose="05000000000000000000" pitchFamily="2" charset="2"/>
              <a:buNone/>
            </a:pPr>
            <a:r>
              <a:rPr lang="zh-CN" altLang="en-US" sz="2400">
                <a:solidFill>
                  <a:srgbClr val="000066"/>
                </a:solidFill>
              </a:rPr>
              <a:t>某工厂要对一种产品制订今后四个时期的生产计划，据估计在今后四个时期内，市场对于该产品的需求量如下表所示。假定该厂生产每批产品的固定成本为</a:t>
            </a:r>
            <a:r>
              <a:rPr lang="en-US" altLang="zh-CN" sz="2400">
                <a:solidFill>
                  <a:srgbClr val="000066"/>
                </a:solidFill>
              </a:rPr>
              <a:t>3</a:t>
            </a:r>
            <a:r>
              <a:rPr lang="zh-CN" altLang="en-US" sz="2400">
                <a:solidFill>
                  <a:srgbClr val="000066"/>
                </a:solidFill>
              </a:rPr>
              <a:t>千元，若不生产就为</a:t>
            </a:r>
            <a:r>
              <a:rPr lang="en-US" altLang="zh-CN" sz="2400">
                <a:solidFill>
                  <a:srgbClr val="000066"/>
                </a:solidFill>
              </a:rPr>
              <a:t>0</a:t>
            </a:r>
            <a:r>
              <a:rPr lang="zh-CN" altLang="en-US" sz="2400">
                <a:solidFill>
                  <a:srgbClr val="000066"/>
                </a:solidFill>
              </a:rPr>
              <a:t>，每单位产品成本为</a:t>
            </a:r>
            <a:r>
              <a:rPr lang="en-US" altLang="zh-CN" sz="2400">
                <a:solidFill>
                  <a:srgbClr val="000066"/>
                </a:solidFill>
              </a:rPr>
              <a:t>1</a:t>
            </a:r>
            <a:r>
              <a:rPr lang="zh-CN" altLang="en-US" sz="2400">
                <a:solidFill>
                  <a:srgbClr val="000066"/>
                </a:solidFill>
              </a:rPr>
              <a:t>千元，每个时期生产能力所允许的最大生产批量为不超过</a:t>
            </a:r>
            <a:r>
              <a:rPr lang="en-US" altLang="zh-CN" sz="2400">
                <a:solidFill>
                  <a:srgbClr val="000066"/>
                </a:solidFill>
              </a:rPr>
              <a:t>6</a:t>
            </a:r>
            <a:r>
              <a:rPr lang="zh-CN" altLang="en-US" sz="2400">
                <a:solidFill>
                  <a:srgbClr val="000066"/>
                </a:solidFill>
              </a:rPr>
              <a:t>个单位，每个时期末未售出的产品，每单位需付存货费</a:t>
            </a:r>
            <a:r>
              <a:rPr lang="en-US" altLang="zh-CN" sz="2400">
                <a:solidFill>
                  <a:srgbClr val="000066"/>
                </a:solidFill>
              </a:rPr>
              <a:t>0.5</a:t>
            </a:r>
            <a:r>
              <a:rPr lang="zh-CN" altLang="en-US" sz="2400">
                <a:solidFill>
                  <a:srgbClr val="000066"/>
                </a:solidFill>
              </a:rPr>
              <a:t>千元。还假定在第一个时期的初始库存量为</a:t>
            </a:r>
            <a:r>
              <a:rPr lang="en-US" altLang="zh-CN" sz="2400">
                <a:solidFill>
                  <a:srgbClr val="000066"/>
                </a:solidFill>
              </a:rPr>
              <a:t>0</a:t>
            </a:r>
            <a:r>
              <a:rPr lang="zh-CN" altLang="en-US" sz="2400">
                <a:solidFill>
                  <a:srgbClr val="000066"/>
                </a:solidFill>
              </a:rPr>
              <a:t>，第四个时期之末的库存量也为</a:t>
            </a:r>
            <a:r>
              <a:rPr lang="en-US" altLang="zh-CN" sz="2400">
                <a:solidFill>
                  <a:srgbClr val="000066"/>
                </a:solidFill>
              </a:rPr>
              <a:t>0</a:t>
            </a:r>
            <a:r>
              <a:rPr lang="zh-CN" altLang="en-US" sz="2400">
                <a:solidFill>
                  <a:srgbClr val="000066"/>
                </a:solidFill>
              </a:rPr>
              <a:t>。试问：该厂应如何安排各个时期的生产与库存，才能在满足市场需求的条件下，总成本最小。</a:t>
            </a:r>
          </a:p>
        </p:txBody>
      </p:sp>
      <p:graphicFrame>
        <p:nvGraphicFramePr>
          <p:cNvPr id="59395" name="Object 4">
            <a:extLst>
              <a:ext uri="{FF2B5EF4-FFF2-40B4-BE49-F238E27FC236}">
                <a16:creationId xmlns:a16="http://schemas.microsoft.com/office/drawing/2014/main" id="{F49D9348-6F6E-4DD6-87AB-BD5B05859B16}"/>
              </a:ext>
            </a:extLst>
          </p:cNvPr>
          <p:cNvGraphicFramePr>
            <a:graphicFrameLocks noChangeAspect="1"/>
          </p:cNvGraphicFramePr>
          <p:nvPr/>
        </p:nvGraphicFramePr>
        <p:xfrm>
          <a:off x="1117600" y="4968875"/>
          <a:ext cx="7239000" cy="1185863"/>
        </p:xfrm>
        <a:graphic>
          <a:graphicData uri="http://schemas.openxmlformats.org/presentationml/2006/ole">
            <mc:AlternateContent xmlns:mc="http://schemas.openxmlformats.org/markup-compatibility/2006">
              <mc:Choice xmlns:v="urn:schemas-microsoft-com:vml" Requires="v">
                <p:oleObj spid="_x0000_s59412" name="Worksheet" r:id="rId3" imgW="6181722" imgH="4172085" progId="Excel.Sheet.8">
                  <p:embed/>
                </p:oleObj>
              </mc:Choice>
              <mc:Fallback>
                <p:oleObj name="Worksheet" r:id="rId3" imgW="6181722" imgH="4172085" progId="Excel.Shee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r="44530" b="86530"/>
                      <a:stretch>
                        <a:fillRect/>
                      </a:stretch>
                    </p:blipFill>
                    <p:spPr bwMode="auto">
                      <a:xfrm>
                        <a:off x="1117600" y="4968875"/>
                        <a:ext cx="72390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3">
            <a:extLst>
              <a:ext uri="{FF2B5EF4-FFF2-40B4-BE49-F238E27FC236}">
                <a16:creationId xmlns:a16="http://schemas.microsoft.com/office/drawing/2014/main" id="{2861689D-AE96-4F57-AC00-0F342E6F0925}"/>
              </a:ext>
            </a:extLst>
          </p:cNvPr>
          <p:cNvSpPr>
            <a:spLocks noGrp="1" noChangeArrowheads="1"/>
          </p:cNvSpPr>
          <p:nvPr>
            <p:ph type="body" idx="1"/>
          </p:nvPr>
        </p:nvSpPr>
        <p:spPr>
          <a:xfrm>
            <a:off x="323850" y="1844675"/>
            <a:ext cx="8734425" cy="3168650"/>
          </a:xfrm>
        </p:spPr>
        <p:txBody>
          <a:bodyPr/>
          <a:lstStyle/>
          <a:p>
            <a:pPr marL="0" indent="384175">
              <a:lnSpc>
                <a:spcPct val="105000"/>
              </a:lnSpc>
              <a:spcBef>
                <a:spcPct val="15000"/>
              </a:spcBef>
              <a:buFont typeface="Wingdings" panose="05000000000000000000" pitchFamily="2" charset="2"/>
              <a:buNone/>
            </a:pPr>
            <a:r>
              <a:rPr lang="en-US" altLang="zh-CN" sz="2400"/>
              <a:t>1</a:t>
            </a:r>
            <a:r>
              <a:rPr lang="zh-CN" altLang="en-US" sz="2400"/>
              <a:t>）该问题分成四个</a:t>
            </a:r>
            <a:r>
              <a:rPr lang="zh-CN" altLang="en-US" sz="2400">
                <a:solidFill>
                  <a:srgbClr val="000066"/>
                </a:solidFill>
              </a:rPr>
              <a:t>阶段</a:t>
            </a:r>
            <a:r>
              <a:rPr lang="zh-CN" altLang="en-US" sz="2400"/>
              <a:t>，</a:t>
            </a:r>
            <a:r>
              <a:rPr lang="en-US" altLang="zh-CN" sz="2400" i="1"/>
              <a:t>k</a:t>
            </a:r>
            <a:r>
              <a:rPr lang="zh-CN" altLang="en-US" sz="2400"/>
              <a:t>表示年度，</a:t>
            </a:r>
            <a:r>
              <a:rPr lang="en-US" altLang="zh-CN" sz="2400" i="1"/>
              <a:t>k</a:t>
            </a:r>
            <a:r>
              <a:rPr lang="zh-CN" altLang="en-US" sz="2400"/>
              <a:t>＝</a:t>
            </a:r>
            <a:r>
              <a:rPr lang="en-US" altLang="zh-CN" sz="2400"/>
              <a:t>1</a:t>
            </a:r>
            <a:r>
              <a:rPr lang="zh-CN" altLang="en-US" sz="2400"/>
              <a:t>，</a:t>
            </a:r>
            <a:r>
              <a:rPr lang="en-US" altLang="zh-CN" sz="2400"/>
              <a:t>2</a:t>
            </a:r>
            <a:r>
              <a:rPr lang="zh-CN" altLang="en-US" sz="2400"/>
              <a:t>，</a:t>
            </a:r>
            <a:r>
              <a:rPr lang="en-US" altLang="zh-CN" sz="2400"/>
              <a:t>3</a:t>
            </a:r>
            <a:r>
              <a:rPr lang="zh-CN" altLang="en-US" sz="2400"/>
              <a:t>，</a:t>
            </a:r>
            <a:r>
              <a:rPr lang="en-US" altLang="zh-CN" sz="2400"/>
              <a:t>4</a:t>
            </a:r>
          </a:p>
          <a:p>
            <a:pPr marL="0" indent="384175">
              <a:lnSpc>
                <a:spcPct val="105000"/>
              </a:lnSpc>
              <a:spcBef>
                <a:spcPct val="15000"/>
              </a:spcBef>
              <a:buFont typeface="Wingdings" panose="05000000000000000000" pitchFamily="2" charset="2"/>
              <a:buNone/>
            </a:pPr>
            <a:r>
              <a:rPr lang="en-US" altLang="zh-CN" sz="2400"/>
              <a:t>2</a:t>
            </a:r>
            <a:r>
              <a:rPr lang="zh-CN" altLang="en-US" sz="2400"/>
              <a:t>）设</a:t>
            </a:r>
            <a:r>
              <a:rPr lang="en-US" altLang="zh-CN" sz="2400" i="1">
                <a:solidFill>
                  <a:srgbClr val="FF0000"/>
                </a:solidFill>
              </a:rPr>
              <a:t>v</a:t>
            </a:r>
            <a:r>
              <a:rPr lang="en-US" altLang="zh-CN" sz="2400" i="1" baseline="-30000">
                <a:solidFill>
                  <a:srgbClr val="FF0000"/>
                </a:solidFill>
              </a:rPr>
              <a:t>k</a:t>
            </a:r>
            <a:r>
              <a:rPr lang="zh-CN" altLang="en-US" sz="2400" baseline="-30000">
                <a:solidFill>
                  <a:srgbClr val="FF0000"/>
                </a:solidFill>
              </a:rPr>
              <a:t>－</a:t>
            </a:r>
            <a:r>
              <a:rPr lang="en-US" altLang="zh-CN" sz="2400" baseline="-30000">
                <a:solidFill>
                  <a:srgbClr val="FF0000"/>
                </a:solidFill>
              </a:rPr>
              <a:t>1</a:t>
            </a:r>
            <a:r>
              <a:rPr lang="zh-CN" altLang="en-US" sz="2400"/>
              <a:t>表示为第</a:t>
            </a:r>
            <a:r>
              <a:rPr lang="en-US" altLang="zh-CN" sz="2400" i="1"/>
              <a:t>k</a:t>
            </a:r>
            <a:r>
              <a:rPr lang="zh-CN" altLang="en-US" sz="2400"/>
              <a:t>年初的库存量，第</a:t>
            </a:r>
            <a:r>
              <a:rPr lang="en-US" altLang="zh-CN" sz="2400" i="1"/>
              <a:t>k</a:t>
            </a:r>
            <a:r>
              <a:rPr lang="zh-CN" altLang="en-US" sz="2400"/>
              <a:t>－</a:t>
            </a:r>
            <a:r>
              <a:rPr lang="en-US" altLang="zh-CN" sz="2400"/>
              <a:t>1</a:t>
            </a:r>
            <a:r>
              <a:rPr lang="zh-CN" altLang="en-US" sz="2400"/>
              <a:t>年末的库存量。</a:t>
            </a:r>
          </a:p>
          <a:p>
            <a:pPr marL="0" indent="384175">
              <a:lnSpc>
                <a:spcPct val="105000"/>
              </a:lnSpc>
              <a:spcBef>
                <a:spcPct val="15000"/>
              </a:spcBef>
              <a:buFont typeface="Wingdings" panose="05000000000000000000" pitchFamily="2" charset="2"/>
              <a:buNone/>
            </a:pPr>
            <a:r>
              <a:rPr lang="zh-CN" altLang="en-US" sz="2400">
                <a:solidFill>
                  <a:srgbClr val="000066"/>
                </a:solidFill>
              </a:rPr>
              <a:t>决策变量</a:t>
            </a:r>
            <a:r>
              <a:rPr lang="en-US" altLang="zh-CN" sz="2400" i="1">
                <a:solidFill>
                  <a:srgbClr val="000066"/>
                </a:solidFill>
              </a:rPr>
              <a:t>x</a:t>
            </a:r>
            <a:r>
              <a:rPr lang="en-US" altLang="zh-CN" sz="2400" i="1" baseline="-30000">
                <a:solidFill>
                  <a:srgbClr val="000066"/>
                </a:solidFill>
              </a:rPr>
              <a:t>k</a:t>
            </a:r>
            <a:r>
              <a:rPr lang="zh-CN" altLang="en-US" sz="2400"/>
              <a:t>表示为第</a:t>
            </a:r>
            <a:r>
              <a:rPr lang="en-US" altLang="zh-CN" sz="2400" i="1"/>
              <a:t>k</a:t>
            </a:r>
            <a:r>
              <a:rPr lang="zh-CN" altLang="en-US" sz="2400"/>
              <a:t>年的生产量，</a:t>
            </a:r>
            <a:r>
              <a:rPr lang="en-US" altLang="zh-CN" sz="2400" i="1"/>
              <a:t>d</a:t>
            </a:r>
            <a:r>
              <a:rPr lang="en-US" altLang="zh-CN" sz="2400" i="1" baseline="-30000"/>
              <a:t>k</a:t>
            </a:r>
            <a:r>
              <a:rPr lang="zh-CN" altLang="en-US" sz="2400"/>
              <a:t>表示为第</a:t>
            </a:r>
            <a:r>
              <a:rPr lang="en-US" altLang="zh-CN" sz="2400" i="1"/>
              <a:t>k</a:t>
            </a:r>
            <a:r>
              <a:rPr lang="zh-CN" altLang="en-US" sz="2400"/>
              <a:t>年的需求</a:t>
            </a:r>
          </a:p>
          <a:p>
            <a:pPr marL="0" indent="384175">
              <a:lnSpc>
                <a:spcPct val="105000"/>
              </a:lnSpc>
              <a:spcBef>
                <a:spcPct val="15000"/>
              </a:spcBef>
              <a:buFont typeface="Wingdings" panose="05000000000000000000" pitchFamily="2" charset="2"/>
              <a:buNone/>
            </a:pPr>
            <a:r>
              <a:rPr lang="zh-CN" altLang="en-US" sz="2400"/>
              <a:t> </a:t>
            </a:r>
            <a:r>
              <a:rPr lang="en-US" altLang="zh-CN" sz="2400">
                <a:solidFill>
                  <a:srgbClr val="FF0000"/>
                </a:solidFill>
              </a:rPr>
              <a:t>D</a:t>
            </a:r>
            <a:r>
              <a:rPr lang="en-US" altLang="zh-CN" sz="2400" i="1" baseline="-30000">
                <a:solidFill>
                  <a:srgbClr val="FF0000"/>
                </a:solidFill>
              </a:rPr>
              <a:t>k</a:t>
            </a:r>
            <a:r>
              <a:rPr lang="en-US" altLang="zh-CN" sz="2400">
                <a:solidFill>
                  <a:srgbClr val="FF0000"/>
                </a:solidFill>
              </a:rPr>
              <a:t> (</a:t>
            </a:r>
            <a:r>
              <a:rPr lang="en-US" altLang="zh-CN" sz="2400" i="1">
                <a:solidFill>
                  <a:srgbClr val="FF0000"/>
                </a:solidFill>
              </a:rPr>
              <a:t>v</a:t>
            </a:r>
            <a:r>
              <a:rPr lang="en-US" altLang="zh-CN" sz="2400" i="1" baseline="-30000">
                <a:solidFill>
                  <a:srgbClr val="FF0000"/>
                </a:solidFill>
              </a:rPr>
              <a:t>k</a:t>
            </a:r>
            <a:r>
              <a:rPr lang="en-US" altLang="zh-CN" sz="2400">
                <a:solidFill>
                  <a:srgbClr val="FF0000"/>
                </a:solidFill>
              </a:rPr>
              <a:t>)={</a:t>
            </a:r>
            <a:r>
              <a:rPr lang="en-US" altLang="zh-CN" sz="2400" i="1">
                <a:solidFill>
                  <a:srgbClr val="FF0000"/>
                </a:solidFill>
              </a:rPr>
              <a:t>x</a:t>
            </a:r>
            <a:r>
              <a:rPr lang="en-US" altLang="zh-CN" sz="2400" i="1" baseline="-30000">
                <a:solidFill>
                  <a:srgbClr val="FF0000"/>
                </a:solidFill>
              </a:rPr>
              <a:t>k</a:t>
            </a:r>
            <a:r>
              <a:rPr lang="en-US" altLang="zh-CN" sz="2400">
                <a:solidFill>
                  <a:srgbClr val="FF0000"/>
                </a:solidFill>
              </a:rPr>
              <a:t>|0≤</a:t>
            </a:r>
            <a:r>
              <a:rPr lang="en-US" altLang="zh-CN" sz="2400" i="1">
                <a:solidFill>
                  <a:srgbClr val="FF0000"/>
                </a:solidFill>
              </a:rPr>
              <a:t>x</a:t>
            </a:r>
            <a:r>
              <a:rPr lang="en-US" altLang="zh-CN" sz="2400" i="1" baseline="-30000">
                <a:solidFill>
                  <a:srgbClr val="FF0000"/>
                </a:solidFill>
              </a:rPr>
              <a:t>k</a:t>
            </a:r>
            <a:r>
              <a:rPr lang="en-US" altLang="zh-CN" sz="2400">
                <a:solidFill>
                  <a:srgbClr val="FF0000"/>
                </a:solidFill>
              </a:rPr>
              <a:t> ≤6}</a:t>
            </a:r>
            <a:endParaRPr lang="en-US" altLang="zh-CN" sz="2400"/>
          </a:p>
          <a:p>
            <a:pPr marL="0" indent="384175" algn="just">
              <a:lnSpc>
                <a:spcPct val="105000"/>
              </a:lnSpc>
              <a:spcBef>
                <a:spcPct val="15000"/>
              </a:spcBef>
              <a:buFont typeface="Wingdings" panose="05000000000000000000" pitchFamily="2" charset="2"/>
              <a:buNone/>
            </a:pPr>
            <a:r>
              <a:rPr lang="zh-CN" altLang="en-US" sz="2400">
                <a:solidFill>
                  <a:srgbClr val="000066"/>
                </a:solidFill>
              </a:rPr>
              <a:t>状态转移方程：</a:t>
            </a:r>
            <a:r>
              <a:rPr lang="en-US" altLang="zh-CN" sz="2400" i="1">
                <a:solidFill>
                  <a:srgbClr val="FF0000"/>
                </a:solidFill>
              </a:rPr>
              <a:t>v</a:t>
            </a:r>
            <a:r>
              <a:rPr lang="en-US" altLang="zh-CN" sz="2400" i="1" baseline="-30000">
                <a:solidFill>
                  <a:srgbClr val="FF0000"/>
                </a:solidFill>
              </a:rPr>
              <a:t>k</a:t>
            </a:r>
            <a:r>
              <a:rPr lang="zh-CN" altLang="en-US" sz="2400">
                <a:solidFill>
                  <a:srgbClr val="FF0000"/>
                </a:solidFill>
              </a:rPr>
              <a:t>＝</a:t>
            </a:r>
            <a:r>
              <a:rPr lang="en-US" altLang="zh-CN" sz="2400" i="1">
                <a:solidFill>
                  <a:srgbClr val="FF0000"/>
                </a:solidFill>
              </a:rPr>
              <a:t>v</a:t>
            </a:r>
            <a:r>
              <a:rPr lang="en-US" altLang="zh-CN" sz="2400" i="1" baseline="-30000">
                <a:solidFill>
                  <a:srgbClr val="FF0000"/>
                </a:solidFill>
              </a:rPr>
              <a:t>k</a:t>
            </a:r>
            <a:r>
              <a:rPr lang="zh-CN" altLang="en-US" sz="2400" baseline="-30000">
                <a:solidFill>
                  <a:srgbClr val="FF0000"/>
                </a:solidFill>
              </a:rPr>
              <a:t>－</a:t>
            </a:r>
            <a:r>
              <a:rPr lang="en-US" altLang="zh-CN" sz="2400" baseline="-30000">
                <a:solidFill>
                  <a:srgbClr val="FF0000"/>
                </a:solidFill>
              </a:rPr>
              <a:t>1 </a:t>
            </a:r>
            <a:r>
              <a:rPr lang="zh-CN" altLang="en-US" sz="2400">
                <a:solidFill>
                  <a:srgbClr val="FF0000"/>
                </a:solidFill>
              </a:rPr>
              <a:t>＋</a:t>
            </a:r>
            <a:r>
              <a:rPr lang="en-US" altLang="zh-CN" sz="2400" i="1">
                <a:solidFill>
                  <a:srgbClr val="FF0000"/>
                </a:solidFill>
              </a:rPr>
              <a:t> x</a:t>
            </a:r>
            <a:r>
              <a:rPr lang="en-US" altLang="zh-CN" sz="2400" i="1" baseline="-30000">
                <a:solidFill>
                  <a:srgbClr val="FF0000"/>
                </a:solidFill>
              </a:rPr>
              <a:t>k </a:t>
            </a:r>
            <a:r>
              <a:rPr lang="zh-CN" altLang="en-US" sz="2400">
                <a:solidFill>
                  <a:srgbClr val="FF0000"/>
                </a:solidFill>
              </a:rPr>
              <a:t>－</a:t>
            </a:r>
            <a:r>
              <a:rPr lang="en-US" altLang="zh-CN" sz="2400" i="1">
                <a:solidFill>
                  <a:srgbClr val="FF0000"/>
                </a:solidFill>
              </a:rPr>
              <a:t> d</a:t>
            </a:r>
            <a:r>
              <a:rPr lang="en-US" altLang="zh-CN" sz="2400" i="1" baseline="-30000">
                <a:solidFill>
                  <a:srgbClr val="FF0000"/>
                </a:solidFill>
              </a:rPr>
              <a:t>k</a:t>
            </a:r>
            <a:endParaRPr lang="en-US" altLang="zh-CN" sz="2400">
              <a:solidFill>
                <a:srgbClr val="FF0000"/>
              </a:solidFill>
            </a:endParaRPr>
          </a:p>
          <a:p>
            <a:pPr marL="0" indent="384175" algn="just">
              <a:lnSpc>
                <a:spcPct val="105000"/>
              </a:lnSpc>
              <a:spcBef>
                <a:spcPct val="15000"/>
              </a:spcBef>
              <a:buFont typeface="Wingdings" panose="05000000000000000000" pitchFamily="2" charset="2"/>
              <a:buNone/>
            </a:pPr>
            <a:r>
              <a:rPr lang="en-US" altLang="zh-CN" sz="2400"/>
              <a:t> </a:t>
            </a:r>
            <a:r>
              <a:rPr lang="en-US" altLang="zh-CN" sz="2400" i="1"/>
              <a:t>v</a:t>
            </a:r>
            <a:r>
              <a:rPr lang="en-US" altLang="zh-CN" sz="2400" baseline="-30000"/>
              <a:t>0</a:t>
            </a:r>
            <a:r>
              <a:rPr lang="zh-CN" altLang="en-US" sz="2400"/>
              <a:t>＝</a:t>
            </a:r>
            <a:r>
              <a:rPr lang="en-US" altLang="zh-CN" sz="2400"/>
              <a:t>0      </a:t>
            </a:r>
            <a:r>
              <a:rPr lang="en-US" altLang="zh-CN" sz="2400" i="1"/>
              <a:t>v</a:t>
            </a:r>
            <a:r>
              <a:rPr lang="en-US" altLang="zh-CN" sz="2400" baseline="-30000"/>
              <a:t>4</a:t>
            </a:r>
            <a:r>
              <a:rPr lang="zh-CN" altLang="en-US" sz="2400"/>
              <a:t>＝</a:t>
            </a:r>
            <a:r>
              <a:rPr lang="en-US" altLang="zh-CN" sz="2400"/>
              <a:t>0 </a:t>
            </a:r>
          </a:p>
          <a:p>
            <a:pPr marL="0" indent="384175">
              <a:lnSpc>
                <a:spcPct val="105000"/>
              </a:lnSpc>
              <a:spcBef>
                <a:spcPct val="15000"/>
              </a:spcBef>
              <a:buFont typeface="Wingdings" panose="05000000000000000000" pitchFamily="2" charset="2"/>
              <a:buNone/>
            </a:pPr>
            <a:r>
              <a:rPr lang="en-US" altLang="zh-CN" sz="2400"/>
              <a:t>3</a:t>
            </a:r>
            <a:r>
              <a:rPr lang="zh-CN" altLang="en-US" sz="2400"/>
              <a:t>）第</a:t>
            </a:r>
            <a:r>
              <a:rPr lang="en-US" altLang="zh-CN" sz="2400" i="1"/>
              <a:t>k</a:t>
            </a:r>
            <a:r>
              <a:rPr lang="zh-CN" altLang="en-US" sz="2400"/>
              <a:t>年的生产成本为： </a:t>
            </a:r>
          </a:p>
          <a:p>
            <a:pPr marL="0" indent="384175">
              <a:lnSpc>
                <a:spcPct val="105000"/>
              </a:lnSpc>
              <a:spcBef>
                <a:spcPct val="15000"/>
              </a:spcBef>
              <a:buFont typeface="Wingdings" panose="05000000000000000000" pitchFamily="2" charset="2"/>
              <a:buNone/>
            </a:pPr>
            <a:endParaRPr lang="zh-CN" altLang="en-US" sz="2400"/>
          </a:p>
        </p:txBody>
      </p:sp>
      <p:graphicFrame>
        <p:nvGraphicFramePr>
          <p:cNvPr id="60419" name="对象 1">
            <a:extLst>
              <a:ext uri="{FF2B5EF4-FFF2-40B4-BE49-F238E27FC236}">
                <a16:creationId xmlns:a16="http://schemas.microsoft.com/office/drawing/2014/main" id="{3C9D209F-B81E-4D52-B073-0204FD103759}"/>
              </a:ext>
            </a:extLst>
          </p:cNvPr>
          <p:cNvGraphicFramePr>
            <a:graphicFrameLocks noChangeAspect="1"/>
          </p:cNvGraphicFramePr>
          <p:nvPr/>
        </p:nvGraphicFramePr>
        <p:xfrm>
          <a:off x="1331913" y="5013325"/>
          <a:ext cx="5173662" cy="1655763"/>
        </p:xfrm>
        <a:graphic>
          <a:graphicData uri="http://schemas.openxmlformats.org/presentationml/2006/ole">
            <mc:AlternateContent xmlns:mc="http://schemas.openxmlformats.org/markup-compatibility/2006">
              <mc:Choice xmlns:v="urn:schemas-microsoft-com:vml" Requires="v">
                <p:oleObj spid="_x0000_s60437" name="Equation" r:id="rId3" imgW="1587500" imgH="508000" progId="Equation.DSMT4">
                  <p:embed/>
                </p:oleObj>
              </mc:Choice>
              <mc:Fallback>
                <p:oleObj name="Equation" r:id="rId3" imgW="1587500" imgH="508000"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5013325"/>
                        <a:ext cx="5173662"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0420" name="图片 4">
            <a:extLst>
              <a:ext uri="{FF2B5EF4-FFF2-40B4-BE49-F238E27FC236}">
                <a16:creationId xmlns:a16="http://schemas.microsoft.com/office/drawing/2014/main" id="{5D9EC716-210C-45F7-B405-F4F14D1600A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28575"/>
            <a:ext cx="3605213" cy="17541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3">
            <a:extLst>
              <a:ext uri="{FF2B5EF4-FFF2-40B4-BE49-F238E27FC236}">
                <a16:creationId xmlns:a16="http://schemas.microsoft.com/office/drawing/2014/main" id="{A0C270AA-1A99-480E-9438-A591CC4D9200}"/>
              </a:ext>
            </a:extLst>
          </p:cNvPr>
          <p:cNvSpPr>
            <a:spLocks noGrp="1" noChangeArrowheads="1"/>
          </p:cNvSpPr>
          <p:nvPr>
            <p:ph type="body" idx="1"/>
          </p:nvPr>
        </p:nvSpPr>
        <p:spPr>
          <a:xfrm>
            <a:off x="323850" y="115888"/>
            <a:ext cx="8569325" cy="6337300"/>
          </a:xfrm>
        </p:spPr>
        <p:txBody>
          <a:bodyPr/>
          <a:lstStyle/>
          <a:p>
            <a:pPr marL="0" indent="384175" algn="just">
              <a:lnSpc>
                <a:spcPct val="105000"/>
              </a:lnSpc>
              <a:spcBef>
                <a:spcPct val="15000"/>
              </a:spcBef>
              <a:buFont typeface="Wingdings" panose="05000000000000000000" pitchFamily="2" charset="2"/>
              <a:buNone/>
            </a:pPr>
            <a:r>
              <a:rPr lang="zh-CN" altLang="en-US" sz="2400"/>
              <a:t>第</a:t>
            </a:r>
            <a:r>
              <a:rPr lang="en-US" altLang="zh-CN" sz="2400" i="1"/>
              <a:t>k</a:t>
            </a:r>
            <a:r>
              <a:rPr lang="zh-CN" altLang="en-US" sz="2400"/>
              <a:t>期末库存量为</a:t>
            </a:r>
            <a:r>
              <a:rPr lang="en-US" altLang="zh-CN" sz="2400" i="1"/>
              <a:t>v</a:t>
            </a:r>
            <a:r>
              <a:rPr lang="en-US" altLang="zh-CN" sz="2400" i="1" baseline="-30000"/>
              <a:t>k</a:t>
            </a:r>
            <a:r>
              <a:rPr lang="zh-CN" altLang="en-US" sz="2400"/>
              <a:t>的存储费用为  </a:t>
            </a:r>
            <a:r>
              <a:rPr lang="en-US" altLang="zh-CN" sz="2400" i="1"/>
              <a:t>h</a:t>
            </a:r>
            <a:r>
              <a:rPr lang="en-US" altLang="zh-CN" sz="2400" i="1" baseline="-30000"/>
              <a:t>k</a:t>
            </a:r>
            <a:r>
              <a:rPr lang="en-US" altLang="zh-CN" sz="2400"/>
              <a:t>(</a:t>
            </a:r>
            <a:r>
              <a:rPr lang="en-US" altLang="zh-CN" sz="2400" i="1"/>
              <a:t>v</a:t>
            </a:r>
            <a:r>
              <a:rPr lang="en-US" altLang="zh-CN" sz="2400" i="1" baseline="-30000"/>
              <a:t>k</a:t>
            </a:r>
            <a:r>
              <a:rPr lang="en-US" altLang="zh-CN" sz="2400"/>
              <a:t>)=0.5 </a:t>
            </a:r>
            <a:r>
              <a:rPr lang="en-US" altLang="zh-CN" sz="2400" i="1"/>
              <a:t>v</a:t>
            </a:r>
            <a:r>
              <a:rPr lang="en-US" altLang="zh-CN" sz="2400" i="1" baseline="-30000"/>
              <a:t>k</a:t>
            </a:r>
            <a:endParaRPr lang="en-US" altLang="zh-CN" sz="2400" i="1"/>
          </a:p>
          <a:p>
            <a:pPr marL="0" indent="384175" algn="just">
              <a:lnSpc>
                <a:spcPct val="105000"/>
              </a:lnSpc>
              <a:spcBef>
                <a:spcPct val="15000"/>
              </a:spcBef>
              <a:buFont typeface="Wingdings" panose="05000000000000000000" pitchFamily="2" charset="2"/>
              <a:buNone/>
            </a:pPr>
            <a:r>
              <a:rPr lang="zh-CN" altLang="en-US" sz="2400"/>
              <a:t>总成本为</a:t>
            </a:r>
            <a:r>
              <a:rPr lang="en-US" altLang="zh-CN" sz="2400" i="1"/>
              <a:t>c</a:t>
            </a:r>
            <a:r>
              <a:rPr lang="en-US" altLang="zh-CN" sz="2400" i="1" baseline="-30000"/>
              <a:t>k</a:t>
            </a:r>
            <a:r>
              <a:rPr lang="en-US" altLang="zh-CN" sz="2400"/>
              <a:t>(</a:t>
            </a:r>
            <a:r>
              <a:rPr lang="en-US" altLang="zh-CN" sz="2400" i="1"/>
              <a:t>x</a:t>
            </a:r>
            <a:r>
              <a:rPr lang="en-US" altLang="zh-CN" sz="2400" i="1" baseline="-30000"/>
              <a:t>k</a:t>
            </a:r>
            <a:r>
              <a:rPr lang="en-US" altLang="zh-CN" sz="2400"/>
              <a:t>)</a:t>
            </a:r>
            <a:r>
              <a:rPr lang="zh-CN" altLang="en-US" sz="2400"/>
              <a:t>＋</a:t>
            </a:r>
            <a:r>
              <a:rPr lang="en-US" altLang="zh-CN" sz="2400" i="1"/>
              <a:t>h</a:t>
            </a:r>
            <a:r>
              <a:rPr lang="en-US" altLang="zh-CN" sz="2400" i="1" baseline="-30000"/>
              <a:t>k</a:t>
            </a:r>
            <a:r>
              <a:rPr lang="en-US" altLang="zh-CN" sz="2400"/>
              <a:t>(</a:t>
            </a:r>
            <a:r>
              <a:rPr lang="en-US" altLang="zh-CN" sz="2400" i="1"/>
              <a:t>v</a:t>
            </a:r>
            <a:r>
              <a:rPr lang="en-US" altLang="zh-CN" sz="2400" i="1" baseline="-30000"/>
              <a:t>k</a:t>
            </a:r>
            <a:r>
              <a:rPr lang="en-US" altLang="zh-CN" sz="2400"/>
              <a:t>)</a:t>
            </a:r>
          </a:p>
          <a:p>
            <a:pPr marL="0" indent="384175" algn="just">
              <a:lnSpc>
                <a:spcPct val="105000"/>
              </a:lnSpc>
              <a:spcBef>
                <a:spcPct val="15000"/>
              </a:spcBef>
              <a:buFont typeface="Wingdings" panose="05000000000000000000" pitchFamily="2" charset="2"/>
              <a:buNone/>
            </a:pPr>
            <a:r>
              <a:rPr lang="en-US" altLang="zh-CN" sz="2400" i="1"/>
              <a:t>f</a:t>
            </a:r>
            <a:r>
              <a:rPr lang="en-US" altLang="zh-CN" sz="2400" i="1" baseline="-30000"/>
              <a:t>k</a:t>
            </a:r>
            <a:r>
              <a:rPr lang="en-US" altLang="zh-CN" sz="2400"/>
              <a:t>(</a:t>
            </a:r>
            <a:r>
              <a:rPr lang="en-US" altLang="zh-CN" sz="2400" i="1"/>
              <a:t>v</a:t>
            </a:r>
            <a:r>
              <a:rPr lang="en-US" altLang="zh-CN" sz="2400" i="1" baseline="-30000"/>
              <a:t>k</a:t>
            </a:r>
            <a:r>
              <a:rPr lang="en-US" altLang="zh-CN" sz="2400"/>
              <a:t>)</a:t>
            </a:r>
            <a:r>
              <a:rPr lang="zh-CN" altLang="en-US" sz="2400"/>
              <a:t>表示由第</a:t>
            </a:r>
            <a:r>
              <a:rPr lang="en-US" altLang="zh-CN" sz="2400"/>
              <a:t>1</a:t>
            </a:r>
            <a:r>
              <a:rPr lang="zh-CN" altLang="en-US" sz="2400"/>
              <a:t>年的初始库存为</a:t>
            </a:r>
            <a:r>
              <a:rPr lang="en-US" altLang="zh-CN" sz="2400"/>
              <a:t>0</a:t>
            </a:r>
            <a:r>
              <a:rPr lang="zh-CN" altLang="en-US" sz="2400"/>
              <a:t>到第</a:t>
            </a:r>
            <a:r>
              <a:rPr lang="en-US" altLang="zh-CN" sz="2400" i="1"/>
              <a:t>k</a:t>
            </a:r>
            <a:r>
              <a:rPr lang="zh-CN" altLang="en-US" sz="2400"/>
              <a:t>年末的库存为</a:t>
            </a:r>
            <a:r>
              <a:rPr lang="en-US" altLang="zh-CN" sz="2400" i="1"/>
              <a:t>v</a:t>
            </a:r>
            <a:r>
              <a:rPr lang="en-US" altLang="zh-CN" sz="2400" i="1" baseline="-30000"/>
              <a:t>k</a:t>
            </a:r>
            <a:r>
              <a:rPr lang="zh-CN" altLang="en-US" sz="2400"/>
              <a:t>的最小总成本。</a:t>
            </a:r>
          </a:p>
          <a:p>
            <a:pPr marL="0" indent="384175" algn="just">
              <a:lnSpc>
                <a:spcPct val="105000"/>
              </a:lnSpc>
              <a:spcBef>
                <a:spcPct val="15000"/>
              </a:spcBef>
              <a:buFont typeface="Wingdings" panose="05000000000000000000" pitchFamily="2" charset="2"/>
              <a:buNone/>
            </a:pPr>
            <a:r>
              <a:rPr lang="en-US" altLang="zh-CN" sz="2400"/>
              <a:t>4</a:t>
            </a:r>
            <a:r>
              <a:rPr lang="zh-CN" altLang="en-US" sz="2400"/>
              <a:t>）写出</a:t>
            </a:r>
            <a:r>
              <a:rPr lang="zh-CN" altLang="en-US" sz="2400">
                <a:solidFill>
                  <a:srgbClr val="FF0000"/>
                </a:solidFill>
              </a:rPr>
              <a:t>顺序递推关系式</a:t>
            </a:r>
            <a:r>
              <a:rPr lang="zh-CN" altLang="en-US" sz="2400"/>
              <a:t>：</a:t>
            </a:r>
          </a:p>
          <a:p>
            <a:pPr marL="0" indent="384175" algn="just">
              <a:lnSpc>
                <a:spcPct val="105000"/>
              </a:lnSpc>
              <a:spcBef>
                <a:spcPct val="15000"/>
              </a:spcBef>
              <a:buFont typeface="Wingdings" panose="05000000000000000000" pitchFamily="2" charset="2"/>
              <a:buNone/>
            </a:pPr>
            <a:r>
              <a:rPr lang="en-US" altLang="zh-CN" sz="2400" i="1"/>
              <a:t>f</a:t>
            </a:r>
            <a:r>
              <a:rPr lang="en-US" altLang="zh-CN" sz="2400" i="1" baseline="-30000"/>
              <a:t>k</a:t>
            </a:r>
            <a:r>
              <a:rPr lang="en-US" altLang="zh-CN" sz="2400"/>
              <a:t>(</a:t>
            </a:r>
            <a:r>
              <a:rPr lang="en-US" altLang="zh-CN" sz="2400" i="1"/>
              <a:t>v</a:t>
            </a:r>
            <a:r>
              <a:rPr lang="en-US" altLang="zh-CN" sz="2400" i="1" baseline="-30000"/>
              <a:t>k</a:t>
            </a:r>
            <a:r>
              <a:rPr lang="en-US" altLang="zh-CN" sz="2400"/>
              <a:t>)</a:t>
            </a:r>
            <a:r>
              <a:rPr lang="zh-CN" altLang="en-US" sz="2400"/>
              <a:t>＝</a:t>
            </a:r>
            <a:r>
              <a:rPr lang="en-US" altLang="zh-CN" sz="2400"/>
              <a:t>min{</a:t>
            </a:r>
            <a:r>
              <a:rPr lang="en-US" altLang="zh-CN" sz="2400" i="1"/>
              <a:t>c</a:t>
            </a:r>
            <a:r>
              <a:rPr lang="en-US" altLang="zh-CN" sz="2400" i="1" baseline="-30000"/>
              <a:t>k</a:t>
            </a:r>
            <a:r>
              <a:rPr lang="en-US" altLang="zh-CN" sz="2400"/>
              <a:t>(</a:t>
            </a:r>
            <a:r>
              <a:rPr lang="en-US" altLang="zh-CN" sz="2400" i="1"/>
              <a:t>x</a:t>
            </a:r>
            <a:r>
              <a:rPr lang="en-US" altLang="zh-CN" sz="2400" i="1" baseline="-30000"/>
              <a:t>k</a:t>
            </a:r>
            <a:r>
              <a:rPr lang="en-US" altLang="zh-CN" sz="2400"/>
              <a:t>)</a:t>
            </a:r>
            <a:r>
              <a:rPr lang="zh-CN" altLang="en-US" sz="2400"/>
              <a:t>＋</a:t>
            </a:r>
            <a:r>
              <a:rPr lang="en-US" altLang="zh-CN" sz="2400" i="1"/>
              <a:t>h</a:t>
            </a:r>
            <a:r>
              <a:rPr lang="en-US" altLang="zh-CN" sz="2400" i="1" baseline="-30000"/>
              <a:t>k</a:t>
            </a:r>
            <a:r>
              <a:rPr lang="en-US" altLang="zh-CN" sz="2400"/>
              <a:t>(</a:t>
            </a:r>
            <a:r>
              <a:rPr lang="en-US" altLang="zh-CN" sz="2400" i="1"/>
              <a:t>v</a:t>
            </a:r>
            <a:r>
              <a:rPr lang="en-US" altLang="zh-CN" sz="2400" i="1" baseline="-30000"/>
              <a:t>k</a:t>
            </a:r>
            <a:r>
              <a:rPr lang="en-US" altLang="zh-CN" sz="2400"/>
              <a:t>)</a:t>
            </a:r>
            <a:r>
              <a:rPr lang="zh-CN" altLang="en-US" sz="2400"/>
              <a:t>＋</a:t>
            </a:r>
            <a:r>
              <a:rPr lang="en-US" altLang="zh-CN" sz="2400" i="1"/>
              <a:t>f</a:t>
            </a:r>
            <a:r>
              <a:rPr lang="en-US" altLang="zh-CN" sz="2400" i="1" baseline="-30000"/>
              <a:t>k</a:t>
            </a:r>
            <a:r>
              <a:rPr lang="zh-CN" altLang="en-US" sz="2400" baseline="-30000"/>
              <a:t>－</a:t>
            </a:r>
            <a:r>
              <a:rPr lang="en-US" altLang="zh-CN" sz="2400" baseline="-30000"/>
              <a:t>1</a:t>
            </a:r>
            <a:r>
              <a:rPr lang="en-US" altLang="zh-CN" sz="2400"/>
              <a:t>(</a:t>
            </a:r>
            <a:r>
              <a:rPr lang="en-US" altLang="zh-CN" sz="2400" i="1"/>
              <a:t>v</a:t>
            </a:r>
            <a:r>
              <a:rPr lang="en-US" altLang="zh-CN" sz="2400" i="1" baseline="-30000"/>
              <a:t>k</a:t>
            </a:r>
            <a:r>
              <a:rPr lang="zh-CN" altLang="en-US" sz="2400" baseline="-30000"/>
              <a:t>－</a:t>
            </a:r>
            <a:r>
              <a:rPr lang="en-US" altLang="zh-CN" sz="2400" baseline="-30000"/>
              <a:t>1</a:t>
            </a:r>
            <a:r>
              <a:rPr lang="en-US" altLang="zh-CN" sz="2400"/>
              <a:t>)}</a:t>
            </a:r>
          </a:p>
          <a:p>
            <a:pPr marL="0" indent="384175" algn="just">
              <a:lnSpc>
                <a:spcPct val="105000"/>
              </a:lnSpc>
              <a:spcBef>
                <a:spcPct val="15000"/>
              </a:spcBef>
              <a:buFont typeface="Wingdings" panose="05000000000000000000" pitchFamily="2" charset="2"/>
              <a:buNone/>
            </a:pPr>
            <a:r>
              <a:rPr lang="en-US" altLang="zh-CN" sz="2400"/>
              <a:t>    </a:t>
            </a:r>
            <a:r>
              <a:rPr lang="zh-CN" altLang="en-US" sz="2400"/>
              <a:t>＝</a:t>
            </a:r>
            <a:r>
              <a:rPr lang="en-US" altLang="zh-CN" sz="2400"/>
              <a:t>min{</a:t>
            </a:r>
            <a:r>
              <a:rPr lang="en-US" altLang="zh-CN" sz="2400" i="1"/>
              <a:t>c</a:t>
            </a:r>
            <a:r>
              <a:rPr lang="en-US" altLang="zh-CN" sz="2400" i="1" baseline="-30000"/>
              <a:t>k</a:t>
            </a:r>
            <a:r>
              <a:rPr lang="en-US" altLang="zh-CN" sz="2400"/>
              <a:t>(</a:t>
            </a:r>
            <a:r>
              <a:rPr lang="en-US" altLang="zh-CN" sz="2400" i="1"/>
              <a:t>x</a:t>
            </a:r>
            <a:r>
              <a:rPr lang="en-US" altLang="zh-CN" sz="2400" i="1" baseline="-30000"/>
              <a:t>k</a:t>
            </a:r>
            <a:r>
              <a:rPr lang="en-US" altLang="zh-CN" sz="2400"/>
              <a:t>)</a:t>
            </a:r>
            <a:r>
              <a:rPr lang="zh-CN" altLang="en-US" sz="2400"/>
              <a:t>＋</a:t>
            </a:r>
            <a:r>
              <a:rPr lang="en-US" altLang="zh-CN" sz="2400" i="1"/>
              <a:t>h</a:t>
            </a:r>
            <a:r>
              <a:rPr lang="en-US" altLang="zh-CN" sz="2400" i="1" baseline="-30000"/>
              <a:t>k</a:t>
            </a:r>
            <a:r>
              <a:rPr lang="en-US" altLang="zh-CN" sz="2400"/>
              <a:t>(</a:t>
            </a:r>
            <a:r>
              <a:rPr lang="en-US" altLang="zh-CN" sz="2400" i="1"/>
              <a:t>v</a:t>
            </a:r>
            <a:r>
              <a:rPr lang="en-US" altLang="zh-CN" sz="2400" i="1" baseline="-30000"/>
              <a:t>k</a:t>
            </a:r>
            <a:r>
              <a:rPr lang="en-US" altLang="zh-CN" sz="2400"/>
              <a:t>)</a:t>
            </a:r>
            <a:r>
              <a:rPr lang="zh-CN" altLang="en-US" sz="2400"/>
              <a:t>＋</a:t>
            </a:r>
            <a:r>
              <a:rPr lang="en-US" altLang="zh-CN" sz="2400" i="1"/>
              <a:t>f</a:t>
            </a:r>
            <a:r>
              <a:rPr lang="en-US" altLang="zh-CN" sz="2400" i="1" baseline="-30000"/>
              <a:t>k</a:t>
            </a:r>
            <a:r>
              <a:rPr lang="zh-CN" altLang="en-US" sz="2400" baseline="-30000"/>
              <a:t>－</a:t>
            </a:r>
            <a:r>
              <a:rPr lang="en-US" altLang="zh-CN" sz="2400" baseline="-30000"/>
              <a:t>1</a:t>
            </a:r>
            <a:r>
              <a:rPr lang="en-US" altLang="zh-CN" sz="2400"/>
              <a:t>(</a:t>
            </a:r>
            <a:r>
              <a:rPr lang="en-US" altLang="zh-CN" sz="2400" i="1"/>
              <a:t>v</a:t>
            </a:r>
            <a:r>
              <a:rPr lang="en-US" altLang="zh-CN" sz="2400" i="1" baseline="-30000"/>
              <a:t>k</a:t>
            </a:r>
            <a:r>
              <a:rPr lang="zh-CN" altLang="en-US" sz="2400"/>
              <a:t>＋</a:t>
            </a:r>
            <a:r>
              <a:rPr lang="en-US" altLang="zh-CN" sz="2400" i="1"/>
              <a:t>d</a:t>
            </a:r>
            <a:r>
              <a:rPr lang="en-US" altLang="zh-CN" sz="2400" i="1" baseline="-30000"/>
              <a:t>k</a:t>
            </a:r>
            <a:r>
              <a:rPr lang="zh-CN" altLang="en-US" sz="2400"/>
              <a:t>－</a:t>
            </a:r>
            <a:r>
              <a:rPr lang="en-US" altLang="zh-CN" sz="2400" i="1"/>
              <a:t>x</a:t>
            </a:r>
            <a:r>
              <a:rPr lang="en-US" altLang="zh-CN" sz="2400" i="1" baseline="-30000"/>
              <a:t>k</a:t>
            </a:r>
            <a:r>
              <a:rPr lang="en-US" altLang="zh-CN" sz="2400"/>
              <a:t>)}  </a:t>
            </a:r>
            <a:r>
              <a:rPr lang="en-US" altLang="zh-CN" sz="2400" i="1"/>
              <a:t>k</a:t>
            </a:r>
            <a:r>
              <a:rPr lang="en-US" altLang="zh-CN" sz="2400"/>
              <a:t>=2,3,4</a:t>
            </a:r>
          </a:p>
          <a:p>
            <a:pPr marL="0" indent="384175" algn="just">
              <a:lnSpc>
                <a:spcPct val="105000"/>
              </a:lnSpc>
              <a:spcBef>
                <a:spcPct val="15000"/>
              </a:spcBef>
              <a:buFont typeface="Wingdings" panose="05000000000000000000" pitchFamily="2" charset="2"/>
              <a:buNone/>
            </a:pPr>
            <a:r>
              <a:rPr lang="zh-CN" altLang="en-US" sz="2400">
                <a:solidFill>
                  <a:srgbClr val="000066"/>
                </a:solidFill>
              </a:rPr>
              <a:t>边界条件</a:t>
            </a:r>
            <a:r>
              <a:rPr lang="en-US" altLang="zh-CN" sz="2400" i="1"/>
              <a:t>f</a:t>
            </a:r>
            <a:r>
              <a:rPr lang="en-US" altLang="zh-CN" sz="2400" baseline="-30000"/>
              <a:t>1</a:t>
            </a:r>
            <a:r>
              <a:rPr lang="en-US" altLang="zh-CN" sz="2400"/>
              <a:t>(</a:t>
            </a:r>
            <a:r>
              <a:rPr lang="en-US" altLang="zh-CN" sz="2400" i="1"/>
              <a:t>v</a:t>
            </a:r>
            <a:r>
              <a:rPr lang="en-US" altLang="zh-CN" sz="2400" baseline="-30000"/>
              <a:t>1</a:t>
            </a:r>
            <a:r>
              <a:rPr lang="en-US" altLang="zh-CN" sz="2400"/>
              <a:t>)</a:t>
            </a:r>
            <a:r>
              <a:rPr lang="zh-CN" altLang="en-US" sz="2400"/>
              <a:t>＝</a:t>
            </a:r>
            <a:r>
              <a:rPr lang="en-US" altLang="zh-CN" sz="2400"/>
              <a:t>min{</a:t>
            </a:r>
            <a:r>
              <a:rPr lang="en-US" altLang="zh-CN" sz="2400" i="1"/>
              <a:t>c</a:t>
            </a:r>
            <a:r>
              <a:rPr lang="en-US" altLang="zh-CN" sz="2400" baseline="-30000"/>
              <a:t>1</a:t>
            </a:r>
            <a:r>
              <a:rPr lang="en-US" altLang="zh-CN" sz="2400"/>
              <a:t>(</a:t>
            </a:r>
            <a:r>
              <a:rPr lang="en-US" altLang="zh-CN" sz="2400" i="1"/>
              <a:t>x</a:t>
            </a:r>
            <a:r>
              <a:rPr lang="en-US" altLang="zh-CN" sz="2400" baseline="-30000"/>
              <a:t>1</a:t>
            </a:r>
            <a:r>
              <a:rPr lang="en-US" altLang="zh-CN" sz="2400"/>
              <a:t>)</a:t>
            </a:r>
            <a:r>
              <a:rPr lang="zh-CN" altLang="en-US" sz="2400"/>
              <a:t>＋</a:t>
            </a:r>
            <a:r>
              <a:rPr lang="en-US" altLang="zh-CN" sz="2400" i="1"/>
              <a:t>h</a:t>
            </a:r>
            <a:r>
              <a:rPr lang="en-US" altLang="zh-CN" sz="2400" baseline="-30000"/>
              <a:t>1</a:t>
            </a:r>
            <a:r>
              <a:rPr lang="en-US" altLang="zh-CN" sz="2400"/>
              <a:t>(</a:t>
            </a:r>
            <a:r>
              <a:rPr lang="en-US" altLang="zh-CN" sz="2400" i="1"/>
              <a:t>v</a:t>
            </a:r>
            <a:r>
              <a:rPr lang="en-US" altLang="zh-CN" sz="2400" baseline="-30000"/>
              <a:t>1</a:t>
            </a:r>
            <a:r>
              <a:rPr lang="en-US" altLang="zh-CN" sz="2400"/>
              <a:t>) }</a:t>
            </a:r>
          </a:p>
          <a:p>
            <a:pPr marL="0" indent="384175" algn="just">
              <a:lnSpc>
                <a:spcPct val="105000"/>
              </a:lnSpc>
              <a:spcBef>
                <a:spcPct val="15000"/>
              </a:spcBef>
              <a:buFont typeface="Wingdings" panose="05000000000000000000" pitchFamily="2" charset="2"/>
              <a:buNone/>
            </a:pPr>
            <a:r>
              <a:rPr lang="zh-CN" altLang="en-US" sz="2400"/>
              <a:t>由于</a:t>
            </a:r>
            <a:r>
              <a:rPr lang="zh-CN" altLang="en-US" sz="2400">
                <a:solidFill>
                  <a:srgbClr val="FF0000"/>
                </a:solidFill>
              </a:rPr>
              <a:t>库存量必须非负</a:t>
            </a:r>
            <a:r>
              <a:rPr lang="en-US" altLang="zh-CN" sz="2400"/>
              <a:t>, </a:t>
            </a:r>
            <a:r>
              <a:rPr lang="en-US" altLang="zh-CN" sz="2400" i="1"/>
              <a:t>v</a:t>
            </a:r>
            <a:r>
              <a:rPr lang="en-US" altLang="zh-CN" sz="2400" i="1" baseline="-30000"/>
              <a:t>k</a:t>
            </a:r>
            <a:r>
              <a:rPr lang="zh-CN" altLang="en-US" sz="2400" baseline="-30000"/>
              <a:t>－</a:t>
            </a:r>
            <a:r>
              <a:rPr lang="en-US" altLang="zh-CN" sz="2400" baseline="-30000"/>
              <a:t>1</a:t>
            </a:r>
            <a:r>
              <a:rPr lang="en-US" altLang="zh-CN" sz="2400"/>
              <a:t> </a:t>
            </a:r>
            <a:r>
              <a:rPr lang="zh-CN" altLang="en-US" sz="2400"/>
              <a:t>＝</a:t>
            </a:r>
            <a:r>
              <a:rPr lang="en-US" altLang="zh-CN" sz="2400" i="1"/>
              <a:t>v</a:t>
            </a:r>
            <a:r>
              <a:rPr lang="en-US" altLang="zh-CN" sz="2400" i="1" baseline="-30000"/>
              <a:t>k</a:t>
            </a:r>
            <a:r>
              <a:rPr lang="zh-CN" altLang="en-US" sz="2400"/>
              <a:t>＋</a:t>
            </a:r>
            <a:r>
              <a:rPr lang="en-US" altLang="zh-CN" sz="2400" i="1"/>
              <a:t>d</a:t>
            </a:r>
            <a:r>
              <a:rPr lang="en-US" altLang="zh-CN" sz="2400" i="1" baseline="-30000"/>
              <a:t>k</a:t>
            </a:r>
            <a:r>
              <a:rPr lang="zh-CN" altLang="en-US" sz="2400"/>
              <a:t>－</a:t>
            </a:r>
            <a:r>
              <a:rPr lang="en-US" altLang="zh-CN" sz="2400" i="1"/>
              <a:t>x</a:t>
            </a:r>
            <a:r>
              <a:rPr lang="en-US" altLang="zh-CN" sz="2400" i="1" baseline="-30000"/>
              <a:t>k</a:t>
            </a:r>
            <a:r>
              <a:rPr lang="en-US" altLang="zh-CN" sz="2400" baseline="-30000"/>
              <a:t> </a:t>
            </a:r>
            <a:r>
              <a:rPr lang="en-US" altLang="zh-CN" sz="2400"/>
              <a:t> ≥0,  </a:t>
            </a:r>
            <a:r>
              <a:rPr lang="zh-CN" altLang="en-US" sz="2400"/>
              <a:t>即 </a:t>
            </a:r>
            <a:r>
              <a:rPr lang="en-US" altLang="zh-CN" sz="2400" i="1"/>
              <a:t>x</a:t>
            </a:r>
            <a:r>
              <a:rPr lang="en-US" altLang="zh-CN" sz="2400" i="1" baseline="-30000"/>
              <a:t>k</a:t>
            </a:r>
            <a:r>
              <a:rPr lang="en-US" altLang="zh-CN" sz="2400"/>
              <a:t>≤</a:t>
            </a:r>
            <a:r>
              <a:rPr lang="en-US" altLang="zh-CN" sz="2400" i="1"/>
              <a:t>v</a:t>
            </a:r>
            <a:r>
              <a:rPr lang="en-US" altLang="zh-CN" sz="2400" i="1" baseline="-30000"/>
              <a:t>k</a:t>
            </a:r>
            <a:r>
              <a:rPr lang="zh-CN" altLang="en-US" sz="2400"/>
              <a:t>＋</a:t>
            </a:r>
            <a:r>
              <a:rPr lang="en-US" altLang="zh-CN" sz="2400" i="1"/>
              <a:t>d</a:t>
            </a:r>
            <a:r>
              <a:rPr lang="en-US" altLang="zh-CN" sz="2400" i="1" baseline="-30000"/>
              <a:t>k</a:t>
            </a:r>
            <a:r>
              <a:rPr lang="en-US" altLang="zh-CN" sz="2400" baseline="-30000"/>
              <a:t> </a:t>
            </a:r>
          </a:p>
          <a:p>
            <a:pPr marL="0" indent="384175" algn="just">
              <a:lnSpc>
                <a:spcPct val="105000"/>
              </a:lnSpc>
              <a:spcBef>
                <a:spcPct val="15000"/>
              </a:spcBef>
              <a:buFont typeface="Wingdings" panose="05000000000000000000" pitchFamily="2" charset="2"/>
              <a:buNone/>
            </a:pPr>
            <a:r>
              <a:rPr lang="zh-CN" altLang="en-US" sz="2400"/>
              <a:t>又</a:t>
            </a:r>
            <a:r>
              <a:rPr lang="zh-CN" altLang="en-US" sz="2400" b="0"/>
              <a:t>因为</a:t>
            </a:r>
            <a:r>
              <a:rPr lang="zh-CN" altLang="en-US" sz="2400" i="1"/>
              <a:t> </a:t>
            </a:r>
            <a:r>
              <a:rPr lang="en-US" altLang="zh-CN" sz="2400" i="1"/>
              <a:t>x</a:t>
            </a:r>
            <a:r>
              <a:rPr lang="en-US" altLang="zh-CN" sz="2400" i="1" baseline="-30000"/>
              <a:t>k</a:t>
            </a:r>
            <a:r>
              <a:rPr lang="en-US" altLang="zh-CN" sz="2400"/>
              <a:t>≤6</a:t>
            </a:r>
            <a:r>
              <a:rPr lang="zh-CN" altLang="en-US" sz="2400"/>
              <a:t>， 所以</a:t>
            </a:r>
            <a:endParaRPr lang="en-US" altLang="zh-CN" sz="2400"/>
          </a:p>
          <a:p>
            <a:pPr marL="0" indent="384175" algn="just">
              <a:lnSpc>
                <a:spcPct val="105000"/>
              </a:lnSpc>
              <a:spcBef>
                <a:spcPct val="15000"/>
              </a:spcBef>
              <a:buFont typeface="Wingdings" panose="05000000000000000000" pitchFamily="2" charset="2"/>
              <a:buNone/>
            </a:pPr>
            <a:r>
              <a:rPr lang="en-US" altLang="zh-CN" sz="2400" i="1">
                <a:solidFill>
                  <a:srgbClr val="FF0000"/>
                </a:solidFill>
              </a:rPr>
              <a:t>                               </a:t>
            </a:r>
            <a:r>
              <a:rPr lang="en-US" altLang="zh-CN" sz="2400" i="1">
                <a:solidFill>
                  <a:srgbClr val="FF00FF"/>
                </a:solidFill>
              </a:rPr>
              <a:t>x</a:t>
            </a:r>
            <a:r>
              <a:rPr lang="en-US" altLang="zh-CN" sz="2400" i="1" baseline="-30000">
                <a:solidFill>
                  <a:srgbClr val="FF00FF"/>
                </a:solidFill>
              </a:rPr>
              <a:t>k</a:t>
            </a:r>
            <a:r>
              <a:rPr lang="en-US" altLang="zh-CN" sz="2400">
                <a:solidFill>
                  <a:srgbClr val="FF00FF"/>
                </a:solidFill>
              </a:rPr>
              <a:t>≤min{</a:t>
            </a:r>
            <a:r>
              <a:rPr lang="en-US" altLang="zh-CN" sz="2400" i="1">
                <a:solidFill>
                  <a:srgbClr val="FF00FF"/>
                </a:solidFill>
              </a:rPr>
              <a:t>v</a:t>
            </a:r>
            <a:r>
              <a:rPr lang="en-US" altLang="zh-CN" sz="2400" i="1" baseline="-30000">
                <a:solidFill>
                  <a:srgbClr val="FF00FF"/>
                </a:solidFill>
              </a:rPr>
              <a:t>k</a:t>
            </a:r>
            <a:r>
              <a:rPr lang="zh-CN" altLang="en-US" sz="2400">
                <a:solidFill>
                  <a:srgbClr val="FF00FF"/>
                </a:solidFill>
              </a:rPr>
              <a:t>＋</a:t>
            </a:r>
            <a:r>
              <a:rPr lang="en-US" altLang="zh-CN" sz="2400" i="1">
                <a:solidFill>
                  <a:srgbClr val="FF00FF"/>
                </a:solidFill>
              </a:rPr>
              <a:t>d</a:t>
            </a:r>
            <a:r>
              <a:rPr lang="en-US" altLang="zh-CN" sz="2400" i="1" baseline="-30000">
                <a:solidFill>
                  <a:srgbClr val="FF00FF"/>
                </a:solidFill>
              </a:rPr>
              <a:t>k</a:t>
            </a:r>
            <a:r>
              <a:rPr lang="zh-CN" altLang="en-US" sz="2400">
                <a:solidFill>
                  <a:srgbClr val="FF00FF"/>
                </a:solidFill>
              </a:rPr>
              <a:t>，</a:t>
            </a:r>
            <a:r>
              <a:rPr lang="en-US" altLang="zh-CN" sz="2400">
                <a:solidFill>
                  <a:srgbClr val="FF00FF"/>
                </a:solidFill>
              </a:rPr>
              <a:t>6}</a:t>
            </a:r>
          </a:p>
          <a:p>
            <a:pPr marL="0" indent="384175" algn="just">
              <a:lnSpc>
                <a:spcPct val="105000"/>
              </a:lnSpc>
              <a:spcBef>
                <a:spcPct val="15000"/>
              </a:spcBef>
              <a:buFont typeface="Wingdings" panose="05000000000000000000" pitchFamily="2" charset="2"/>
              <a:buNone/>
            </a:pPr>
            <a:r>
              <a:rPr lang="en-US" altLang="zh-CN" sz="2400" i="1"/>
              <a:t>v</a:t>
            </a:r>
            <a:r>
              <a:rPr lang="en-US" altLang="zh-CN" sz="2400" i="1" baseline="-30000"/>
              <a:t>k</a:t>
            </a:r>
            <a:r>
              <a:rPr lang="en-US" altLang="zh-CN" sz="2400" baseline="-30000"/>
              <a:t> </a:t>
            </a:r>
            <a:r>
              <a:rPr lang="en-US" altLang="zh-CN" sz="2400"/>
              <a:t>≤          </a:t>
            </a:r>
            <a:r>
              <a:rPr lang="zh-CN" altLang="en-US" sz="2400">
                <a:solidFill>
                  <a:srgbClr val="FF0000"/>
                </a:solidFill>
              </a:rPr>
              <a:t>即使以后各期不再生产，须满足最后的库存为</a:t>
            </a:r>
            <a:r>
              <a:rPr lang="en-US" altLang="zh-CN" sz="2400">
                <a:solidFill>
                  <a:srgbClr val="FF0000"/>
                </a:solidFill>
              </a:rPr>
              <a:t>0</a:t>
            </a:r>
            <a:r>
              <a:rPr lang="zh-CN" altLang="en-US" sz="2400">
                <a:solidFill>
                  <a:srgbClr val="FF0000"/>
                </a:solidFill>
              </a:rPr>
              <a:t>。</a:t>
            </a:r>
            <a:endParaRPr lang="en-US" altLang="zh-CN" sz="2400">
              <a:solidFill>
                <a:srgbClr val="FF0000"/>
              </a:solidFill>
            </a:endParaRPr>
          </a:p>
          <a:p>
            <a:pPr marL="0" indent="384175" algn="just">
              <a:lnSpc>
                <a:spcPct val="105000"/>
              </a:lnSpc>
              <a:spcBef>
                <a:spcPct val="15000"/>
              </a:spcBef>
              <a:buFont typeface="Wingdings" panose="05000000000000000000" pitchFamily="2" charset="2"/>
              <a:buNone/>
            </a:pPr>
            <a:r>
              <a:rPr lang="en-US" altLang="zh-CN" sz="2400" i="1"/>
              <a:t>v</a:t>
            </a:r>
            <a:r>
              <a:rPr lang="en-US" altLang="zh-CN" sz="2400" i="1" baseline="-30000"/>
              <a:t>k</a:t>
            </a:r>
            <a:r>
              <a:rPr lang="en-US" altLang="zh-CN" sz="2400" baseline="-30000"/>
              <a:t> </a:t>
            </a:r>
            <a:r>
              <a:rPr lang="en-US" altLang="zh-CN" sz="2400"/>
              <a:t>≤ </a:t>
            </a:r>
            <a:r>
              <a:rPr lang="en-US" altLang="zh-CN" sz="2400" i="1"/>
              <a:t>m</a:t>
            </a:r>
            <a:r>
              <a:rPr lang="en-US" altLang="zh-CN" sz="2400"/>
              <a:t>-</a:t>
            </a:r>
            <a:r>
              <a:rPr lang="en-US" altLang="zh-CN" sz="2400" i="1"/>
              <a:t>d</a:t>
            </a:r>
            <a:r>
              <a:rPr lang="en-US" altLang="zh-CN" sz="2400" i="1" baseline="-25000"/>
              <a:t>k</a:t>
            </a:r>
            <a:r>
              <a:rPr lang="en-US" altLang="zh-CN" sz="2400"/>
              <a:t>, </a:t>
            </a:r>
            <a:r>
              <a:rPr lang="zh-CN" altLang="en-US" sz="2400">
                <a:solidFill>
                  <a:srgbClr val="FF0000"/>
                </a:solidFill>
              </a:rPr>
              <a:t>第</a:t>
            </a:r>
            <a:r>
              <a:rPr lang="en-US" altLang="zh-CN" sz="2400" i="1">
                <a:solidFill>
                  <a:srgbClr val="FF0000"/>
                </a:solidFill>
              </a:rPr>
              <a:t>k</a:t>
            </a:r>
            <a:r>
              <a:rPr lang="zh-CN" altLang="en-US" sz="2400">
                <a:solidFill>
                  <a:srgbClr val="FF0000"/>
                </a:solidFill>
              </a:rPr>
              <a:t>期末库存量不大于第</a:t>
            </a:r>
            <a:r>
              <a:rPr lang="en-US" altLang="zh-CN" sz="2400" i="1">
                <a:solidFill>
                  <a:srgbClr val="FF0000"/>
                </a:solidFill>
              </a:rPr>
              <a:t>k</a:t>
            </a:r>
            <a:r>
              <a:rPr lang="zh-CN" altLang="en-US" sz="2400">
                <a:solidFill>
                  <a:srgbClr val="FF0000"/>
                </a:solidFill>
              </a:rPr>
              <a:t>期最大生产量与</a:t>
            </a:r>
            <a:r>
              <a:rPr lang="en-US" altLang="zh-CN" sz="2400" i="1">
                <a:solidFill>
                  <a:srgbClr val="FF0000"/>
                </a:solidFill>
              </a:rPr>
              <a:t>k</a:t>
            </a:r>
            <a:r>
              <a:rPr lang="zh-CN" altLang="en-US" sz="2400">
                <a:solidFill>
                  <a:srgbClr val="FF0000"/>
                </a:solidFill>
              </a:rPr>
              <a:t>期需求量之差。</a:t>
            </a:r>
            <a:r>
              <a:rPr lang="zh-CN" altLang="en-US" sz="2400"/>
              <a:t>所以</a:t>
            </a:r>
            <a:endParaRPr lang="en-US" altLang="zh-CN" sz="2400"/>
          </a:p>
          <a:p>
            <a:pPr marL="0" indent="384175" algn="just">
              <a:lnSpc>
                <a:spcPct val="105000"/>
              </a:lnSpc>
              <a:spcBef>
                <a:spcPct val="15000"/>
              </a:spcBef>
              <a:buFont typeface="Wingdings" panose="05000000000000000000" pitchFamily="2" charset="2"/>
              <a:buNone/>
            </a:pPr>
            <a:endParaRPr lang="zh-CN" altLang="en-US" sz="2400">
              <a:solidFill>
                <a:srgbClr val="FF0000"/>
              </a:solidFill>
            </a:endParaRPr>
          </a:p>
        </p:txBody>
      </p:sp>
      <p:graphicFrame>
        <p:nvGraphicFramePr>
          <p:cNvPr id="61443" name="对象 1">
            <a:extLst>
              <a:ext uri="{FF2B5EF4-FFF2-40B4-BE49-F238E27FC236}">
                <a16:creationId xmlns:a16="http://schemas.microsoft.com/office/drawing/2014/main" id="{8DBF4251-F9A0-4D21-9D8B-5DED488244E9}"/>
              </a:ext>
            </a:extLst>
          </p:cNvPr>
          <p:cNvGraphicFramePr>
            <a:graphicFrameLocks noChangeAspect="1"/>
          </p:cNvGraphicFramePr>
          <p:nvPr/>
        </p:nvGraphicFramePr>
        <p:xfrm>
          <a:off x="2916238" y="5876925"/>
          <a:ext cx="2519362" cy="720725"/>
        </p:xfrm>
        <a:graphic>
          <a:graphicData uri="http://schemas.openxmlformats.org/presentationml/2006/ole">
            <mc:AlternateContent xmlns:mc="http://schemas.openxmlformats.org/markup-compatibility/2006">
              <mc:Choice xmlns:v="urn:schemas-microsoft-com:vml" Requires="v">
                <p:oleObj spid="_x0000_s61477" name="Equation" r:id="rId3" imgW="1244060" imgH="355446" progId="Equation.DSMT4">
                  <p:embed/>
                </p:oleObj>
              </mc:Choice>
              <mc:Fallback>
                <p:oleObj name="Equation" r:id="rId3" imgW="1244060" imgH="355446"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5876925"/>
                        <a:ext cx="251936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4" name="对象 6">
            <a:extLst>
              <a:ext uri="{FF2B5EF4-FFF2-40B4-BE49-F238E27FC236}">
                <a16:creationId xmlns:a16="http://schemas.microsoft.com/office/drawing/2014/main" id="{EC16AF70-7B42-404D-AEA6-44D1C7FF7B30}"/>
              </a:ext>
            </a:extLst>
          </p:cNvPr>
          <p:cNvGraphicFramePr>
            <a:graphicFrameLocks noChangeAspect="1"/>
          </p:cNvGraphicFramePr>
          <p:nvPr/>
        </p:nvGraphicFramePr>
        <p:xfrm>
          <a:off x="1258888" y="4797425"/>
          <a:ext cx="642937" cy="642938"/>
        </p:xfrm>
        <a:graphic>
          <a:graphicData uri="http://schemas.openxmlformats.org/presentationml/2006/ole">
            <mc:AlternateContent xmlns:mc="http://schemas.openxmlformats.org/markup-compatibility/2006">
              <mc:Choice xmlns:v="urn:schemas-microsoft-com:vml" Requires="v">
                <p:oleObj spid="_x0000_s61478" name="Equation" r:id="rId5" imgW="317225" imgH="317225" progId="Equation.DSMT4">
                  <p:embed/>
                </p:oleObj>
              </mc:Choice>
              <mc:Fallback>
                <p:oleObj name="Equation" r:id="rId5" imgW="317225" imgH="317225" progId="Equation.DSMT4">
                  <p:embed/>
                  <p:pic>
                    <p:nvPicPr>
                      <p:cNvPr id="0"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4797425"/>
                        <a:ext cx="642937"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7074F241-041F-4D4A-8AED-BA141E6AB2EA}"/>
              </a:ext>
            </a:extLst>
          </p:cNvPr>
          <p:cNvSpPr>
            <a:spLocks noGrp="1" noChangeArrowheads="1"/>
          </p:cNvSpPr>
          <p:nvPr>
            <p:ph type="body" idx="1"/>
          </p:nvPr>
        </p:nvSpPr>
        <p:spPr>
          <a:xfrm>
            <a:off x="441325" y="692150"/>
            <a:ext cx="7772400" cy="5184775"/>
          </a:xfrm>
        </p:spPr>
        <p:txBody>
          <a:bodyPr/>
          <a:lstStyle/>
          <a:p>
            <a:pPr marL="0" indent="384175" algn="just">
              <a:lnSpc>
                <a:spcPct val="105000"/>
              </a:lnSpc>
              <a:spcBef>
                <a:spcPct val="15000"/>
              </a:spcBef>
              <a:buFont typeface="Wingdings" panose="05000000000000000000" pitchFamily="2" charset="2"/>
              <a:buNone/>
            </a:pPr>
            <a:r>
              <a:rPr lang="en-US" altLang="zh-CN" sz="2400"/>
              <a:t>5</a:t>
            </a:r>
            <a:r>
              <a:rPr lang="zh-CN" altLang="en-US" sz="2400"/>
              <a:t>） </a:t>
            </a:r>
            <a:r>
              <a:rPr lang="en-US" altLang="zh-CN" sz="2400"/>
              <a:t>f</a:t>
            </a:r>
            <a:r>
              <a:rPr lang="en-US" altLang="zh-CN" sz="2400" baseline="-30000"/>
              <a:t>0</a:t>
            </a:r>
            <a:r>
              <a:rPr lang="en-US" altLang="zh-CN" sz="2400"/>
              <a:t>(</a:t>
            </a:r>
            <a:r>
              <a:rPr lang="en-US" altLang="zh-CN" sz="2400" i="1"/>
              <a:t>v</a:t>
            </a:r>
            <a:r>
              <a:rPr lang="en-US" altLang="zh-CN" sz="2400" baseline="-30000"/>
              <a:t>0</a:t>
            </a:r>
            <a:r>
              <a:rPr lang="en-US" altLang="zh-CN" sz="2400"/>
              <a:t>)</a:t>
            </a:r>
            <a:r>
              <a:rPr lang="zh-CN" altLang="en-US" sz="2400"/>
              <a:t>＝</a:t>
            </a:r>
            <a:r>
              <a:rPr lang="en-US" altLang="zh-CN" sz="2400"/>
              <a:t>0</a:t>
            </a:r>
          </a:p>
          <a:p>
            <a:pPr marL="0" indent="384175" algn="just">
              <a:lnSpc>
                <a:spcPct val="105000"/>
              </a:lnSpc>
              <a:spcBef>
                <a:spcPct val="15000"/>
              </a:spcBef>
              <a:buFont typeface="Wingdings" panose="05000000000000000000" pitchFamily="2" charset="2"/>
              <a:buNone/>
            </a:pPr>
            <a:r>
              <a:rPr lang="zh-CN" altLang="en-US" sz="2400"/>
              <a:t>当</a:t>
            </a:r>
            <a:r>
              <a:rPr lang="en-US" altLang="zh-CN" sz="2400" i="1"/>
              <a:t>k</a:t>
            </a:r>
            <a:r>
              <a:rPr lang="zh-CN" altLang="en-US" sz="2400"/>
              <a:t>＝</a:t>
            </a:r>
            <a:r>
              <a:rPr lang="en-US" altLang="zh-CN" sz="2400"/>
              <a:t>1</a:t>
            </a:r>
            <a:r>
              <a:rPr lang="zh-CN" altLang="en-US" sz="2400"/>
              <a:t>时，</a:t>
            </a:r>
          </a:p>
          <a:p>
            <a:pPr marL="0" indent="384175" algn="just">
              <a:lnSpc>
                <a:spcPct val="105000"/>
              </a:lnSpc>
              <a:spcBef>
                <a:spcPct val="35000"/>
              </a:spcBef>
              <a:buFont typeface="Wingdings" panose="05000000000000000000" pitchFamily="2" charset="2"/>
              <a:buNone/>
            </a:pPr>
            <a:r>
              <a:rPr lang="en-US" altLang="zh-CN" sz="2400"/>
              <a:t>f</a:t>
            </a:r>
            <a:r>
              <a:rPr lang="en-US" altLang="zh-CN" sz="2400" baseline="-30000"/>
              <a:t>1</a:t>
            </a:r>
            <a:r>
              <a:rPr lang="en-US" altLang="zh-CN" sz="2400"/>
              <a:t>(</a:t>
            </a:r>
            <a:r>
              <a:rPr lang="en-US" altLang="zh-CN" sz="2400" i="1"/>
              <a:t>v</a:t>
            </a:r>
            <a:r>
              <a:rPr lang="en-US" altLang="zh-CN" sz="2400" baseline="-30000"/>
              <a:t>1</a:t>
            </a:r>
            <a:r>
              <a:rPr lang="en-US" altLang="zh-CN" sz="2400"/>
              <a:t>)</a:t>
            </a:r>
            <a:r>
              <a:rPr lang="zh-CN" altLang="en-US" sz="2400"/>
              <a:t>＝</a:t>
            </a:r>
            <a:r>
              <a:rPr lang="en-US" altLang="zh-CN" sz="2400"/>
              <a:t>min{ </a:t>
            </a:r>
            <a:r>
              <a:rPr lang="en-US" altLang="zh-CN" sz="2400" i="1"/>
              <a:t>c</a:t>
            </a:r>
            <a:r>
              <a:rPr lang="en-US" altLang="zh-CN" sz="2400" baseline="-30000"/>
              <a:t>1</a:t>
            </a:r>
            <a:r>
              <a:rPr lang="en-US" altLang="zh-CN" sz="2400"/>
              <a:t>(</a:t>
            </a:r>
            <a:r>
              <a:rPr lang="en-US" altLang="zh-CN" sz="2400" i="1"/>
              <a:t>x</a:t>
            </a:r>
            <a:r>
              <a:rPr lang="en-US" altLang="zh-CN" sz="2400" baseline="-30000"/>
              <a:t>1</a:t>
            </a:r>
            <a:r>
              <a:rPr lang="en-US" altLang="zh-CN" sz="2400"/>
              <a:t>)</a:t>
            </a:r>
            <a:r>
              <a:rPr lang="zh-CN" altLang="en-US" sz="2400"/>
              <a:t>＋</a:t>
            </a:r>
            <a:r>
              <a:rPr lang="en-US" altLang="zh-CN" sz="2400" i="1"/>
              <a:t>h</a:t>
            </a:r>
            <a:r>
              <a:rPr lang="en-US" altLang="zh-CN" sz="2400" baseline="-30000"/>
              <a:t>1</a:t>
            </a:r>
            <a:r>
              <a:rPr lang="en-US" altLang="zh-CN" sz="2400"/>
              <a:t>(</a:t>
            </a:r>
            <a:r>
              <a:rPr lang="en-US" altLang="zh-CN" sz="2400" i="1"/>
              <a:t>v</a:t>
            </a:r>
            <a:r>
              <a:rPr lang="en-US" altLang="zh-CN" sz="2400" baseline="-30000"/>
              <a:t>1</a:t>
            </a:r>
            <a:r>
              <a:rPr lang="en-US" altLang="zh-CN" sz="2400"/>
              <a:t>) </a:t>
            </a:r>
            <a:r>
              <a:rPr lang="zh-CN" altLang="en-US" sz="2400"/>
              <a:t>＋ </a:t>
            </a:r>
            <a:r>
              <a:rPr lang="en-US" altLang="zh-CN" sz="2400"/>
              <a:t>f</a:t>
            </a:r>
            <a:r>
              <a:rPr lang="en-US" altLang="zh-CN" sz="2400" baseline="-30000"/>
              <a:t>0</a:t>
            </a:r>
            <a:r>
              <a:rPr lang="en-US" altLang="zh-CN" sz="2400"/>
              <a:t>(</a:t>
            </a:r>
            <a:r>
              <a:rPr lang="en-US" altLang="zh-CN" sz="2400" i="1"/>
              <a:t>v</a:t>
            </a:r>
            <a:r>
              <a:rPr lang="en-US" altLang="zh-CN" sz="2400" baseline="-30000"/>
              <a:t>0</a:t>
            </a:r>
            <a:r>
              <a:rPr lang="en-US" altLang="zh-CN" sz="2400"/>
              <a:t>)}</a:t>
            </a:r>
          </a:p>
          <a:p>
            <a:pPr marL="0" indent="384175" algn="just">
              <a:lnSpc>
                <a:spcPct val="105000"/>
              </a:lnSpc>
              <a:spcBef>
                <a:spcPct val="35000"/>
              </a:spcBef>
              <a:buFont typeface="Wingdings" panose="05000000000000000000" pitchFamily="2" charset="2"/>
              <a:buNone/>
            </a:pPr>
            <a:endParaRPr lang="en-US" altLang="zh-CN" sz="2400"/>
          </a:p>
          <a:p>
            <a:pPr marL="0" indent="384175" algn="just">
              <a:lnSpc>
                <a:spcPct val="105000"/>
              </a:lnSpc>
              <a:spcBef>
                <a:spcPct val="35000"/>
              </a:spcBef>
              <a:buFont typeface="Wingdings" panose="05000000000000000000" pitchFamily="2" charset="2"/>
              <a:buNone/>
            </a:pPr>
            <a:r>
              <a:rPr lang="zh-CN" altLang="en-US" sz="2400"/>
              <a:t>对                                            之间的值分别进行计算。</a:t>
            </a:r>
          </a:p>
          <a:p>
            <a:pPr marL="0" indent="384175" algn="just">
              <a:lnSpc>
                <a:spcPct val="105000"/>
              </a:lnSpc>
              <a:spcBef>
                <a:spcPct val="15000"/>
              </a:spcBef>
              <a:buFont typeface="Wingdings" panose="05000000000000000000" pitchFamily="2" charset="2"/>
              <a:buNone/>
            </a:pPr>
            <a:r>
              <a:rPr lang="en-US" altLang="zh-CN" sz="2400" i="1"/>
              <a:t>v</a:t>
            </a:r>
            <a:r>
              <a:rPr lang="en-US" altLang="zh-CN" sz="2400" baseline="-30000"/>
              <a:t>1</a:t>
            </a:r>
            <a:r>
              <a:rPr lang="zh-CN" altLang="en-US" sz="2400"/>
              <a:t>＝ </a:t>
            </a:r>
            <a:r>
              <a:rPr lang="en-US" altLang="zh-CN" sz="2400" i="1"/>
              <a:t>v</a:t>
            </a:r>
            <a:r>
              <a:rPr lang="en-US" altLang="zh-CN" sz="2400" baseline="-30000"/>
              <a:t>0</a:t>
            </a:r>
            <a:r>
              <a:rPr lang="en-US" altLang="zh-CN" sz="2400"/>
              <a:t> +</a:t>
            </a:r>
            <a:r>
              <a:rPr lang="en-US" altLang="zh-CN" sz="2400" i="1"/>
              <a:t>x</a:t>
            </a:r>
            <a:r>
              <a:rPr lang="en-US" altLang="zh-CN" sz="2400" baseline="-30000"/>
              <a:t>1</a:t>
            </a:r>
            <a:r>
              <a:rPr lang="zh-CN" altLang="en-US" sz="2400"/>
              <a:t>－</a:t>
            </a:r>
            <a:r>
              <a:rPr lang="en-US" altLang="zh-CN" sz="2400" i="1"/>
              <a:t>d</a:t>
            </a:r>
            <a:r>
              <a:rPr lang="en-US" altLang="zh-CN" sz="2400" baseline="-30000"/>
              <a:t>1</a:t>
            </a:r>
            <a:r>
              <a:rPr lang="zh-CN" altLang="en-US" sz="2400"/>
              <a:t> ＝ </a:t>
            </a:r>
            <a:r>
              <a:rPr lang="en-US" altLang="zh-CN" sz="2400" i="1"/>
              <a:t>x</a:t>
            </a:r>
            <a:r>
              <a:rPr lang="en-US" altLang="zh-CN" sz="2400" baseline="-30000"/>
              <a:t>1</a:t>
            </a:r>
            <a:r>
              <a:rPr lang="zh-CN" altLang="en-US" sz="2400"/>
              <a:t>－</a:t>
            </a:r>
            <a:r>
              <a:rPr lang="en-US" altLang="zh-CN" sz="2400"/>
              <a:t>2</a:t>
            </a:r>
            <a:r>
              <a:rPr lang="zh-CN" altLang="en-US" sz="2400"/>
              <a:t>，</a:t>
            </a:r>
            <a:r>
              <a:rPr lang="en-US" altLang="zh-CN" sz="2400" i="1"/>
              <a:t>d</a:t>
            </a:r>
            <a:r>
              <a:rPr lang="en-US" altLang="zh-CN" sz="2400" baseline="-30000"/>
              <a:t>1</a:t>
            </a:r>
            <a:r>
              <a:rPr lang="en-US" altLang="zh-CN" sz="2400"/>
              <a:t>=2</a:t>
            </a:r>
          </a:p>
          <a:p>
            <a:pPr marL="0" indent="384175" algn="just">
              <a:lnSpc>
                <a:spcPct val="105000"/>
              </a:lnSpc>
              <a:spcBef>
                <a:spcPct val="15000"/>
              </a:spcBef>
              <a:buFont typeface="Wingdings" panose="05000000000000000000" pitchFamily="2" charset="2"/>
              <a:buNone/>
            </a:pPr>
            <a:r>
              <a:rPr lang="en-US" altLang="zh-CN" sz="2400" i="1"/>
              <a:t>v</a:t>
            </a:r>
            <a:r>
              <a:rPr lang="en-US" altLang="zh-CN" sz="2400" baseline="-30000"/>
              <a:t>1</a:t>
            </a:r>
            <a:r>
              <a:rPr lang="zh-CN" altLang="en-US" sz="2400"/>
              <a:t>＝</a:t>
            </a:r>
            <a:r>
              <a:rPr lang="en-US" altLang="zh-CN" sz="2400"/>
              <a:t>0</a:t>
            </a:r>
            <a:r>
              <a:rPr lang="zh-CN" altLang="en-US" sz="2400"/>
              <a:t>，</a:t>
            </a:r>
            <a:r>
              <a:rPr lang="en-US" altLang="zh-CN" sz="2400" i="1"/>
              <a:t>x</a:t>
            </a:r>
            <a:r>
              <a:rPr lang="en-US" altLang="zh-CN" sz="2400" baseline="-30000"/>
              <a:t>1</a:t>
            </a:r>
            <a:r>
              <a:rPr lang="zh-CN" altLang="en-US" sz="2400"/>
              <a:t>＝</a:t>
            </a:r>
            <a:r>
              <a:rPr lang="en-US" altLang="zh-CN" sz="2400"/>
              <a:t>2</a:t>
            </a:r>
            <a:r>
              <a:rPr lang="zh-CN" altLang="en-US" sz="2400"/>
              <a:t>，</a:t>
            </a:r>
            <a:r>
              <a:rPr lang="en-US" altLang="zh-CN" sz="2400"/>
              <a:t>f</a:t>
            </a:r>
            <a:r>
              <a:rPr lang="en-US" altLang="zh-CN" sz="2400" baseline="-30000"/>
              <a:t>1</a:t>
            </a:r>
            <a:r>
              <a:rPr lang="en-US" altLang="zh-CN" sz="2400"/>
              <a:t>(0)</a:t>
            </a:r>
            <a:r>
              <a:rPr lang="zh-CN" altLang="en-US" sz="2400"/>
              <a:t>＝</a:t>
            </a:r>
            <a:r>
              <a:rPr lang="en-US" altLang="zh-CN" sz="2400"/>
              <a:t>5</a:t>
            </a:r>
          </a:p>
          <a:p>
            <a:pPr marL="0" indent="384175" algn="just">
              <a:lnSpc>
                <a:spcPct val="105000"/>
              </a:lnSpc>
              <a:spcBef>
                <a:spcPct val="15000"/>
              </a:spcBef>
              <a:buFont typeface="Wingdings" panose="05000000000000000000" pitchFamily="2" charset="2"/>
              <a:buNone/>
            </a:pPr>
            <a:r>
              <a:rPr lang="en-US" altLang="zh-CN" sz="2400" i="1"/>
              <a:t>v</a:t>
            </a:r>
            <a:r>
              <a:rPr lang="en-US" altLang="zh-CN" sz="2400" baseline="-30000"/>
              <a:t>1</a:t>
            </a:r>
            <a:r>
              <a:rPr lang="zh-CN" altLang="en-US" sz="2400"/>
              <a:t>＝</a:t>
            </a:r>
            <a:r>
              <a:rPr lang="en-US" altLang="zh-CN" sz="2400"/>
              <a:t>1</a:t>
            </a:r>
            <a:r>
              <a:rPr lang="zh-CN" altLang="en-US" sz="2400"/>
              <a:t>，</a:t>
            </a:r>
            <a:r>
              <a:rPr lang="en-US" altLang="zh-CN" sz="2400" i="1"/>
              <a:t>x</a:t>
            </a:r>
            <a:r>
              <a:rPr lang="en-US" altLang="zh-CN" sz="2400" baseline="-30000"/>
              <a:t>1</a:t>
            </a:r>
            <a:r>
              <a:rPr lang="zh-CN" altLang="en-US" sz="2400"/>
              <a:t>＝</a:t>
            </a:r>
            <a:r>
              <a:rPr lang="en-US" altLang="zh-CN" sz="2400"/>
              <a:t>3</a:t>
            </a:r>
            <a:r>
              <a:rPr lang="zh-CN" altLang="en-US" sz="2400"/>
              <a:t>，</a:t>
            </a:r>
            <a:r>
              <a:rPr lang="en-US" altLang="zh-CN" sz="2400"/>
              <a:t>f</a:t>
            </a:r>
            <a:r>
              <a:rPr lang="en-US" altLang="zh-CN" sz="2400" baseline="-30000"/>
              <a:t>1</a:t>
            </a:r>
            <a:r>
              <a:rPr lang="en-US" altLang="zh-CN" sz="2400"/>
              <a:t>(1)</a:t>
            </a:r>
            <a:r>
              <a:rPr lang="zh-CN" altLang="en-US" sz="2400"/>
              <a:t>＝</a:t>
            </a:r>
            <a:r>
              <a:rPr lang="en-US" altLang="zh-CN" sz="2400"/>
              <a:t>6.5</a:t>
            </a:r>
          </a:p>
          <a:p>
            <a:pPr marL="0" indent="384175" algn="just">
              <a:lnSpc>
                <a:spcPct val="105000"/>
              </a:lnSpc>
              <a:spcBef>
                <a:spcPct val="15000"/>
              </a:spcBef>
              <a:buFont typeface="Wingdings" panose="05000000000000000000" pitchFamily="2" charset="2"/>
              <a:buNone/>
            </a:pPr>
            <a:r>
              <a:rPr lang="en-US" altLang="zh-CN" sz="2400" i="1"/>
              <a:t>v</a:t>
            </a:r>
            <a:r>
              <a:rPr lang="en-US" altLang="zh-CN" sz="2400" baseline="-30000"/>
              <a:t>1</a:t>
            </a:r>
            <a:r>
              <a:rPr lang="zh-CN" altLang="en-US" sz="2400"/>
              <a:t>＝</a:t>
            </a:r>
            <a:r>
              <a:rPr lang="en-US" altLang="zh-CN" sz="2400"/>
              <a:t>2</a:t>
            </a:r>
            <a:r>
              <a:rPr lang="zh-CN" altLang="en-US" sz="2400"/>
              <a:t>，</a:t>
            </a:r>
            <a:r>
              <a:rPr lang="en-US" altLang="zh-CN" sz="2400" i="1"/>
              <a:t>x</a:t>
            </a:r>
            <a:r>
              <a:rPr lang="en-US" altLang="zh-CN" sz="2400" baseline="-30000"/>
              <a:t>1</a:t>
            </a:r>
            <a:r>
              <a:rPr lang="zh-CN" altLang="en-US" sz="2400"/>
              <a:t>＝</a:t>
            </a:r>
            <a:r>
              <a:rPr lang="en-US" altLang="zh-CN" sz="2400"/>
              <a:t>4</a:t>
            </a:r>
            <a:r>
              <a:rPr lang="zh-CN" altLang="en-US" sz="2400"/>
              <a:t>，</a:t>
            </a:r>
            <a:r>
              <a:rPr lang="en-US" altLang="zh-CN" sz="2400"/>
              <a:t>f</a:t>
            </a:r>
            <a:r>
              <a:rPr lang="en-US" altLang="zh-CN" sz="2400" baseline="-30000"/>
              <a:t>1</a:t>
            </a:r>
            <a:r>
              <a:rPr lang="en-US" altLang="zh-CN" sz="2400"/>
              <a:t>(2)</a:t>
            </a:r>
            <a:r>
              <a:rPr lang="zh-CN" altLang="en-US" sz="2400"/>
              <a:t>＝</a:t>
            </a:r>
            <a:r>
              <a:rPr lang="en-US" altLang="zh-CN" sz="2400"/>
              <a:t>8</a:t>
            </a:r>
          </a:p>
          <a:p>
            <a:pPr marL="0" indent="384175" algn="just">
              <a:lnSpc>
                <a:spcPct val="105000"/>
              </a:lnSpc>
              <a:spcBef>
                <a:spcPct val="15000"/>
              </a:spcBef>
              <a:buFont typeface="Wingdings" panose="05000000000000000000" pitchFamily="2" charset="2"/>
              <a:buNone/>
            </a:pPr>
            <a:r>
              <a:rPr lang="en-US" altLang="zh-CN" sz="2400" i="1">
                <a:solidFill>
                  <a:srgbClr val="FF0000"/>
                </a:solidFill>
              </a:rPr>
              <a:t>v</a:t>
            </a:r>
            <a:r>
              <a:rPr lang="en-US" altLang="zh-CN" sz="2400" baseline="-30000">
                <a:solidFill>
                  <a:srgbClr val="FF0000"/>
                </a:solidFill>
              </a:rPr>
              <a:t>1</a:t>
            </a:r>
            <a:r>
              <a:rPr lang="zh-CN" altLang="en-US" sz="2400">
                <a:solidFill>
                  <a:srgbClr val="FF0000"/>
                </a:solidFill>
              </a:rPr>
              <a:t>＝</a:t>
            </a:r>
            <a:r>
              <a:rPr lang="en-US" altLang="zh-CN" sz="2400">
                <a:solidFill>
                  <a:srgbClr val="FF0000"/>
                </a:solidFill>
              </a:rPr>
              <a:t>3</a:t>
            </a:r>
            <a:r>
              <a:rPr lang="zh-CN" altLang="en-US" sz="2400">
                <a:solidFill>
                  <a:srgbClr val="FF0000"/>
                </a:solidFill>
              </a:rPr>
              <a:t>，</a:t>
            </a:r>
            <a:r>
              <a:rPr lang="en-US" altLang="zh-CN" sz="2400" i="1">
                <a:solidFill>
                  <a:srgbClr val="FF0000"/>
                </a:solidFill>
              </a:rPr>
              <a:t>x</a:t>
            </a:r>
            <a:r>
              <a:rPr lang="en-US" altLang="zh-CN" sz="2400" baseline="-30000">
                <a:solidFill>
                  <a:srgbClr val="FF0000"/>
                </a:solidFill>
              </a:rPr>
              <a:t>1</a:t>
            </a:r>
            <a:r>
              <a:rPr lang="zh-CN" altLang="en-US" sz="2400">
                <a:solidFill>
                  <a:srgbClr val="FF0000"/>
                </a:solidFill>
              </a:rPr>
              <a:t>＝</a:t>
            </a:r>
            <a:r>
              <a:rPr lang="en-US" altLang="zh-CN" sz="2400">
                <a:solidFill>
                  <a:srgbClr val="FF0000"/>
                </a:solidFill>
              </a:rPr>
              <a:t>5</a:t>
            </a:r>
            <a:r>
              <a:rPr lang="zh-CN" altLang="en-US" sz="2400">
                <a:solidFill>
                  <a:srgbClr val="FF0000"/>
                </a:solidFill>
              </a:rPr>
              <a:t>，</a:t>
            </a:r>
            <a:r>
              <a:rPr lang="en-US" altLang="zh-CN" sz="2400">
                <a:solidFill>
                  <a:srgbClr val="FF0000"/>
                </a:solidFill>
              </a:rPr>
              <a:t>f</a:t>
            </a:r>
            <a:r>
              <a:rPr lang="en-US" altLang="zh-CN" sz="2400" baseline="-30000">
                <a:solidFill>
                  <a:srgbClr val="FF0000"/>
                </a:solidFill>
              </a:rPr>
              <a:t>1</a:t>
            </a:r>
            <a:r>
              <a:rPr lang="en-US" altLang="zh-CN" sz="2400">
                <a:solidFill>
                  <a:srgbClr val="FF0000"/>
                </a:solidFill>
              </a:rPr>
              <a:t>(3)</a:t>
            </a:r>
            <a:r>
              <a:rPr lang="zh-CN" altLang="en-US" sz="2400">
                <a:solidFill>
                  <a:srgbClr val="FF0000"/>
                </a:solidFill>
              </a:rPr>
              <a:t>＝</a:t>
            </a:r>
            <a:r>
              <a:rPr lang="en-US" altLang="zh-CN" sz="2400">
                <a:solidFill>
                  <a:srgbClr val="FF0000"/>
                </a:solidFill>
              </a:rPr>
              <a:t>9.5</a:t>
            </a:r>
          </a:p>
          <a:p>
            <a:pPr marL="0" indent="384175" algn="just">
              <a:lnSpc>
                <a:spcPct val="105000"/>
              </a:lnSpc>
              <a:spcBef>
                <a:spcPct val="15000"/>
              </a:spcBef>
              <a:buFont typeface="Wingdings" panose="05000000000000000000" pitchFamily="2" charset="2"/>
              <a:buNone/>
            </a:pPr>
            <a:r>
              <a:rPr lang="en-US" altLang="zh-CN" sz="2400" i="1"/>
              <a:t>v</a:t>
            </a:r>
            <a:r>
              <a:rPr lang="en-US" altLang="zh-CN" sz="2400" baseline="-30000"/>
              <a:t>1</a:t>
            </a:r>
            <a:r>
              <a:rPr lang="zh-CN" altLang="en-US" sz="2400"/>
              <a:t>＝</a:t>
            </a:r>
            <a:r>
              <a:rPr lang="en-US" altLang="zh-CN" sz="2400"/>
              <a:t>4</a:t>
            </a:r>
            <a:r>
              <a:rPr lang="zh-CN" altLang="en-US" sz="2400"/>
              <a:t>，</a:t>
            </a:r>
            <a:r>
              <a:rPr lang="en-US" altLang="zh-CN" sz="2400" i="1"/>
              <a:t>x</a:t>
            </a:r>
            <a:r>
              <a:rPr lang="en-US" altLang="zh-CN" sz="2400" baseline="-30000"/>
              <a:t>1</a:t>
            </a:r>
            <a:r>
              <a:rPr lang="zh-CN" altLang="en-US" sz="2400"/>
              <a:t>＝</a:t>
            </a:r>
            <a:r>
              <a:rPr lang="en-US" altLang="zh-CN" sz="2400"/>
              <a:t>6</a:t>
            </a:r>
            <a:r>
              <a:rPr lang="zh-CN" altLang="en-US" sz="2400"/>
              <a:t>，</a:t>
            </a:r>
            <a:r>
              <a:rPr lang="en-US" altLang="zh-CN" sz="2400"/>
              <a:t>f</a:t>
            </a:r>
            <a:r>
              <a:rPr lang="en-US" altLang="zh-CN" sz="2400" baseline="-30000"/>
              <a:t>1</a:t>
            </a:r>
            <a:r>
              <a:rPr lang="en-US" altLang="zh-CN" sz="2400"/>
              <a:t>(4)</a:t>
            </a:r>
            <a:r>
              <a:rPr lang="zh-CN" altLang="en-US" sz="2400"/>
              <a:t>＝</a:t>
            </a:r>
            <a:r>
              <a:rPr lang="en-US" altLang="zh-CN" sz="2400"/>
              <a:t>11</a:t>
            </a:r>
            <a:endParaRPr lang="zh-CN" altLang="en-US" sz="2400">
              <a:solidFill>
                <a:srgbClr val="FF0000"/>
              </a:solidFill>
            </a:endParaRPr>
          </a:p>
        </p:txBody>
      </p:sp>
      <p:graphicFrame>
        <p:nvGraphicFramePr>
          <p:cNvPr id="62467" name="对象 6">
            <a:extLst>
              <a:ext uri="{FF2B5EF4-FFF2-40B4-BE49-F238E27FC236}">
                <a16:creationId xmlns:a16="http://schemas.microsoft.com/office/drawing/2014/main" id="{45E1AE87-7220-4869-8D7E-AC4922A45362}"/>
              </a:ext>
            </a:extLst>
          </p:cNvPr>
          <p:cNvGraphicFramePr>
            <a:graphicFrameLocks noChangeAspect="1"/>
          </p:cNvGraphicFramePr>
          <p:nvPr/>
        </p:nvGraphicFramePr>
        <p:xfrm>
          <a:off x="1228725" y="2589213"/>
          <a:ext cx="3251200" cy="609600"/>
        </p:xfrm>
        <a:graphic>
          <a:graphicData uri="http://schemas.openxmlformats.org/presentationml/2006/ole">
            <mc:AlternateContent xmlns:mc="http://schemas.openxmlformats.org/markup-compatibility/2006">
              <mc:Choice xmlns:v="urn:schemas-microsoft-com:vml" Requires="v">
                <p:oleObj spid="_x0000_s62520" name="Equation" r:id="rId3" imgW="1892300" imgH="355600" progId="Equation.DSMT4">
                  <p:embed/>
                </p:oleObj>
              </mc:Choice>
              <mc:Fallback>
                <p:oleObj name="Equation" r:id="rId3" imgW="1892300" imgH="355600" progId="Equation.DSMT4">
                  <p:embed/>
                  <p:pic>
                    <p:nvPicPr>
                      <p:cNvPr id="0"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8725" y="2589213"/>
                        <a:ext cx="3251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68" name="对象 8">
            <a:extLst>
              <a:ext uri="{FF2B5EF4-FFF2-40B4-BE49-F238E27FC236}">
                <a16:creationId xmlns:a16="http://schemas.microsoft.com/office/drawing/2014/main" id="{F31D6787-1636-4374-B9A8-60F11162F21E}"/>
              </a:ext>
            </a:extLst>
          </p:cNvPr>
          <p:cNvGraphicFramePr>
            <a:graphicFrameLocks noChangeAspect="1"/>
          </p:cNvGraphicFramePr>
          <p:nvPr/>
        </p:nvGraphicFramePr>
        <p:xfrm>
          <a:off x="935038" y="2284413"/>
          <a:ext cx="4105275" cy="304800"/>
        </p:xfrm>
        <a:graphic>
          <a:graphicData uri="http://schemas.openxmlformats.org/presentationml/2006/ole">
            <mc:AlternateContent xmlns:mc="http://schemas.openxmlformats.org/markup-compatibility/2006">
              <mc:Choice xmlns:v="urn:schemas-microsoft-com:vml" Requires="v">
                <p:oleObj spid="_x0000_s62521" name="Equation" r:id="rId5" imgW="2387600" imgH="177800" progId="Equation.DSMT4">
                  <p:embed/>
                </p:oleObj>
              </mc:Choice>
              <mc:Fallback>
                <p:oleObj name="Equation" r:id="rId5" imgW="2387600" imgH="177800" progId="Equation.DSMT4">
                  <p:embed/>
                  <p:pic>
                    <p:nvPicPr>
                      <p:cNvPr id="0"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5038" y="2284413"/>
                        <a:ext cx="4105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69" name="对象 9">
            <a:extLst>
              <a:ext uri="{FF2B5EF4-FFF2-40B4-BE49-F238E27FC236}">
                <a16:creationId xmlns:a16="http://schemas.microsoft.com/office/drawing/2014/main" id="{0C927D8F-C83A-496F-B0C3-4BF7939600E7}"/>
              </a:ext>
            </a:extLst>
          </p:cNvPr>
          <p:cNvGraphicFramePr>
            <a:graphicFrameLocks noChangeAspect="1"/>
          </p:cNvGraphicFramePr>
          <p:nvPr/>
        </p:nvGraphicFramePr>
        <p:xfrm>
          <a:off x="4518025" y="4868863"/>
          <a:ext cx="4302125" cy="304800"/>
        </p:xfrm>
        <a:graphic>
          <a:graphicData uri="http://schemas.openxmlformats.org/presentationml/2006/ole">
            <mc:AlternateContent xmlns:mc="http://schemas.openxmlformats.org/markup-compatibility/2006">
              <mc:Choice xmlns:v="urn:schemas-microsoft-com:vml" Requires="v">
                <p:oleObj spid="_x0000_s62522" name="Equation" r:id="rId7" imgW="2501900" imgH="177800" progId="Equation.DSMT4">
                  <p:embed/>
                </p:oleObj>
              </mc:Choice>
              <mc:Fallback>
                <p:oleObj name="Equation" r:id="rId7" imgW="2501900" imgH="177800" progId="Equation.DSMT4">
                  <p:embed/>
                  <p:pic>
                    <p:nvPicPr>
                      <p:cNvPr id="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8025" y="4868863"/>
                        <a:ext cx="4302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 name="直接箭头连接符 4">
            <a:extLst>
              <a:ext uri="{FF2B5EF4-FFF2-40B4-BE49-F238E27FC236}">
                <a16:creationId xmlns:a16="http://schemas.microsoft.com/office/drawing/2014/main" id="{595D5CDB-1D1B-4C67-9A5B-69061AF440B2}"/>
              </a:ext>
            </a:extLst>
          </p:cNvPr>
          <p:cNvCxnSpPr/>
          <p:nvPr/>
        </p:nvCxnSpPr>
        <p:spPr>
          <a:xfrm>
            <a:off x="2597150" y="931863"/>
            <a:ext cx="2303463" cy="7921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B51AF59E-39A0-459B-ABE0-370B83E48DD4}"/>
              </a:ext>
            </a:extLst>
          </p:cNvPr>
          <p:cNvCxnSpPr>
            <a:cxnSpLocks/>
          </p:cNvCxnSpPr>
          <p:nvPr/>
        </p:nvCxnSpPr>
        <p:spPr>
          <a:xfrm>
            <a:off x="1290638" y="2084388"/>
            <a:ext cx="3394075" cy="2794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id="{A40D0EB4-6E09-4654-B9EB-BF179BE0E40C}"/>
              </a:ext>
            </a:extLst>
          </p:cNvPr>
          <p:cNvSpPr>
            <a:spLocks noGrp="1" noChangeArrowheads="1"/>
          </p:cNvSpPr>
          <p:nvPr>
            <p:ph type="body" idx="1"/>
          </p:nvPr>
        </p:nvSpPr>
        <p:spPr>
          <a:xfrm>
            <a:off x="279400" y="2189163"/>
            <a:ext cx="8324850" cy="1012825"/>
          </a:xfrm>
        </p:spPr>
        <p:txBody>
          <a:bodyPr/>
          <a:lstStyle/>
          <a:p>
            <a:pPr marL="0" indent="384175" algn="just">
              <a:lnSpc>
                <a:spcPct val="105000"/>
              </a:lnSpc>
              <a:spcBef>
                <a:spcPct val="10000"/>
              </a:spcBef>
              <a:buFont typeface="Wingdings" panose="05000000000000000000" pitchFamily="2" charset="2"/>
              <a:buNone/>
            </a:pPr>
            <a:r>
              <a:rPr lang="zh-CN" altLang="en-US" sz="2400"/>
              <a:t>对</a:t>
            </a:r>
            <a:r>
              <a:rPr lang="zh-CN" altLang="en-US" sz="2400">
                <a:solidFill>
                  <a:srgbClr val="FF0000"/>
                </a:solidFill>
              </a:rPr>
              <a:t>                                                  </a:t>
            </a:r>
            <a:r>
              <a:rPr lang="zh-CN" altLang="en-US" sz="2400"/>
              <a:t>之间的值分别进行计算。</a:t>
            </a:r>
          </a:p>
          <a:p>
            <a:pPr marL="0" indent="384175" algn="just">
              <a:lnSpc>
                <a:spcPct val="105000"/>
              </a:lnSpc>
              <a:spcBef>
                <a:spcPct val="10000"/>
              </a:spcBef>
              <a:buFont typeface="Wingdings" panose="05000000000000000000" pitchFamily="2" charset="2"/>
              <a:buNone/>
            </a:pPr>
            <a:r>
              <a:rPr lang="zh-CN" altLang="en-US" sz="2400">
                <a:solidFill>
                  <a:srgbClr val="000066"/>
                </a:solidFill>
              </a:rPr>
              <a:t>当</a:t>
            </a:r>
            <a:r>
              <a:rPr lang="en-US" altLang="zh-CN" sz="2400" i="1">
                <a:solidFill>
                  <a:srgbClr val="000066"/>
                </a:solidFill>
              </a:rPr>
              <a:t>v</a:t>
            </a:r>
            <a:r>
              <a:rPr lang="en-US" altLang="zh-CN" sz="2400" baseline="-30000">
                <a:solidFill>
                  <a:srgbClr val="000066"/>
                </a:solidFill>
              </a:rPr>
              <a:t>2</a:t>
            </a:r>
            <a:r>
              <a:rPr lang="zh-CN" altLang="en-US" sz="2400">
                <a:solidFill>
                  <a:srgbClr val="000066"/>
                </a:solidFill>
              </a:rPr>
              <a:t>＝</a:t>
            </a:r>
            <a:r>
              <a:rPr lang="en-US" altLang="zh-CN" sz="2400">
                <a:solidFill>
                  <a:srgbClr val="000066"/>
                </a:solidFill>
              </a:rPr>
              <a:t>0</a:t>
            </a:r>
            <a:r>
              <a:rPr lang="zh-CN" altLang="en-US" sz="2400">
                <a:solidFill>
                  <a:srgbClr val="000066"/>
                </a:solidFill>
              </a:rPr>
              <a:t>时</a:t>
            </a:r>
            <a:r>
              <a:rPr lang="zh-CN" altLang="en-US" sz="2400"/>
              <a:t>，</a:t>
            </a:r>
          </a:p>
        </p:txBody>
      </p:sp>
      <p:graphicFrame>
        <p:nvGraphicFramePr>
          <p:cNvPr id="63491" name="对象 8">
            <a:extLst>
              <a:ext uri="{FF2B5EF4-FFF2-40B4-BE49-F238E27FC236}">
                <a16:creationId xmlns:a16="http://schemas.microsoft.com/office/drawing/2014/main" id="{BECBED5C-95DA-4F26-AECF-97848D16BC1A}"/>
              </a:ext>
            </a:extLst>
          </p:cNvPr>
          <p:cNvGraphicFramePr>
            <a:graphicFrameLocks noChangeAspect="1"/>
          </p:cNvGraphicFramePr>
          <p:nvPr/>
        </p:nvGraphicFramePr>
        <p:xfrm>
          <a:off x="1187450" y="2135188"/>
          <a:ext cx="3665538" cy="609600"/>
        </p:xfrm>
        <a:graphic>
          <a:graphicData uri="http://schemas.openxmlformats.org/presentationml/2006/ole">
            <mc:AlternateContent xmlns:mc="http://schemas.openxmlformats.org/markup-compatibility/2006">
              <mc:Choice xmlns:v="urn:schemas-microsoft-com:vml" Requires="v">
                <p:oleObj spid="_x0000_s63527" name="Equation" r:id="rId3" imgW="2133600" imgH="355600" progId="Equation.DSMT4">
                  <p:embed/>
                </p:oleObj>
              </mc:Choice>
              <mc:Fallback>
                <p:oleObj name="Equation" r:id="rId3" imgW="2133600" imgH="3556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135188"/>
                        <a:ext cx="36655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492" name="对象 1">
            <a:extLst>
              <a:ext uri="{FF2B5EF4-FFF2-40B4-BE49-F238E27FC236}">
                <a16:creationId xmlns:a16="http://schemas.microsoft.com/office/drawing/2014/main" id="{10F97781-AD11-488A-9822-5D08930F896B}"/>
              </a:ext>
            </a:extLst>
          </p:cNvPr>
          <p:cNvGraphicFramePr>
            <a:graphicFrameLocks noChangeAspect="1"/>
          </p:cNvGraphicFramePr>
          <p:nvPr/>
        </p:nvGraphicFramePr>
        <p:xfrm>
          <a:off x="827088" y="3273425"/>
          <a:ext cx="4933950" cy="1784350"/>
        </p:xfrm>
        <a:graphic>
          <a:graphicData uri="http://schemas.openxmlformats.org/presentationml/2006/ole">
            <mc:AlternateContent xmlns:mc="http://schemas.openxmlformats.org/markup-compatibility/2006">
              <mc:Choice xmlns:v="urn:schemas-microsoft-com:vml" Requires="v">
                <p:oleObj spid="_x0000_s63528" name="Equation" r:id="rId5" imgW="2247900" imgH="812800" progId="Equation.DSMT4">
                  <p:embed/>
                </p:oleObj>
              </mc:Choice>
              <mc:Fallback>
                <p:oleObj name="Equation" r:id="rId5" imgW="2247900" imgH="8128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3273425"/>
                        <a:ext cx="493395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
            <a:extLst>
              <a:ext uri="{FF2B5EF4-FFF2-40B4-BE49-F238E27FC236}">
                <a16:creationId xmlns:a16="http://schemas.microsoft.com/office/drawing/2014/main" id="{5366C2A1-CA6C-4878-936C-C532885553BD}"/>
              </a:ext>
            </a:extLst>
          </p:cNvPr>
          <p:cNvSpPr txBox="1">
            <a:spLocks noChangeArrowheads="1"/>
          </p:cNvSpPr>
          <p:nvPr/>
        </p:nvSpPr>
        <p:spPr bwMode="auto">
          <a:xfrm>
            <a:off x="315913" y="5218113"/>
            <a:ext cx="8323262" cy="1306512"/>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2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8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384175" algn="just">
              <a:lnSpc>
                <a:spcPct val="105000"/>
              </a:lnSpc>
              <a:spcBef>
                <a:spcPct val="10000"/>
              </a:spcBef>
              <a:buFont typeface="Wingdings" panose="05000000000000000000" pitchFamily="2" charset="2"/>
              <a:buNone/>
              <a:defRPr/>
            </a:pPr>
            <a:r>
              <a:rPr lang="en-US" altLang="zh-CN" sz="2400" i="1" kern="0" dirty="0">
                <a:solidFill>
                  <a:srgbClr val="000066"/>
                </a:solidFill>
              </a:rPr>
              <a:t>v</a:t>
            </a:r>
            <a:r>
              <a:rPr lang="en-US" altLang="zh-CN" sz="2400" kern="0" baseline="-30000" dirty="0">
                <a:solidFill>
                  <a:srgbClr val="000066"/>
                </a:solidFill>
              </a:rPr>
              <a:t>2</a:t>
            </a:r>
            <a:r>
              <a:rPr lang="zh-CN" altLang="en-US" sz="2400" kern="0" dirty="0">
                <a:solidFill>
                  <a:srgbClr val="000066"/>
                </a:solidFill>
              </a:rPr>
              <a:t>＝</a:t>
            </a:r>
            <a:r>
              <a:rPr lang="en-US" altLang="zh-CN" sz="2400" kern="0" dirty="0">
                <a:solidFill>
                  <a:srgbClr val="000066"/>
                </a:solidFill>
              </a:rPr>
              <a:t>1</a:t>
            </a:r>
            <a:r>
              <a:rPr lang="zh-CN" altLang="en-US" sz="2400" kern="0" dirty="0"/>
              <a:t>，</a:t>
            </a:r>
            <a:r>
              <a:rPr lang="en-US" altLang="zh-CN" sz="2400" kern="0" dirty="0"/>
              <a:t>f</a:t>
            </a:r>
            <a:r>
              <a:rPr lang="en-US" altLang="zh-CN" sz="2400" kern="0" baseline="-30000" dirty="0"/>
              <a:t>2</a:t>
            </a:r>
            <a:r>
              <a:rPr lang="en-US" altLang="zh-CN" sz="2400" kern="0" dirty="0"/>
              <a:t>(1)</a:t>
            </a:r>
            <a:r>
              <a:rPr lang="zh-CN" altLang="en-US" sz="2400" kern="0" dirty="0"/>
              <a:t>＝</a:t>
            </a:r>
            <a:r>
              <a:rPr lang="en-US" altLang="zh-CN" sz="2400" kern="0" dirty="0"/>
              <a:t>min{ c</a:t>
            </a:r>
            <a:r>
              <a:rPr lang="en-US" altLang="zh-CN" sz="2400" kern="0" baseline="-30000" dirty="0"/>
              <a:t>2</a:t>
            </a:r>
            <a:r>
              <a:rPr lang="en-US" altLang="zh-CN" sz="2400" kern="0" dirty="0"/>
              <a:t>(x</a:t>
            </a:r>
            <a:r>
              <a:rPr lang="en-US" altLang="zh-CN" sz="2400" kern="0" baseline="-30000" dirty="0"/>
              <a:t>2</a:t>
            </a:r>
            <a:r>
              <a:rPr lang="en-US" altLang="zh-CN" sz="2400" kern="0" dirty="0"/>
              <a:t>)</a:t>
            </a:r>
            <a:r>
              <a:rPr lang="zh-CN" altLang="en-US" sz="2400" kern="0" dirty="0"/>
              <a:t>＋</a:t>
            </a:r>
            <a:r>
              <a:rPr lang="en-US" altLang="zh-CN" sz="2400" kern="0" dirty="0"/>
              <a:t>h</a:t>
            </a:r>
            <a:r>
              <a:rPr lang="en-US" altLang="zh-CN" sz="2400" kern="0" baseline="-30000" dirty="0"/>
              <a:t>2</a:t>
            </a:r>
            <a:r>
              <a:rPr lang="en-US" altLang="zh-CN" sz="2400" kern="0" dirty="0"/>
              <a:t>(1)</a:t>
            </a:r>
            <a:r>
              <a:rPr lang="zh-CN" altLang="en-US" sz="2400" kern="0" dirty="0"/>
              <a:t>＋</a:t>
            </a:r>
            <a:r>
              <a:rPr lang="en-US" altLang="zh-CN" sz="2400" kern="0" dirty="0"/>
              <a:t>f</a:t>
            </a:r>
            <a:r>
              <a:rPr lang="en-US" altLang="zh-CN" sz="2400" kern="0" baseline="-30000" dirty="0"/>
              <a:t>1</a:t>
            </a:r>
            <a:r>
              <a:rPr lang="en-US" altLang="zh-CN" sz="2400" kern="0" dirty="0"/>
              <a:t>(4</a:t>
            </a:r>
            <a:r>
              <a:rPr lang="zh-CN" altLang="en-US" sz="2400" kern="0" dirty="0"/>
              <a:t>－</a:t>
            </a:r>
            <a:r>
              <a:rPr lang="en-US" altLang="zh-CN" sz="2400" kern="0" dirty="0"/>
              <a:t>x</a:t>
            </a:r>
            <a:r>
              <a:rPr lang="en-US" altLang="zh-CN" sz="2400" kern="0" baseline="-30000" dirty="0"/>
              <a:t>2</a:t>
            </a:r>
            <a:r>
              <a:rPr lang="en-US" altLang="zh-CN" sz="2400" kern="0" dirty="0"/>
              <a:t>)}</a:t>
            </a:r>
            <a:r>
              <a:rPr lang="zh-CN" altLang="en-US" sz="2400" kern="0" dirty="0"/>
              <a:t>＝</a:t>
            </a:r>
            <a:r>
              <a:rPr lang="en-US" altLang="zh-CN" sz="2400" kern="0" dirty="0"/>
              <a:t>11.5, </a:t>
            </a:r>
            <a:r>
              <a:rPr lang="en-US" altLang="zh-CN" sz="2400" kern="0" dirty="0">
                <a:solidFill>
                  <a:srgbClr val="000066"/>
                </a:solidFill>
              </a:rPr>
              <a:t>x</a:t>
            </a:r>
            <a:r>
              <a:rPr lang="en-US" altLang="zh-CN" sz="2400" kern="0" baseline="-30000" dirty="0">
                <a:solidFill>
                  <a:srgbClr val="000066"/>
                </a:solidFill>
              </a:rPr>
              <a:t>2</a:t>
            </a:r>
            <a:r>
              <a:rPr lang="en-US" altLang="zh-CN" sz="2400" kern="0" dirty="0">
                <a:solidFill>
                  <a:srgbClr val="000066"/>
                </a:solidFill>
              </a:rPr>
              <a:t>=0</a:t>
            </a:r>
          </a:p>
          <a:p>
            <a:pPr marL="0" indent="384175" algn="just">
              <a:lnSpc>
                <a:spcPct val="95000"/>
              </a:lnSpc>
              <a:spcBef>
                <a:spcPct val="0"/>
              </a:spcBef>
              <a:buFont typeface="Wingdings" panose="05000000000000000000" pitchFamily="2" charset="2"/>
              <a:buNone/>
              <a:defRPr/>
            </a:pPr>
            <a:r>
              <a:rPr lang="en-US" altLang="zh-CN" sz="2400" i="1" kern="0" dirty="0">
                <a:solidFill>
                  <a:srgbClr val="000066"/>
                </a:solidFill>
              </a:rPr>
              <a:t>v</a:t>
            </a:r>
            <a:r>
              <a:rPr lang="en-US" altLang="zh-CN" sz="2400" baseline="-30000" dirty="0"/>
              <a:t>2</a:t>
            </a:r>
            <a:r>
              <a:rPr lang="zh-CN" altLang="en-US" sz="2400" dirty="0"/>
              <a:t>＝</a:t>
            </a:r>
            <a:r>
              <a:rPr lang="en-US" altLang="zh-CN" sz="2400" dirty="0"/>
              <a:t>2</a:t>
            </a:r>
            <a:r>
              <a:rPr lang="zh-CN" altLang="en-US" sz="2400" dirty="0"/>
              <a:t>，</a:t>
            </a:r>
            <a:r>
              <a:rPr lang="en-US" altLang="zh-CN" sz="2400" dirty="0"/>
              <a:t>f</a:t>
            </a:r>
            <a:r>
              <a:rPr lang="en-US" altLang="zh-CN" sz="2400" baseline="-30000" dirty="0"/>
              <a:t>2</a:t>
            </a:r>
            <a:r>
              <a:rPr lang="en-US" altLang="zh-CN" sz="2400" dirty="0"/>
              <a:t>(2)</a:t>
            </a:r>
            <a:r>
              <a:rPr lang="zh-CN" altLang="en-US" sz="2400" dirty="0"/>
              <a:t>＝</a:t>
            </a:r>
            <a:r>
              <a:rPr lang="en-US" altLang="zh-CN" sz="2400" kern="0" dirty="0"/>
              <a:t>min</a:t>
            </a:r>
            <a:r>
              <a:rPr lang="en-US" altLang="zh-CN" sz="2400" dirty="0"/>
              <a:t>{ c</a:t>
            </a:r>
            <a:r>
              <a:rPr lang="en-US" altLang="zh-CN" sz="2400" baseline="-30000" dirty="0"/>
              <a:t>2</a:t>
            </a:r>
            <a:r>
              <a:rPr lang="en-US" altLang="zh-CN" sz="2400" dirty="0"/>
              <a:t>(</a:t>
            </a:r>
            <a:r>
              <a:rPr lang="en-US" altLang="zh-CN" sz="2400" kern="0" dirty="0">
                <a:solidFill>
                  <a:srgbClr val="000066"/>
                </a:solidFill>
              </a:rPr>
              <a:t>x</a:t>
            </a:r>
            <a:r>
              <a:rPr lang="en-US" altLang="zh-CN" sz="2400" baseline="-30000" dirty="0"/>
              <a:t>2</a:t>
            </a:r>
            <a:r>
              <a:rPr lang="en-US" altLang="zh-CN" sz="2400" dirty="0"/>
              <a:t>)</a:t>
            </a:r>
            <a:r>
              <a:rPr lang="zh-CN" altLang="en-US" sz="2400" dirty="0"/>
              <a:t>＋</a:t>
            </a:r>
            <a:r>
              <a:rPr lang="en-US" altLang="zh-CN" sz="2400" dirty="0"/>
              <a:t>h</a:t>
            </a:r>
            <a:r>
              <a:rPr lang="en-US" altLang="zh-CN" sz="2400" baseline="-30000" dirty="0"/>
              <a:t>2</a:t>
            </a:r>
            <a:r>
              <a:rPr lang="en-US" altLang="zh-CN" sz="2400" dirty="0"/>
              <a:t>(2)</a:t>
            </a:r>
            <a:r>
              <a:rPr lang="zh-CN" altLang="en-US" sz="2400" dirty="0"/>
              <a:t>＋</a:t>
            </a:r>
            <a:r>
              <a:rPr lang="en-US" altLang="zh-CN" sz="2400" dirty="0"/>
              <a:t>f</a:t>
            </a:r>
            <a:r>
              <a:rPr lang="en-US" altLang="zh-CN" sz="2400" baseline="-30000" dirty="0"/>
              <a:t>1</a:t>
            </a:r>
            <a:r>
              <a:rPr lang="en-US" altLang="zh-CN" sz="2400" dirty="0"/>
              <a:t>(5</a:t>
            </a:r>
            <a:r>
              <a:rPr lang="zh-CN" altLang="en-US" sz="2400" dirty="0"/>
              <a:t>－</a:t>
            </a:r>
            <a:r>
              <a:rPr lang="en-US" altLang="zh-CN" sz="2400" kern="0" dirty="0">
                <a:solidFill>
                  <a:srgbClr val="000066"/>
                </a:solidFill>
              </a:rPr>
              <a:t>x</a:t>
            </a:r>
            <a:r>
              <a:rPr lang="en-US" altLang="zh-CN" sz="2400" baseline="-30000" dirty="0"/>
              <a:t>2</a:t>
            </a:r>
            <a:r>
              <a:rPr lang="en-US" altLang="zh-CN" sz="2400" dirty="0"/>
              <a:t>)}</a:t>
            </a:r>
            <a:r>
              <a:rPr lang="zh-CN" altLang="en-US" sz="2400" dirty="0"/>
              <a:t>＝ </a:t>
            </a:r>
            <a:r>
              <a:rPr lang="en-US" altLang="zh-CN" sz="2400" dirty="0"/>
              <a:t>14</a:t>
            </a:r>
            <a:r>
              <a:rPr lang="zh-CN" altLang="en-US" sz="2400" dirty="0"/>
              <a:t>，</a:t>
            </a:r>
            <a:r>
              <a:rPr lang="en-US" altLang="zh-CN" sz="2400" kern="0" dirty="0">
                <a:solidFill>
                  <a:srgbClr val="000066"/>
                </a:solidFill>
              </a:rPr>
              <a:t>x</a:t>
            </a:r>
            <a:r>
              <a:rPr lang="en-US" altLang="zh-CN" sz="2400" baseline="-30000" dirty="0"/>
              <a:t>2</a:t>
            </a:r>
            <a:r>
              <a:rPr lang="en-US" altLang="zh-CN" sz="2400" dirty="0"/>
              <a:t>=5</a:t>
            </a:r>
          </a:p>
          <a:p>
            <a:pPr marL="0" indent="384175" algn="just">
              <a:lnSpc>
                <a:spcPct val="95000"/>
              </a:lnSpc>
              <a:spcBef>
                <a:spcPct val="0"/>
              </a:spcBef>
              <a:buFont typeface="Wingdings" panose="05000000000000000000" pitchFamily="2" charset="2"/>
              <a:buNone/>
              <a:defRPr/>
            </a:pPr>
            <a:r>
              <a:rPr lang="en-US" altLang="zh-CN" sz="2400" i="1" kern="0" dirty="0">
                <a:solidFill>
                  <a:srgbClr val="000066"/>
                </a:solidFill>
              </a:rPr>
              <a:t>v</a:t>
            </a:r>
            <a:r>
              <a:rPr lang="en-US" altLang="zh-CN" sz="2400" baseline="-30000" dirty="0"/>
              <a:t>2</a:t>
            </a:r>
            <a:r>
              <a:rPr lang="zh-CN" altLang="en-US" sz="2400" dirty="0"/>
              <a:t>＝</a:t>
            </a:r>
            <a:r>
              <a:rPr lang="en-US" altLang="zh-CN" sz="2400" dirty="0"/>
              <a:t>3</a:t>
            </a:r>
            <a:r>
              <a:rPr lang="zh-CN" altLang="en-US" sz="2400" dirty="0"/>
              <a:t>，</a:t>
            </a:r>
            <a:r>
              <a:rPr lang="en-US" altLang="zh-CN" sz="2400" dirty="0"/>
              <a:t>f</a:t>
            </a:r>
            <a:r>
              <a:rPr lang="en-US" altLang="zh-CN" sz="2400" baseline="-30000" dirty="0"/>
              <a:t>2</a:t>
            </a:r>
            <a:r>
              <a:rPr lang="en-US" altLang="zh-CN" sz="2400" dirty="0"/>
              <a:t>(3)</a:t>
            </a:r>
            <a:r>
              <a:rPr lang="zh-CN" altLang="en-US" sz="2400" dirty="0"/>
              <a:t>＝</a:t>
            </a:r>
            <a:r>
              <a:rPr lang="en-US" altLang="zh-CN" sz="2400" kern="0" dirty="0"/>
              <a:t>min</a:t>
            </a:r>
            <a:r>
              <a:rPr lang="en-US" altLang="zh-CN" sz="2400" dirty="0"/>
              <a:t>{ c</a:t>
            </a:r>
            <a:r>
              <a:rPr lang="en-US" altLang="zh-CN" sz="2400" baseline="-30000" dirty="0"/>
              <a:t>2</a:t>
            </a:r>
            <a:r>
              <a:rPr lang="en-US" altLang="zh-CN" sz="2400" dirty="0"/>
              <a:t>(</a:t>
            </a:r>
            <a:r>
              <a:rPr lang="en-US" altLang="zh-CN" sz="2400" kern="0" dirty="0">
                <a:solidFill>
                  <a:srgbClr val="000066"/>
                </a:solidFill>
              </a:rPr>
              <a:t>x</a:t>
            </a:r>
            <a:r>
              <a:rPr lang="en-US" altLang="zh-CN" sz="2400" baseline="-30000" dirty="0"/>
              <a:t>2</a:t>
            </a:r>
            <a:r>
              <a:rPr lang="en-US" altLang="zh-CN" sz="2400" dirty="0"/>
              <a:t>)</a:t>
            </a:r>
            <a:r>
              <a:rPr lang="zh-CN" altLang="en-US" sz="2400" dirty="0"/>
              <a:t>＋</a:t>
            </a:r>
            <a:r>
              <a:rPr lang="en-US" altLang="zh-CN" sz="2400" dirty="0"/>
              <a:t>h</a:t>
            </a:r>
            <a:r>
              <a:rPr lang="en-US" altLang="zh-CN" sz="2400" baseline="-30000" dirty="0"/>
              <a:t>2</a:t>
            </a:r>
            <a:r>
              <a:rPr lang="en-US" altLang="zh-CN" sz="2400" dirty="0"/>
              <a:t>(3)</a:t>
            </a:r>
            <a:r>
              <a:rPr lang="zh-CN" altLang="en-US" sz="2400" dirty="0"/>
              <a:t>＋</a:t>
            </a:r>
            <a:r>
              <a:rPr lang="en-US" altLang="zh-CN" sz="2400" dirty="0"/>
              <a:t>f</a:t>
            </a:r>
            <a:r>
              <a:rPr lang="en-US" altLang="zh-CN" sz="2400" baseline="-30000" dirty="0"/>
              <a:t>1</a:t>
            </a:r>
            <a:r>
              <a:rPr lang="en-US" altLang="zh-CN" sz="2400" dirty="0"/>
              <a:t>(6</a:t>
            </a:r>
            <a:r>
              <a:rPr lang="zh-CN" altLang="en-US" sz="2400" dirty="0"/>
              <a:t>－</a:t>
            </a:r>
            <a:r>
              <a:rPr lang="en-US" altLang="zh-CN" sz="2400" kern="0" dirty="0">
                <a:solidFill>
                  <a:srgbClr val="000066"/>
                </a:solidFill>
              </a:rPr>
              <a:t>x</a:t>
            </a:r>
            <a:r>
              <a:rPr lang="en-US" altLang="zh-CN" sz="2400" baseline="-30000" dirty="0"/>
              <a:t>2</a:t>
            </a:r>
            <a:r>
              <a:rPr lang="en-US" altLang="zh-CN" sz="2400" dirty="0"/>
              <a:t>)}</a:t>
            </a:r>
            <a:r>
              <a:rPr lang="zh-CN" altLang="en-US" sz="2400" dirty="0"/>
              <a:t>＝ </a:t>
            </a:r>
            <a:r>
              <a:rPr lang="en-US" altLang="zh-CN" sz="2400" dirty="0"/>
              <a:t>15.5</a:t>
            </a:r>
            <a:r>
              <a:rPr lang="zh-CN" altLang="en-US" sz="2400" dirty="0"/>
              <a:t>，</a:t>
            </a:r>
            <a:r>
              <a:rPr lang="en-US" altLang="zh-CN" sz="2400" kern="0" dirty="0">
                <a:solidFill>
                  <a:srgbClr val="000066"/>
                </a:solidFill>
              </a:rPr>
              <a:t>x</a:t>
            </a:r>
            <a:r>
              <a:rPr lang="en-US" altLang="zh-CN" sz="2400" baseline="-30000" dirty="0"/>
              <a:t>2</a:t>
            </a:r>
            <a:r>
              <a:rPr lang="en-US" altLang="zh-CN" sz="2400" dirty="0"/>
              <a:t>=6</a:t>
            </a:r>
          </a:p>
          <a:p>
            <a:pPr marL="0" indent="384175" algn="just">
              <a:lnSpc>
                <a:spcPct val="105000"/>
              </a:lnSpc>
              <a:spcBef>
                <a:spcPct val="10000"/>
              </a:spcBef>
              <a:buFont typeface="Wingdings" panose="05000000000000000000" pitchFamily="2" charset="2"/>
              <a:buNone/>
              <a:defRPr/>
            </a:pPr>
            <a:endParaRPr lang="zh-CN" altLang="en-US" sz="2400" kern="0" dirty="0"/>
          </a:p>
          <a:p>
            <a:pPr marL="0" indent="384175" algn="just">
              <a:lnSpc>
                <a:spcPct val="105000"/>
              </a:lnSpc>
              <a:spcBef>
                <a:spcPct val="10000"/>
              </a:spcBef>
              <a:buFont typeface="Wingdings" panose="05000000000000000000" pitchFamily="2" charset="2"/>
              <a:buNone/>
              <a:defRPr/>
            </a:pPr>
            <a:endParaRPr lang="zh-CN" altLang="en-US" sz="2400" kern="0" dirty="0"/>
          </a:p>
        </p:txBody>
      </p:sp>
      <p:sp>
        <p:nvSpPr>
          <p:cNvPr id="13" name="Rectangle 3">
            <a:extLst>
              <a:ext uri="{FF2B5EF4-FFF2-40B4-BE49-F238E27FC236}">
                <a16:creationId xmlns:a16="http://schemas.microsoft.com/office/drawing/2014/main" id="{4368776C-2008-4207-9A3A-C10363B70FC9}"/>
              </a:ext>
            </a:extLst>
          </p:cNvPr>
          <p:cNvSpPr txBox="1">
            <a:spLocks noChangeArrowheads="1"/>
          </p:cNvSpPr>
          <p:nvPr/>
        </p:nvSpPr>
        <p:spPr bwMode="auto">
          <a:xfrm>
            <a:off x="249238" y="668338"/>
            <a:ext cx="7772400" cy="1360487"/>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2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8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384175" algn="just">
              <a:lnSpc>
                <a:spcPct val="105000"/>
              </a:lnSpc>
              <a:spcBef>
                <a:spcPct val="15000"/>
              </a:spcBef>
              <a:buFont typeface="Wingdings" panose="05000000000000000000" pitchFamily="2" charset="2"/>
              <a:buNone/>
              <a:defRPr/>
            </a:pPr>
            <a:r>
              <a:rPr lang="zh-CN" altLang="en-US" sz="2400" kern="0" dirty="0"/>
              <a:t>当</a:t>
            </a:r>
            <a:r>
              <a:rPr lang="en-US" altLang="zh-CN" sz="2400" i="1" kern="0" dirty="0"/>
              <a:t>k</a:t>
            </a:r>
            <a:r>
              <a:rPr lang="zh-CN" altLang="en-US" sz="2400" kern="0" dirty="0"/>
              <a:t>＝</a:t>
            </a:r>
            <a:r>
              <a:rPr lang="en-US" altLang="zh-CN" sz="2400" kern="0" dirty="0"/>
              <a:t>2</a:t>
            </a:r>
            <a:r>
              <a:rPr lang="zh-CN" altLang="en-US" sz="2400" kern="0" dirty="0"/>
              <a:t>时，</a:t>
            </a:r>
          </a:p>
          <a:p>
            <a:pPr marL="0" indent="384175" algn="just">
              <a:lnSpc>
                <a:spcPct val="105000"/>
              </a:lnSpc>
              <a:spcBef>
                <a:spcPct val="15000"/>
              </a:spcBef>
              <a:buFont typeface="Wingdings" panose="05000000000000000000" pitchFamily="2" charset="2"/>
              <a:buNone/>
              <a:defRPr/>
            </a:pPr>
            <a:r>
              <a:rPr lang="en-US" altLang="zh-CN" sz="2400" kern="0" dirty="0"/>
              <a:t>f</a:t>
            </a:r>
            <a:r>
              <a:rPr lang="en-US" altLang="zh-CN" sz="2400" kern="0" baseline="-30000" dirty="0"/>
              <a:t>2</a:t>
            </a:r>
            <a:r>
              <a:rPr lang="en-US" altLang="zh-CN" sz="2400" kern="0" dirty="0"/>
              <a:t>(</a:t>
            </a:r>
            <a:r>
              <a:rPr lang="en-US" altLang="zh-CN" sz="2400" i="1" kern="0" dirty="0"/>
              <a:t>v</a:t>
            </a:r>
            <a:r>
              <a:rPr lang="en-US" altLang="zh-CN" sz="2400" kern="0" baseline="-30000" dirty="0"/>
              <a:t>2</a:t>
            </a:r>
            <a:r>
              <a:rPr lang="en-US" altLang="zh-CN" sz="2400" kern="0" dirty="0"/>
              <a:t>)</a:t>
            </a:r>
            <a:r>
              <a:rPr lang="zh-CN" altLang="en-US" sz="2400" kern="0" dirty="0"/>
              <a:t>＝</a:t>
            </a:r>
            <a:r>
              <a:rPr lang="en-US" altLang="zh-CN" sz="2400" kern="0" dirty="0"/>
              <a:t>min{ </a:t>
            </a:r>
            <a:r>
              <a:rPr lang="en-US" altLang="zh-CN" sz="2400" i="1" kern="0" dirty="0"/>
              <a:t>c</a:t>
            </a:r>
            <a:r>
              <a:rPr lang="en-US" altLang="zh-CN" sz="2400" kern="0" baseline="-30000" dirty="0"/>
              <a:t>2</a:t>
            </a:r>
            <a:r>
              <a:rPr lang="en-US" altLang="zh-CN" sz="2400" kern="0" dirty="0"/>
              <a:t>(</a:t>
            </a:r>
            <a:r>
              <a:rPr lang="en-US" altLang="zh-CN" sz="2400" i="1" kern="0" dirty="0"/>
              <a:t>x</a:t>
            </a:r>
            <a:r>
              <a:rPr lang="en-US" altLang="zh-CN" sz="2400" kern="0" baseline="-30000" dirty="0"/>
              <a:t>2</a:t>
            </a:r>
            <a:r>
              <a:rPr lang="en-US" altLang="zh-CN" sz="2400" kern="0" dirty="0"/>
              <a:t>)</a:t>
            </a:r>
            <a:r>
              <a:rPr lang="zh-CN" altLang="en-US" sz="2400" kern="0" dirty="0"/>
              <a:t>＋</a:t>
            </a:r>
            <a:r>
              <a:rPr lang="en-US" altLang="zh-CN" sz="2400" i="1" kern="0" dirty="0"/>
              <a:t>h</a:t>
            </a:r>
            <a:r>
              <a:rPr lang="en-US" altLang="zh-CN" sz="2400" kern="0" baseline="-30000" dirty="0"/>
              <a:t>2</a:t>
            </a:r>
            <a:r>
              <a:rPr lang="en-US" altLang="zh-CN" sz="2400" kern="0" dirty="0"/>
              <a:t>(</a:t>
            </a:r>
            <a:r>
              <a:rPr lang="en-US" altLang="zh-CN" sz="2400" i="1" kern="0" dirty="0"/>
              <a:t>v</a:t>
            </a:r>
            <a:r>
              <a:rPr lang="en-US" altLang="zh-CN" sz="2400" kern="0" baseline="-30000" dirty="0"/>
              <a:t>2</a:t>
            </a:r>
            <a:r>
              <a:rPr lang="en-US" altLang="zh-CN" sz="2400" kern="0" dirty="0"/>
              <a:t>)</a:t>
            </a:r>
            <a:r>
              <a:rPr lang="zh-CN" altLang="en-US" sz="2400" kern="0" dirty="0"/>
              <a:t>＋</a:t>
            </a:r>
            <a:r>
              <a:rPr lang="en-US" altLang="zh-CN" sz="2400" kern="0" dirty="0"/>
              <a:t>f</a:t>
            </a:r>
            <a:r>
              <a:rPr lang="en-US" altLang="zh-CN" sz="2400" kern="0" baseline="-30000" dirty="0"/>
              <a:t>1</a:t>
            </a:r>
            <a:r>
              <a:rPr lang="en-US" altLang="zh-CN" sz="2400" kern="0" dirty="0"/>
              <a:t>(</a:t>
            </a:r>
            <a:r>
              <a:rPr lang="en-US" altLang="zh-CN" sz="2400" i="1" kern="0" dirty="0">
                <a:solidFill>
                  <a:srgbClr val="FF0000"/>
                </a:solidFill>
              </a:rPr>
              <a:t>v</a:t>
            </a:r>
            <a:r>
              <a:rPr lang="en-US" altLang="zh-CN" sz="2400" kern="0" baseline="-30000" dirty="0">
                <a:solidFill>
                  <a:srgbClr val="FF0000"/>
                </a:solidFill>
              </a:rPr>
              <a:t>2</a:t>
            </a:r>
            <a:r>
              <a:rPr lang="zh-CN" altLang="en-US" sz="2400" kern="0" dirty="0">
                <a:solidFill>
                  <a:srgbClr val="FF0000"/>
                </a:solidFill>
              </a:rPr>
              <a:t>＋</a:t>
            </a:r>
            <a:r>
              <a:rPr lang="en-US" altLang="zh-CN" sz="2400" kern="0" dirty="0">
                <a:solidFill>
                  <a:srgbClr val="FF0000"/>
                </a:solidFill>
              </a:rPr>
              <a:t>d</a:t>
            </a:r>
            <a:r>
              <a:rPr lang="en-US" altLang="zh-CN" sz="2400" kern="0" baseline="-30000" dirty="0">
                <a:solidFill>
                  <a:srgbClr val="FF0000"/>
                </a:solidFill>
              </a:rPr>
              <a:t>2</a:t>
            </a:r>
            <a:r>
              <a:rPr lang="zh-CN" altLang="en-US" sz="2400" kern="0" dirty="0">
                <a:solidFill>
                  <a:srgbClr val="FF0000"/>
                </a:solidFill>
              </a:rPr>
              <a:t>－</a:t>
            </a:r>
            <a:r>
              <a:rPr lang="en-US" altLang="zh-CN" sz="2400" i="1" kern="0" dirty="0">
                <a:solidFill>
                  <a:srgbClr val="FF0000"/>
                </a:solidFill>
              </a:rPr>
              <a:t>x</a:t>
            </a:r>
            <a:r>
              <a:rPr lang="en-US" altLang="zh-CN" sz="2400" kern="0" baseline="-30000" dirty="0">
                <a:solidFill>
                  <a:srgbClr val="FF0000"/>
                </a:solidFill>
              </a:rPr>
              <a:t>2</a:t>
            </a:r>
            <a:r>
              <a:rPr lang="en-US" altLang="zh-CN" sz="2400" kern="0" dirty="0"/>
              <a:t>)}</a:t>
            </a:r>
          </a:p>
          <a:p>
            <a:pPr marL="0" indent="384175" algn="just">
              <a:lnSpc>
                <a:spcPct val="105000"/>
              </a:lnSpc>
              <a:spcBef>
                <a:spcPct val="15000"/>
              </a:spcBef>
              <a:buFont typeface="Wingdings" panose="05000000000000000000" pitchFamily="2" charset="2"/>
              <a:buNone/>
              <a:defRPr/>
            </a:pPr>
            <a:r>
              <a:rPr lang="zh-CN" altLang="en-US" sz="2400" kern="0" dirty="0"/>
              <a:t>其中，</a:t>
            </a:r>
            <a:r>
              <a:rPr lang="en-US" altLang="zh-CN" sz="2400" i="1" kern="0" dirty="0">
                <a:solidFill>
                  <a:srgbClr val="FF00FF"/>
                </a:solidFill>
              </a:rPr>
              <a:t>x</a:t>
            </a:r>
            <a:r>
              <a:rPr lang="en-US" altLang="zh-CN" sz="2400" kern="0" baseline="-30000" dirty="0">
                <a:solidFill>
                  <a:srgbClr val="FF00FF"/>
                </a:solidFill>
              </a:rPr>
              <a:t>2</a:t>
            </a:r>
            <a:r>
              <a:rPr lang="en-US" altLang="zh-CN" sz="2400" kern="0" dirty="0">
                <a:solidFill>
                  <a:srgbClr val="FF00FF"/>
                </a:solidFill>
              </a:rPr>
              <a:t>≤min{</a:t>
            </a:r>
            <a:r>
              <a:rPr lang="en-US" altLang="zh-CN" sz="2400" i="1" kern="0" dirty="0">
                <a:solidFill>
                  <a:srgbClr val="FF00FF"/>
                </a:solidFill>
              </a:rPr>
              <a:t>v</a:t>
            </a:r>
            <a:r>
              <a:rPr lang="en-US" altLang="zh-CN" sz="2400" kern="0" baseline="-30000" dirty="0">
                <a:solidFill>
                  <a:srgbClr val="FF00FF"/>
                </a:solidFill>
              </a:rPr>
              <a:t>2</a:t>
            </a:r>
            <a:r>
              <a:rPr lang="zh-CN" altLang="en-US" sz="2400" kern="0" dirty="0">
                <a:solidFill>
                  <a:srgbClr val="FF00FF"/>
                </a:solidFill>
              </a:rPr>
              <a:t>＋</a:t>
            </a:r>
            <a:r>
              <a:rPr lang="en-US" altLang="zh-CN" sz="2400" kern="0" dirty="0">
                <a:solidFill>
                  <a:srgbClr val="FF00FF"/>
                </a:solidFill>
              </a:rPr>
              <a:t>3</a:t>
            </a:r>
            <a:r>
              <a:rPr lang="zh-CN" altLang="en-US" sz="2400" kern="0" dirty="0">
                <a:solidFill>
                  <a:srgbClr val="FF00FF"/>
                </a:solidFill>
              </a:rPr>
              <a:t>，</a:t>
            </a:r>
            <a:r>
              <a:rPr lang="en-US" altLang="zh-CN" sz="2400" kern="0" dirty="0">
                <a:solidFill>
                  <a:srgbClr val="FF00FF"/>
                </a:solidFill>
              </a:rPr>
              <a:t>6}</a:t>
            </a:r>
          </a:p>
          <a:p>
            <a:pPr marL="0" indent="384175" algn="just">
              <a:lnSpc>
                <a:spcPct val="105000"/>
              </a:lnSpc>
              <a:spcBef>
                <a:spcPct val="15000"/>
              </a:spcBef>
              <a:buFont typeface="Wingdings" panose="05000000000000000000" pitchFamily="2" charset="2"/>
              <a:buNone/>
              <a:defRPr/>
            </a:pPr>
            <a:endParaRPr lang="zh-CN" altLang="en-US" sz="2400" kern="0" dirty="0">
              <a:solidFill>
                <a:srgbClr val="FF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3">
            <a:extLst>
              <a:ext uri="{FF2B5EF4-FFF2-40B4-BE49-F238E27FC236}">
                <a16:creationId xmlns:a16="http://schemas.microsoft.com/office/drawing/2014/main" id="{1F95E3D2-0C46-4886-8EDF-5550DF3A9B2F}"/>
              </a:ext>
            </a:extLst>
          </p:cNvPr>
          <p:cNvSpPr>
            <a:spLocks noGrp="1" noChangeArrowheads="1"/>
          </p:cNvSpPr>
          <p:nvPr>
            <p:ph type="body" idx="1"/>
          </p:nvPr>
        </p:nvSpPr>
        <p:spPr>
          <a:xfrm>
            <a:off x="279400" y="1708150"/>
            <a:ext cx="8324850" cy="555625"/>
          </a:xfrm>
        </p:spPr>
        <p:txBody>
          <a:bodyPr/>
          <a:lstStyle/>
          <a:p>
            <a:pPr marL="0" indent="384175" algn="just">
              <a:lnSpc>
                <a:spcPct val="105000"/>
              </a:lnSpc>
              <a:spcBef>
                <a:spcPct val="10000"/>
              </a:spcBef>
              <a:buFont typeface="Wingdings" panose="05000000000000000000" pitchFamily="2" charset="2"/>
              <a:buNone/>
            </a:pPr>
            <a:r>
              <a:rPr lang="zh-CN" altLang="en-US" sz="2400"/>
              <a:t>对</a:t>
            </a:r>
            <a:r>
              <a:rPr lang="zh-CN" altLang="en-US" sz="2400">
                <a:solidFill>
                  <a:srgbClr val="FF0000"/>
                </a:solidFill>
              </a:rPr>
              <a:t>                                                  </a:t>
            </a:r>
            <a:r>
              <a:rPr lang="zh-CN" altLang="en-US" sz="2400"/>
              <a:t>之间的值分别进行计算。</a:t>
            </a:r>
          </a:p>
        </p:txBody>
      </p:sp>
      <p:graphicFrame>
        <p:nvGraphicFramePr>
          <p:cNvPr id="64515" name="对象 8">
            <a:extLst>
              <a:ext uri="{FF2B5EF4-FFF2-40B4-BE49-F238E27FC236}">
                <a16:creationId xmlns:a16="http://schemas.microsoft.com/office/drawing/2014/main" id="{F777D8B2-BDAD-448F-A29F-F61323964492}"/>
              </a:ext>
            </a:extLst>
          </p:cNvPr>
          <p:cNvGraphicFramePr>
            <a:graphicFrameLocks noChangeAspect="1"/>
          </p:cNvGraphicFramePr>
          <p:nvPr/>
        </p:nvGraphicFramePr>
        <p:xfrm>
          <a:off x="1308100" y="1654175"/>
          <a:ext cx="3425825" cy="609600"/>
        </p:xfrm>
        <a:graphic>
          <a:graphicData uri="http://schemas.openxmlformats.org/presentationml/2006/ole">
            <mc:AlternateContent xmlns:mc="http://schemas.openxmlformats.org/markup-compatibility/2006">
              <mc:Choice xmlns:v="urn:schemas-microsoft-com:vml" Requires="v">
                <p:oleObj spid="_x0000_s64552" name="Equation" r:id="rId3" imgW="1993900" imgH="355600" progId="Equation.DSMT4">
                  <p:embed/>
                </p:oleObj>
              </mc:Choice>
              <mc:Fallback>
                <p:oleObj name="Equation" r:id="rId3" imgW="1993900" imgH="3556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100" y="1654175"/>
                        <a:ext cx="34258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6" name="对象 1">
            <a:extLst>
              <a:ext uri="{FF2B5EF4-FFF2-40B4-BE49-F238E27FC236}">
                <a16:creationId xmlns:a16="http://schemas.microsoft.com/office/drawing/2014/main" id="{4D5ADF6D-BDF1-4879-9B2F-47841B181F77}"/>
              </a:ext>
            </a:extLst>
          </p:cNvPr>
          <p:cNvGraphicFramePr>
            <a:graphicFrameLocks noChangeAspect="1"/>
          </p:cNvGraphicFramePr>
          <p:nvPr/>
        </p:nvGraphicFramePr>
        <p:xfrm>
          <a:off x="900113" y="4338638"/>
          <a:ext cx="4478337" cy="2330450"/>
        </p:xfrm>
        <a:graphic>
          <a:graphicData uri="http://schemas.openxmlformats.org/presentationml/2006/ole">
            <mc:AlternateContent xmlns:mc="http://schemas.openxmlformats.org/markup-compatibility/2006">
              <mc:Choice xmlns:v="urn:schemas-microsoft-com:vml" Requires="v">
                <p:oleObj spid="_x0000_s64553" name="Equation" r:id="rId5" imgW="2489200" imgH="1295400" progId="Equation.DSMT4">
                  <p:embed/>
                </p:oleObj>
              </mc:Choice>
              <mc:Fallback>
                <p:oleObj name="Equation" r:id="rId5" imgW="2489200" imgH="12954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4338638"/>
                        <a:ext cx="4478337"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
            <a:extLst>
              <a:ext uri="{FF2B5EF4-FFF2-40B4-BE49-F238E27FC236}">
                <a16:creationId xmlns:a16="http://schemas.microsoft.com/office/drawing/2014/main" id="{EC5BBC1D-5168-4C64-98E3-2D19D9D54F7C}"/>
              </a:ext>
            </a:extLst>
          </p:cNvPr>
          <p:cNvSpPr txBox="1">
            <a:spLocks noChangeArrowheads="1"/>
          </p:cNvSpPr>
          <p:nvPr/>
        </p:nvSpPr>
        <p:spPr bwMode="auto">
          <a:xfrm>
            <a:off x="328613" y="2263775"/>
            <a:ext cx="8324850" cy="1776413"/>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2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8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384175" algn="just">
              <a:lnSpc>
                <a:spcPct val="105000"/>
              </a:lnSpc>
              <a:spcBef>
                <a:spcPct val="10000"/>
              </a:spcBef>
              <a:buFont typeface="Wingdings" panose="05000000000000000000" pitchFamily="2" charset="2"/>
              <a:buNone/>
              <a:defRPr/>
            </a:pPr>
            <a:r>
              <a:rPr lang="en-US" altLang="zh-CN" sz="2400" i="1" dirty="0">
                <a:solidFill>
                  <a:srgbClr val="000066"/>
                </a:solidFill>
              </a:rPr>
              <a:t>v</a:t>
            </a:r>
            <a:r>
              <a:rPr lang="en-US" altLang="zh-CN" sz="2400" baseline="-30000" dirty="0">
                <a:solidFill>
                  <a:srgbClr val="000066"/>
                </a:solidFill>
              </a:rPr>
              <a:t>3</a:t>
            </a:r>
            <a:r>
              <a:rPr lang="zh-CN" altLang="en-US" sz="2400" dirty="0">
                <a:solidFill>
                  <a:srgbClr val="000066"/>
                </a:solidFill>
              </a:rPr>
              <a:t>＝</a:t>
            </a:r>
            <a:r>
              <a:rPr lang="en-US" altLang="zh-CN" sz="2400" dirty="0">
                <a:solidFill>
                  <a:srgbClr val="000066"/>
                </a:solidFill>
              </a:rPr>
              <a:t>0</a:t>
            </a:r>
            <a:r>
              <a:rPr lang="zh-CN" altLang="en-US" sz="2400" dirty="0"/>
              <a:t>，</a:t>
            </a:r>
            <a:r>
              <a:rPr lang="en-US" altLang="zh-CN" sz="2400" kern="0" dirty="0"/>
              <a:t>f</a:t>
            </a:r>
            <a:r>
              <a:rPr lang="en-US" altLang="zh-CN" sz="2400" kern="0" baseline="-30000" dirty="0"/>
              <a:t>3</a:t>
            </a:r>
            <a:r>
              <a:rPr lang="en-US" altLang="zh-CN" sz="2400" kern="0" dirty="0"/>
              <a:t>(0)</a:t>
            </a:r>
            <a:r>
              <a:rPr lang="zh-CN" altLang="en-US" sz="2400" kern="0" dirty="0"/>
              <a:t>＝</a:t>
            </a:r>
            <a:r>
              <a:rPr lang="en-US" altLang="zh-CN" sz="2400" kern="0" dirty="0"/>
              <a:t>min{ c</a:t>
            </a:r>
            <a:r>
              <a:rPr lang="en-US" altLang="zh-CN" sz="2400" kern="0" baseline="-30000" dirty="0"/>
              <a:t>3</a:t>
            </a:r>
            <a:r>
              <a:rPr lang="en-US" altLang="zh-CN" sz="2400" kern="0" dirty="0"/>
              <a:t>(x</a:t>
            </a:r>
            <a:r>
              <a:rPr lang="en-US" altLang="zh-CN" sz="2400" kern="0" baseline="-30000" dirty="0"/>
              <a:t>3</a:t>
            </a:r>
            <a:r>
              <a:rPr lang="en-US" altLang="zh-CN" sz="2400" kern="0" dirty="0"/>
              <a:t>)</a:t>
            </a:r>
            <a:r>
              <a:rPr lang="zh-CN" altLang="en-US" sz="2400" kern="0" dirty="0"/>
              <a:t>＋</a:t>
            </a:r>
            <a:r>
              <a:rPr lang="en-US" altLang="zh-CN" sz="2400" kern="0" dirty="0"/>
              <a:t>h</a:t>
            </a:r>
            <a:r>
              <a:rPr lang="en-US" altLang="zh-CN" sz="2400" kern="0" baseline="-30000" dirty="0"/>
              <a:t>3</a:t>
            </a:r>
            <a:r>
              <a:rPr lang="en-US" altLang="zh-CN" sz="2400" kern="0" dirty="0"/>
              <a:t>(1)</a:t>
            </a:r>
            <a:r>
              <a:rPr lang="zh-CN" altLang="en-US" sz="2400" kern="0" dirty="0"/>
              <a:t>＋</a:t>
            </a:r>
            <a:r>
              <a:rPr lang="en-US" altLang="zh-CN" sz="2400" kern="0" dirty="0"/>
              <a:t>f</a:t>
            </a:r>
            <a:r>
              <a:rPr lang="en-US" altLang="zh-CN" sz="2400" kern="0" baseline="-30000" dirty="0"/>
              <a:t>2</a:t>
            </a:r>
            <a:r>
              <a:rPr lang="en-US" altLang="zh-CN" sz="2400" kern="0" dirty="0"/>
              <a:t>(2</a:t>
            </a:r>
            <a:r>
              <a:rPr lang="zh-CN" altLang="en-US" sz="2400" kern="0" dirty="0"/>
              <a:t>－</a:t>
            </a:r>
            <a:r>
              <a:rPr lang="en-US" altLang="zh-CN" sz="2400" kern="0" dirty="0"/>
              <a:t>x</a:t>
            </a:r>
            <a:r>
              <a:rPr lang="en-US" altLang="zh-CN" sz="2400" kern="0" baseline="-30000" dirty="0"/>
              <a:t>3</a:t>
            </a:r>
            <a:r>
              <a:rPr lang="en-US" altLang="zh-CN" sz="2400" kern="0" dirty="0"/>
              <a:t>)}</a:t>
            </a:r>
            <a:r>
              <a:rPr lang="zh-CN" altLang="en-US" sz="2400" kern="0" dirty="0"/>
              <a:t>＝</a:t>
            </a:r>
            <a:r>
              <a:rPr lang="en-US" altLang="zh-CN" sz="2400" kern="0" dirty="0"/>
              <a:t>11.5, </a:t>
            </a:r>
            <a:r>
              <a:rPr lang="en-US" altLang="zh-CN" sz="2400" kern="0" dirty="0">
                <a:solidFill>
                  <a:srgbClr val="000066"/>
                </a:solidFill>
              </a:rPr>
              <a:t>x</a:t>
            </a:r>
            <a:r>
              <a:rPr lang="en-US" altLang="zh-CN" sz="2400" kern="0" baseline="-30000" dirty="0">
                <a:solidFill>
                  <a:srgbClr val="000066"/>
                </a:solidFill>
              </a:rPr>
              <a:t>2</a:t>
            </a:r>
            <a:r>
              <a:rPr lang="en-US" altLang="zh-CN" sz="2400" kern="0" dirty="0">
                <a:solidFill>
                  <a:srgbClr val="000066"/>
                </a:solidFill>
              </a:rPr>
              <a:t>=0</a:t>
            </a:r>
            <a:endParaRPr lang="zh-CN" altLang="en-US" sz="2400" dirty="0"/>
          </a:p>
          <a:p>
            <a:pPr marL="0" indent="384175" algn="just">
              <a:lnSpc>
                <a:spcPct val="105000"/>
              </a:lnSpc>
              <a:spcBef>
                <a:spcPct val="10000"/>
              </a:spcBef>
              <a:buFont typeface="Wingdings" panose="05000000000000000000" pitchFamily="2" charset="2"/>
              <a:buNone/>
              <a:defRPr/>
            </a:pPr>
            <a:r>
              <a:rPr lang="en-US" altLang="zh-CN" sz="2400" i="1" kern="0" dirty="0">
                <a:solidFill>
                  <a:srgbClr val="000066"/>
                </a:solidFill>
              </a:rPr>
              <a:t>v</a:t>
            </a:r>
            <a:r>
              <a:rPr lang="en-US" altLang="zh-CN" sz="2400" kern="0" baseline="-30000" dirty="0">
                <a:solidFill>
                  <a:srgbClr val="000066"/>
                </a:solidFill>
              </a:rPr>
              <a:t>3</a:t>
            </a:r>
            <a:r>
              <a:rPr lang="zh-CN" altLang="en-US" sz="2400" kern="0" dirty="0">
                <a:solidFill>
                  <a:srgbClr val="000066"/>
                </a:solidFill>
              </a:rPr>
              <a:t>＝</a:t>
            </a:r>
            <a:r>
              <a:rPr lang="en-US" altLang="zh-CN" sz="2400" kern="0" dirty="0">
                <a:solidFill>
                  <a:srgbClr val="000066"/>
                </a:solidFill>
              </a:rPr>
              <a:t>1</a:t>
            </a:r>
            <a:r>
              <a:rPr lang="zh-CN" altLang="en-US" sz="2400" kern="0" dirty="0"/>
              <a:t>，</a:t>
            </a:r>
            <a:r>
              <a:rPr lang="en-US" altLang="zh-CN" sz="2400" kern="0" dirty="0"/>
              <a:t>f</a:t>
            </a:r>
            <a:r>
              <a:rPr lang="en-US" altLang="zh-CN" sz="2400" kern="0" baseline="-30000" dirty="0"/>
              <a:t>3</a:t>
            </a:r>
            <a:r>
              <a:rPr lang="en-US" altLang="zh-CN" sz="2400" kern="0" dirty="0"/>
              <a:t>(1)</a:t>
            </a:r>
            <a:r>
              <a:rPr lang="zh-CN" altLang="en-US" sz="2400" kern="0" dirty="0"/>
              <a:t>＝</a:t>
            </a:r>
            <a:r>
              <a:rPr lang="en-US" altLang="zh-CN" sz="2400" kern="0" dirty="0"/>
              <a:t>min{ c</a:t>
            </a:r>
            <a:r>
              <a:rPr lang="en-US" altLang="zh-CN" sz="2400" kern="0" baseline="-30000" dirty="0"/>
              <a:t>3</a:t>
            </a:r>
            <a:r>
              <a:rPr lang="en-US" altLang="zh-CN" sz="2400" kern="0" dirty="0"/>
              <a:t>(x</a:t>
            </a:r>
            <a:r>
              <a:rPr lang="en-US" altLang="zh-CN" sz="2400" kern="0" baseline="-30000" dirty="0"/>
              <a:t>3</a:t>
            </a:r>
            <a:r>
              <a:rPr lang="en-US" altLang="zh-CN" sz="2400" kern="0" dirty="0"/>
              <a:t>)</a:t>
            </a:r>
            <a:r>
              <a:rPr lang="zh-CN" altLang="en-US" sz="2400" kern="0" dirty="0"/>
              <a:t>＋</a:t>
            </a:r>
            <a:r>
              <a:rPr lang="en-US" altLang="zh-CN" sz="2400" kern="0" dirty="0"/>
              <a:t>h</a:t>
            </a:r>
            <a:r>
              <a:rPr lang="en-US" altLang="zh-CN" sz="2400" kern="0" baseline="-30000" dirty="0"/>
              <a:t>3</a:t>
            </a:r>
            <a:r>
              <a:rPr lang="en-US" altLang="zh-CN" sz="2400" kern="0" dirty="0"/>
              <a:t>(1)</a:t>
            </a:r>
            <a:r>
              <a:rPr lang="zh-CN" altLang="en-US" sz="2400" kern="0" dirty="0"/>
              <a:t>＋</a:t>
            </a:r>
            <a:r>
              <a:rPr lang="en-US" altLang="zh-CN" sz="2400" kern="0" dirty="0"/>
              <a:t>f</a:t>
            </a:r>
            <a:r>
              <a:rPr lang="en-US" altLang="zh-CN" sz="2400" kern="0" baseline="-30000" dirty="0"/>
              <a:t>2</a:t>
            </a:r>
            <a:r>
              <a:rPr lang="en-US" altLang="zh-CN" sz="2400" kern="0" dirty="0"/>
              <a:t>(3</a:t>
            </a:r>
            <a:r>
              <a:rPr lang="zh-CN" altLang="en-US" sz="2400" kern="0" dirty="0"/>
              <a:t>－</a:t>
            </a:r>
            <a:r>
              <a:rPr lang="en-US" altLang="zh-CN" sz="2400" kern="0" dirty="0"/>
              <a:t>x</a:t>
            </a:r>
            <a:r>
              <a:rPr lang="en-US" altLang="zh-CN" sz="2400" kern="0" baseline="-30000" dirty="0"/>
              <a:t>3</a:t>
            </a:r>
            <a:r>
              <a:rPr lang="en-US" altLang="zh-CN" sz="2400" kern="0" dirty="0"/>
              <a:t>)}</a:t>
            </a:r>
            <a:r>
              <a:rPr lang="zh-CN" altLang="en-US" sz="2400" kern="0" dirty="0"/>
              <a:t>＝</a:t>
            </a:r>
            <a:r>
              <a:rPr lang="en-US" altLang="zh-CN" sz="2400" kern="0" dirty="0"/>
              <a:t>11.5, </a:t>
            </a:r>
            <a:r>
              <a:rPr lang="en-US" altLang="zh-CN" sz="2400" kern="0" dirty="0">
                <a:solidFill>
                  <a:srgbClr val="000066"/>
                </a:solidFill>
              </a:rPr>
              <a:t>x</a:t>
            </a:r>
            <a:r>
              <a:rPr lang="en-US" altLang="zh-CN" sz="2400" kern="0" baseline="-30000" dirty="0">
                <a:solidFill>
                  <a:srgbClr val="000066"/>
                </a:solidFill>
              </a:rPr>
              <a:t>2</a:t>
            </a:r>
            <a:r>
              <a:rPr lang="en-US" altLang="zh-CN" sz="2400" kern="0" dirty="0">
                <a:solidFill>
                  <a:srgbClr val="000066"/>
                </a:solidFill>
              </a:rPr>
              <a:t>=0</a:t>
            </a:r>
          </a:p>
          <a:p>
            <a:pPr marL="0" indent="384175" algn="just">
              <a:lnSpc>
                <a:spcPct val="95000"/>
              </a:lnSpc>
              <a:spcBef>
                <a:spcPct val="0"/>
              </a:spcBef>
              <a:buFont typeface="Wingdings" panose="05000000000000000000" pitchFamily="2" charset="2"/>
              <a:buNone/>
              <a:defRPr/>
            </a:pPr>
            <a:r>
              <a:rPr lang="en-US" altLang="zh-CN" sz="2400" i="1" kern="0" dirty="0">
                <a:solidFill>
                  <a:srgbClr val="000066"/>
                </a:solidFill>
              </a:rPr>
              <a:t>v</a:t>
            </a:r>
            <a:r>
              <a:rPr lang="en-US" altLang="zh-CN" sz="2400" baseline="-30000" dirty="0"/>
              <a:t>3</a:t>
            </a:r>
            <a:r>
              <a:rPr lang="zh-CN" altLang="en-US" sz="2400" dirty="0"/>
              <a:t>＝</a:t>
            </a:r>
            <a:r>
              <a:rPr lang="en-US" altLang="zh-CN" sz="2400" dirty="0"/>
              <a:t>2</a:t>
            </a:r>
            <a:r>
              <a:rPr lang="zh-CN" altLang="en-US" sz="2400" dirty="0"/>
              <a:t>，</a:t>
            </a:r>
            <a:r>
              <a:rPr lang="en-US" altLang="zh-CN" sz="2400" dirty="0"/>
              <a:t>f</a:t>
            </a:r>
            <a:r>
              <a:rPr lang="en-US" altLang="zh-CN" sz="2400" baseline="-30000" dirty="0"/>
              <a:t>3</a:t>
            </a:r>
            <a:r>
              <a:rPr lang="en-US" altLang="zh-CN" sz="2400" dirty="0"/>
              <a:t>(2)</a:t>
            </a:r>
            <a:r>
              <a:rPr lang="zh-CN" altLang="en-US" sz="2400" dirty="0"/>
              <a:t>＝</a:t>
            </a:r>
            <a:r>
              <a:rPr lang="en-US" altLang="zh-CN" sz="2400" kern="0" dirty="0"/>
              <a:t>min</a:t>
            </a:r>
            <a:r>
              <a:rPr lang="en-US" altLang="zh-CN" sz="2400" dirty="0"/>
              <a:t>{ c</a:t>
            </a:r>
            <a:r>
              <a:rPr lang="en-US" altLang="zh-CN" sz="2400" baseline="-30000" dirty="0"/>
              <a:t>3</a:t>
            </a:r>
            <a:r>
              <a:rPr lang="en-US" altLang="zh-CN" sz="2400" dirty="0"/>
              <a:t>(</a:t>
            </a:r>
            <a:r>
              <a:rPr lang="en-US" altLang="zh-CN" sz="2400" kern="0" dirty="0">
                <a:solidFill>
                  <a:srgbClr val="000066"/>
                </a:solidFill>
              </a:rPr>
              <a:t>x</a:t>
            </a:r>
            <a:r>
              <a:rPr lang="en-US" altLang="zh-CN" sz="2400" baseline="-30000" dirty="0"/>
              <a:t>3</a:t>
            </a:r>
            <a:r>
              <a:rPr lang="en-US" altLang="zh-CN" sz="2400" dirty="0"/>
              <a:t>)</a:t>
            </a:r>
            <a:r>
              <a:rPr lang="zh-CN" altLang="en-US" sz="2400" dirty="0"/>
              <a:t>＋</a:t>
            </a:r>
            <a:r>
              <a:rPr lang="en-US" altLang="zh-CN" sz="2400" dirty="0"/>
              <a:t>h</a:t>
            </a:r>
            <a:r>
              <a:rPr lang="en-US" altLang="zh-CN" sz="2400" baseline="-30000" dirty="0"/>
              <a:t>3</a:t>
            </a:r>
            <a:r>
              <a:rPr lang="en-US" altLang="zh-CN" sz="2400" dirty="0"/>
              <a:t>(2)</a:t>
            </a:r>
            <a:r>
              <a:rPr lang="zh-CN" altLang="en-US" sz="2400" dirty="0"/>
              <a:t>＋</a:t>
            </a:r>
            <a:r>
              <a:rPr lang="en-US" altLang="zh-CN" sz="2400" dirty="0"/>
              <a:t>f</a:t>
            </a:r>
            <a:r>
              <a:rPr lang="en-US" altLang="zh-CN" sz="2400" baseline="-30000" dirty="0"/>
              <a:t>2</a:t>
            </a:r>
            <a:r>
              <a:rPr lang="en-US" altLang="zh-CN" sz="2400" dirty="0"/>
              <a:t>(4</a:t>
            </a:r>
            <a:r>
              <a:rPr lang="zh-CN" altLang="en-US" sz="2400" dirty="0"/>
              <a:t>－</a:t>
            </a:r>
            <a:r>
              <a:rPr lang="en-US" altLang="zh-CN" sz="2400" kern="0" dirty="0">
                <a:solidFill>
                  <a:srgbClr val="000066"/>
                </a:solidFill>
              </a:rPr>
              <a:t>x</a:t>
            </a:r>
            <a:r>
              <a:rPr lang="en-US" altLang="zh-CN" sz="2400" baseline="-30000" dirty="0"/>
              <a:t>3</a:t>
            </a:r>
            <a:r>
              <a:rPr lang="en-US" altLang="zh-CN" sz="2400" dirty="0"/>
              <a:t>)}</a:t>
            </a:r>
            <a:r>
              <a:rPr lang="zh-CN" altLang="en-US" sz="2400" dirty="0"/>
              <a:t>＝ </a:t>
            </a:r>
            <a:r>
              <a:rPr lang="en-US" altLang="zh-CN" sz="2400" dirty="0"/>
              <a:t>14</a:t>
            </a:r>
            <a:r>
              <a:rPr lang="zh-CN" altLang="en-US" sz="2400" dirty="0"/>
              <a:t>，</a:t>
            </a:r>
            <a:r>
              <a:rPr lang="en-US" altLang="zh-CN" sz="2400" kern="0" dirty="0">
                <a:solidFill>
                  <a:srgbClr val="000066"/>
                </a:solidFill>
              </a:rPr>
              <a:t>x</a:t>
            </a:r>
            <a:r>
              <a:rPr lang="en-US" altLang="zh-CN" sz="2400" baseline="-30000" dirty="0"/>
              <a:t>2</a:t>
            </a:r>
            <a:r>
              <a:rPr lang="en-US" altLang="zh-CN" sz="2400" dirty="0"/>
              <a:t>=5</a:t>
            </a:r>
          </a:p>
          <a:p>
            <a:pPr marL="0" indent="384175" algn="just">
              <a:lnSpc>
                <a:spcPct val="95000"/>
              </a:lnSpc>
              <a:spcBef>
                <a:spcPct val="0"/>
              </a:spcBef>
              <a:buFont typeface="Wingdings" panose="05000000000000000000" pitchFamily="2" charset="2"/>
              <a:buNone/>
              <a:defRPr/>
            </a:pPr>
            <a:r>
              <a:rPr lang="en-US" altLang="zh-CN" sz="2400" i="1" kern="0" dirty="0">
                <a:solidFill>
                  <a:srgbClr val="000066"/>
                </a:solidFill>
              </a:rPr>
              <a:t>v</a:t>
            </a:r>
            <a:r>
              <a:rPr lang="en-US" altLang="zh-CN" sz="2400" baseline="-30000" dirty="0"/>
              <a:t>3</a:t>
            </a:r>
            <a:r>
              <a:rPr lang="zh-CN" altLang="en-US" sz="2400" dirty="0"/>
              <a:t>＝</a:t>
            </a:r>
            <a:r>
              <a:rPr lang="en-US" altLang="zh-CN" sz="2400" dirty="0"/>
              <a:t>3</a:t>
            </a:r>
            <a:r>
              <a:rPr lang="zh-CN" altLang="en-US" sz="2400" dirty="0"/>
              <a:t>，</a:t>
            </a:r>
            <a:r>
              <a:rPr lang="en-US" altLang="zh-CN" sz="2400" dirty="0"/>
              <a:t>f</a:t>
            </a:r>
            <a:r>
              <a:rPr lang="en-US" altLang="zh-CN" sz="2400" baseline="-30000" dirty="0"/>
              <a:t>3</a:t>
            </a:r>
            <a:r>
              <a:rPr lang="en-US" altLang="zh-CN" sz="2400" dirty="0"/>
              <a:t>(3)</a:t>
            </a:r>
            <a:r>
              <a:rPr lang="zh-CN" altLang="en-US" sz="2400" dirty="0"/>
              <a:t>＝</a:t>
            </a:r>
            <a:r>
              <a:rPr lang="en-US" altLang="zh-CN" sz="2400" kern="0" dirty="0"/>
              <a:t>min</a:t>
            </a:r>
            <a:r>
              <a:rPr lang="en-US" altLang="zh-CN" sz="2400" dirty="0"/>
              <a:t>{ c</a:t>
            </a:r>
            <a:r>
              <a:rPr lang="en-US" altLang="zh-CN" sz="2400" baseline="-30000" dirty="0"/>
              <a:t>3</a:t>
            </a:r>
            <a:r>
              <a:rPr lang="en-US" altLang="zh-CN" sz="2400" dirty="0"/>
              <a:t>(</a:t>
            </a:r>
            <a:r>
              <a:rPr lang="en-US" altLang="zh-CN" sz="2400" kern="0" dirty="0">
                <a:solidFill>
                  <a:srgbClr val="000066"/>
                </a:solidFill>
              </a:rPr>
              <a:t>x</a:t>
            </a:r>
            <a:r>
              <a:rPr lang="en-US" altLang="zh-CN" sz="2400" baseline="-30000" dirty="0"/>
              <a:t>3</a:t>
            </a:r>
            <a:r>
              <a:rPr lang="en-US" altLang="zh-CN" sz="2400" dirty="0"/>
              <a:t>)</a:t>
            </a:r>
            <a:r>
              <a:rPr lang="zh-CN" altLang="en-US" sz="2400" dirty="0"/>
              <a:t>＋</a:t>
            </a:r>
            <a:r>
              <a:rPr lang="en-US" altLang="zh-CN" sz="2400" dirty="0"/>
              <a:t>h</a:t>
            </a:r>
            <a:r>
              <a:rPr lang="en-US" altLang="zh-CN" sz="2400" baseline="-30000" dirty="0"/>
              <a:t>3</a:t>
            </a:r>
            <a:r>
              <a:rPr lang="en-US" altLang="zh-CN" sz="2400" dirty="0"/>
              <a:t>(3)</a:t>
            </a:r>
            <a:r>
              <a:rPr lang="zh-CN" altLang="en-US" sz="2400" dirty="0"/>
              <a:t>＋</a:t>
            </a:r>
            <a:r>
              <a:rPr lang="en-US" altLang="zh-CN" sz="2400" dirty="0"/>
              <a:t>f</a:t>
            </a:r>
            <a:r>
              <a:rPr lang="en-US" altLang="zh-CN" sz="2400" baseline="-30000" dirty="0"/>
              <a:t>2</a:t>
            </a:r>
            <a:r>
              <a:rPr lang="en-US" altLang="zh-CN" sz="2400" dirty="0"/>
              <a:t>(5</a:t>
            </a:r>
            <a:r>
              <a:rPr lang="zh-CN" altLang="en-US" sz="2400" dirty="0"/>
              <a:t>－</a:t>
            </a:r>
            <a:r>
              <a:rPr lang="en-US" altLang="zh-CN" sz="2400" kern="0" dirty="0">
                <a:solidFill>
                  <a:srgbClr val="000066"/>
                </a:solidFill>
              </a:rPr>
              <a:t>x</a:t>
            </a:r>
            <a:r>
              <a:rPr lang="en-US" altLang="zh-CN" sz="2400" baseline="-30000" dirty="0"/>
              <a:t>3</a:t>
            </a:r>
            <a:r>
              <a:rPr lang="en-US" altLang="zh-CN" sz="2400" dirty="0"/>
              <a:t>)}</a:t>
            </a:r>
            <a:r>
              <a:rPr lang="zh-CN" altLang="en-US" sz="2400" dirty="0"/>
              <a:t>＝ </a:t>
            </a:r>
            <a:r>
              <a:rPr lang="en-US" altLang="zh-CN" sz="2400" dirty="0"/>
              <a:t>15.5</a:t>
            </a:r>
            <a:r>
              <a:rPr lang="zh-CN" altLang="en-US" sz="2400" dirty="0"/>
              <a:t>，</a:t>
            </a:r>
            <a:r>
              <a:rPr lang="en-US" altLang="zh-CN" sz="2400" kern="0" dirty="0">
                <a:solidFill>
                  <a:srgbClr val="000066"/>
                </a:solidFill>
              </a:rPr>
              <a:t>x</a:t>
            </a:r>
            <a:r>
              <a:rPr lang="en-US" altLang="zh-CN" sz="2400" baseline="-30000" dirty="0"/>
              <a:t>2</a:t>
            </a:r>
            <a:r>
              <a:rPr lang="en-US" altLang="zh-CN" sz="2400" dirty="0"/>
              <a:t>=6</a:t>
            </a:r>
          </a:p>
          <a:p>
            <a:pPr marL="0" indent="384175" algn="just">
              <a:lnSpc>
                <a:spcPct val="105000"/>
              </a:lnSpc>
              <a:spcBef>
                <a:spcPct val="10000"/>
              </a:spcBef>
              <a:buFont typeface="Wingdings" panose="05000000000000000000" pitchFamily="2" charset="2"/>
              <a:buNone/>
              <a:defRPr/>
            </a:pPr>
            <a:endParaRPr lang="zh-CN" altLang="en-US" sz="2400" kern="0" dirty="0"/>
          </a:p>
          <a:p>
            <a:pPr marL="0" indent="384175" algn="just">
              <a:lnSpc>
                <a:spcPct val="105000"/>
              </a:lnSpc>
              <a:spcBef>
                <a:spcPct val="10000"/>
              </a:spcBef>
              <a:buFont typeface="Wingdings" panose="05000000000000000000" pitchFamily="2" charset="2"/>
              <a:buNone/>
              <a:defRPr/>
            </a:pPr>
            <a:endParaRPr lang="zh-CN" altLang="en-US" sz="2400" kern="0" dirty="0"/>
          </a:p>
        </p:txBody>
      </p:sp>
      <p:sp>
        <p:nvSpPr>
          <p:cNvPr id="13" name="Rectangle 3">
            <a:extLst>
              <a:ext uri="{FF2B5EF4-FFF2-40B4-BE49-F238E27FC236}">
                <a16:creationId xmlns:a16="http://schemas.microsoft.com/office/drawing/2014/main" id="{D2BFA2FB-ECED-42DE-87F4-BEED21F51874}"/>
              </a:ext>
            </a:extLst>
          </p:cNvPr>
          <p:cNvSpPr txBox="1">
            <a:spLocks noChangeArrowheads="1"/>
          </p:cNvSpPr>
          <p:nvPr/>
        </p:nvSpPr>
        <p:spPr bwMode="auto">
          <a:xfrm>
            <a:off x="249238" y="188913"/>
            <a:ext cx="7772400" cy="13589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2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8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384175" algn="just">
              <a:lnSpc>
                <a:spcPct val="105000"/>
              </a:lnSpc>
              <a:spcBef>
                <a:spcPct val="15000"/>
              </a:spcBef>
              <a:buFont typeface="Wingdings" panose="05000000000000000000" pitchFamily="2" charset="2"/>
              <a:buNone/>
              <a:defRPr/>
            </a:pPr>
            <a:r>
              <a:rPr lang="zh-CN" altLang="en-US" sz="2400" kern="0" dirty="0"/>
              <a:t>当</a:t>
            </a:r>
            <a:r>
              <a:rPr lang="en-US" altLang="zh-CN" sz="2400" i="1" kern="0" dirty="0"/>
              <a:t>k</a:t>
            </a:r>
            <a:r>
              <a:rPr lang="zh-CN" altLang="en-US" sz="2400" kern="0" dirty="0"/>
              <a:t>＝</a:t>
            </a:r>
            <a:r>
              <a:rPr lang="en-US" altLang="zh-CN" sz="2400" kern="0" dirty="0"/>
              <a:t>3</a:t>
            </a:r>
            <a:r>
              <a:rPr lang="zh-CN" altLang="en-US" sz="2400" kern="0" dirty="0"/>
              <a:t>时，</a:t>
            </a:r>
          </a:p>
          <a:p>
            <a:pPr marL="0" indent="384175" algn="just">
              <a:lnSpc>
                <a:spcPct val="105000"/>
              </a:lnSpc>
              <a:spcBef>
                <a:spcPct val="15000"/>
              </a:spcBef>
              <a:buFont typeface="Wingdings" panose="05000000000000000000" pitchFamily="2" charset="2"/>
              <a:buNone/>
              <a:defRPr/>
            </a:pPr>
            <a:r>
              <a:rPr lang="en-US" altLang="zh-CN" sz="2400" kern="0" dirty="0"/>
              <a:t>f</a:t>
            </a:r>
            <a:r>
              <a:rPr lang="en-US" altLang="zh-CN" sz="2400" kern="0" baseline="-30000" dirty="0"/>
              <a:t>3</a:t>
            </a:r>
            <a:r>
              <a:rPr lang="en-US" altLang="zh-CN" sz="2400" kern="0" dirty="0"/>
              <a:t>(</a:t>
            </a:r>
            <a:r>
              <a:rPr lang="en-US" altLang="zh-CN" sz="2400" i="1" kern="0" dirty="0"/>
              <a:t>v</a:t>
            </a:r>
            <a:r>
              <a:rPr lang="en-US" altLang="zh-CN" sz="2400" kern="0" baseline="-30000" dirty="0"/>
              <a:t>3</a:t>
            </a:r>
            <a:r>
              <a:rPr lang="en-US" altLang="zh-CN" sz="2400" kern="0" dirty="0"/>
              <a:t>)</a:t>
            </a:r>
            <a:r>
              <a:rPr lang="zh-CN" altLang="en-US" sz="2400" kern="0" dirty="0"/>
              <a:t>＝</a:t>
            </a:r>
            <a:r>
              <a:rPr lang="en-US" altLang="zh-CN" sz="2400" kern="0" dirty="0"/>
              <a:t>min{ </a:t>
            </a:r>
            <a:r>
              <a:rPr lang="en-US" altLang="zh-CN" sz="2400" i="1" kern="0" dirty="0"/>
              <a:t>c</a:t>
            </a:r>
            <a:r>
              <a:rPr lang="en-US" altLang="zh-CN" sz="2400" kern="0" baseline="-30000" dirty="0"/>
              <a:t>3</a:t>
            </a:r>
            <a:r>
              <a:rPr lang="en-US" altLang="zh-CN" sz="2400" kern="0" dirty="0"/>
              <a:t>(</a:t>
            </a:r>
            <a:r>
              <a:rPr lang="en-US" altLang="zh-CN" sz="2400" i="1" kern="0" dirty="0"/>
              <a:t>x</a:t>
            </a:r>
            <a:r>
              <a:rPr lang="en-US" altLang="zh-CN" sz="2400" kern="0" baseline="-30000" dirty="0"/>
              <a:t>3</a:t>
            </a:r>
            <a:r>
              <a:rPr lang="en-US" altLang="zh-CN" sz="2400" kern="0" dirty="0"/>
              <a:t>)</a:t>
            </a:r>
            <a:r>
              <a:rPr lang="zh-CN" altLang="en-US" sz="2400" kern="0" dirty="0"/>
              <a:t>＋</a:t>
            </a:r>
            <a:r>
              <a:rPr lang="en-US" altLang="zh-CN" sz="2400" i="1" kern="0" dirty="0"/>
              <a:t>h</a:t>
            </a:r>
            <a:r>
              <a:rPr lang="en-US" altLang="zh-CN" sz="2400" kern="0" baseline="-30000" dirty="0"/>
              <a:t>3</a:t>
            </a:r>
            <a:r>
              <a:rPr lang="en-US" altLang="zh-CN" sz="2400" kern="0" dirty="0"/>
              <a:t>(</a:t>
            </a:r>
            <a:r>
              <a:rPr lang="en-US" altLang="zh-CN" sz="2400" i="1" kern="0" dirty="0"/>
              <a:t>v</a:t>
            </a:r>
            <a:r>
              <a:rPr lang="en-US" altLang="zh-CN" sz="2400" kern="0" baseline="-30000" dirty="0"/>
              <a:t>3</a:t>
            </a:r>
            <a:r>
              <a:rPr lang="en-US" altLang="zh-CN" sz="2400" kern="0" dirty="0"/>
              <a:t>)</a:t>
            </a:r>
            <a:r>
              <a:rPr lang="zh-CN" altLang="en-US" sz="2400" kern="0" dirty="0"/>
              <a:t>＋</a:t>
            </a:r>
            <a:r>
              <a:rPr lang="en-US" altLang="zh-CN" sz="2400" kern="0" dirty="0"/>
              <a:t>f</a:t>
            </a:r>
            <a:r>
              <a:rPr lang="en-US" altLang="zh-CN" sz="2400" kern="0" baseline="-30000" dirty="0"/>
              <a:t>2</a:t>
            </a:r>
            <a:r>
              <a:rPr lang="en-US" altLang="zh-CN" sz="2400" kern="0" dirty="0"/>
              <a:t>(</a:t>
            </a:r>
            <a:r>
              <a:rPr lang="en-US" altLang="zh-CN" sz="2400" i="1" kern="0" dirty="0">
                <a:solidFill>
                  <a:srgbClr val="FF0000"/>
                </a:solidFill>
              </a:rPr>
              <a:t>v</a:t>
            </a:r>
            <a:r>
              <a:rPr lang="en-US" altLang="zh-CN" sz="2400" kern="0" baseline="-30000" dirty="0">
                <a:solidFill>
                  <a:srgbClr val="FF0000"/>
                </a:solidFill>
              </a:rPr>
              <a:t>3</a:t>
            </a:r>
            <a:r>
              <a:rPr lang="zh-CN" altLang="en-US" sz="2400" kern="0" dirty="0">
                <a:solidFill>
                  <a:srgbClr val="FF0000"/>
                </a:solidFill>
              </a:rPr>
              <a:t>＋</a:t>
            </a:r>
            <a:r>
              <a:rPr lang="en-US" altLang="zh-CN" sz="2400" kern="0" dirty="0">
                <a:solidFill>
                  <a:srgbClr val="FF0000"/>
                </a:solidFill>
              </a:rPr>
              <a:t>d</a:t>
            </a:r>
            <a:r>
              <a:rPr lang="en-US" altLang="zh-CN" sz="2400" kern="0" baseline="-30000" dirty="0">
                <a:solidFill>
                  <a:srgbClr val="FF0000"/>
                </a:solidFill>
              </a:rPr>
              <a:t>3</a:t>
            </a:r>
            <a:r>
              <a:rPr lang="zh-CN" altLang="en-US" sz="2400" kern="0" dirty="0">
                <a:solidFill>
                  <a:srgbClr val="FF0000"/>
                </a:solidFill>
              </a:rPr>
              <a:t>－</a:t>
            </a:r>
            <a:r>
              <a:rPr lang="en-US" altLang="zh-CN" sz="2400" i="1" kern="0" dirty="0">
                <a:solidFill>
                  <a:srgbClr val="FF0000"/>
                </a:solidFill>
              </a:rPr>
              <a:t>x</a:t>
            </a:r>
            <a:r>
              <a:rPr lang="en-US" altLang="zh-CN" sz="2400" kern="0" baseline="-30000" dirty="0">
                <a:solidFill>
                  <a:srgbClr val="FF0000"/>
                </a:solidFill>
              </a:rPr>
              <a:t>3</a:t>
            </a:r>
            <a:r>
              <a:rPr lang="en-US" altLang="zh-CN" sz="2400" kern="0" dirty="0"/>
              <a:t>)}</a:t>
            </a:r>
          </a:p>
          <a:p>
            <a:pPr marL="0" indent="384175" algn="just">
              <a:lnSpc>
                <a:spcPct val="105000"/>
              </a:lnSpc>
              <a:spcBef>
                <a:spcPct val="15000"/>
              </a:spcBef>
              <a:buFont typeface="Wingdings" panose="05000000000000000000" pitchFamily="2" charset="2"/>
              <a:buNone/>
              <a:defRPr/>
            </a:pPr>
            <a:r>
              <a:rPr lang="zh-CN" altLang="en-US" sz="2400" kern="0" dirty="0"/>
              <a:t>其中，</a:t>
            </a:r>
            <a:r>
              <a:rPr lang="en-US" altLang="zh-CN" sz="2400" i="1" kern="0" dirty="0">
                <a:solidFill>
                  <a:srgbClr val="FF00FF"/>
                </a:solidFill>
              </a:rPr>
              <a:t>x</a:t>
            </a:r>
            <a:r>
              <a:rPr lang="en-US" altLang="zh-CN" sz="2400" kern="0" baseline="-30000" dirty="0">
                <a:solidFill>
                  <a:srgbClr val="FF00FF"/>
                </a:solidFill>
              </a:rPr>
              <a:t>3</a:t>
            </a:r>
            <a:r>
              <a:rPr lang="en-US" altLang="zh-CN" sz="2400" kern="0" dirty="0">
                <a:solidFill>
                  <a:srgbClr val="FF00FF"/>
                </a:solidFill>
              </a:rPr>
              <a:t>≤min{</a:t>
            </a:r>
            <a:r>
              <a:rPr lang="en-US" altLang="zh-CN" sz="2400" i="1" kern="0" dirty="0">
                <a:solidFill>
                  <a:srgbClr val="FF00FF"/>
                </a:solidFill>
              </a:rPr>
              <a:t>v</a:t>
            </a:r>
            <a:r>
              <a:rPr lang="en-US" altLang="zh-CN" sz="2400" kern="0" baseline="-30000" dirty="0">
                <a:solidFill>
                  <a:srgbClr val="FF00FF"/>
                </a:solidFill>
              </a:rPr>
              <a:t>3</a:t>
            </a:r>
            <a:r>
              <a:rPr lang="zh-CN" altLang="en-US" sz="2400" kern="0" dirty="0">
                <a:solidFill>
                  <a:srgbClr val="FF00FF"/>
                </a:solidFill>
              </a:rPr>
              <a:t>＋</a:t>
            </a:r>
            <a:r>
              <a:rPr lang="en-US" altLang="zh-CN" sz="2400" kern="0" dirty="0">
                <a:solidFill>
                  <a:srgbClr val="FF00FF"/>
                </a:solidFill>
              </a:rPr>
              <a:t>3</a:t>
            </a:r>
            <a:r>
              <a:rPr lang="zh-CN" altLang="en-US" sz="2400" kern="0" dirty="0">
                <a:solidFill>
                  <a:srgbClr val="FF00FF"/>
                </a:solidFill>
              </a:rPr>
              <a:t>，</a:t>
            </a:r>
            <a:r>
              <a:rPr lang="en-US" altLang="zh-CN" sz="2400" kern="0" dirty="0">
                <a:solidFill>
                  <a:srgbClr val="FF00FF"/>
                </a:solidFill>
              </a:rPr>
              <a:t>6}</a:t>
            </a:r>
          </a:p>
          <a:p>
            <a:pPr marL="0" indent="384175" algn="just">
              <a:lnSpc>
                <a:spcPct val="105000"/>
              </a:lnSpc>
              <a:spcBef>
                <a:spcPct val="15000"/>
              </a:spcBef>
              <a:buFont typeface="Wingdings" panose="05000000000000000000" pitchFamily="2" charset="2"/>
              <a:buNone/>
              <a:defRPr/>
            </a:pPr>
            <a:endParaRPr lang="zh-CN" altLang="en-US" sz="2400" kern="0" dirty="0">
              <a:solidFill>
                <a:srgbClr val="FF0000"/>
              </a:solidFill>
            </a:endParaRPr>
          </a:p>
        </p:txBody>
      </p:sp>
      <p:sp>
        <p:nvSpPr>
          <p:cNvPr id="7" name="Rectangle 3">
            <a:extLst>
              <a:ext uri="{FF2B5EF4-FFF2-40B4-BE49-F238E27FC236}">
                <a16:creationId xmlns:a16="http://schemas.microsoft.com/office/drawing/2014/main" id="{069490FA-1779-4EE1-9DC4-331000D02DD2}"/>
              </a:ext>
            </a:extLst>
          </p:cNvPr>
          <p:cNvSpPr txBox="1">
            <a:spLocks noChangeArrowheads="1"/>
          </p:cNvSpPr>
          <p:nvPr/>
        </p:nvSpPr>
        <p:spPr bwMode="auto">
          <a:xfrm>
            <a:off x="250825" y="3873500"/>
            <a:ext cx="2376488" cy="4191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2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8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384175" algn="just">
              <a:lnSpc>
                <a:spcPct val="105000"/>
              </a:lnSpc>
              <a:spcBef>
                <a:spcPct val="10000"/>
              </a:spcBef>
              <a:buFont typeface="Wingdings" panose="05000000000000000000" pitchFamily="2" charset="2"/>
              <a:buNone/>
              <a:defRPr/>
            </a:pPr>
            <a:r>
              <a:rPr lang="zh-CN" altLang="en-US" sz="2400" kern="0" dirty="0">
                <a:solidFill>
                  <a:srgbClr val="000066"/>
                </a:solidFill>
              </a:rPr>
              <a:t>当</a:t>
            </a:r>
            <a:r>
              <a:rPr lang="en-US" altLang="zh-CN" sz="2400" i="1" kern="0" dirty="0">
                <a:solidFill>
                  <a:srgbClr val="000066"/>
                </a:solidFill>
              </a:rPr>
              <a:t>v</a:t>
            </a:r>
            <a:r>
              <a:rPr lang="en-US" altLang="zh-CN" sz="2400" kern="0" baseline="-30000" dirty="0">
                <a:solidFill>
                  <a:srgbClr val="000066"/>
                </a:solidFill>
              </a:rPr>
              <a:t>3</a:t>
            </a:r>
            <a:r>
              <a:rPr lang="zh-CN" altLang="en-US" sz="2400" kern="0" dirty="0">
                <a:solidFill>
                  <a:srgbClr val="000066"/>
                </a:solidFill>
              </a:rPr>
              <a:t>＝</a:t>
            </a:r>
            <a:r>
              <a:rPr lang="en-US" altLang="zh-CN" sz="2400" kern="0" dirty="0">
                <a:solidFill>
                  <a:srgbClr val="000066"/>
                </a:solidFill>
              </a:rPr>
              <a:t>4</a:t>
            </a:r>
            <a:r>
              <a:rPr lang="zh-CN" altLang="en-US" sz="2400" kern="0" dirty="0">
                <a:solidFill>
                  <a:srgbClr val="000066"/>
                </a:solidFill>
              </a:rPr>
              <a:t>时</a:t>
            </a:r>
            <a:r>
              <a:rPr lang="zh-CN" altLang="en-US" sz="2400" kern="0" dirty="0"/>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A92946E3-C476-4550-89E1-A02A5D22722C}"/>
              </a:ext>
            </a:extLst>
          </p:cNvPr>
          <p:cNvSpPr>
            <a:spLocks noGrp="1" noChangeArrowheads="1"/>
          </p:cNvSpPr>
          <p:nvPr>
            <p:ph type="body" idx="1"/>
          </p:nvPr>
        </p:nvSpPr>
        <p:spPr>
          <a:xfrm>
            <a:off x="468313" y="935038"/>
            <a:ext cx="8099425" cy="1533525"/>
          </a:xfrm>
        </p:spPr>
        <p:txBody>
          <a:bodyPr/>
          <a:lstStyle/>
          <a:p>
            <a:pPr marL="0" indent="384175" algn="just">
              <a:spcBef>
                <a:spcPct val="0"/>
              </a:spcBef>
              <a:buFont typeface="Wingdings" panose="05000000000000000000" pitchFamily="2" charset="2"/>
              <a:buNone/>
            </a:pPr>
            <a:r>
              <a:rPr lang="zh-CN" altLang="en-US" sz="2400"/>
              <a:t>当</a:t>
            </a:r>
            <a:r>
              <a:rPr lang="en-US" altLang="zh-CN" sz="2400" i="1"/>
              <a:t>k</a:t>
            </a:r>
            <a:r>
              <a:rPr lang="zh-CN" altLang="en-US" sz="2400"/>
              <a:t>＝</a:t>
            </a:r>
            <a:r>
              <a:rPr lang="en-US" altLang="zh-CN" sz="2400"/>
              <a:t>4</a:t>
            </a:r>
            <a:r>
              <a:rPr lang="zh-CN" altLang="en-US" sz="2400"/>
              <a:t>时，</a:t>
            </a:r>
          </a:p>
          <a:p>
            <a:pPr marL="0" indent="384175" algn="just">
              <a:spcBef>
                <a:spcPct val="0"/>
              </a:spcBef>
              <a:buFont typeface="Wingdings" panose="05000000000000000000" pitchFamily="2" charset="2"/>
              <a:buNone/>
            </a:pPr>
            <a:r>
              <a:rPr lang="en-US" altLang="zh-CN" sz="2400"/>
              <a:t>f</a:t>
            </a:r>
            <a:r>
              <a:rPr lang="en-US" altLang="zh-CN" sz="2400" baseline="-30000"/>
              <a:t>4</a:t>
            </a:r>
            <a:r>
              <a:rPr lang="en-US" altLang="zh-CN" sz="2400"/>
              <a:t>(</a:t>
            </a:r>
            <a:r>
              <a:rPr lang="en-US" altLang="zh-CN" sz="2400" i="1"/>
              <a:t>v</a:t>
            </a:r>
            <a:r>
              <a:rPr lang="en-US" altLang="zh-CN" sz="2400" baseline="-30000"/>
              <a:t>4</a:t>
            </a:r>
            <a:r>
              <a:rPr lang="en-US" altLang="zh-CN" sz="2400"/>
              <a:t>)</a:t>
            </a:r>
            <a:r>
              <a:rPr lang="zh-CN" altLang="en-US" sz="2400"/>
              <a:t>＝</a:t>
            </a:r>
            <a:r>
              <a:rPr lang="en-US" altLang="zh-CN" sz="2400"/>
              <a:t>min{ c</a:t>
            </a:r>
            <a:r>
              <a:rPr lang="en-US" altLang="zh-CN" sz="2400" baseline="-30000"/>
              <a:t>4</a:t>
            </a:r>
            <a:r>
              <a:rPr lang="en-US" altLang="zh-CN" sz="2400"/>
              <a:t>(</a:t>
            </a:r>
            <a:r>
              <a:rPr lang="en-US" altLang="zh-CN" sz="2400" i="1"/>
              <a:t>x</a:t>
            </a:r>
            <a:r>
              <a:rPr lang="en-US" altLang="zh-CN" sz="2400" baseline="-30000"/>
              <a:t>4</a:t>
            </a:r>
            <a:r>
              <a:rPr lang="en-US" altLang="zh-CN" sz="2400"/>
              <a:t>)</a:t>
            </a:r>
            <a:r>
              <a:rPr lang="zh-CN" altLang="en-US" sz="2400"/>
              <a:t>＋</a:t>
            </a:r>
            <a:r>
              <a:rPr lang="en-US" altLang="zh-CN" sz="2400"/>
              <a:t>h</a:t>
            </a:r>
            <a:r>
              <a:rPr lang="en-US" altLang="zh-CN" sz="2400" baseline="-30000"/>
              <a:t>4</a:t>
            </a:r>
            <a:r>
              <a:rPr lang="en-US" altLang="zh-CN" sz="2400"/>
              <a:t>(</a:t>
            </a:r>
            <a:r>
              <a:rPr lang="en-US" altLang="zh-CN" sz="2400" i="1"/>
              <a:t>v</a:t>
            </a:r>
            <a:r>
              <a:rPr lang="en-US" altLang="zh-CN" sz="2400" baseline="-30000"/>
              <a:t>4</a:t>
            </a:r>
            <a:r>
              <a:rPr lang="en-US" altLang="zh-CN" sz="2400"/>
              <a:t>)</a:t>
            </a:r>
            <a:r>
              <a:rPr lang="zh-CN" altLang="en-US" sz="2400"/>
              <a:t>＋</a:t>
            </a:r>
            <a:r>
              <a:rPr lang="en-US" altLang="zh-CN" sz="2400"/>
              <a:t>f</a:t>
            </a:r>
            <a:r>
              <a:rPr lang="en-US" altLang="zh-CN" sz="2400" baseline="-30000"/>
              <a:t>3</a:t>
            </a:r>
            <a:r>
              <a:rPr lang="en-US" altLang="zh-CN" sz="2400"/>
              <a:t>(</a:t>
            </a:r>
            <a:r>
              <a:rPr lang="en-US" altLang="zh-CN" sz="2400" i="1">
                <a:solidFill>
                  <a:srgbClr val="FF0000"/>
                </a:solidFill>
              </a:rPr>
              <a:t>v</a:t>
            </a:r>
            <a:r>
              <a:rPr lang="en-US" altLang="zh-CN" sz="2400" baseline="-30000">
                <a:solidFill>
                  <a:srgbClr val="FF0000"/>
                </a:solidFill>
              </a:rPr>
              <a:t>4</a:t>
            </a:r>
            <a:r>
              <a:rPr lang="zh-CN" altLang="en-US" sz="2400">
                <a:solidFill>
                  <a:srgbClr val="FF0000"/>
                </a:solidFill>
              </a:rPr>
              <a:t>＋</a:t>
            </a:r>
            <a:r>
              <a:rPr lang="en-US" altLang="zh-CN" sz="2400" i="1">
                <a:solidFill>
                  <a:srgbClr val="FF0000"/>
                </a:solidFill>
              </a:rPr>
              <a:t>d</a:t>
            </a:r>
            <a:r>
              <a:rPr lang="en-US" altLang="zh-CN" sz="2400" baseline="-30000">
                <a:solidFill>
                  <a:srgbClr val="FF0000"/>
                </a:solidFill>
              </a:rPr>
              <a:t>4</a:t>
            </a:r>
            <a:r>
              <a:rPr lang="zh-CN" altLang="en-US" sz="2400">
                <a:solidFill>
                  <a:srgbClr val="FF0000"/>
                </a:solidFill>
              </a:rPr>
              <a:t>－</a:t>
            </a:r>
            <a:r>
              <a:rPr lang="en-US" altLang="zh-CN" sz="2400" i="1">
                <a:solidFill>
                  <a:srgbClr val="FF0000"/>
                </a:solidFill>
              </a:rPr>
              <a:t>x</a:t>
            </a:r>
            <a:r>
              <a:rPr lang="en-US" altLang="zh-CN" sz="2400" baseline="-30000">
                <a:solidFill>
                  <a:srgbClr val="FF0000"/>
                </a:solidFill>
              </a:rPr>
              <a:t>4</a:t>
            </a:r>
            <a:r>
              <a:rPr lang="en-US" altLang="zh-CN" sz="2400"/>
              <a:t>)}</a:t>
            </a:r>
          </a:p>
          <a:p>
            <a:pPr marL="0" indent="384175" algn="just">
              <a:spcBef>
                <a:spcPct val="0"/>
              </a:spcBef>
              <a:buFont typeface="Wingdings" panose="05000000000000000000" pitchFamily="2" charset="2"/>
              <a:buNone/>
            </a:pPr>
            <a:r>
              <a:rPr lang="zh-CN" altLang="en-US" sz="2400"/>
              <a:t>其中，</a:t>
            </a:r>
            <a:r>
              <a:rPr lang="en-US" altLang="zh-CN" sz="2400" i="1"/>
              <a:t>x</a:t>
            </a:r>
            <a:r>
              <a:rPr lang="en-US" altLang="zh-CN" sz="2400" baseline="-30000"/>
              <a:t>4</a:t>
            </a:r>
            <a:r>
              <a:rPr lang="en-US" altLang="zh-CN" sz="2400"/>
              <a:t>≤min{ </a:t>
            </a:r>
            <a:r>
              <a:rPr lang="en-US" altLang="zh-CN" sz="2400" i="1"/>
              <a:t>v</a:t>
            </a:r>
            <a:r>
              <a:rPr lang="en-US" altLang="zh-CN" sz="2400" baseline="-30000"/>
              <a:t>4</a:t>
            </a:r>
            <a:r>
              <a:rPr lang="zh-CN" altLang="en-US" sz="2400"/>
              <a:t>＋</a:t>
            </a:r>
            <a:r>
              <a:rPr lang="en-US" altLang="zh-CN" sz="2400"/>
              <a:t>4</a:t>
            </a:r>
            <a:r>
              <a:rPr lang="zh-CN" altLang="en-US" sz="2400"/>
              <a:t>，</a:t>
            </a:r>
            <a:r>
              <a:rPr lang="en-US" altLang="zh-CN" sz="2400"/>
              <a:t>6}        </a:t>
            </a:r>
            <a:r>
              <a:rPr lang="en-US" altLang="zh-CN" sz="2400" i="1">
                <a:solidFill>
                  <a:srgbClr val="FF0000"/>
                </a:solidFill>
              </a:rPr>
              <a:t>v</a:t>
            </a:r>
            <a:r>
              <a:rPr lang="en-US" altLang="zh-CN" sz="2400" baseline="-30000">
                <a:solidFill>
                  <a:srgbClr val="FF0000"/>
                </a:solidFill>
              </a:rPr>
              <a:t>4</a:t>
            </a:r>
            <a:r>
              <a:rPr lang="zh-CN" altLang="en-US" sz="2400">
                <a:solidFill>
                  <a:srgbClr val="FF0000"/>
                </a:solidFill>
              </a:rPr>
              <a:t>＝</a:t>
            </a:r>
            <a:r>
              <a:rPr lang="en-US" altLang="zh-CN" sz="2400">
                <a:solidFill>
                  <a:srgbClr val="FF0000"/>
                </a:solidFill>
              </a:rPr>
              <a:t>0</a:t>
            </a:r>
          </a:p>
          <a:p>
            <a:pPr marL="0" indent="384175" algn="just">
              <a:spcBef>
                <a:spcPct val="0"/>
              </a:spcBef>
              <a:buFont typeface="Wingdings" panose="05000000000000000000" pitchFamily="2" charset="2"/>
              <a:buNone/>
            </a:pPr>
            <a:endParaRPr lang="zh-CN" altLang="en-US" sz="2800"/>
          </a:p>
        </p:txBody>
      </p:sp>
      <p:sp>
        <p:nvSpPr>
          <p:cNvPr id="65539" name="Rectangle 7">
            <a:extLst>
              <a:ext uri="{FF2B5EF4-FFF2-40B4-BE49-F238E27FC236}">
                <a16:creationId xmlns:a16="http://schemas.microsoft.com/office/drawing/2014/main" id="{BCE77B74-7314-4890-8D89-46E5F7B06DBF}"/>
              </a:ext>
            </a:extLst>
          </p:cNvPr>
          <p:cNvSpPr>
            <a:spLocks noChangeArrowheads="1"/>
          </p:cNvSpPr>
          <p:nvPr/>
        </p:nvSpPr>
        <p:spPr bwMode="auto">
          <a:xfrm>
            <a:off x="817563" y="5084763"/>
            <a:ext cx="6192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5000"/>
              </a:spcBef>
              <a:buClr>
                <a:schemeClr val="accent2"/>
              </a:buClr>
              <a:buSzPct val="80000"/>
            </a:pPr>
            <a:r>
              <a:rPr kumimoji="1" lang="zh-CN" altLang="en-US">
                <a:solidFill>
                  <a:srgbClr val="FF0000"/>
                </a:solidFill>
                <a:latin typeface="Times New Roman" panose="02020603050405020304" pitchFamily="18" charset="0"/>
                <a:cs typeface="Times New Roman" panose="02020603050405020304" pitchFamily="18" charset="0"/>
              </a:rPr>
              <a:t>所以，</a:t>
            </a:r>
            <a:r>
              <a:rPr kumimoji="1" lang="en-US" altLang="zh-CN" i="1">
                <a:solidFill>
                  <a:srgbClr val="FF0000"/>
                </a:solidFill>
                <a:latin typeface="Times New Roman" panose="02020603050405020304" pitchFamily="18" charset="0"/>
                <a:cs typeface="Times New Roman" panose="02020603050405020304" pitchFamily="18" charset="0"/>
              </a:rPr>
              <a:t>x</a:t>
            </a:r>
            <a:r>
              <a:rPr kumimoji="1" lang="en-US" altLang="zh-CN" baseline="-30000">
                <a:solidFill>
                  <a:srgbClr val="FF0000"/>
                </a:solidFill>
                <a:latin typeface="Times New Roman" panose="02020603050405020304" pitchFamily="18" charset="0"/>
                <a:cs typeface="Times New Roman" panose="02020603050405020304" pitchFamily="18" charset="0"/>
              </a:rPr>
              <a:t>4</a:t>
            </a:r>
            <a:r>
              <a:rPr kumimoji="1" lang="en-US" altLang="zh-CN">
                <a:solidFill>
                  <a:srgbClr val="FF0000"/>
                </a:solidFill>
                <a:latin typeface="Times New Roman" panose="02020603050405020304" pitchFamily="18" charset="0"/>
                <a:cs typeface="Times New Roman" panose="02020603050405020304" pitchFamily="18" charset="0"/>
              </a:rPr>
              <a:t>=0</a:t>
            </a:r>
            <a:r>
              <a:rPr kumimoji="1" lang="zh-CN" altLang="en-US">
                <a:solidFill>
                  <a:srgbClr val="FF0000"/>
                </a:solidFill>
                <a:latin typeface="Times New Roman" panose="02020603050405020304" pitchFamily="18" charset="0"/>
                <a:cs typeface="Times New Roman" panose="02020603050405020304" pitchFamily="18" charset="0"/>
              </a:rPr>
              <a:t>，</a:t>
            </a:r>
            <a:r>
              <a:rPr kumimoji="1" lang="en-US" altLang="zh-CN" i="1">
                <a:solidFill>
                  <a:srgbClr val="FF0000"/>
                </a:solidFill>
                <a:latin typeface="Times New Roman" panose="02020603050405020304" pitchFamily="18" charset="0"/>
                <a:cs typeface="Times New Roman" panose="02020603050405020304" pitchFamily="18" charset="0"/>
              </a:rPr>
              <a:t>x</a:t>
            </a:r>
            <a:r>
              <a:rPr kumimoji="1" lang="en-US" altLang="zh-CN" baseline="-30000">
                <a:solidFill>
                  <a:srgbClr val="FF0000"/>
                </a:solidFill>
                <a:latin typeface="Times New Roman" panose="02020603050405020304" pitchFamily="18" charset="0"/>
                <a:cs typeface="Times New Roman" panose="02020603050405020304" pitchFamily="18" charset="0"/>
              </a:rPr>
              <a:t>3</a:t>
            </a:r>
            <a:r>
              <a:rPr kumimoji="1" lang="en-US" altLang="zh-CN">
                <a:solidFill>
                  <a:srgbClr val="FF0000"/>
                </a:solidFill>
                <a:latin typeface="Times New Roman" panose="02020603050405020304" pitchFamily="18" charset="0"/>
                <a:cs typeface="Times New Roman" panose="02020603050405020304" pitchFamily="18" charset="0"/>
              </a:rPr>
              <a:t>=6</a:t>
            </a:r>
            <a:r>
              <a:rPr kumimoji="1" lang="zh-CN" altLang="en-US">
                <a:solidFill>
                  <a:srgbClr val="FF0000"/>
                </a:solidFill>
                <a:latin typeface="Times New Roman" panose="02020603050405020304" pitchFamily="18" charset="0"/>
                <a:cs typeface="Times New Roman" panose="02020603050405020304" pitchFamily="18" charset="0"/>
              </a:rPr>
              <a:t>，</a:t>
            </a:r>
            <a:r>
              <a:rPr kumimoji="1" lang="en-US" altLang="zh-CN" i="1">
                <a:solidFill>
                  <a:srgbClr val="FF0000"/>
                </a:solidFill>
                <a:latin typeface="Times New Roman" panose="02020603050405020304" pitchFamily="18" charset="0"/>
                <a:cs typeface="Times New Roman" panose="02020603050405020304" pitchFamily="18" charset="0"/>
              </a:rPr>
              <a:t>x</a:t>
            </a:r>
            <a:r>
              <a:rPr kumimoji="1" lang="en-US" altLang="zh-CN" baseline="-30000">
                <a:solidFill>
                  <a:srgbClr val="FF0000"/>
                </a:solidFill>
                <a:latin typeface="Times New Roman" panose="02020603050405020304" pitchFamily="18" charset="0"/>
                <a:cs typeface="Times New Roman" panose="02020603050405020304" pitchFamily="18" charset="0"/>
              </a:rPr>
              <a:t>2</a:t>
            </a:r>
            <a:r>
              <a:rPr kumimoji="1" lang="en-US" altLang="zh-CN">
                <a:solidFill>
                  <a:srgbClr val="FF0000"/>
                </a:solidFill>
                <a:latin typeface="Times New Roman" panose="02020603050405020304" pitchFamily="18" charset="0"/>
                <a:cs typeface="Times New Roman" panose="02020603050405020304" pitchFamily="18" charset="0"/>
              </a:rPr>
              <a:t>=0</a:t>
            </a:r>
            <a:r>
              <a:rPr kumimoji="1" lang="zh-CN" altLang="en-US">
                <a:solidFill>
                  <a:srgbClr val="FF0000"/>
                </a:solidFill>
                <a:latin typeface="Times New Roman" panose="02020603050405020304" pitchFamily="18" charset="0"/>
                <a:cs typeface="Times New Roman" panose="02020603050405020304" pitchFamily="18" charset="0"/>
              </a:rPr>
              <a:t>，</a:t>
            </a:r>
            <a:r>
              <a:rPr kumimoji="1" lang="en-US" altLang="zh-CN" i="1">
                <a:solidFill>
                  <a:srgbClr val="FF0000"/>
                </a:solidFill>
                <a:latin typeface="Times New Roman" panose="02020603050405020304" pitchFamily="18" charset="0"/>
                <a:cs typeface="Times New Roman" panose="02020603050405020304" pitchFamily="18" charset="0"/>
              </a:rPr>
              <a:t>x</a:t>
            </a:r>
            <a:r>
              <a:rPr kumimoji="1" lang="en-US" altLang="zh-CN" baseline="-30000">
                <a:solidFill>
                  <a:srgbClr val="FF0000"/>
                </a:solidFill>
                <a:latin typeface="Times New Roman" panose="02020603050405020304" pitchFamily="18" charset="0"/>
                <a:cs typeface="Times New Roman" panose="02020603050405020304" pitchFamily="18" charset="0"/>
              </a:rPr>
              <a:t>1</a:t>
            </a:r>
            <a:r>
              <a:rPr kumimoji="1" lang="en-US" altLang="zh-CN">
                <a:solidFill>
                  <a:srgbClr val="FF0000"/>
                </a:solidFill>
                <a:latin typeface="Times New Roman" panose="02020603050405020304" pitchFamily="18" charset="0"/>
                <a:cs typeface="Times New Roman" panose="02020603050405020304" pitchFamily="18" charset="0"/>
              </a:rPr>
              <a:t>=5</a:t>
            </a:r>
            <a:r>
              <a:rPr kumimoji="1" lang="zh-CN" altLang="en-US">
                <a:solidFill>
                  <a:srgbClr val="FF0000"/>
                </a:solidFill>
                <a:latin typeface="Times New Roman" panose="02020603050405020304" pitchFamily="18" charset="0"/>
                <a:cs typeface="Times New Roman" panose="02020603050405020304" pitchFamily="18" charset="0"/>
              </a:rPr>
              <a:t>，</a:t>
            </a:r>
            <a:r>
              <a:rPr lang="zh-CN" altLang="en-US">
                <a:solidFill>
                  <a:srgbClr val="376546"/>
                </a:solidFill>
                <a:latin typeface="Times New Roman" panose="02020603050405020304" pitchFamily="18" charset="0"/>
                <a:cs typeface="Times New Roman" panose="02020603050405020304" pitchFamily="18" charset="0"/>
              </a:rPr>
              <a:t>最小总成本为</a:t>
            </a:r>
            <a:r>
              <a:rPr lang="en-US" altLang="zh-CN">
                <a:solidFill>
                  <a:srgbClr val="376546"/>
                </a:solidFill>
                <a:latin typeface="Times New Roman" panose="02020603050405020304" pitchFamily="18" charset="0"/>
                <a:cs typeface="Times New Roman" panose="02020603050405020304" pitchFamily="18" charset="0"/>
              </a:rPr>
              <a:t>20.5</a:t>
            </a:r>
            <a:endParaRPr lang="zh-CN" altLang="en-US">
              <a:solidFill>
                <a:srgbClr val="376546"/>
              </a:solidFill>
              <a:latin typeface="Times New Roman" panose="02020603050405020304" pitchFamily="18" charset="0"/>
              <a:cs typeface="Times New Roman" panose="02020603050405020304" pitchFamily="18" charset="0"/>
            </a:endParaRPr>
          </a:p>
        </p:txBody>
      </p:sp>
      <p:graphicFrame>
        <p:nvGraphicFramePr>
          <p:cNvPr id="65540" name="对象 5">
            <a:extLst>
              <a:ext uri="{FF2B5EF4-FFF2-40B4-BE49-F238E27FC236}">
                <a16:creationId xmlns:a16="http://schemas.microsoft.com/office/drawing/2014/main" id="{2AE5096E-71CE-482F-BF54-E258F8BBEA57}"/>
              </a:ext>
            </a:extLst>
          </p:cNvPr>
          <p:cNvGraphicFramePr>
            <a:graphicFrameLocks noChangeAspect="1"/>
          </p:cNvGraphicFramePr>
          <p:nvPr/>
        </p:nvGraphicFramePr>
        <p:xfrm>
          <a:off x="827088" y="2349500"/>
          <a:ext cx="6253162" cy="2409825"/>
        </p:xfrm>
        <a:graphic>
          <a:graphicData uri="http://schemas.openxmlformats.org/presentationml/2006/ole">
            <mc:AlternateContent xmlns:mc="http://schemas.openxmlformats.org/markup-compatibility/2006">
              <mc:Choice xmlns:v="urn:schemas-microsoft-com:vml" Requires="v">
                <p:oleObj spid="_x0000_s65557" name="Equation" r:id="rId3" imgW="2501900" imgH="965200" progId="Equation.DSMT4">
                  <p:embed/>
                </p:oleObj>
              </mc:Choice>
              <mc:Fallback>
                <p:oleObj name="Equation" r:id="rId3" imgW="2501900" imgH="965200" progId="Equation.DSMT4">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349500"/>
                        <a:ext cx="6253162"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D28F9EF-9B8B-4931-AEA4-2BAC75EE5347}"/>
              </a:ext>
            </a:extLst>
          </p:cNvPr>
          <p:cNvSpPr>
            <a:spLocks noGrp="1" noChangeArrowheads="1"/>
          </p:cNvSpPr>
          <p:nvPr>
            <p:ph type="title"/>
          </p:nvPr>
        </p:nvSpPr>
        <p:spPr/>
        <p:txBody>
          <a:bodyPr/>
          <a:lstStyle/>
          <a:p>
            <a:pPr eaLnBrk="1" hangingPunct="1"/>
            <a:r>
              <a:rPr lang="en-US" altLang="zh-CN"/>
              <a:t>Matlab</a:t>
            </a:r>
            <a:r>
              <a:rPr lang="zh-CN" altLang="en-US"/>
              <a:t>求解</a:t>
            </a:r>
            <a:endParaRPr lang="en-US" altLang="zh-CN"/>
          </a:p>
        </p:txBody>
      </p:sp>
      <p:sp>
        <p:nvSpPr>
          <p:cNvPr id="4" name="矩形 3">
            <a:extLst>
              <a:ext uri="{FF2B5EF4-FFF2-40B4-BE49-F238E27FC236}">
                <a16:creationId xmlns:a16="http://schemas.microsoft.com/office/drawing/2014/main" id="{5AB87F75-EA19-407C-87D4-AAE8AD2774C6}"/>
              </a:ext>
            </a:extLst>
          </p:cNvPr>
          <p:cNvSpPr/>
          <p:nvPr/>
        </p:nvSpPr>
        <p:spPr>
          <a:xfrm>
            <a:off x="395288" y="908050"/>
            <a:ext cx="2305050" cy="1870075"/>
          </a:xfrm>
          <a:prstGeom prst="rect">
            <a:avLst/>
          </a:prstGeom>
        </p:spPr>
        <p:txBody>
          <a:bodyPr>
            <a:spAutoFit/>
          </a:bodyPr>
          <a:lstStyle/>
          <a:p>
            <a:pPr algn="just">
              <a:spcAft>
                <a:spcPts val="0"/>
              </a:spcAft>
              <a:defRPr/>
            </a:pPr>
            <a:r>
              <a:rPr lang="en-US" altLang="zh-CN" sz="1050" kern="100" dirty="0">
                <a:latin typeface="Times New Roman" panose="02020603050405020304" pitchFamily="18" charset="0"/>
              </a:rPr>
              <a:t>% </a:t>
            </a:r>
            <a:r>
              <a:rPr lang="zh-CN" altLang="zh-CN" sz="1050" kern="100" dirty="0">
                <a:latin typeface="Times New Roman" panose="02020603050405020304" pitchFamily="18" charset="0"/>
              </a:rPr>
              <a:t>保存为</a:t>
            </a:r>
            <a:r>
              <a:rPr lang="en-US" altLang="zh-CN" sz="1050" kern="100" dirty="0">
                <a:latin typeface="Times New Roman" panose="02020603050405020304" pitchFamily="18" charset="0"/>
              </a:rPr>
              <a:t>dtgl1.m</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zh-CN" altLang="zh-CN" sz="1050" kern="100" dirty="0">
                <a:latin typeface="Times New Roman" panose="02020603050405020304" pitchFamily="18" charset="0"/>
              </a:rPr>
              <a:t>根据题目中的算法，逆序开始；</a:t>
            </a:r>
          </a:p>
          <a:p>
            <a:pPr algn="just">
              <a:spcAft>
                <a:spcPts val="0"/>
              </a:spcAft>
              <a:defRPr/>
            </a:pP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=0:4;</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cl=4-i;</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cbq4=3*(cl~=0)+cl+0.5*</a:t>
            </a: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cb4=min(cbq4);</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第四时期的总成本为：</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(cbq4);</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最优解为：</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(cb4);</a:t>
            </a:r>
            <a:endParaRPr lang="zh-CN" altLang="zh-CN" sz="1050" kern="100" dirty="0">
              <a:latin typeface="Times New Roman" panose="02020603050405020304" pitchFamily="18" charset="0"/>
            </a:endParaRPr>
          </a:p>
        </p:txBody>
      </p:sp>
      <p:sp>
        <p:nvSpPr>
          <p:cNvPr id="5" name="矩形 4">
            <a:extLst>
              <a:ext uri="{FF2B5EF4-FFF2-40B4-BE49-F238E27FC236}">
                <a16:creationId xmlns:a16="http://schemas.microsoft.com/office/drawing/2014/main" id="{1F371577-8127-460B-81B4-E1B9F88444A6}"/>
              </a:ext>
            </a:extLst>
          </p:cNvPr>
          <p:cNvSpPr/>
          <p:nvPr/>
        </p:nvSpPr>
        <p:spPr>
          <a:xfrm>
            <a:off x="323850" y="2997200"/>
            <a:ext cx="2735263" cy="3484563"/>
          </a:xfrm>
          <a:prstGeom prst="rect">
            <a:avLst/>
          </a:prstGeom>
        </p:spPr>
        <p:txBody>
          <a:bodyPr>
            <a:spAutoFit/>
          </a:bodyPr>
          <a:lstStyle/>
          <a:p>
            <a:pPr algn="just">
              <a:spcAft>
                <a:spcPts val="0"/>
              </a:spcAft>
              <a:defRPr/>
            </a:pPr>
            <a:r>
              <a:rPr lang="en-US" altLang="zh-CN" sz="1050" kern="100" dirty="0">
                <a:latin typeface="Times New Roman" panose="02020603050405020304" pitchFamily="18" charset="0"/>
              </a:rPr>
              <a:t>cb3=[];</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cbq3=[];</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for </a:t>
            </a: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=0:6</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if 2-i&gt;=0</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cl=(2-i):(6-i);</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qmch3=0:4;</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en-US" altLang="zh-CN" sz="1050" kern="100" dirty="0" err="1">
                <a:latin typeface="Times New Roman" panose="02020603050405020304" pitchFamily="18" charset="0"/>
              </a:rPr>
              <a:t>yhcb</a:t>
            </a:r>
            <a:r>
              <a:rPr lang="en-US" altLang="zh-CN" sz="1050" kern="100" dirty="0">
                <a:latin typeface="Times New Roman" panose="02020603050405020304" pitchFamily="18" charset="0"/>
              </a:rPr>
              <a:t>=cbq4;</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else</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cl=0:(6-i);</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qmch3=(i-2):4;</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en-US" altLang="zh-CN" sz="1050" kern="100" dirty="0" err="1">
                <a:latin typeface="Times New Roman" panose="02020603050405020304" pitchFamily="18" charset="0"/>
              </a:rPr>
              <a:t>yhcb</a:t>
            </a:r>
            <a:r>
              <a:rPr lang="en-US" altLang="zh-CN" sz="1050" kern="100" dirty="0">
                <a:latin typeface="Times New Roman" panose="02020603050405020304" pitchFamily="18" charset="0"/>
              </a:rPr>
              <a:t>=cbq4((i-1):5);</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end</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cbz1=3*(cl~=0)+cl+0.5*</a:t>
            </a: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cbz2=cbz1+yhcb;</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cbq3=[cbq3;cbz2 zeros(1,5-length(cbz1))];</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cb3=[cb3 min(cbz2)];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end</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第三时期的总成本为：</a:t>
            </a:r>
            <a:r>
              <a:rPr lang="en-US" altLang="zh-CN" sz="1050" kern="100" dirty="0">
                <a:latin typeface="Times New Roman" panose="02020603050405020304" pitchFamily="18" charset="0"/>
              </a:rPr>
              <a:t>\n');</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(cbq3);</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最优解为：</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(cb3);</a:t>
            </a:r>
            <a:endParaRPr lang="zh-CN" altLang="en-US" dirty="0"/>
          </a:p>
        </p:txBody>
      </p:sp>
      <p:sp>
        <p:nvSpPr>
          <p:cNvPr id="6" name="矩形 5">
            <a:extLst>
              <a:ext uri="{FF2B5EF4-FFF2-40B4-BE49-F238E27FC236}">
                <a16:creationId xmlns:a16="http://schemas.microsoft.com/office/drawing/2014/main" id="{7A1E23AF-449C-41D9-A6F0-4CF17CF23490}"/>
              </a:ext>
            </a:extLst>
          </p:cNvPr>
          <p:cNvSpPr/>
          <p:nvPr/>
        </p:nvSpPr>
        <p:spPr>
          <a:xfrm>
            <a:off x="3284538" y="2060575"/>
            <a:ext cx="2935287" cy="3486150"/>
          </a:xfrm>
          <a:prstGeom prst="rect">
            <a:avLst/>
          </a:prstGeom>
        </p:spPr>
        <p:txBody>
          <a:bodyPr>
            <a:spAutoFit/>
          </a:bodyPr>
          <a:lstStyle/>
          <a:p>
            <a:pPr algn="just">
              <a:spcAft>
                <a:spcPts val="0"/>
              </a:spcAft>
              <a:defRPr/>
            </a:pPr>
            <a:r>
              <a:rPr lang="en-US" altLang="zh-CN" sz="1050" kern="100" dirty="0">
                <a:latin typeface="Times New Roman" panose="02020603050405020304" pitchFamily="18" charset="0"/>
              </a:rPr>
              <a:t>cbq2=[];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cb2=[];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for </a:t>
            </a: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=0:4</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if 3-i&gt;=0</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cl=(3-i):(5-i);</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qmch2=0:2;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en-US" altLang="zh-CN" sz="1050" kern="100" dirty="0" err="1">
                <a:latin typeface="Times New Roman" panose="02020603050405020304" pitchFamily="18" charset="0"/>
              </a:rPr>
              <a:t>yhcb</a:t>
            </a:r>
            <a:r>
              <a:rPr lang="en-US" altLang="zh-CN" sz="1050" kern="100" dirty="0">
                <a:latin typeface="Times New Roman" panose="02020603050405020304" pitchFamily="18" charset="0"/>
              </a:rPr>
              <a:t>=cb3(1:3);</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else</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cl=0:(5-i);</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qmch2=(i-3):2;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a:t>
            </a:r>
            <a:r>
              <a:rPr lang="en-US" altLang="zh-CN" sz="1050" kern="100" dirty="0" err="1">
                <a:latin typeface="Times New Roman" panose="02020603050405020304" pitchFamily="18" charset="0"/>
              </a:rPr>
              <a:t>yhcb</a:t>
            </a:r>
            <a:r>
              <a:rPr lang="en-US" altLang="zh-CN" sz="1050" kern="100" dirty="0">
                <a:latin typeface="Times New Roman" panose="02020603050405020304" pitchFamily="18" charset="0"/>
              </a:rPr>
              <a:t>=cb3((i-2):3);</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end</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cbz1=3*(cl~=0)+cl+0.5*</a:t>
            </a:r>
            <a:r>
              <a:rPr lang="en-US" altLang="zh-CN" sz="1050" kern="100" dirty="0" err="1">
                <a:latin typeface="Times New Roman" panose="02020603050405020304" pitchFamily="18" charset="0"/>
              </a:rPr>
              <a:t>i</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cbz2=cbz1+yhcb;</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cbq2=[cbq2;cbz2 zeros(1,3-length(cbz2))];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    cb2=[cb2 min(cbz2)];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end</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第二时期的总成本为：</a:t>
            </a:r>
            <a:r>
              <a:rPr lang="en-US" altLang="zh-CN" sz="1050" kern="100" dirty="0">
                <a:latin typeface="Times New Roman" panose="02020603050405020304" pitchFamily="18" charset="0"/>
              </a:rPr>
              <a:t>\n');</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(cbq2);</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最优解为：</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(cb2);</a:t>
            </a:r>
            <a:endParaRPr lang="zh-CN" altLang="en-US" dirty="0"/>
          </a:p>
        </p:txBody>
      </p:sp>
      <p:sp>
        <p:nvSpPr>
          <p:cNvPr id="8" name="矩形 7">
            <a:extLst>
              <a:ext uri="{FF2B5EF4-FFF2-40B4-BE49-F238E27FC236}">
                <a16:creationId xmlns:a16="http://schemas.microsoft.com/office/drawing/2014/main" id="{C1FC56CE-3B4E-44D0-9962-94224E73B4EB}"/>
              </a:ext>
            </a:extLst>
          </p:cNvPr>
          <p:cNvSpPr/>
          <p:nvPr/>
        </p:nvSpPr>
        <p:spPr>
          <a:xfrm>
            <a:off x="6443663" y="1484313"/>
            <a:ext cx="2555875" cy="4132262"/>
          </a:xfrm>
          <a:prstGeom prst="rect">
            <a:avLst/>
          </a:prstGeom>
        </p:spPr>
        <p:txBody>
          <a:bodyPr>
            <a:spAutoFit/>
          </a:bodyPr>
          <a:lstStyle/>
          <a:p>
            <a:pPr algn="just">
              <a:spcAft>
                <a:spcPts val="0"/>
              </a:spcAft>
              <a:defRPr/>
            </a:pPr>
            <a:r>
              <a:rPr lang="en-US" altLang="zh-CN" sz="1050" kern="100" dirty="0">
                <a:latin typeface="Times New Roman" panose="02020603050405020304" pitchFamily="18" charset="0"/>
              </a:rPr>
              <a:t>cl=2:6;</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qmch1=0:4;</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cbz1=3+cl;</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yhcb</a:t>
            </a:r>
            <a:r>
              <a:rPr lang="en-US" altLang="zh-CN" sz="1050" kern="100" dirty="0">
                <a:latin typeface="Times New Roman" panose="02020603050405020304" pitchFamily="18" charset="0"/>
              </a:rPr>
              <a:t>=cb2;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cbz2=cbz1+yhcb;</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cbq1=cbz2;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cb1=min(cbz2);</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第一时期的总成本为：</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(cbq1);</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最优解为：</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(cb1);</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y1=cb1;</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相应的第一期的最优为</a:t>
            </a:r>
            <a:r>
              <a:rPr lang="en-US" altLang="zh-CN" sz="1050" kern="100" dirty="0">
                <a:latin typeface="Times New Roman" panose="02020603050405020304" pitchFamily="18" charset="0"/>
              </a:rPr>
              <a:t>%f\n',y1);</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v1=find(cbq1==cb1);</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y2=cb2(v1);</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相应的第二期的最优为</a:t>
            </a:r>
            <a:r>
              <a:rPr lang="en-US" altLang="zh-CN" sz="1050" kern="100" dirty="0">
                <a:latin typeface="Times New Roman" panose="02020603050405020304" pitchFamily="18" charset="0"/>
              </a:rPr>
              <a:t>%f\n',y2);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v2=find(cbq2(v1,:)==y2);</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y3=cb3(v2);</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相应的第三期的最优为</a:t>
            </a:r>
            <a:r>
              <a:rPr lang="en-US" altLang="zh-CN" sz="1050" kern="100" dirty="0">
                <a:latin typeface="Times New Roman" panose="02020603050405020304" pitchFamily="18" charset="0"/>
              </a:rPr>
              <a:t>%f\n',y3);</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v3=find(cbq3(v2,:)==y3);</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y4=cbq4(v3);</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相应的第四期的最优为</a:t>
            </a:r>
            <a:r>
              <a:rPr lang="en-US" altLang="zh-CN" sz="1050" kern="100" dirty="0">
                <a:latin typeface="Times New Roman" panose="02020603050405020304" pitchFamily="18" charset="0"/>
              </a:rPr>
              <a:t>%f\n',y4);</a:t>
            </a:r>
            <a:endParaRPr lang="zh-CN" altLang="zh-CN" sz="1050" kern="100" dirty="0">
              <a:latin typeface="Times New Roman" panose="02020603050405020304" pitchFamily="18" charset="0"/>
            </a:endParaRPr>
          </a:p>
          <a:p>
            <a:pPr algn="just">
              <a:spcAft>
                <a:spcPts val="0"/>
              </a:spcAft>
              <a:defRPr/>
            </a:pPr>
            <a:r>
              <a:rPr lang="en-US" altLang="zh-CN" sz="1050" kern="100" dirty="0">
                <a:latin typeface="Times New Roman" panose="02020603050405020304" pitchFamily="18" charset="0"/>
              </a:rPr>
              <a:t>v=[0 v1-1 v2-1 v3-1];</a:t>
            </a:r>
            <a:endParaRPr lang="zh-CN" altLang="zh-CN" sz="1050" kern="100" dirty="0">
              <a:latin typeface="Times New Roman" panose="02020603050405020304" pitchFamily="18" charset="0"/>
            </a:endParaRPr>
          </a:p>
          <a:p>
            <a:pPr algn="just">
              <a:spcAft>
                <a:spcPts val="0"/>
              </a:spcAft>
              <a:defRPr/>
            </a:pPr>
            <a:r>
              <a:rPr lang="en-US" altLang="zh-CN" sz="1050" kern="100" dirty="0" err="1">
                <a:latin typeface="Times New Roman" panose="02020603050405020304" pitchFamily="18" charset="0"/>
              </a:rPr>
              <a:t>fprintf</a:t>
            </a:r>
            <a:r>
              <a:rPr lang="en-US" altLang="zh-CN" sz="1050" kern="100" dirty="0">
                <a:latin typeface="Times New Roman" panose="02020603050405020304" pitchFamily="18" charset="0"/>
              </a:rPr>
              <a:t>('</a:t>
            </a:r>
            <a:r>
              <a:rPr lang="zh-CN" altLang="zh-CN" sz="1050" kern="100" dirty="0">
                <a:latin typeface="Times New Roman" panose="02020603050405020304" pitchFamily="18" charset="0"/>
              </a:rPr>
              <a:t>各时期期初存货量为：</a:t>
            </a:r>
            <a:r>
              <a:rPr lang="en-US" altLang="zh-CN" sz="1050" kern="100" dirty="0">
                <a:latin typeface="Times New Roman" panose="02020603050405020304" pitchFamily="18" charset="0"/>
              </a:rPr>
              <a:t>');</a:t>
            </a:r>
            <a:endParaRPr lang="zh-CN" altLang="zh-CN" sz="1050" kern="100" dirty="0">
              <a:latin typeface="Times New Roman" panose="02020603050405020304" pitchFamily="18" charset="0"/>
            </a:endParaRPr>
          </a:p>
          <a:p>
            <a:pPr>
              <a:defRPr/>
            </a:pPr>
            <a:r>
              <a:rPr lang="en-US" altLang="zh-CN" sz="1050" kern="100" dirty="0" err="1">
                <a:latin typeface="Times New Roman" panose="02020603050405020304" pitchFamily="18" charset="0"/>
              </a:rPr>
              <a:t>disp</a:t>
            </a:r>
            <a:r>
              <a:rPr lang="en-US" altLang="zh-CN" sz="1050" kern="100" dirty="0">
                <a:latin typeface="Times New Roman" panose="02020603050405020304" pitchFamily="18" charset="0"/>
              </a:rPr>
              <a:t>(v);</a:t>
            </a:r>
            <a:endParaRPr lang="zh-CN" altLang="en-US" dirty="0"/>
          </a:p>
        </p:txBody>
      </p:sp>
      <p:sp>
        <p:nvSpPr>
          <p:cNvPr id="66567" name="矩形 8">
            <a:extLst>
              <a:ext uri="{FF2B5EF4-FFF2-40B4-BE49-F238E27FC236}">
                <a16:creationId xmlns:a16="http://schemas.microsoft.com/office/drawing/2014/main" id="{65DC3CA4-BAC7-498A-86AC-818058008FF6}"/>
              </a:ext>
            </a:extLst>
          </p:cNvPr>
          <p:cNvSpPr>
            <a:spLocks noChangeArrowheads="1"/>
          </p:cNvSpPr>
          <p:nvPr/>
        </p:nvSpPr>
        <p:spPr bwMode="auto">
          <a:xfrm>
            <a:off x="4751388" y="427038"/>
            <a:ext cx="18272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生产计划问题</a:t>
            </a:r>
            <a:r>
              <a:rPr lang="en-US" altLang="zh-CN"/>
              <a:t>.m</a:t>
            </a:r>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DD6DE1F-9E1A-42DD-A906-7E910C0AFA90}"/>
              </a:ext>
            </a:extLst>
          </p:cNvPr>
          <p:cNvSpPr>
            <a:spLocks noGrp="1" noChangeArrowheads="1"/>
          </p:cNvSpPr>
          <p:nvPr>
            <p:ph type="title"/>
          </p:nvPr>
        </p:nvSpPr>
        <p:spPr/>
        <p:txBody>
          <a:bodyPr/>
          <a:lstStyle/>
          <a:p>
            <a:pPr eaLnBrk="1" hangingPunct="1"/>
            <a:r>
              <a:rPr lang="en-US" altLang="zh-CN"/>
              <a:t>Matlab</a:t>
            </a:r>
            <a:r>
              <a:rPr lang="zh-CN" altLang="en-US"/>
              <a:t>求解</a:t>
            </a:r>
            <a:endParaRPr lang="en-US" altLang="zh-CN"/>
          </a:p>
        </p:txBody>
      </p:sp>
      <p:pic>
        <p:nvPicPr>
          <p:cNvPr id="67587" name="Picture 2">
            <a:extLst>
              <a:ext uri="{FF2B5EF4-FFF2-40B4-BE49-F238E27FC236}">
                <a16:creationId xmlns:a16="http://schemas.microsoft.com/office/drawing/2014/main" id="{9A491417-3436-467F-BB26-0390B8C3E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908050"/>
            <a:ext cx="6815137"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800E8DEC-7172-438F-8041-BF15917EC10A}"/>
              </a:ext>
            </a:extLst>
          </p:cNvPr>
          <p:cNvSpPr>
            <a:spLocks noGrp="1" noChangeArrowheads="1"/>
          </p:cNvSpPr>
          <p:nvPr>
            <p:ph type="title"/>
          </p:nvPr>
        </p:nvSpPr>
        <p:spPr/>
        <p:txBody>
          <a:bodyPr/>
          <a:lstStyle/>
          <a:p>
            <a:pPr eaLnBrk="1" hangingPunct="1"/>
            <a:r>
              <a:rPr lang="zh-CN" altLang="en-US"/>
              <a:t>背包问题 </a:t>
            </a:r>
            <a:r>
              <a:rPr lang="en-US" altLang="zh-CN"/>
              <a:t>( P271, 10.3)</a:t>
            </a:r>
          </a:p>
        </p:txBody>
      </p:sp>
      <p:sp>
        <p:nvSpPr>
          <p:cNvPr id="68611" name="Rectangle 3">
            <a:extLst>
              <a:ext uri="{FF2B5EF4-FFF2-40B4-BE49-F238E27FC236}">
                <a16:creationId xmlns:a16="http://schemas.microsoft.com/office/drawing/2014/main" id="{3F9E80DE-B673-4CC9-9057-2F2280CC193D}"/>
              </a:ext>
            </a:extLst>
          </p:cNvPr>
          <p:cNvSpPr>
            <a:spLocks noGrp="1" noChangeArrowheads="1"/>
          </p:cNvSpPr>
          <p:nvPr>
            <p:ph type="body" idx="1"/>
          </p:nvPr>
        </p:nvSpPr>
        <p:spPr>
          <a:xfrm>
            <a:off x="457200" y="1125538"/>
            <a:ext cx="8229600" cy="4987925"/>
          </a:xfrm>
        </p:spPr>
        <p:txBody>
          <a:bodyPr/>
          <a:lstStyle/>
          <a:p>
            <a:pPr eaLnBrk="1" hangingPunct="1"/>
            <a:r>
              <a:rPr lang="zh-CN" altLang="en-US"/>
              <a:t>有一个人带一个背包上山</a:t>
            </a:r>
            <a:r>
              <a:rPr lang="en-US" altLang="zh-CN"/>
              <a:t>, </a:t>
            </a:r>
            <a:r>
              <a:rPr lang="zh-CN" altLang="en-US"/>
              <a:t>其可携带物品重量的限度为</a:t>
            </a:r>
            <a:r>
              <a:rPr lang="en-US" altLang="zh-CN" i="1"/>
              <a:t>a</a:t>
            </a:r>
            <a:r>
              <a:rPr lang="zh-CN" altLang="en-US"/>
              <a:t>公斤。设有</a:t>
            </a:r>
            <a:r>
              <a:rPr lang="en-US" altLang="zh-CN" i="1"/>
              <a:t>n</a:t>
            </a:r>
            <a:r>
              <a:rPr lang="en-US" altLang="zh-CN"/>
              <a:t> </a:t>
            </a:r>
            <a:r>
              <a:rPr lang="zh-CN" altLang="en-US"/>
              <a:t>种物品可供他选择装入背包中</a:t>
            </a:r>
            <a:r>
              <a:rPr lang="en-US" altLang="zh-CN"/>
              <a:t>, </a:t>
            </a:r>
            <a:r>
              <a:rPr lang="zh-CN" altLang="en-US"/>
              <a:t>这</a:t>
            </a:r>
            <a:r>
              <a:rPr lang="en-US" altLang="zh-CN" i="1"/>
              <a:t>n</a:t>
            </a:r>
            <a:r>
              <a:rPr lang="en-US" altLang="zh-CN"/>
              <a:t> </a:t>
            </a:r>
            <a:r>
              <a:rPr lang="zh-CN" altLang="en-US"/>
              <a:t>种物品编号为</a:t>
            </a:r>
            <a:r>
              <a:rPr lang="en-US" altLang="zh-CN"/>
              <a:t>1 , 2 , </a:t>
            </a:r>
            <a:r>
              <a:rPr lang="zh-CN" altLang="en-US"/>
              <a:t>⋯ </a:t>
            </a:r>
            <a:r>
              <a:rPr lang="en-US" altLang="zh-CN"/>
              <a:t>, </a:t>
            </a:r>
            <a:r>
              <a:rPr lang="en-US" altLang="zh-CN" i="1"/>
              <a:t>n</a:t>
            </a:r>
            <a:r>
              <a:rPr lang="zh-CN" altLang="en-US"/>
              <a:t>。已知第</a:t>
            </a:r>
            <a:r>
              <a:rPr lang="en-US" altLang="zh-CN" i="1"/>
              <a:t>i </a:t>
            </a:r>
            <a:r>
              <a:rPr lang="zh-CN" altLang="en-US"/>
              <a:t>种物品每件重量为</a:t>
            </a:r>
            <a:r>
              <a:rPr lang="en-US" altLang="zh-CN" i="1"/>
              <a:t>w</a:t>
            </a:r>
            <a:r>
              <a:rPr lang="en-US" altLang="zh-CN" i="1" baseline="-25000"/>
              <a:t>i</a:t>
            </a:r>
            <a:r>
              <a:rPr lang="en-US" altLang="zh-CN"/>
              <a:t> </a:t>
            </a:r>
            <a:r>
              <a:rPr lang="zh-CN" altLang="en-US"/>
              <a:t>公斤</a:t>
            </a:r>
            <a:r>
              <a:rPr lang="en-US" altLang="zh-CN"/>
              <a:t>,</a:t>
            </a:r>
            <a:r>
              <a:rPr lang="zh-CN" altLang="en-US"/>
              <a:t>在上山过程中的作用</a:t>
            </a:r>
            <a:r>
              <a:rPr lang="en-US" altLang="zh-CN"/>
              <a:t>(</a:t>
            </a:r>
            <a:r>
              <a:rPr lang="zh-CN" altLang="en-US"/>
              <a:t>价值</a:t>
            </a:r>
            <a:r>
              <a:rPr lang="en-US" altLang="zh-CN"/>
              <a:t>) </a:t>
            </a:r>
            <a:r>
              <a:rPr lang="zh-CN" altLang="en-US"/>
              <a:t>是携带数量</a:t>
            </a:r>
            <a:r>
              <a:rPr lang="en-US" altLang="zh-CN" i="1"/>
              <a:t>x</a:t>
            </a:r>
            <a:r>
              <a:rPr lang="en-US" altLang="zh-CN" i="1" baseline="-25000"/>
              <a:t>i</a:t>
            </a:r>
            <a:r>
              <a:rPr lang="en-US" altLang="zh-CN"/>
              <a:t> </a:t>
            </a:r>
            <a:r>
              <a:rPr lang="zh-CN" altLang="en-US"/>
              <a:t>的函数</a:t>
            </a:r>
            <a:r>
              <a:rPr lang="en-US" altLang="zh-CN" i="1"/>
              <a:t>c</a:t>
            </a:r>
            <a:r>
              <a:rPr lang="en-US" altLang="zh-CN" i="1" baseline="-25000"/>
              <a:t>i</a:t>
            </a:r>
            <a:r>
              <a:rPr lang="en-US" altLang="zh-CN"/>
              <a:t> ( </a:t>
            </a:r>
            <a:r>
              <a:rPr lang="en-US" altLang="zh-CN" i="1"/>
              <a:t>x</a:t>
            </a:r>
            <a:r>
              <a:rPr lang="en-US" altLang="zh-CN" i="1" baseline="-25000"/>
              <a:t>i</a:t>
            </a:r>
            <a:r>
              <a:rPr lang="en-US" altLang="zh-CN"/>
              <a:t> )</a:t>
            </a:r>
            <a:r>
              <a:rPr lang="zh-CN" altLang="en-US"/>
              <a:t>。问此人应如何选择携带物品</a:t>
            </a:r>
            <a:r>
              <a:rPr lang="en-US" altLang="zh-CN"/>
              <a:t>(</a:t>
            </a:r>
            <a:r>
              <a:rPr lang="zh-CN" altLang="en-US"/>
              <a:t>各几件</a:t>
            </a:r>
            <a:r>
              <a:rPr lang="en-US" altLang="zh-CN"/>
              <a:t>) , </a:t>
            </a:r>
            <a:r>
              <a:rPr lang="zh-CN" altLang="en-US"/>
              <a:t>使所起作用</a:t>
            </a:r>
            <a:r>
              <a:rPr lang="en-US" altLang="zh-CN"/>
              <a:t>(</a:t>
            </a:r>
            <a:r>
              <a:rPr lang="zh-CN" altLang="en-US"/>
              <a:t>总价值</a:t>
            </a:r>
            <a:r>
              <a:rPr lang="en-US" altLang="zh-CN"/>
              <a:t>)</a:t>
            </a:r>
            <a:r>
              <a:rPr lang="zh-CN" altLang="en-US"/>
              <a:t>最大。</a:t>
            </a:r>
          </a:p>
          <a:p>
            <a:pPr lvl="1" eaLnBrk="1" hangingPunct="1"/>
            <a:endParaRPr lang="en-US"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6F7E192B-C42A-4D4F-9E6F-B5C8CE7D3772}"/>
              </a:ext>
            </a:extLst>
          </p:cNvPr>
          <p:cNvSpPr>
            <a:spLocks noGrp="1" noChangeArrowheads="1"/>
          </p:cNvSpPr>
          <p:nvPr>
            <p:ph type="body" idx="1"/>
          </p:nvPr>
        </p:nvSpPr>
        <p:spPr>
          <a:xfrm>
            <a:off x="468313" y="549275"/>
            <a:ext cx="7997825" cy="2232025"/>
          </a:xfrm>
        </p:spPr>
        <p:txBody>
          <a:bodyPr/>
          <a:lstStyle/>
          <a:p>
            <a:pPr marL="0" indent="384175" algn="just">
              <a:spcBef>
                <a:spcPct val="45000"/>
              </a:spcBef>
              <a:buFont typeface="Wingdings" panose="05000000000000000000" pitchFamily="2" charset="2"/>
              <a:buNone/>
            </a:pPr>
            <a:r>
              <a:rPr lang="zh-CN" altLang="en-US">
                <a:solidFill>
                  <a:srgbClr val="000066"/>
                </a:solidFill>
              </a:rPr>
              <a:t>三、背包问题</a:t>
            </a:r>
          </a:p>
          <a:p>
            <a:pPr marL="0" indent="384175" algn="just">
              <a:spcBef>
                <a:spcPct val="15000"/>
              </a:spcBef>
              <a:buFont typeface="Wingdings" panose="05000000000000000000" pitchFamily="2" charset="2"/>
              <a:buNone/>
            </a:pPr>
            <a:r>
              <a:rPr lang="en-US" altLang="zh-CN" sz="2400"/>
              <a:t>P272 </a:t>
            </a:r>
            <a:r>
              <a:rPr lang="zh-CN" altLang="en-US" sz="2400"/>
              <a:t>例</a:t>
            </a:r>
            <a:r>
              <a:rPr lang="en-US" altLang="zh-CN" sz="2400"/>
              <a:t>7</a:t>
            </a:r>
            <a:r>
              <a:rPr lang="zh-CN" altLang="en-US" sz="2400"/>
              <a:t>：有一个人带一个包上山，可携带物品的重量限度为</a:t>
            </a:r>
            <a:r>
              <a:rPr lang="en-US" altLang="zh-CN" sz="2400"/>
              <a:t>10</a:t>
            </a:r>
            <a:r>
              <a:rPr lang="zh-CN" altLang="en-US" sz="2400"/>
              <a:t>公斤，设他有三种物品可供选择装进包里，每种物品的单位重量分别为</a:t>
            </a:r>
            <a:r>
              <a:rPr lang="en-US" altLang="zh-CN" sz="2400"/>
              <a:t>3</a:t>
            </a:r>
            <a:r>
              <a:rPr lang="zh-CN" altLang="en-US" sz="2400"/>
              <a:t>、</a:t>
            </a:r>
            <a:r>
              <a:rPr lang="en-US" altLang="zh-CN" sz="2400"/>
              <a:t>4</a:t>
            </a:r>
            <a:r>
              <a:rPr lang="zh-CN" altLang="en-US" sz="2400"/>
              <a:t>、</a:t>
            </a:r>
            <a:r>
              <a:rPr lang="en-US" altLang="zh-CN" sz="2400"/>
              <a:t>5</a:t>
            </a:r>
            <a:r>
              <a:rPr lang="zh-CN" altLang="en-US" sz="2400"/>
              <a:t>。这三种物品的价值分别</a:t>
            </a:r>
            <a:r>
              <a:rPr lang="en-US" altLang="zh-CN" sz="2400"/>
              <a:t>4</a:t>
            </a:r>
            <a:r>
              <a:rPr lang="zh-CN" altLang="en-US" sz="2400"/>
              <a:t>、</a:t>
            </a:r>
            <a:r>
              <a:rPr lang="en-US" altLang="zh-CN" sz="2400"/>
              <a:t>5</a:t>
            </a:r>
            <a:r>
              <a:rPr lang="zh-CN" altLang="en-US" sz="2400"/>
              <a:t>、</a:t>
            </a:r>
            <a:r>
              <a:rPr lang="en-US" altLang="zh-CN" sz="2400"/>
              <a:t>6</a:t>
            </a:r>
            <a:r>
              <a:rPr lang="zh-CN" altLang="en-US" sz="2400"/>
              <a:t>。问：应如何携带物品使得包里的总价值最大。</a:t>
            </a:r>
          </a:p>
        </p:txBody>
      </p:sp>
      <p:graphicFrame>
        <p:nvGraphicFramePr>
          <p:cNvPr id="69635" name="对象 4">
            <a:extLst>
              <a:ext uri="{FF2B5EF4-FFF2-40B4-BE49-F238E27FC236}">
                <a16:creationId xmlns:a16="http://schemas.microsoft.com/office/drawing/2014/main" id="{EAB79D3B-623C-4BA7-AC20-32E90238B0A3}"/>
              </a:ext>
            </a:extLst>
          </p:cNvPr>
          <p:cNvGraphicFramePr>
            <a:graphicFrameLocks noChangeAspect="1"/>
          </p:cNvGraphicFramePr>
          <p:nvPr/>
        </p:nvGraphicFramePr>
        <p:xfrm>
          <a:off x="1082675" y="3573463"/>
          <a:ext cx="3413125" cy="1584325"/>
        </p:xfrm>
        <a:graphic>
          <a:graphicData uri="http://schemas.openxmlformats.org/presentationml/2006/ole">
            <mc:AlternateContent xmlns:mc="http://schemas.openxmlformats.org/markup-compatibility/2006">
              <mc:Choice xmlns:v="urn:schemas-microsoft-com:vml" Requires="v">
                <p:oleObj spid="_x0000_s69654" name="Equation" r:id="rId3" imgW="1091726" imgH="507780" progId="Equation.DSMT4">
                  <p:embed/>
                </p:oleObj>
              </mc:Choice>
              <mc:Fallback>
                <p:oleObj name="Equation" r:id="rId3" imgW="1091726" imgH="50778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2675" y="3573463"/>
                        <a:ext cx="341312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3">
            <a:extLst>
              <a:ext uri="{FF2B5EF4-FFF2-40B4-BE49-F238E27FC236}">
                <a16:creationId xmlns:a16="http://schemas.microsoft.com/office/drawing/2014/main" id="{88DD4EE3-B38B-4C20-999A-D6B6C0948CDC}"/>
              </a:ext>
            </a:extLst>
          </p:cNvPr>
          <p:cNvSpPr txBox="1">
            <a:spLocks noChangeArrowheads="1"/>
          </p:cNvSpPr>
          <p:nvPr/>
        </p:nvSpPr>
        <p:spPr bwMode="auto">
          <a:xfrm>
            <a:off x="468313" y="2852738"/>
            <a:ext cx="7997825" cy="576262"/>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2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8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384175" algn="just">
              <a:spcBef>
                <a:spcPct val="15000"/>
              </a:spcBef>
              <a:buFont typeface="Wingdings" panose="05000000000000000000" pitchFamily="2" charset="2"/>
              <a:buNone/>
              <a:defRPr/>
            </a:pPr>
            <a:r>
              <a:rPr lang="zh-CN" altLang="en-US" sz="2400" kern="0" dirty="0"/>
              <a:t>解：设</a:t>
            </a:r>
            <a:r>
              <a:rPr lang="en-US" altLang="zh-CN" sz="2400" i="1" kern="0" dirty="0"/>
              <a:t>x</a:t>
            </a:r>
            <a:r>
              <a:rPr lang="en-US" altLang="zh-CN" sz="2400" i="1" kern="0" baseline="-25000" dirty="0"/>
              <a:t>i</a:t>
            </a:r>
            <a:r>
              <a:rPr lang="zh-CN" altLang="en-US" sz="2400" kern="0" dirty="0"/>
              <a:t>为第</a:t>
            </a:r>
            <a:r>
              <a:rPr lang="en-US" altLang="zh-CN" sz="2400" i="1" kern="0" dirty="0" err="1"/>
              <a:t>i</a:t>
            </a:r>
            <a:r>
              <a:rPr lang="zh-CN" altLang="en-US" sz="2400" kern="0" dirty="0"/>
              <a:t>种物品装入包内的件数</a:t>
            </a:r>
          </a:p>
        </p:txBody>
      </p:sp>
      <p:sp>
        <p:nvSpPr>
          <p:cNvPr id="7" name="Rectangle 3">
            <a:extLst>
              <a:ext uri="{FF2B5EF4-FFF2-40B4-BE49-F238E27FC236}">
                <a16:creationId xmlns:a16="http://schemas.microsoft.com/office/drawing/2014/main" id="{8CA81B15-3A01-4AFF-A191-2018CF9E846B}"/>
              </a:ext>
            </a:extLst>
          </p:cNvPr>
          <p:cNvSpPr txBox="1">
            <a:spLocks noChangeArrowheads="1"/>
          </p:cNvSpPr>
          <p:nvPr/>
        </p:nvSpPr>
        <p:spPr bwMode="auto">
          <a:xfrm>
            <a:off x="539750" y="5373688"/>
            <a:ext cx="7997825" cy="576262"/>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2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8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384175" algn="just">
              <a:spcBef>
                <a:spcPct val="15000"/>
              </a:spcBef>
              <a:buFont typeface="Wingdings" panose="05000000000000000000" pitchFamily="2" charset="2"/>
              <a:buNone/>
              <a:defRPr/>
            </a:pPr>
            <a:r>
              <a:rPr lang="zh-CN" altLang="en-US" sz="2400" kern="0" dirty="0"/>
              <a:t>问题变成求解</a:t>
            </a:r>
            <a:r>
              <a:rPr lang="en-US" altLang="zh-CN" sz="2400" kern="0" dirty="0"/>
              <a:t>f</a:t>
            </a:r>
            <a:r>
              <a:rPr lang="en-US" altLang="zh-CN" sz="2400" kern="0" baseline="-25000" dirty="0"/>
              <a:t>3</a:t>
            </a:r>
            <a:r>
              <a:rPr lang="en-US" altLang="zh-CN" sz="2400" kern="0" dirty="0"/>
              <a:t>(10).</a:t>
            </a:r>
            <a:endParaRPr lang="zh-CN" altLang="en-US" sz="2400"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heckerboard(across)">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3">
            <a:extLst>
              <a:ext uri="{FF2B5EF4-FFF2-40B4-BE49-F238E27FC236}">
                <a16:creationId xmlns:a16="http://schemas.microsoft.com/office/drawing/2014/main" id="{6D513582-3E92-4FFA-A7F8-950FE78EEC4A}"/>
              </a:ext>
            </a:extLst>
          </p:cNvPr>
          <p:cNvSpPr>
            <a:spLocks noGrp="1" noChangeArrowheads="1"/>
          </p:cNvSpPr>
          <p:nvPr>
            <p:ph type="body" idx="1"/>
          </p:nvPr>
        </p:nvSpPr>
        <p:spPr>
          <a:xfrm>
            <a:off x="684213" y="781050"/>
            <a:ext cx="7772400" cy="5638800"/>
          </a:xfrm>
        </p:spPr>
        <p:txBody>
          <a:bodyPr/>
          <a:lstStyle/>
          <a:p>
            <a:pPr marL="0" indent="384175" algn="just">
              <a:lnSpc>
                <a:spcPct val="105000"/>
              </a:lnSpc>
              <a:spcBef>
                <a:spcPct val="10000"/>
              </a:spcBef>
              <a:buFont typeface="Wingdings" panose="05000000000000000000" pitchFamily="2" charset="2"/>
              <a:buNone/>
            </a:pPr>
            <a:r>
              <a:rPr lang="zh-CN" altLang="en-US" sz="2400"/>
              <a:t>用动态规划的方法来解：</a:t>
            </a:r>
          </a:p>
          <a:p>
            <a:pPr marL="0" indent="384175" algn="just">
              <a:lnSpc>
                <a:spcPct val="105000"/>
              </a:lnSpc>
              <a:spcBef>
                <a:spcPct val="10000"/>
              </a:spcBef>
              <a:buFont typeface="Wingdings" panose="05000000000000000000" pitchFamily="2" charset="2"/>
              <a:buNone/>
            </a:pPr>
            <a:r>
              <a:rPr lang="en-US" altLang="zh-CN" sz="2400"/>
              <a:t>1</a:t>
            </a:r>
            <a:r>
              <a:rPr lang="zh-CN" altLang="en-US" sz="2400"/>
              <a:t>）设按可装入物品的种类分成</a:t>
            </a:r>
            <a:r>
              <a:rPr lang="en-US" altLang="zh-CN" sz="2400"/>
              <a:t>3</a:t>
            </a:r>
            <a:r>
              <a:rPr lang="zh-CN" altLang="en-US" sz="2400"/>
              <a:t>个阶段。</a:t>
            </a:r>
          </a:p>
          <a:p>
            <a:pPr marL="0" indent="384175" algn="just">
              <a:lnSpc>
                <a:spcPct val="105000"/>
              </a:lnSpc>
              <a:spcBef>
                <a:spcPct val="10000"/>
              </a:spcBef>
              <a:buFont typeface="Wingdings" panose="05000000000000000000" pitchFamily="2" charset="2"/>
              <a:buNone/>
            </a:pPr>
            <a:r>
              <a:rPr lang="en-US" altLang="zh-CN" sz="2400"/>
              <a:t>2</a:t>
            </a:r>
            <a:r>
              <a:rPr lang="zh-CN" altLang="en-US" sz="2400"/>
              <a:t>）状态变量</a:t>
            </a:r>
            <a:r>
              <a:rPr lang="en-US" altLang="zh-CN" sz="2400" i="1"/>
              <a:t>s</a:t>
            </a:r>
            <a:r>
              <a:rPr lang="en-US" altLang="zh-CN" sz="2400" i="1" baseline="-30000"/>
              <a:t>k</a:t>
            </a:r>
            <a:r>
              <a:rPr lang="zh-CN" altLang="en-US" sz="2400"/>
              <a:t>为第</a:t>
            </a:r>
            <a:r>
              <a:rPr lang="en-US" altLang="zh-CN" sz="2400"/>
              <a:t>1</a:t>
            </a:r>
            <a:r>
              <a:rPr lang="zh-CN" altLang="en-US" sz="2400"/>
              <a:t>种物品至第</a:t>
            </a:r>
            <a:r>
              <a:rPr lang="en-US" altLang="zh-CN" sz="2400" i="1"/>
              <a:t>k</a:t>
            </a:r>
            <a:r>
              <a:rPr lang="zh-CN" altLang="en-US" sz="2400"/>
              <a:t>种物品的总重量。</a:t>
            </a:r>
          </a:p>
          <a:p>
            <a:pPr marL="0" indent="384175" algn="just">
              <a:lnSpc>
                <a:spcPct val="105000"/>
              </a:lnSpc>
              <a:spcBef>
                <a:spcPct val="10000"/>
              </a:spcBef>
              <a:buFont typeface="Wingdings" panose="05000000000000000000" pitchFamily="2" charset="2"/>
              <a:buNone/>
            </a:pPr>
            <a:r>
              <a:rPr lang="en-US" altLang="zh-CN" sz="2400"/>
              <a:t>3</a:t>
            </a:r>
            <a:r>
              <a:rPr lang="zh-CN" altLang="en-US" sz="2400"/>
              <a:t>）决策变量</a:t>
            </a:r>
            <a:r>
              <a:rPr lang="en-US" altLang="zh-CN" sz="2400" i="1"/>
              <a:t>x</a:t>
            </a:r>
            <a:r>
              <a:rPr lang="en-US" altLang="zh-CN" sz="2400" i="1" baseline="-30000"/>
              <a:t>k</a:t>
            </a:r>
            <a:r>
              <a:rPr lang="zh-CN" altLang="en-US" sz="2400"/>
              <a:t>为装入第</a:t>
            </a:r>
            <a:r>
              <a:rPr lang="en-US" altLang="zh-CN" sz="2400" i="1"/>
              <a:t>k</a:t>
            </a:r>
            <a:r>
              <a:rPr lang="zh-CN" altLang="en-US" sz="2400"/>
              <a:t>种物品的件数。</a:t>
            </a:r>
          </a:p>
          <a:p>
            <a:pPr marL="0" indent="384175" algn="just">
              <a:lnSpc>
                <a:spcPct val="105000"/>
              </a:lnSpc>
              <a:spcBef>
                <a:spcPct val="10000"/>
              </a:spcBef>
              <a:buFont typeface="Wingdings" panose="05000000000000000000" pitchFamily="2" charset="2"/>
              <a:buNone/>
            </a:pPr>
            <a:r>
              <a:rPr lang="en-US" altLang="zh-CN" sz="2400"/>
              <a:t>4</a:t>
            </a:r>
            <a:r>
              <a:rPr lang="zh-CN" altLang="en-US" sz="2400"/>
              <a:t>）状态转移方程：</a:t>
            </a:r>
            <a:r>
              <a:rPr lang="en-US" altLang="zh-CN" sz="2400" i="1"/>
              <a:t>s</a:t>
            </a:r>
            <a:r>
              <a:rPr lang="en-US" altLang="zh-CN" sz="2400" i="1" baseline="-30000"/>
              <a:t>k</a:t>
            </a:r>
            <a:r>
              <a:rPr lang="en-US" altLang="zh-CN" sz="2400" baseline="-30000"/>
              <a:t>-1</a:t>
            </a:r>
            <a:r>
              <a:rPr lang="zh-CN" altLang="en-US" sz="2400"/>
              <a:t>＝</a:t>
            </a:r>
            <a:r>
              <a:rPr lang="en-US" altLang="zh-CN" sz="2400" i="1"/>
              <a:t>s</a:t>
            </a:r>
            <a:r>
              <a:rPr lang="en-US" altLang="zh-CN" sz="2400" i="1" baseline="-30000"/>
              <a:t>k</a:t>
            </a:r>
            <a:r>
              <a:rPr lang="zh-CN" altLang="en-US" sz="2400"/>
              <a:t>－</a:t>
            </a:r>
            <a:r>
              <a:rPr lang="en-US" altLang="zh-CN" sz="2400" i="1"/>
              <a:t>w</a:t>
            </a:r>
            <a:r>
              <a:rPr lang="en-US" altLang="zh-CN" sz="2400" i="1" baseline="-30000"/>
              <a:t>k</a:t>
            </a:r>
            <a:r>
              <a:rPr lang="en-US" altLang="zh-CN" sz="2400" i="1"/>
              <a:t>x</a:t>
            </a:r>
            <a:r>
              <a:rPr lang="en-US" altLang="zh-CN" sz="2400" i="1" baseline="-30000"/>
              <a:t>k</a:t>
            </a:r>
            <a:endParaRPr lang="en-US" altLang="zh-CN" sz="2400" i="1"/>
          </a:p>
          <a:p>
            <a:pPr marL="0" indent="384175" algn="just">
              <a:lnSpc>
                <a:spcPct val="105000"/>
              </a:lnSpc>
              <a:spcBef>
                <a:spcPct val="10000"/>
              </a:spcBef>
              <a:buFont typeface="Wingdings" panose="05000000000000000000" pitchFamily="2" charset="2"/>
              <a:buNone/>
            </a:pPr>
            <a:r>
              <a:rPr lang="zh-CN" altLang="en-US" sz="2400"/>
              <a:t>允许决策集合：</a:t>
            </a:r>
            <a:r>
              <a:rPr lang="en-US" altLang="zh-CN" sz="2400"/>
              <a:t>D</a:t>
            </a:r>
            <a:r>
              <a:rPr lang="en-US" altLang="zh-CN" sz="2400" i="1" baseline="-30000"/>
              <a:t>k</a:t>
            </a:r>
            <a:r>
              <a:rPr lang="zh-CN" altLang="en-US" sz="2400"/>
              <a:t>（</a:t>
            </a:r>
            <a:r>
              <a:rPr lang="en-US" altLang="zh-CN" sz="2400"/>
              <a:t>s</a:t>
            </a:r>
            <a:r>
              <a:rPr lang="en-US" altLang="zh-CN" sz="2400" i="1" baseline="-30000"/>
              <a:t>k</a:t>
            </a:r>
            <a:r>
              <a:rPr lang="zh-CN" altLang="en-US" sz="2400"/>
              <a:t>）＝</a:t>
            </a:r>
            <a:r>
              <a:rPr lang="en-US" altLang="zh-CN" sz="2400"/>
              <a:t>{</a:t>
            </a:r>
            <a:r>
              <a:rPr lang="en-US" altLang="zh-CN" sz="2400" i="1"/>
              <a:t>x</a:t>
            </a:r>
            <a:r>
              <a:rPr lang="en-US" altLang="zh-CN" sz="2400" i="1" baseline="-30000"/>
              <a:t>k</a:t>
            </a:r>
            <a:r>
              <a:rPr lang="en-US" altLang="zh-CN" sz="2400"/>
              <a:t> |0≤</a:t>
            </a:r>
            <a:r>
              <a:rPr lang="en-US" altLang="zh-CN" sz="2400" i="1"/>
              <a:t>x</a:t>
            </a:r>
            <a:r>
              <a:rPr lang="en-US" altLang="zh-CN" sz="2400" i="1" baseline="-30000"/>
              <a:t>k</a:t>
            </a:r>
            <a:r>
              <a:rPr lang="en-US" altLang="zh-CN" sz="2400"/>
              <a:t>≤[</a:t>
            </a:r>
            <a:r>
              <a:rPr lang="en-US" altLang="zh-CN" sz="2400" i="1"/>
              <a:t>s</a:t>
            </a:r>
            <a:r>
              <a:rPr lang="en-US" altLang="zh-CN" sz="2400" i="1" baseline="-30000"/>
              <a:t>k</a:t>
            </a:r>
            <a:r>
              <a:rPr lang="en-US" altLang="zh-CN" sz="2400"/>
              <a:t>/</a:t>
            </a:r>
            <a:r>
              <a:rPr lang="en-US" altLang="zh-CN" sz="2400" i="1"/>
              <a:t>w</a:t>
            </a:r>
            <a:r>
              <a:rPr lang="en-US" altLang="zh-CN" sz="2400" i="1" baseline="-30000"/>
              <a:t>k</a:t>
            </a:r>
            <a:r>
              <a:rPr lang="en-US" altLang="zh-CN" sz="2400"/>
              <a:t>]}</a:t>
            </a:r>
          </a:p>
          <a:p>
            <a:pPr marL="0" indent="384175" algn="just">
              <a:lnSpc>
                <a:spcPct val="105000"/>
              </a:lnSpc>
              <a:spcBef>
                <a:spcPct val="10000"/>
              </a:spcBef>
              <a:buFont typeface="Wingdings" panose="05000000000000000000" pitchFamily="2" charset="2"/>
              <a:buNone/>
            </a:pPr>
            <a:r>
              <a:rPr lang="en-US" altLang="zh-CN" sz="2400"/>
              <a:t>5</a:t>
            </a:r>
            <a:r>
              <a:rPr lang="zh-CN" altLang="en-US" sz="2400"/>
              <a:t>）最优值函数</a:t>
            </a:r>
            <a:endParaRPr lang="en-US" altLang="zh-CN" sz="2400"/>
          </a:p>
          <a:p>
            <a:pPr marL="0" indent="384175" algn="just">
              <a:lnSpc>
                <a:spcPct val="105000"/>
              </a:lnSpc>
              <a:spcBef>
                <a:spcPct val="10000"/>
              </a:spcBef>
              <a:buFont typeface="Wingdings" panose="05000000000000000000" pitchFamily="2" charset="2"/>
              <a:buNone/>
            </a:pPr>
            <a:endParaRPr lang="en-US" altLang="zh-CN" sz="2400"/>
          </a:p>
          <a:p>
            <a:pPr marL="0" indent="384175" algn="just">
              <a:lnSpc>
                <a:spcPct val="105000"/>
              </a:lnSpc>
              <a:spcBef>
                <a:spcPct val="10000"/>
              </a:spcBef>
              <a:buFont typeface="Wingdings" panose="05000000000000000000" pitchFamily="2" charset="2"/>
              <a:buNone/>
            </a:pPr>
            <a:endParaRPr lang="en-US" altLang="zh-CN" sz="2400"/>
          </a:p>
          <a:p>
            <a:pPr marL="0" indent="384175" algn="just">
              <a:lnSpc>
                <a:spcPct val="105000"/>
              </a:lnSpc>
              <a:spcBef>
                <a:spcPct val="10000"/>
              </a:spcBef>
              <a:buFont typeface="Wingdings" panose="05000000000000000000" pitchFamily="2" charset="2"/>
              <a:buNone/>
            </a:pPr>
            <a:r>
              <a:rPr lang="zh-CN" altLang="en-US" sz="2400"/>
              <a:t>递推关系式：</a:t>
            </a:r>
          </a:p>
          <a:p>
            <a:pPr marL="0" indent="384175" algn="just">
              <a:lnSpc>
                <a:spcPct val="105000"/>
              </a:lnSpc>
              <a:spcBef>
                <a:spcPct val="10000"/>
              </a:spcBef>
              <a:buFont typeface="Wingdings" panose="05000000000000000000" pitchFamily="2" charset="2"/>
              <a:buNone/>
            </a:pPr>
            <a:r>
              <a:rPr lang="en-US" altLang="zh-CN" sz="2400"/>
              <a:t>f</a:t>
            </a:r>
            <a:r>
              <a:rPr lang="en-US" altLang="zh-CN" sz="2400" i="1" baseline="-30000"/>
              <a:t>k</a:t>
            </a:r>
            <a:r>
              <a:rPr lang="en-US" altLang="zh-CN" sz="2400"/>
              <a:t>(</a:t>
            </a:r>
            <a:r>
              <a:rPr lang="en-US" altLang="zh-CN" sz="2400" i="1"/>
              <a:t>s</a:t>
            </a:r>
            <a:r>
              <a:rPr lang="en-US" altLang="zh-CN" sz="2400" i="1" baseline="-30000"/>
              <a:t>k</a:t>
            </a:r>
            <a:r>
              <a:rPr lang="en-US" altLang="zh-CN" sz="2400"/>
              <a:t>)=max{</a:t>
            </a:r>
            <a:r>
              <a:rPr lang="en-US" altLang="zh-CN" sz="2400" i="1"/>
              <a:t>c</a:t>
            </a:r>
            <a:r>
              <a:rPr lang="en-US" altLang="zh-CN" sz="2400" i="1" baseline="-30000"/>
              <a:t>k</a:t>
            </a:r>
            <a:r>
              <a:rPr lang="en-US" altLang="zh-CN" sz="2400"/>
              <a:t>(</a:t>
            </a:r>
            <a:r>
              <a:rPr lang="en-US" altLang="zh-CN" sz="2400" i="1"/>
              <a:t>x</a:t>
            </a:r>
            <a:r>
              <a:rPr lang="en-US" altLang="zh-CN" sz="2400" i="1" baseline="-30000"/>
              <a:t>k</a:t>
            </a:r>
            <a:r>
              <a:rPr lang="en-US" altLang="zh-CN" sz="2400"/>
              <a:t>)+ f</a:t>
            </a:r>
            <a:r>
              <a:rPr lang="en-US" altLang="zh-CN" sz="2400" i="1" baseline="-30000"/>
              <a:t>k</a:t>
            </a:r>
            <a:r>
              <a:rPr lang="en-US" altLang="zh-CN" sz="2400" baseline="-30000"/>
              <a:t>-1</a:t>
            </a:r>
            <a:r>
              <a:rPr lang="en-US" altLang="zh-CN" sz="2400"/>
              <a:t>(</a:t>
            </a:r>
            <a:r>
              <a:rPr lang="en-US" altLang="zh-CN" sz="2400" i="1"/>
              <a:t>s</a:t>
            </a:r>
            <a:r>
              <a:rPr lang="en-US" altLang="zh-CN" sz="2400" i="1" baseline="-30000"/>
              <a:t>k</a:t>
            </a:r>
            <a:r>
              <a:rPr lang="zh-CN" altLang="en-US" sz="2400"/>
              <a:t>－</a:t>
            </a:r>
            <a:r>
              <a:rPr lang="en-US" altLang="zh-CN" sz="2400" i="1"/>
              <a:t>w</a:t>
            </a:r>
            <a:r>
              <a:rPr lang="en-US" altLang="zh-CN" sz="2400" i="1" baseline="-30000"/>
              <a:t>k</a:t>
            </a:r>
            <a:r>
              <a:rPr lang="en-US" altLang="zh-CN" sz="2400" i="1"/>
              <a:t>x</a:t>
            </a:r>
            <a:r>
              <a:rPr lang="en-US" altLang="zh-CN" sz="2400" i="1" baseline="-30000"/>
              <a:t>k</a:t>
            </a:r>
            <a:r>
              <a:rPr lang="en-US" altLang="zh-CN" sz="2400"/>
              <a:t>)}</a:t>
            </a:r>
          </a:p>
          <a:p>
            <a:pPr marL="0" indent="384175" algn="just">
              <a:lnSpc>
                <a:spcPct val="105000"/>
              </a:lnSpc>
              <a:spcBef>
                <a:spcPct val="10000"/>
              </a:spcBef>
              <a:buFont typeface="Wingdings" panose="05000000000000000000" pitchFamily="2" charset="2"/>
              <a:buNone/>
            </a:pPr>
            <a:r>
              <a:rPr lang="zh-CN" altLang="en-US" sz="2400"/>
              <a:t>边界条件：</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1</a:t>
            </a:r>
            <a:r>
              <a:rPr lang="en-US" altLang="zh-CN" sz="2400"/>
              <a:t>(</a:t>
            </a:r>
            <a:r>
              <a:rPr lang="en-US" altLang="zh-CN" sz="2400" i="1"/>
              <a:t>s</a:t>
            </a:r>
            <a:r>
              <a:rPr lang="en-US" altLang="zh-CN" sz="2400" baseline="-30000"/>
              <a:t>1</a:t>
            </a:r>
            <a:r>
              <a:rPr lang="en-US" altLang="zh-CN" sz="2400"/>
              <a:t>)=max{</a:t>
            </a:r>
            <a:r>
              <a:rPr lang="en-US" altLang="zh-CN" sz="2400" i="1"/>
              <a:t>c</a:t>
            </a:r>
            <a:r>
              <a:rPr lang="en-US" altLang="zh-CN" sz="2400" baseline="-30000"/>
              <a:t>1</a:t>
            </a:r>
            <a:r>
              <a:rPr lang="en-US" altLang="zh-CN" sz="2400"/>
              <a:t>(</a:t>
            </a:r>
            <a:r>
              <a:rPr lang="en-US" altLang="zh-CN" sz="2400" i="1"/>
              <a:t>x</a:t>
            </a:r>
            <a:r>
              <a:rPr lang="en-US" altLang="zh-CN" sz="2400" baseline="-30000"/>
              <a:t>1</a:t>
            </a:r>
            <a:r>
              <a:rPr lang="en-US" altLang="zh-CN" sz="2400"/>
              <a:t>)}</a:t>
            </a:r>
          </a:p>
          <a:p>
            <a:pPr marL="0" indent="384175" algn="just">
              <a:lnSpc>
                <a:spcPct val="105000"/>
              </a:lnSpc>
              <a:spcBef>
                <a:spcPct val="10000"/>
              </a:spcBef>
              <a:buFont typeface="Wingdings" panose="05000000000000000000" pitchFamily="2" charset="2"/>
              <a:buNone/>
            </a:pPr>
            <a:endParaRPr lang="en-US" altLang="zh-CN" sz="2400"/>
          </a:p>
          <a:p>
            <a:pPr marL="0" indent="384175" algn="just">
              <a:lnSpc>
                <a:spcPct val="105000"/>
              </a:lnSpc>
              <a:buFont typeface="Wingdings" panose="05000000000000000000" pitchFamily="2" charset="2"/>
              <a:buNone/>
            </a:pPr>
            <a:endParaRPr lang="zh-CN" altLang="en-US" sz="2400"/>
          </a:p>
        </p:txBody>
      </p:sp>
      <p:graphicFrame>
        <p:nvGraphicFramePr>
          <p:cNvPr id="70659" name="对象 1">
            <a:extLst>
              <a:ext uri="{FF2B5EF4-FFF2-40B4-BE49-F238E27FC236}">
                <a16:creationId xmlns:a16="http://schemas.microsoft.com/office/drawing/2014/main" id="{C2486BB8-77F3-473D-88F3-45F944A906CC}"/>
              </a:ext>
            </a:extLst>
          </p:cNvPr>
          <p:cNvGraphicFramePr>
            <a:graphicFrameLocks noChangeAspect="1"/>
          </p:cNvGraphicFramePr>
          <p:nvPr/>
        </p:nvGraphicFramePr>
        <p:xfrm>
          <a:off x="1476375" y="3716338"/>
          <a:ext cx="2614613" cy="804862"/>
        </p:xfrm>
        <a:graphic>
          <a:graphicData uri="http://schemas.openxmlformats.org/presentationml/2006/ole">
            <mc:AlternateContent xmlns:mc="http://schemas.openxmlformats.org/markup-compatibility/2006">
              <mc:Choice xmlns:v="urn:schemas-microsoft-com:vml" Requires="v">
                <p:oleObj spid="_x0000_s70676" name="Equation" r:id="rId4" imgW="990170" imgH="304668" progId="Equation.DSMT4">
                  <p:embed/>
                </p:oleObj>
              </mc:Choice>
              <mc:Fallback>
                <p:oleObj name="Equation" r:id="rId4" imgW="990170" imgH="304668" progId="Equation.DSMT4">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3716338"/>
                        <a:ext cx="2614613" cy="80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id="{CBB6F998-3FE3-4734-8AF8-74C15BF4F2AC}"/>
              </a:ext>
            </a:extLst>
          </p:cNvPr>
          <p:cNvSpPr>
            <a:spLocks noGrp="1" noChangeArrowheads="1"/>
          </p:cNvSpPr>
          <p:nvPr>
            <p:ph type="body" idx="1"/>
          </p:nvPr>
        </p:nvSpPr>
        <p:spPr>
          <a:xfrm>
            <a:off x="914400" y="228600"/>
            <a:ext cx="7772400" cy="609600"/>
          </a:xfrm>
        </p:spPr>
        <p:txBody>
          <a:bodyPr/>
          <a:lstStyle/>
          <a:p>
            <a:pPr marL="0" indent="384175" algn="just">
              <a:lnSpc>
                <a:spcPct val="105000"/>
              </a:lnSpc>
              <a:buFont typeface="Wingdings" panose="05000000000000000000" pitchFamily="2" charset="2"/>
              <a:buNone/>
            </a:pPr>
            <a:r>
              <a:rPr lang="en-US" altLang="zh-CN" sz="2400"/>
              <a:t>6</a:t>
            </a:r>
            <a:r>
              <a:rPr lang="zh-CN" altLang="en-US" sz="2400"/>
              <a:t>）</a:t>
            </a:r>
            <a:r>
              <a:rPr lang="en-US" altLang="zh-CN" sz="2400" i="1"/>
              <a:t>k</a:t>
            </a:r>
            <a:r>
              <a:rPr lang="en-US" altLang="zh-CN" sz="2400"/>
              <a:t>=1</a:t>
            </a:r>
            <a:r>
              <a:rPr lang="zh-CN" altLang="en-US" sz="2400"/>
              <a:t>时，</a:t>
            </a:r>
            <a:r>
              <a:rPr lang="en-US" altLang="zh-CN" sz="2400"/>
              <a:t>0≤</a:t>
            </a:r>
            <a:r>
              <a:rPr lang="en-US" altLang="zh-CN" sz="2400" i="1"/>
              <a:t>x</a:t>
            </a:r>
            <a:r>
              <a:rPr lang="en-US" altLang="zh-CN" sz="2400" baseline="-30000"/>
              <a:t>1</a:t>
            </a:r>
            <a:r>
              <a:rPr lang="en-US" altLang="zh-CN" sz="2400"/>
              <a:t>≤[</a:t>
            </a:r>
            <a:r>
              <a:rPr lang="en-US" altLang="zh-CN" sz="2400" i="1"/>
              <a:t>s</a:t>
            </a:r>
            <a:r>
              <a:rPr lang="en-US" altLang="zh-CN" sz="2400" baseline="-30000"/>
              <a:t>1</a:t>
            </a:r>
            <a:r>
              <a:rPr lang="en-US" altLang="zh-CN" sz="2400"/>
              <a:t>/</a:t>
            </a:r>
            <a:r>
              <a:rPr lang="en-US" altLang="zh-CN" sz="2400" i="1"/>
              <a:t>w</a:t>
            </a:r>
            <a:r>
              <a:rPr lang="en-US" altLang="zh-CN" sz="2400" baseline="-30000"/>
              <a:t>1</a:t>
            </a:r>
            <a:r>
              <a:rPr lang="en-US" altLang="zh-CN" sz="2400"/>
              <a:t>]</a:t>
            </a:r>
            <a:r>
              <a:rPr lang="zh-CN" altLang="en-US" sz="2400"/>
              <a:t>，</a:t>
            </a:r>
            <a:r>
              <a:rPr lang="en-US" altLang="zh-CN" sz="2400"/>
              <a:t>0≤</a:t>
            </a:r>
            <a:r>
              <a:rPr lang="en-US" altLang="zh-CN" sz="2400" i="1"/>
              <a:t>x</a:t>
            </a:r>
            <a:r>
              <a:rPr lang="en-US" altLang="zh-CN" sz="2400" baseline="-30000"/>
              <a:t>1</a:t>
            </a:r>
            <a:r>
              <a:rPr lang="en-US" altLang="zh-CN" sz="2400"/>
              <a:t>≤3, </a:t>
            </a:r>
            <a:r>
              <a:rPr lang="en-US" altLang="zh-CN" sz="2400" i="1"/>
              <a:t>w</a:t>
            </a:r>
            <a:r>
              <a:rPr lang="en-US" altLang="zh-CN" sz="2400" baseline="-25000"/>
              <a:t>1</a:t>
            </a:r>
            <a:r>
              <a:rPr lang="en-US" altLang="zh-CN" sz="2400"/>
              <a:t>=3</a:t>
            </a:r>
          </a:p>
        </p:txBody>
      </p:sp>
      <p:graphicFrame>
        <p:nvGraphicFramePr>
          <p:cNvPr id="739463" name="Group 135">
            <a:extLst>
              <a:ext uri="{FF2B5EF4-FFF2-40B4-BE49-F238E27FC236}">
                <a16:creationId xmlns:a16="http://schemas.microsoft.com/office/drawing/2014/main" id="{19B5E324-5813-475E-809A-20040AEEDE5F}"/>
              </a:ext>
            </a:extLst>
          </p:cNvPr>
          <p:cNvGraphicFramePr>
            <a:graphicFrameLocks noGrp="1"/>
          </p:cNvGraphicFramePr>
          <p:nvPr/>
        </p:nvGraphicFramePr>
        <p:xfrm>
          <a:off x="838200" y="685800"/>
          <a:ext cx="7696200" cy="6075364"/>
        </p:xfrm>
        <a:graphic>
          <a:graphicData uri="http://schemas.openxmlformats.org/drawingml/2006/table">
            <a:tbl>
              <a:tblPr/>
              <a:tblGrid>
                <a:gridCol w="1100138">
                  <a:extLst>
                    <a:ext uri="{9D8B030D-6E8A-4147-A177-3AD203B41FA5}">
                      <a16:colId xmlns:a16="http://schemas.microsoft.com/office/drawing/2014/main" val="20000"/>
                    </a:ext>
                  </a:extLst>
                </a:gridCol>
                <a:gridCol w="1098550">
                  <a:extLst>
                    <a:ext uri="{9D8B030D-6E8A-4147-A177-3AD203B41FA5}">
                      <a16:colId xmlns:a16="http://schemas.microsoft.com/office/drawing/2014/main" val="20001"/>
                    </a:ext>
                  </a:extLst>
                </a:gridCol>
                <a:gridCol w="1100137">
                  <a:extLst>
                    <a:ext uri="{9D8B030D-6E8A-4147-A177-3AD203B41FA5}">
                      <a16:colId xmlns:a16="http://schemas.microsoft.com/office/drawing/2014/main" val="20002"/>
                    </a:ext>
                  </a:extLst>
                </a:gridCol>
                <a:gridCol w="1098550">
                  <a:extLst>
                    <a:ext uri="{9D8B030D-6E8A-4147-A177-3AD203B41FA5}">
                      <a16:colId xmlns:a16="http://schemas.microsoft.com/office/drawing/2014/main" val="20003"/>
                    </a:ext>
                  </a:extLst>
                </a:gridCol>
                <a:gridCol w="1100138">
                  <a:extLst>
                    <a:ext uri="{9D8B030D-6E8A-4147-A177-3AD203B41FA5}">
                      <a16:colId xmlns:a16="http://schemas.microsoft.com/office/drawing/2014/main" val="20004"/>
                    </a:ext>
                  </a:extLst>
                </a:gridCol>
                <a:gridCol w="1098550">
                  <a:extLst>
                    <a:ext uri="{9D8B030D-6E8A-4147-A177-3AD203B41FA5}">
                      <a16:colId xmlns:a16="http://schemas.microsoft.com/office/drawing/2014/main" val="20005"/>
                    </a:ext>
                  </a:extLst>
                </a:gridCol>
                <a:gridCol w="1100137">
                  <a:extLst>
                    <a:ext uri="{9D8B030D-6E8A-4147-A177-3AD203B41FA5}">
                      <a16:colId xmlns:a16="http://schemas.microsoft.com/office/drawing/2014/main" val="20006"/>
                    </a:ext>
                  </a:extLst>
                </a:gridCol>
              </a:tblGrid>
              <a:tr h="460375">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1</a:t>
                      </a:r>
                      <a:endPar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s</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1 </a:t>
                      </a:r>
                    </a:p>
                  </a:txBody>
                  <a:tcPr marT="45725" marB="45725" anchor="ctr" anchorCtr="1" horzOverflow="overflow">
                    <a:lnL>
                      <a:noFill/>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gridSpan="4">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c</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1</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a:t>
                      </a: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1</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 =4</a:t>
                      </a: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x</a:t>
                      </a:r>
                      <a:r>
                        <a:rPr kumimoji="0" lang="en-US" altLang="zh-CN" sz="2400" b="1" i="0" u="none" strike="noStrike" cap="none" normalizeH="0" baseline="-25000">
                          <a:ln>
                            <a:noFill/>
                          </a:ln>
                          <a:solidFill>
                            <a:srgbClr val="00006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f</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1</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a:t>
                      </a: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s</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1</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1</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6100">
                <a:tc vMerge="1">
                  <a:txBody>
                    <a:bodyPr/>
                    <a:lstStyle/>
                    <a:p>
                      <a:endParaRPr lang="zh-CN" altLang="en-US"/>
                    </a:p>
                  </a:txBody>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2</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3</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196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3</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196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5</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6</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7</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6196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9</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3</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10</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3</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BEF0C3C1-EC1A-48ED-B980-A553FDE25517}"/>
              </a:ext>
            </a:extLst>
          </p:cNvPr>
          <p:cNvSpPr>
            <a:spLocks noGrp="1" noChangeArrowheads="1"/>
          </p:cNvSpPr>
          <p:nvPr>
            <p:ph type="body" idx="1"/>
          </p:nvPr>
        </p:nvSpPr>
        <p:spPr>
          <a:xfrm>
            <a:off x="914400" y="228600"/>
            <a:ext cx="7772400" cy="609600"/>
          </a:xfrm>
        </p:spPr>
        <p:txBody>
          <a:bodyPr/>
          <a:lstStyle/>
          <a:p>
            <a:pPr marL="0" indent="384175" algn="just">
              <a:lnSpc>
                <a:spcPct val="105000"/>
              </a:lnSpc>
              <a:buFont typeface="Wingdings" panose="05000000000000000000" pitchFamily="2" charset="2"/>
              <a:buNone/>
            </a:pPr>
            <a:r>
              <a:rPr lang="en-US" altLang="zh-CN" sz="2400" i="1"/>
              <a:t>k</a:t>
            </a:r>
            <a:r>
              <a:rPr lang="en-US" altLang="zh-CN" sz="2400"/>
              <a:t>=2</a:t>
            </a:r>
            <a:r>
              <a:rPr lang="zh-CN" altLang="en-US" sz="2400"/>
              <a:t>时，</a:t>
            </a:r>
            <a:r>
              <a:rPr lang="en-US" altLang="zh-CN" sz="2400"/>
              <a:t>0≤</a:t>
            </a:r>
            <a:r>
              <a:rPr lang="en-US" altLang="zh-CN" sz="2400" i="1"/>
              <a:t>x</a:t>
            </a:r>
            <a:r>
              <a:rPr lang="en-US" altLang="zh-CN" sz="2400" baseline="-30000"/>
              <a:t>2</a:t>
            </a:r>
            <a:r>
              <a:rPr lang="en-US" altLang="zh-CN" sz="2400"/>
              <a:t>≤[</a:t>
            </a:r>
            <a:r>
              <a:rPr lang="en-US" altLang="zh-CN" sz="2400" i="1"/>
              <a:t>s</a:t>
            </a:r>
            <a:r>
              <a:rPr lang="en-US" altLang="zh-CN" sz="2400" baseline="-30000"/>
              <a:t>2</a:t>
            </a:r>
            <a:r>
              <a:rPr lang="en-US" altLang="zh-CN" sz="2400"/>
              <a:t>/</a:t>
            </a:r>
            <a:r>
              <a:rPr lang="en-US" altLang="zh-CN" sz="2400" i="1"/>
              <a:t>w</a:t>
            </a:r>
            <a:r>
              <a:rPr lang="en-US" altLang="zh-CN" sz="2400" baseline="-30000"/>
              <a:t>2</a:t>
            </a:r>
            <a:r>
              <a:rPr lang="en-US" altLang="zh-CN" sz="2400"/>
              <a:t>]</a:t>
            </a:r>
            <a:r>
              <a:rPr lang="zh-CN" altLang="en-US" sz="2400"/>
              <a:t>，</a:t>
            </a:r>
            <a:r>
              <a:rPr lang="en-US" altLang="zh-CN" sz="2400"/>
              <a:t>0≤</a:t>
            </a:r>
            <a:r>
              <a:rPr lang="en-US" altLang="zh-CN" sz="2400" i="1"/>
              <a:t>x</a:t>
            </a:r>
            <a:r>
              <a:rPr lang="en-US" altLang="zh-CN" sz="2400" baseline="-30000"/>
              <a:t>2</a:t>
            </a:r>
            <a:r>
              <a:rPr lang="en-US" altLang="zh-CN" sz="2400"/>
              <a:t>≤2 , </a:t>
            </a:r>
            <a:r>
              <a:rPr lang="en-US" altLang="zh-CN" sz="2400" i="1"/>
              <a:t>w</a:t>
            </a:r>
            <a:r>
              <a:rPr lang="en-US" altLang="zh-CN" sz="2400" baseline="-25000"/>
              <a:t>2</a:t>
            </a:r>
            <a:r>
              <a:rPr lang="en-US" altLang="zh-CN" sz="2400"/>
              <a:t>=4</a:t>
            </a:r>
          </a:p>
        </p:txBody>
      </p:sp>
      <p:graphicFrame>
        <p:nvGraphicFramePr>
          <p:cNvPr id="740474" name="Group 122">
            <a:extLst>
              <a:ext uri="{FF2B5EF4-FFF2-40B4-BE49-F238E27FC236}">
                <a16:creationId xmlns:a16="http://schemas.microsoft.com/office/drawing/2014/main" id="{7F0C7049-9BB8-4042-9959-B1AB007E2B10}"/>
              </a:ext>
            </a:extLst>
          </p:cNvPr>
          <p:cNvGraphicFramePr>
            <a:graphicFrameLocks noGrp="1"/>
          </p:cNvGraphicFramePr>
          <p:nvPr/>
        </p:nvGraphicFramePr>
        <p:xfrm>
          <a:off x="990600" y="685800"/>
          <a:ext cx="7086600" cy="6075364"/>
        </p:xfrm>
        <a:graphic>
          <a:graphicData uri="http://schemas.openxmlformats.org/drawingml/2006/table">
            <a:tbl>
              <a:tblPr/>
              <a:tblGrid>
                <a:gridCol w="1125538">
                  <a:extLst>
                    <a:ext uri="{9D8B030D-6E8A-4147-A177-3AD203B41FA5}">
                      <a16:colId xmlns:a16="http://schemas.microsoft.com/office/drawing/2014/main" val="20000"/>
                    </a:ext>
                  </a:extLst>
                </a:gridCol>
                <a:gridCol w="1073150">
                  <a:extLst>
                    <a:ext uri="{9D8B030D-6E8A-4147-A177-3AD203B41FA5}">
                      <a16:colId xmlns:a16="http://schemas.microsoft.com/office/drawing/2014/main" val="20001"/>
                    </a:ext>
                  </a:extLst>
                </a:gridCol>
                <a:gridCol w="1100137">
                  <a:extLst>
                    <a:ext uri="{9D8B030D-6E8A-4147-A177-3AD203B41FA5}">
                      <a16:colId xmlns:a16="http://schemas.microsoft.com/office/drawing/2014/main" val="20002"/>
                    </a:ext>
                  </a:extLst>
                </a:gridCol>
                <a:gridCol w="1044575">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460375">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endPar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s</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p>
                  </a:txBody>
                  <a:tcPr marT="45725" marB="45725"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gridSpan="3">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c</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a:t>
                      </a: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 + f</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1</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a:t>
                      </a: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s</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r>
                        <a:rPr kumimoji="0" lang="zh-CN" altLang="en-US" sz="2400" b="1" i="0" u="none" strike="noStrike" cap="none" normalizeH="0" baseline="0">
                          <a:ln>
                            <a:noFill/>
                          </a:ln>
                          <a:solidFill>
                            <a:srgbClr val="000066"/>
                          </a:solidFill>
                          <a:effectLst/>
                          <a:latin typeface="Times New Roman" panose="02020603050405020304" pitchFamily="18" charset="0"/>
                          <a:ea typeface="楷体_GB2312" pitchFamily="49" charset="-122"/>
                        </a:rPr>
                        <a:t>－</a:t>
                      </a: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w</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f</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a:t>
                      </a: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s</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rPr>
                        <a:t>x</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2</a:t>
                      </a:r>
                      <a:r>
                        <a:rPr kumimoji="0"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rPr>
                        <a:t>*</a:t>
                      </a: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6100">
                <a:tc vMerge="1">
                  <a:txBody>
                    <a:bodyPr/>
                    <a:lstStyle/>
                    <a:p>
                      <a:endParaRPr lang="zh-CN" altLang="en-US"/>
                    </a:p>
                  </a:txBody>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rPr>
                        <a:t>2</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196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3</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5</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196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5</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 </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5</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6</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7</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endPar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endParaRP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9</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10</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2</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61963">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9</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0+12</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4</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10</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12</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60375">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10</a:t>
                      </a:r>
                    </a:p>
                  </a:txBody>
                  <a:tcPr marT="45725" marB="4572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0+12</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5</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8</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10</a:t>
                      </a:r>
                      <a:r>
                        <a:rPr kumimoji="0" lang="zh-CN" altLang="en-US" sz="2000" b="0" i="0" u="none" strike="noStrike" cap="none" normalizeH="0" baseline="0">
                          <a:ln>
                            <a:noFill/>
                          </a:ln>
                          <a:solidFill>
                            <a:srgbClr val="376546"/>
                          </a:solidFill>
                          <a:effectLst/>
                          <a:latin typeface="Times New Roman" panose="02020603050405020304" pitchFamily="18" charset="0"/>
                          <a:ea typeface="楷体_GB2312" pitchFamily="49" charset="-122"/>
                        </a:rPr>
                        <a:t>＋</a:t>
                      </a: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0</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a:ln>
                            <a:noFill/>
                          </a:ln>
                          <a:solidFill>
                            <a:srgbClr val="376546"/>
                          </a:solidFill>
                          <a:effectLst/>
                          <a:latin typeface="Times New Roman" panose="02020603050405020304" pitchFamily="18" charset="0"/>
                          <a:ea typeface="楷体_GB2312" pitchFamily="49" charset="-122"/>
                        </a:rPr>
                        <a:t>13</a:t>
                      </a:r>
                    </a:p>
                  </a:txBody>
                  <a:tcPr marT="45725" marB="457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8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
                          <a:srgbClr val="663300"/>
                        </a:buClr>
                        <a:buSzPct val="75000"/>
                        <a:buFont typeface="Wingdings" panose="05000000000000000000" pitchFamily="2" charset="2"/>
                        <a:buNone/>
                        <a:tabLst/>
                      </a:pPr>
                      <a:r>
                        <a:rPr kumimoji="0" lang="en-US" altLang="zh-CN" sz="2000" b="0" i="0" u="none" strike="noStrike" cap="none" normalizeH="0" baseline="0" dirty="0">
                          <a:ln>
                            <a:noFill/>
                          </a:ln>
                          <a:solidFill>
                            <a:srgbClr val="376546"/>
                          </a:solidFill>
                          <a:effectLst/>
                          <a:latin typeface="Times New Roman" panose="02020603050405020304" pitchFamily="18" charset="0"/>
                          <a:ea typeface="楷体_GB2312" pitchFamily="49" charset="-122"/>
                        </a:rPr>
                        <a:t>1</a:t>
                      </a:r>
                    </a:p>
                  </a:txBody>
                  <a:tcPr marT="45725" marB="4572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72801" name="矩形 1">
            <a:extLst>
              <a:ext uri="{FF2B5EF4-FFF2-40B4-BE49-F238E27FC236}">
                <a16:creationId xmlns:a16="http://schemas.microsoft.com/office/drawing/2014/main" id="{C31A8D2A-9C82-48AA-9EE2-1EB961A71D63}"/>
              </a:ext>
            </a:extLst>
          </p:cNvPr>
          <p:cNvSpPr>
            <a:spLocks noChangeArrowheads="1"/>
          </p:cNvSpPr>
          <p:nvPr/>
        </p:nvSpPr>
        <p:spPr bwMode="auto">
          <a:xfrm>
            <a:off x="827088" y="282575"/>
            <a:ext cx="5445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7</a:t>
            </a:r>
            <a:r>
              <a:rPr lang="zh-CN" altLang="en-US"/>
              <a:t>）</a:t>
            </a:r>
          </a:p>
        </p:txBody>
      </p:sp>
      <p:sp>
        <p:nvSpPr>
          <p:cNvPr id="72802" name="矩形 2">
            <a:extLst>
              <a:ext uri="{FF2B5EF4-FFF2-40B4-BE49-F238E27FC236}">
                <a16:creationId xmlns:a16="http://schemas.microsoft.com/office/drawing/2014/main" id="{762A263C-BD5B-4C1B-9B41-CDE805A63872}"/>
              </a:ext>
            </a:extLst>
          </p:cNvPr>
          <p:cNvSpPr>
            <a:spLocks noChangeArrowheads="1"/>
          </p:cNvSpPr>
          <p:nvPr/>
        </p:nvSpPr>
        <p:spPr bwMode="auto">
          <a:xfrm>
            <a:off x="6443663" y="250825"/>
            <a:ext cx="1246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i="1">
                <a:solidFill>
                  <a:srgbClr val="FF0000"/>
                </a:solidFill>
                <a:latin typeface="Times New Roman" panose="02020603050405020304" pitchFamily="18" charset="0"/>
                <a:ea typeface="楷体_GB2312" pitchFamily="49" charset="-122"/>
              </a:rPr>
              <a:t>c</a:t>
            </a:r>
            <a:r>
              <a:rPr lang="en-US" altLang="zh-CN" b="1" baseline="-30000">
                <a:solidFill>
                  <a:srgbClr val="FF0000"/>
                </a:solidFill>
                <a:latin typeface="Times New Roman" panose="02020603050405020304" pitchFamily="18" charset="0"/>
                <a:ea typeface="楷体_GB2312" pitchFamily="49" charset="-122"/>
              </a:rPr>
              <a:t>2</a:t>
            </a:r>
            <a:r>
              <a:rPr lang="en-US" altLang="zh-CN" b="1">
                <a:solidFill>
                  <a:srgbClr val="FF0000"/>
                </a:solidFill>
                <a:latin typeface="Times New Roman" panose="02020603050405020304" pitchFamily="18" charset="0"/>
                <a:ea typeface="楷体_GB2312" pitchFamily="49" charset="-122"/>
              </a:rPr>
              <a:t>(</a:t>
            </a:r>
            <a:r>
              <a:rPr lang="en-US" altLang="zh-CN" b="1" i="1">
                <a:solidFill>
                  <a:srgbClr val="FF0000"/>
                </a:solidFill>
                <a:latin typeface="Times New Roman" panose="02020603050405020304" pitchFamily="18" charset="0"/>
                <a:ea typeface="楷体_GB2312" pitchFamily="49" charset="-122"/>
              </a:rPr>
              <a:t>x</a:t>
            </a:r>
            <a:r>
              <a:rPr lang="en-US" altLang="zh-CN" b="1" baseline="-30000">
                <a:solidFill>
                  <a:srgbClr val="FF0000"/>
                </a:solidFill>
                <a:latin typeface="Times New Roman" panose="02020603050405020304" pitchFamily="18" charset="0"/>
                <a:ea typeface="楷体_GB2312" pitchFamily="49" charset="-122"/>
              </a:rPr>
              <a:t>2</a:t>
            </a:r>
            <a:r>
              <a:rPr lang="en-US" altLang="zh-CN" b="1">
                <a:solidFill>
                  <a:srgbClr val="FF0000"/>
                </a:solidFill>
                <a:latin typeface="Times New Roman" panose="02020603050405020304" pitchFamily="18" charset="0"/>
                <a:ea typeface="楷体_GB2312" pitchFamily="49" charset="-122"/>
              </a:rPr>
              <a:t>) =5</a:t>
            </a:r>
            <a:r>
              <a:rPr lang="en-US" altLang="zh-CN" b="1" i="1">
                <a:solidFill>
                  <a:srgbClr val="FF0000"/>
                </a:solidFill>
                <a:latin typeface="Times New Roman" panose="02020603050405020304" pitchFamily="18" charset="0"/>
                <a:ea typeface="楷体_GB2312" pitchFamily="49" charset="-122"/>
              </a:rPr>
              <a:t>x</a:t>
            </a:r>
            <a:r>
              <a:rPr lang="en-US" altLang="zh-CN" b="1" baseline="-25000">
                <a:solidFill>
                  <a:srgbClr val="FF0000"/>
                </a:solidFill>
                <a:latin typeface="Times New Roman" panose="02020603050405020304" pitchFamily="18" charset="0"/>
                <a:ea typeface="楷体_GB2312" pitchFamily="49" charset="-122"/>
              </a:rPr>
              <a:t>2</a:t>
            </a:r>
            <a:endParaRPr lang="zh-CN" altLang="en-US" baseline="-25000">
              <a:solidFill>
                <a:srgbClr val="FF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3730" name="图片 4">
            <a:extLst>
              <a:ext uri="{FF2B5EF4-FFF2-40B4-BE49-F238E27FC236}">
                <a16:creationId xmlns:a16="http://schemas.microsoft.com/office/drawing/2014/main" id="{CE9E0B4E-432E-41B4-BE2D-7BE3004B2D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196975"/>
            <a:ext cx="8672512"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3731" name="对象 5">
            <a:extLst>
              <a:ext uri="{FF2B5EF4-FFF2-40B4-BE49-F238E27FC236}">
                <a16:creationId xmlns:a16="http://schemas.microsoft.com/office/drawing/2014/main" id="{F0CC2BC7-5392-48FC-8A0D-247F0BD672C1}"/>
              </a:ext>
            </a:extLst>
          </p:cNvPr>
          <p:cNvGraphicFramePr>
            <a:graphicFrameLocks noChangeAspect="1"/>
          </p:cNvGraphicFramePr>
          <p:nvPr/>
        </p:nvGraphicFramePr>
        <p:xfrm>
          <a:off x="250825" y="3284538"/>
          <a:ext cx="2862263" cy="2503487"/>
        </p:xfrm>
        <a:graphic>
          <a:graphicData uri="http://schemas.openxmlformats.org/presentationml/2006/ole">
            <mc:AlternateContent xmlns:mc="http://schemas.openxmlformats.org/markup-compatibility/2006">
              <mc:Choice xmlns:v="urn:schemas-microsoft-com:vml" Requires="v">
                <p:oleObj spid="_x0000_s73749" name="Equation" r:id="rId4" imgW="1422400" imgH="1244600" progId="Equation.DSMT4">
                  <p:embed/>
                </p:oleObj>
              </mc:Choice>
              <mc:Fallback>
                <p:oleObj name="Equation" r:id="rId4" imgW="1422400" imgH="1244600"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3284538"/>
                        <a:ext cx="2862263" cy="250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椭圆 8">
            <a:extLst>
              <a:ext uri="{FF2B5EF4-FFF2-40B4-BE49-F238E27FC236}">
                <a16:creationId xmlns:a16="http://schemas.microsoft.com/office/drawing/2014/main" id="{CFC36E3B-E0B3-465B-A9F2-791559A82597}"/>
              </a:ext>
            </a:extLst>
          </p:cNvPr>
          <p:cNvSpPr/>
          <p:nvPr/>
        </p:nvSpPr>
        <p:spPr>
          <a:xfrm>
            <a:off x="5435600" y="4005263"/>
            <a:ext cx="3416300" cy="7921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4754" name="图片 2">
            <a:extLst>
              <a:ext uri="{FF2B5EF4-FFF2-40B4-BE49-F238E27FC236}">
                <a16:creationId xmlns:a16="http://schemas.microsoft.com/office/drawing/2014/main" id="{B7B3480E-EC9B-4FBE-8B8C-344741301A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196975"/>
            <a:ext cx="8461375"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4755" name="对象 3">
            <a:extLst>
              <a:ext uri="{FF2B5EF4-FFF2-40B4-BE49-F238E27FC236}">
                <a16:creationId xmlns:a16="http://schemas.microsoft.com/office/drawing/2014/main" id="{B35B826A-7B20-4BFA-B42A-8212C1B0B2E2}"/>
              </a:ext>
            </a:extLst>
          </p:cNvPr>
          <p:cNvGraphicFramePr>
            <a:graphicFrameLocks noChangeAspect="1"/>
          </p:cNvGraphicFramePr>
          <p:nvPr/>
        </p:nvGraphicFramePr>
        <p:xfrm>
          <a:off x="179388" y="1628775"/>
          <a:ext cx="2551112" cy="2232025"/>
        </p:xfrm>
        <a:graphic>
          <a:graphicData uri="http://schemas.openxmlformats.org/presentationml/2006/ole">
            <mc:AlternateContent xmlns:mc="http://schemas.openxmlformats.org/markup-compatibility/2006">
              <mc:Choice xmlns:v="urn:schemas-microsoft-com:vml" Requires="v">
                <p:oleObj spid="_x0000_s74773" name="Equation" r:id="rId4" imgW="1422400" imgH="1244600" progId="Equation.DSMT4">
                  <p:embed/>
                </p:oleObj>
              </mc:Choice>
              <mc:Fallback>
                <p:oleObj name="Equation" r:id="rId4" imgW="1422400" imgH="1244600" progId="Equation.DSMT4">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628775"/>
                        <a:ext cx="2551112"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椭圆 4">
            <a:extLst>
              <a:ext uri="{FF2B5EF4-FFF2-40B4-BE49-F238E27FC236}">
                <a16:creationId xmlns:a16="http://schemas.microsoft.com/office/drawing/2014/main" id="{5F570EB6-FF62-48D9-8886-482A119ADB91}"/>
              </a:ext>
            </a:extLst>
          </p:cNvPr>
          <p:cNvSpPr/>
          <p:nvPr/>
        </p:nvSpPr>
        <p:spPr>
          <a:xfrm>
            <a:off x="5148263" y="2636838"/>
            <a:ext cx="1655762" cy="6477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5778" name="图片 1">
            <a:extLst>
              <a:ext uri="{FF2B5EF4-FFF2-40B4-BE49-F238E27FC236}">
                <a16:creationId xmlns:a16="http://schemas.microsoft.com/office/drawing/2014/main" id="{D2FAA35B-36F7-4C19-9D87-C832D852BFA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750" y="836613"/>
            <a:ext cx="7212013" cy="568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3">
            <a:extLst>
              <a:ext uri="{FF2B5EF4-FFF2-40B4-BE49-F238E27FC236}">
                <a16:creationId xmlns:a16="http://schemas.microsoft.com/office/drawing/2014/main" id="{71CC3F98-33B8-406C-8186-12D7769BB391}"/>
              </a:ext>
            </a:extLst>
          </p:cNvPr>
          <p:cNvSpPr>
            <a:spLocks noGrp="1" noChangeArrowheads="1"/>
          </p:cNvSpPr>
          <p:nvPr>
            <p:ph type="body" idx="1"/>
          </p:nvPr>
        </p:nvSpPr>
        <p:spPr>
          <a:xfrm>
            <a:off x="463550" y="404813"/>
            <a:ext cx="7924800" cy="5761037"/>
          </a:xfrm>
        </p:spPr>
        <p:txBody>
          <a:bodyPr/>
          <a:lstStyle/>
          <a:p>
            <a:pPr marL="0" indent="384175">
              <a:lnSpc>
                <a:spcPct val="105000"/>
              </a:lnSpc>
              <a:spcBef>
                <a:spcPct val="40000"/>
              </a:spcBef>
              <a:buClrTx/>
              <a:buSzTx/>
              <a:buFontTx/>
              <a:buNone/>
            </a:pPr>
            <a:r>
              <a:rPr lang="zh-CN" altLang="en-US">
                <a:solidFill>
                  <a:srgbClr val="000066"/>
                </a:solidFill>
              </a:rPr>
              <a:t>五、货郎担问题</a:t>
            </a:r>
            <a:r>
              <a:rPr lang="en-US" altLang="zh-CN"/>
              <a:t>(P283, 10.7)</a:t>
            </a:r>
            <a:endParaRPr lang="zh-CN" altLang="en-US">
              <a:solidFill>
                <a:srgbClr val="000066"/>
              </a:solidFill>
            </a:endParaRPr>
          </a:p>
          <a:p>
            <a:pPr marL="0" indent="384175" algn="just">
              <a:lnSpc>
                <a:spcPct val="105000"/>
              </a:lnSpc>
              <a:spcBef>
                <a:spcPct val="40000"/>
              </a:spcBef>
              <a:buClrTx/>
              <a:buSzTx/>
              <a:buFontTx/>
              <a:buNone/>
            </a:pPr>
            <a:r>
              <a:rPr lang="zh-CN" altLang="en-US" sz="2400"/>
              <a:t>（</a:t>
            </a:r>
            <a:r>
              <a:rPr lang="en-US" altLang="zh-CN" sz="2400"/>
              <a:t>TSP</a:t>
            </a:r>
            <a:r>
              <a:rPr lang="zh-CN" altLang="en-US" sz="2400"/>
              <a:t>问题</a:t>
            </a:r>
            <a:r>
              <a:rPr lang="en-US" altLang="zh-CN" sz="2400"/>
              <a:t>——traveling salesperson problem</a:t>
            </a:r>
            <a:r>
              <a:rPr lang="zh-CN" altLang="en-US" sz="2400"/>
              <a:t>）</a:t>
            </a:r>
          </a:p>
          <a:p>
            <a:pPr marL="0" indent="384175">
              <a:lnSpc>
                <a:spcPct val="105000"/>
              </a:lnSpc>
              <a:spcBef>
                <a:spcPct val="0"/>
              </a:spcBef>
              <a:buClrTx/>
              <a:buSzTx/>
              <a:buFontTx/>
              <a:buNone/>
            </a:pPr>
            <a:r>
              <a:rPr lang="zh-CN" altLang="en-US" sz="2400"/>
              <a:t>一个著名的命题：一个串村走户的卖货郎，他从某个村庄出发，通过若干个村庄一次且仅一次，最后仍回到原出发的村庄，问：应如何选择行走路线，能使得总的行程最短。</a:t>
            </a:r>
          </a:p>
          <a:p>
            <a:pPr marL="0" indent="384175" algn="just">
              <a:lnSpc>
                <a:spcPct val="105000"/>
              </a:lnSpc>
              <a:spcBef>
                <a:spcPct val="0"/>
              </a:spcBef>
              <a:buClrTx/>
              <a:buSzTx/>
              <a:buFontTx/>
              <a:buNone/>
            </a:pPr>
            <a:r>
              <a:rPr lang="zh-CN" altLang="en-US" sz="2400"/>
              <a:t>设有</a:t>
            </a:r>
            <a:r>
              <a:rPr lang="en-US" altLang="zh-CN" sz="2400" i="1"/>
              <a:t>n</a:t>
            </a:r>
            <a:r>
              <a:rPr lang="zh-CN" altLang="en-US" sz="2400"/>
              <a:t>个城市，</a:t>
            </a:r>
            <a:r>
              <a:rPr lang="en-US" altLang="zh-CN" sz="2400"/>
              <a:t>1,2,…,</a:t>
            </a:r>
            <a:r>
              <a:rPr lang="en-US" altLang="zh-CN" sz="2400" i="1"/>
              <a:t>n</a:t>
            </a:r>
            <a:r>
              <a:rPr lang="zh-CN" altLang="en-US" sz="2400"/>
              <a:t>。</a:t>
            </a:r>
            <a:r>
              <a:rPr lang="en-US" altLang="zh-CN" sz="2400"/>
              <a:t>D</a:t>
            </a:r>
            <a:r>
              <a:rPr lang="en-US" altLang="zh-CN" sz="2400" i="1" baseline="-15000"/>
              <a:t>ij</a:t>
            </a:r>
            <a:r>
              <a:rPr lang="zh-CN" altLang="en-US" sz="2400"/>
              <a:t>表示从</a:t>
            </a:r>
            <a:r>
              <a:rPr lang="en-US" altLang="zh-CN" sz="2400" i="1"/>
              <a:t>i</a:t>
            </a:r>
            <a:r>
              <a:rPr lang="zh-CN" altLang="en-US" sz="2400"/>
              <a:t>城到</a:t>
            </a:r>
            <a:r>
              <a:rPr lang="en-US" altLang="zh-CN" sz="2400" i="1"/>
              <a:t>j</a:t>
            </a:r>
            <a:r>
              <a:rPr lang="zh-CN" altLang="en-US" sz="2400"/>
              <a:t>城的距离。</a:t>
            </a:r>
          </a:p>
          <a:p>
            <a:pPr marL="0" indent="384175" algn="just">
              <a:lnSpc>
                <a:spcPct val="105000"/>
              </a:lnSpc>
              <a:spcBef>
                <a:spcPct val="0"/>
              </a:spcBef>
              <a:buClrTx/>
              <a:buSzTx/>
              <a:buFontTx/>
              <a:buNone/>
            </a:pPr>
            <a:r>
              <a:rPr lang="zh-CN" altLang="en-US" sz="2400"/>
              <a:t>规定推销员是从城市</a:t>
            </a:r>
            <a:r>
              <a:rPr lang="en-US" altLang="zh-CN" sz="2400"/>
              <a:t>1</a:t>
            </a:r>
            <a:r>
              <a:rPr lang="zh-CN" altLang="en-US" sz="2400"/>
              <a:t>开始的，设推销员走到</a:t>
            </a:r>
            <a:r>
              <a:rPr lang="en-US" altLang="zh-CN" sz="2400" i="1"/>
              <a:t>i</a:t>
            </a:r>
            <a:r>
              <a:rPr lang="zh-CN" altLang="en-US" sz="2400"/>
              <a:t>城，记</a:t>
            </a:r>
            <a:r>
              <a:rPr lang="en-US" altLang="zh-CN" sz="2400"/>
              <a:t>N</a:t>
            </a:r>
            <a:r>
              <a:rPr lang="en-US" altLang="zh-CN" sz="2400" i="1" baseline="-15000"/>
              <a:t>i</a:t>
            </a:r>
            <a:r>
              <a:rPr lang="zh-CN" altLang="en-US" sz="2400"/>
              <a:t>＝</a:t>
            </a:r>
            <a:r>
              <a:rPr lang="en-US" altLang="zh-CN" sz="2400"/>
              <a:t>{2,3,…,</a:t>
            </a:r>
            <a:r>
              <a:rPr lang="en-US" altLang="zh-CN" sz="2400" i="1"/>
              <a:t>i</a:t>
            </a:r>
            <a:r>
              <a:rPr lang="en-US" altLang="zh-CN" sz="2400"/>
              <a:t>-1,i+1,…,</a:t>
            </a:r>
            <a:r>
              <a:rPr lang="en-US" altLang="zh-CN" sz="2400" i="1"/>
              <a:t>n</a:t>
            </a:r>
            <a:r>
              <a:rPr lang="en-US" altLang="zh-CN" sz="2400"/>
              <a:t> }</a:t>
            </a:r>
            <a:r>
              <a:rPr lang="zh-CN" altLang="en-US" sz="2400"/>
              <a:t>表示由</a:t>
            </a:r>
            <a:r>
              <a:rPr lang="en-US" altLang="zh-CN" sz="2400"/>
              <a:t>1</a:t>
            </a:r>
            <a:r>
              <a:rPr lang="zh-CN" altLang="en-US" sz="2400"/>
              <a:t>城到</a:t>
            </a:r>
            <a:r>
              <a:rPr lang="en-US" altLang="zh-CN" sz="2400" i="1"/>
              <a:t>i</a:t>
            </a:r>
            <a:r>
              <a:rPr lang="zh-CN" altLang="en-US" sz="2400"/>
              <a:t>城的中间城市集合。</a:t>
            </a:r>
          </a:p>
          <a:p>
            <a:pPr marL="0" indent="384175" algn="just">
              <a:lnSpc>
                <a:spcPct val="105000"/>
              </a:lnSpc>
              <a:spcBef>
                <a:spcPct val="0"/>
              </a:spcBef>
              <a:buClrTx/>
              <a:buSzTx/>
              <a:buFontTx/>
              <a:buNone/>
            </a:pPr>
            <a:r>
              <a:rPr lang="en-US" altLang="zh-CN" sz="2400"/>
              <a:t>S</a:t>
            </a:r>
            <a:r>
              <a:rPr lang="zh-CN" altLang="en-US" sz="2400"/>
              <a:t>表示到达</a:t>
            </a:r>
            <a:r>
              <a:rPr lang="en-US" altLang="zh-CN" sz="2400" i="1"/>
              <a:t>i</a:t>
            </a:r>
            <a:r>
              <a:rPr lang="zh-CN" altLang="en-US" sz="2400"/>
              <a:t>城中途所经过的城市的集合，则有</a:t>
            </a:r>
            <a:r>
              <a:rPr lang="en-US" altLang="zh-CN" sz="2400"/>
              <a:t>S∈N</a:t>
            </a:r>
            <a:r>
              <a:rPr lang="en-US" altLang="zh-CN" sz="2400" i="1" baseline="-30000"/>
              <a:t>i</a:t>
            </a:r>
          </a:p>
          <a:p>
            <a:pPr marL="0" indent="384175" algn="just">
              <a:lnSpc>
                <a:spcPct val="105000"/>
              </a:lnSpc>
              <a:spcBef>
                <a:spcPct val="0"/>
              </a:spcBef>
              <a:buClrTx/>
              <a:buSzTx/>
              <a:buFontTx/>
              <a:buNone/>
            </a:pPr>
            <a:r>
              <a:rPr lang="en-US" altLang="zh-CN" sz="2400"/>
              <a:t>1</a:t>
            </a:r>
            <a:r>
              <a:rPr lang="zh-CN" altLang="en-US" sz="2400"/>
              <a:t>）选取</a:t>
            </a:r>
            <a:r>
              <a:rPr lang="zh-CN" altLang="en-US" sz="2400">
                <a:solidFill>
                  <a:srgbClr val="000066"/>
                </a:solidFill>
              </a:rPr>
              <a:t>（</a:t>
            </a:r>
            <a:r>
              <a:rPr lang="en-US" altLang="zh-CN" sz="2400" i="1">
                <a:solidFill>
                  <a:srgbClr val="000066"/>
                </a:solidFill>
              </a:rPr>
              <a:t>i</a:t>
            </a:r>
            <a:r>
              <a:rPr lang="en-US" altLang="zh-CN" sz="2400">
                <a:solidFill>
                  <a:srgbClr val="000066"/>
                </a:solidFill>
              </a:rPr>
              <a:t>,S</a:t>
            </a:r>
            <a:r>
              <a:rPr lang="zh-CN" altLang="en-US" sz="2400">
                <a:solidFill>
                  <a:srgbClr val="000066"/>
                </a:solidFill>
              </a:rPr>
              <a:t>）作为状态变量</a:t>
            </a:r>
            <a:r>
              <a:rPr lang="zh-CN" altLang="en-US" sz="2400"/>
              <a:t>，表示推销员从城市</a:t>
            </a:r>
            <a:r>
              <a:rPr lang="en-US" altLang="zh-CN" sz="2400"/>
              <a:t>1</a:t>
            </a:r>
            <a:r>
              <a:rPr lang="zh-CN" altLang="en-US" sz="2400"/>
              <a:t>开始走到</a:t>
            </a:r>
            <a:r>
              <a:rPr lang="en-US" altLang="zh-CN" sz="2400" i="1"/>
              <a:t>i</a:t>
            </a:r>
            <a:r>
              <a:rPr lang="zh-CN" altLang="en-US" sz="2400"/>
              <a:t>城，经过若干个城市，构成集合</a:t>
            </a:r>
            <a:r>
              <a:rPr lang="en-US" altLang="zh-CN" sz="2400"/>
              <a:t>S</a:t>
            </a:r>
            <a:r>
              <a:rPr lang="zh-CN" altLang="en-US" sz="2400"/>
              <a:t>。</a:t>
            </a:r>
          </a:p>
          <a:p>
            <a:pPr marL="0" indent="384175" algn="just">
              <a:lnSpc>
                <a:spcPct val="105000"/>
              </a:lnSpc>
              <a:spcBef>
                <a:spcPct val="0"/>
              </a:spcBef>
              <a:buClrTx/>
              <a:buSzTx/>
              <a:buFontTx/>
              <a:buNone/>
            </a:pPr>
            <a:r>
              <a:rPr lang="en-US" altLang="zh-CN" sz="2400"/>
              <a:t>2</a:t>
            </a:r>
            <a:r>
              <a:rPr lang="zh-CN" altLang="en-US" sz="2400"/>
              <a:t>）</a:t>
            </a:r>
            <a:r>
              <a:rPr lang="zh-CN" altLang="en-US" sz="2400">
                <a:solidFill>
                  <a:srgbClr val="000066"/>
                </a:solidFill>
              </a:rPr>
              <a:t>最优值函数</a:t>
            </a:r>
            <a:r>
              <a:rPr lang="en-US" altLang="zh-CN" sz="2400">
                <a:solidFill>
                  <a:srgbClr val="000066"/>
                </a:solidFill>
              </a:rPr>
              <a:t>f</a:t>
            </a:r>
            <a:r>
              <a:rPr lang="en-US" altLang="zh-CN" sz="2400" i="1" baseline="-25000">
                <a:solidFill>
                  <a:srgbClr val="000066"/>
                </a:solidFill>
              </a:rPr>
              <a:t>k</a:t>
            </a:r>
            <a:r>
              <a:rPr lang="en-US" altLang="zh-CN" sz="2400">
                <a:solidFill>
                  <a:srgbClr val="000066"/>
                </a:solidFill>
              </a:rPr>
              <a:t>(</a:t>
            </a:r>
            <a:r>
              <a:rPr lang="en-US" altLang="zh-CN" sz="2400" i="1">
                <a:solidFill>
                  <a:srgbClr val="000066"/>
                </a:solidFill>
              </a:rPr>
              <a:t>i</a:t>
            </a:r>
            <a:r>
              <a:rPr lang="en-US" altLang="zh-CN" sz="2400">
                <a:solidFill>
                  <a:srgbClr val="000066"/>
                </a:solidFill>
              </a:rPr>
              <a:t>,S)</a:t>
            </a:r>
            <a:r>
              <a:rPr lang="zh-CN" altLang="en-US" sz="2400"/>
              <a:t>为从城市</a:t>
            </a:r>
            <a:r>
              <a:rPr lang="en-US" altLang="zh-CN" sz="2400"/>
              <a:t>1</a:t>
            </a:r>
            <a:r>
              <a:rPr lang="zh-CN" altLang="en-US" sz="2400"/>
              <a:t>开始经过</a:t>
            </a:r>
            <a:r>
              <a:rPr lang="en-US" altLang="zh-CN" sz="2400" i="1"/>
              <a:t>k</a:t>
            </a:r>
            <a:r>
              <a:rPr lang="zh-CN" altLang="en-US" sz="2400"/>
              <a:t>个中间城市的</a:t>
            </a:r>
            <a:r>
              <a:rPr lang="en-US" altLang="zh-CN" sz="2400"/>
              <a:t>S</a:t>
            </a:r>
            <a:r>
              <a:rPr lang="zh-CN" altLang="en-US" sz="2400"/>
              <a:t>集到达</a:t>
            </a:r>
            <a:r>
              <a:rPr lang="en-US" altLang="zh-CN" sz="2400" i="1"/>
              <a:t>i</a:t>
            </a:r>
            <a:r>
              <a:rPr lang="zh-CN" altLang="en-US" sz="2400"/>
              <a:t>城的最短路线的距离。</a:t>
            </a:r>
          </a:p>
          <a:p>
            <a:pPr marL="0" indent="384175">
              <a:lnSpc>
                <a:spcPct val="110000"/>
              </a:lnSpc>
              <a:buFont typeface="Wingdings" panose="05000000000000000000" pitchFamily="2" charset="2"/>
              <a:buNone/>
            </a:pPr>
            <a:endParaRPr lang="zh-CN" altLang="en-US" sz="2400">
              <a:solidFill>
                <a:srgbClr val="000066"/>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3">
            <a:extLst>
              <a:ext uri="{FF2B5EF4-FFF2-40B4-BE49-F238E27FC236}">
                <a16:creationId xmlns:a16="http://schemas.microsoft.com/office/drawing/2014/main" id="{572C2493-F464-4EFB-9DC7-EA0163A16C1B}"/>
              </a:ext>
            </a:extLst>
          </p:cNvPr>
          <p:cNvSpPr>
            <a:spLocks noGrp="1" noChangeArrowheads="1"/>
          </p:cNvSpPr>
          <p:nvPr>
            <p:ph type="body" idx="1"/>
          </p:nvPr>
        </p:nvSpPr>
        <p:spPr>
          <a:xfrm>
            <a:off x="914400" y="304800"/>
            <a:ext cx="7772400" cy="6934200"/>
          </a:xfrm>
        </p:spPr>
        <p:txBody>
          <a:bodyPr/>
          <a:lstStyle/>
          <a:p>
            <a:pPr marL="0" indent="384175" algn="just">
              <a:spcBef>
                <a:spcPct val="10000"/>
              </a:spcBef>
              <a:buFont typeface="Wingdings" panose="05000000000000000000" pitchFamily="2" charset="2"/>
              <a:buNone/>
            </a:pPr>
            <a:r>
              <a:rPr lang="en-US" altLang="zh-CN" sz="2400"/>
              <a:t>3</a:t>
            </a:r>
            <a:r>
              <a:rPr lang="zh-CN" altLang="en-US" sz="2400"/>
              <a:t>）</a:t>
            </a:r>
            <a:r>
              <a:rPr lang="zh-CN" altLang="en-US" sz="2400">
                <a:solidFill>
                  <a:srgbClr val="000066"/>
                </a:solidFill>
              </a:rPr>
              <a:t>递推关系式：</a:t>
            </a:r>
          </a:p>
          <a:p>
            <a:pPr marL="0" indent="384175" algn="just">
              <a:spcBef>
                <a:spcPct val="10000"/>
              </a:spcBef>
              <a:buFont typeface="Wingdings" panose="05000000000000000000" pitchFamily="2" charset="2"/>
              <a:buNone/>
            </a:pPr>
            <a:r>
              <a:rPr lang="en-US" altLang="zh-CN" sz="2400"/>
              <a:t>f</a:t>
            </a:r>
            <a:r>
              <a:rPr lang="en-US" altLang="zh-CN" sz="2400" baseline="-30000"/>
              <a:t>k</a:t>
            </a:r>
            <a:r>
              <a:rPr lang="en-US" altLang="zh-CN" sz="2400"/>
              <a:t>(i,S)=min[ f</a:t>
            </a:r>
            <a:r>
              <a:rPr lang="en-US" altLang="zh-CN" sz="2400" baseline="-30000"/>
              <a:t>k-1</a:t>
            </a:r>
            <a:r>
              <a:rPr lang="en-US" altLang="zh-CN" sz="2400"/>
              <a:t>(j,S\{j}+)+D</a:t>
            </a:r>
            <a:r>
              <a:rPr lang="en-US" altLang="zh-CN" sz="2400" baseline="-15000"/>
              <a:t>ji</a:t>
            </a:r>
            <a:r>
              <a:rPr lang="en-US" altLang="zh-CN" sz="2400"/>
              <a:t>]</a:t>
            </a:r>
          </a:p>
          <a:p>
            <a:pPr marL="0" indent="384175" algn="just">
              <a:spcBef>
                <a:spcPct val="10000"/>
              </a:spcBef>
              <a:buFont typeface="Wingdings" panose="05000000000000000000" pitchFamily="2" charset="2"/>
              <a:buNone/>
            </a:pPr>
            <a:r>
              <a:rPr lang="en-US" altLang="zh-CN" sz="2400"/>
              <a:t>(k=1,2, …,n-1. i=2,3…,n.  S    N</a:t>
            </a:r>
            <a:r>
              <a:rPr lang="en-US" altLang="zh-CN" sz="2400" baseline="-30000"/>
              <a:t>i</a:t>
            </a:r>
            <a:r>
              <a:rPr lang="en-US" altLang="zh-CN" sz="2400"/>
              <a:t>)</a:t>
            </a:r>
          </a:p>
          <a:p>
            <a:pPr marL="0" indent="384175" algn="just">
              <a:spcBef>
                <a:spcPct val="10000"/>
              </a:spcBef>
              <a:buFont typeface="Wingdings" panose="05000000000000000000" pitchFamily="2" charset="2"/>
              <a:buNone/>
            </a:pPr>
            <a:r>
              <a:rPr lang="zh-CN" altLang="en-US" sz="2400">
                <a:solidFill>
                  <a:srgbClr val="000066"/>
                </a:solidFill>
              </a:rPr>
              <a:t>边界条件：</a:t>
            </a:r>
            <a:r>
              <a:rPr lang="en-US" altLang="zh-CN" sz="2400"/>
              <a:t>f</a:t>
            </a:r>
            <a:r>
              <a:rPr lang="en-US" altLang="zh-CN" sz="2400" baseline="-30000"/>
              <a:t>0</a:t>
            </a:r>
            <a:r>
              <a:rPr lang="en-US" altLang="zh-CN" sz="2400"/>
              <a:t>(i,Ø)= D</a:t>
            </a:r>
            <a:r>
              <a:rPr lang="en-US" altLang="zh-CN" sz="2400" baseline="-30000"/>
              <a:t>1i</a:t>
            </a:r>
          </a:p>
          <a:p>
            <a:pPr marL="0" indent="384175" algn="just">
              <a:spcBef>
                <a:spcPct val="10000"/>
              </a:spcBef>
              <a:buFont typeface="Wingdings" panose="05000000000000000000" pitchFamily="2" charset="2"/>
              <a:buNone/>
            </a:pPr>
            <a:r>
              <a:rPr lang="en-US" altLang="zh-CN" sz="2400"/>
              <a:t>4</a:t>
            </a:r>
            <a:r>
              <a:rPr lang="zh-CN" altLang="en-US" sz="2400"/>
              <a:t>） </a:t>
            </a:r>
            <a:r>
              <a:rPr lang="en-US" altLang="zh-CN" sz="2400">
                <a:solidFill>
                  <a:srgbClr val="000066"/>
                </a:solidFill>
              </a:rPr>
              <a:t>P</a:t>
            </a:r>
            <a:r>
              <a:rPr lang="en-US" altLang="zh-CN" sz="2400" baseline="-30000">
                <a:solidFill>
                  <a:srgbClr val="000066"/>
                </a:solidFill>
              </a:rPr>
              <a:t>k</a:t>
            </a:r>
            <a:r>
              <a:rPr lang="en-US" altLang="zh-CN" sz="2400">
                <a:solidFill>
                  <a:srgbClr val="000066"/>
                </a:solidFill>
              </a:rPr>
              <a:t>(i,S)</a:t>
            </a:r>
            <a:r>
              <a:rPr lang="zh-CN" altLang="en-US" sz="2400">
                <a:solidFill>
                  <a:srgbClr val="000066"/>
                </a:solidFill>
              </a:rPr>
              <a:t>为最优决策函数</a:t>
            </a:r>
            <a:r>
              <a:rPr lang="zh-CN" altLang="en-US" sz="2400"/>
              <a:t>，表示从</a:t>
            </a:r>
            <a:r>
              <a:rPr lang="en-US" altLang="zh-CN" sz="2400"/>
              <a:t>1</a:t>
            </a:r>
            <a:r>
              <a:rPr lang="zh-CN" altLang="en-US" sz="2400"/>
              <a:t>城开始经</a:t>
            </a:r>
            <a:r>
              <a:rPr lang="en-US" altLang="zh-CN" sz="2400"/>
              <a:t>k</a:t>
            </a:r>
            <a:r>
              <a:rPr lang="zh-CN" altLang="en-US" sz="2400"/>
              <a:t>个中间城市到</a:t>
            </a:r>
            <a:r>
              <a:rPr lang="en-US" altLang="zh-CN" sz="2400"/>
              <a:t>i</a:t>
            </a:r>
            <a:r>
              <a:rPr lang="zh-CN" altLang="en-US" sz="2400"/>
              <a:t>城的最短路线上紧挨着</a:t>
            </a:r>
            <a:r>
              <a:rPr lang="en-US" altLang="zh-CN" sz="2400"/>
              <a:t>i</a:t>
            </a:r>
            <a:r>
              <a:rPr lang="zh-CN" altLang="en-US" sz="2400"/>
              <a:t>城前面的那个城市。</a:t>
            </a:r>
          </a:p>
          <a:p>
            <a:pPr marL="0" indent="384175" algn="just">
              <a:spcBef>
                <a:spcPct val="10000"/>
              </a:spcBef>
              <a:buFont typeface="Wingdings" panose="05000000000000000000" pitchFamily="2" charset="2"/>
              <a:buNone/>
            </a:pPr>
            <a:r>
              <a:rPr lang="zh-CN" altLang="en-US" sz="2400">
                <a:solidFill>
                  <a:srgbClr val="000066"/>
                </a:solidFill>
              </a:rPr>
              <a:t>例</a:t>
            </a:r>
            <a:r>
              <a:rPr lang="en-US" altLang="zh-CN" sz="2400">
                <a:solidFill>
                  <a:srgbClr val="000066"/>
                </a:solidFill>
              </a:rPr>
              <a:t>9</a:t>
            </a:r>
            <a:r>
              <a:rPr lang="zh-CN" altLang="en-US" sz="2400">
                <a:solidFill>
                  <a:srgbClr val="000066"/>
                </a:solidFill>
              </a:rPr>
              <a:t>：当推销员从</a:t>
            </a:r>
            <a:r>
              <a:rPr lang="en-US" altLang="zh-CN" sz="2400">
                <a:solidFill>
                  <a:srgbClr val="000066"/>
                </a:solidFill>
              </a:rPr>
              <a:t>1</a:t>
            </a:r>
            <a:r>
              <a:rPr lang="zh-CN" altLang="en-US" sz="2400">
                <a:solidFill>
                  <a:srgbClr val="000066"/>
                </a:solidFill>
              </a:rPr>
              <a:t>城出发，经过每个城市一次且仅一次，最后回到</a:t>
            </a:r>
            <a:r>
              <a:rPr lang="en-US" altLang="zh-CN" sz="2400">
                <a:solidFill>
                  <a:srgbClr val="000066"/>
                </a:solidFill>
              </a:rPr>
              <a:t>1</a:t>
            </a:r>
            <a:r>
              <a:rPr lang="zh-CN" altLang="en-US" sz="2400">
                <a:solidFill>
                  <a:srgbClr val="000066"/>
                </a:solidFill>
              </a:rPr>
              <a:t>城，问按怎样的路线走，使总的行程距离最短。（四个城市，其距离矩阵如下表）</a:t>
            </a:r>
          </a:p>
        </p:txBody>
      </p:sp>
      <p:graphicFrame>
        <p:nvGraphicFramePr>
          <p:cNvPr id="77827" name="Object 4">
            <a:extLst>
              <a:ext uri="{FF2B5EF4-FFF2-40B4-BE49-F238E27FC236}">
                <a16:creationId xmlns:a16="http://schemas.microsoft.com/office/drawing/2014/main" id="{23540604-6271-4F5E-88B8-FA5CB48C9B80}"/>
              </a:ext>
            </a:extLst>
          </p:cNvPr>
          <p:cNvGraphicFramePr>
            <a:graphicFrameLocks noChangeAspect="1"/>
          </p:cNvGraphicFramePr>
          <p:nvPr/>
        </p:nvGraphicFramePr>
        <p:xfrm>
          <a:off x="4800600" y="1219200"/>
          <a:ext cx="381000" cy="304800"/>
        </p:xfrm>
        <a:graphic>
          <a:graphicData uri="http://schemas.openxmlformats.org/presentationml/2006/ole">
            <mc:AlternateContent xmlns:mc="http://schemas.openxmlformats.org/markup-compatibility/2006">
              <mc:Choice xmlns:v="urn:schemas-microsoft-com:vml" Requires="v">
                <p:oleObj spid="_x0000_s77861" name="Equation" r:id="rId3" imgW="126725" imgH="126725" progId="Equation.3">
                  <p:embed/>
                </p:oleObj>
              </mc:Choice>
              <mc:Fallback>
                <p:oleObj name="Equation" r:id="rId3" imgW="126725" imgH="12672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219200"/>
                        <a:ext cx="381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28" name="Object 5">
            <a:extLst>
              <a:ext uri="{FF2B5EF4-FFF2-40B4-BE49-F238E27FC236}">
                <a16:creationId xmlns:a16="http://schemas.microsoft.com/office/drawing/2014/main" id="{9AA5FC5F-07C5-487A-A4CF-37C9D4E58446}"/>
              </a:ext>
            </a:extLst>
          </p:cNvPr>
          <p:cNvGraphicFramePr>
            <a:graphicFrameLocks noChangeAspect="1"/>
          </p:cNvGraphicFramePr>
          <p:nvPr/>
        </p:nvGraphicFramePr>
        <p:xfrm>
          <a:off x="1219200" y="3962400"/>
          <a:ext cx="7086600" cy="1981200"/>
        </p:xfrm>
        <a:graphic>
          <a:graphicData uri="http://schemas.openxmlformats.org/presentationml/2006/ole">
            <mc:AlternateContent xmlns:mc="http://schemas.openxmlformats.org/markup-compatibility/2006">
              <mc:Choice xmlns:v="urn:schemas-microsoft-com:vml" Requires="v">
                <p:oleObj spid="_x0000_s77862" name="Worksheet" r:id="rId5" imgW="6182083" imgH="4020094" progId="Excel.Sheet.8">
                  <p:embed/>
                </p:oleObj>
              </mc:Choice>
              <mc:Fallback>
                <p:oleObj name="Worksheet" r:id="rId5" imgW="6182083" imgH="4020094" progId="Excel.Shee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r="44530" b="76158"/>
                      <a:stretch>
                        <a:fillRect/>
                      </a:stretch>
                    </p:blipFill>
                    <p:spPr bwMode="auto">
                      <a:xfrm>
                        <a:off x="1219200" y="3962400"/>
                        <a:ext cx="708660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89DF702A-7992-4EB8-9D00-158439121058}"/>
              </a:ext>
            </a:extLst>
          </p:cNvPr>
          <p:cNvSpPr>
            <a:spLocks noGrp="1" noChangeArrowheads="1"/>
          </p:cNvSpPr>
          <p:nvPr>
            <p:ph type="body" idx="1"/>
          </p:nvPr>
        </p:nvSpPr>
        <p:spPr>
          <a:xfrm>
            <a:off x="914400" y="609600"/>
            <a:ext cx="7772400" cy="6629400"/>
          </a:xfrm>
        </p:spPr>
        <p:txBody>
          <a:bodyPr/>
          <a:lstStyle/>
          <a:p>
            <a:pPr marL="0" indent="384175" algn="just">
              <a:lnSpc>
                <a:spcPct val="105000"/>
              </a:lnSpc>
              <a:spcBef>
                <a:spcPct val="10000"/>
              </a:spcBef>
              <a:buFont typeface="Wingdings" panose="05000000000000000000" pitchFamily="2" charset="2"/>
              <a:buNone/>
            </a:pPr>
            <a:r>
              <a:rPr lang="en-US" altLang="zh-CN" sz="2400"/>
              <a:t>5</a:t>
            </a:r>
            <a:r>
              <a:rPr lang="zh-CN" altLang="en-US" sz="2400"/>
              <a:t>）由边界条件可知： </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0</a:t>
            </a:r>
            <a:r>
              <a:rPr lang="en-US" altLang="zh-CN" sz="2400"/>
              <a:t>(2,Ø)= D</a:t>
            </a:r>
            <a:r>
              <a:rPr lang="en-US" altLang="zh-CN" sz="2400" baseline="-30000"/>
              <a:t>12</a:t>
            </a:r>
            <a:r>
              <a:rPr lang="zh-CN" altLang="en-US" sz="2400"/>
              <a:t>＝</a:t>
            </a:r>
            <a:r>
              <a:rPr lang="en-US" altLang="zh-CN" sz="2400"/>
              <a:t>8</a:t>
            </a:r>
            <a:r>
              <a:rPr lang="zh-CN" altLang="en-US" sz="2400"/>
              <a:t>，</a:t>
            </a:r>
            <a:r>
              <a:rPr lang="en-US" altLang="zh-CN" sz="2400"/>
              <a:t>f</a:t>
            </a:r>
            <a:r>
              <a:rPr lang="en-US" altLang="zh-CN" sz="2400" baseline="-30000"/>
              <a:t>0</a:t>
            </a:r>
            <a:r>
              <a:rPr lang="en-US" altLang="zh-CN" sz="2400"/>
              <a:t>(3,Ø)= D</a:t>
            </a:r>
            <a:r>
              <a:rPr lang="en-US" altLang="zh-CN" sz="2400" baseline="-22000"/>
              <a:t>13</a:t>
            </a:r>
            <a:r>
              <a:rPr lang="zh-CN" altLang="en-US" sz="2400"/>
              <a:t>＝</a:t>
            </a:r>
            <a:r>
              <a:rPr lang="en-US" altLang="zh-CN" sz="2400"/>
              <a:t>5</a:t>
            </a:r>
            <a:r>
              <a:rPr lang="zh-CN" altLang="en-US" sz="2400"/>
              <a:t>，</a:t>
            </a:r>
            <a:r>
              <a:rPr lang="en-US" altLang="zh-CN" sz="2400"/>
              <a:t>f</a:t>
            </a:r>
            <a:r>
              <a:rPr lang="en-US" altLang="zh-CN" sz="2400" baseline="-30000"/>
              <a:t>0</a:t>
            </a:r>
            <a:r>
              <a:rPr lang="en-US" altLang="zh-CN" sz="2400"/>
              <a:t>(4,Ø)= D</a:t>
            </a:r>
            <a:r>
              <a:rPr lang="en-US" altLang="zh-CN" sz="2400" baseline="-30000"/>
              <a:t>14</a:t>
            </a:r>
            <a:r>
              <a:rPr lang="zh-CN" altLang="en-US" sz="2400"/>
              <a:t>＝</a:t>
            </a:r>
            <a:r>
              <a:rPr lang="en-US" altLang="zh-CN" sz="2400"/>
              <a:t>6</a:t>
            </a:r>
          </a:p>
          <a:p>
            <a:pPr marL="0" indent="384175" algn="just">
              <a:lnSpc>
                <a:spcPct val="105000"/>
              </a:lnSpc>
              <a:spcBef>
                <a:spcPct val="10000"/>
              </a:spcBef>
              <a:buFont typeface="Wingdings" panose="05000000000000000000" pitchFamily="2" charset="2"/>
              <a:buNone/>
            </a:pPr>
            <a:r>
              <a:rPr lang="zh-CN" altLang="en-US" sz="2400"/>
              <a:t>当</a:t>
            </a:r>
            <a:r>
              <a:rPr lang="en-US" altLang="zh-CN" sz="2400"/>
              <a:t>k=1</a:t>
            </a:r>
            <a:r>
              <a:rPr lang="zh-CN" altLang="en-US" sz="2400"/>
              <a:t>时，即从</a:t>
            </a:r>
            <a:r>
              <a:rPr lang="en-US" altLang="zh-CN" sz="2400"/>
              <a:t>1</a:t>
            </a:r>
            <a:r>
              <a:rPr lang="zh-CN" altLang="en-US" sz="2400"/>
              <a:t>城开始，中间经过一个城市到达</a:t>
            </a:r>
            <a:r>
              <a:rPr lang="en-US" altLang="zh-CN" sz="2400"/>
              <a:t>i</a:t>
            </a:r>
            <a:r>
              <a:rPr lang="zh-CN" altLang="en-US" sz="2400"/>
              <a:t>城的最短距离是：</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1</a:t>
            </a:r>
            <a:r>
              <a:rPr lang="en-US" altLang="zh-CN" sz="2400"/>
              <a:t>(2,{3})= f</a:t>
            </a:r>
            <a:r>
              <a:rPr lang="en-US" altLang="zh-CN" sz="2400" baseline="-30000"/>
              <a:t>0</a:t>
            </a:r>
            <a:r>
              <a:rPr lang="en-US" altLang="zh-CN" sz="2400"/>
              <a:t>(3,Ø)+ D</a:t>
            </a:r>
            <a:r>
              <a:rPr lang="en-US" altLang="zh-CN" sz="2400" baseline="-30000"/>
              <a:t>32</a:t>
            </a:r>
            <a:r>
              <a:rPr lang="zh-CN" altLang="en-US" sz="2400"/>
              <a:t>＝</a:t>
            </a:r>
            <a:r>
              <a:rPr lang="en-US" altLang="zh-CN" sz="2400"/>
              <a:t>5+9=14</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1</a:t>
            </a:r>
            <a:r>
              <a:rPr lang="en-US" altLang="zh-CN" sz="2400"/>
              <a:t>(2,{4})= f</a:t>
            </a:r>
            <a:r>
              <a:rPr lang="en-US" altLang="zh-CN" sz="2400" baseline="-30000"/>
              <a:t>0</a:t>
            </a:r>
            <a:r>
              <a:rPr lang="en-US" altLang="zh-CN" sz="2400"/>
              <a:t>(4,Ø)+ D</a:t>
            </a:r>
            <a:r>
              <a:rPr lang="en-US" altLang="zh-CN" sz="2400" baseline="-30000"/>
              <a:t>42</a:t>
            </a:r>
            <a:r>
              <a:rPr lang="zh-CN" altLang="en-US" sz="2400"/>
              <a:t>＝</a:t>
            </a:r>
            <a:r>
              <a:rPr lang="en-US" altLang="zh-CN" sz="2400"/>
              <a:t>6+7=13</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1</a:t>
            </a:r>
            <a:r>
              <a:rPr lang="en-US" altLang="zh-CN" sz="2400"/>
              <a:t>(3,{2})= f</a:t>
            </a:r>
            <a:r>
              <a:rPr lang="en-US" altLang="zh-CN" sz="2400" baseline="-30000"/>
              <a:t>0</a:t>
            </a:r>
            <a:r>
              <a:rPr lang="en-US" altLang="zh-CN" sz="2400"/>
              <a:t>(2,Ø)+ D</a:t>
            </a:r>
            <a:r>
              <a:rPr lang="en-US" altLang="zh-CN" sz="2400" baseline="-30000"/>
              <a:t>23</a:t>
            </a:r>
            <a:r>
              <a:rPr lang="zh-CN" altLang="en-US" sz="2400"/>
              <a:t>＝</a:t>
            </a:r>
            <a:r>
              <a:rPr lang="en-US" altLang="zh-CN" sz="2400"/>
              <a:t>8+8=16</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1</a:t>
            </a:r>
            <a:r>
              <a:rPr lang="en-US" altLang="zh-CN" sz="2400"/>
              <a:t>(3,{4})= f</a:t>
            </a:r>
            <a:r>
              <a:rPr lang="en-US" altLang="zh-CN" sz="2400" baseline="-30000"/>
              <a:t>0</a:t>
            </a:r>
            <a:r>
              <a:rPr lang="en-US" altLang="zh-CN" sz="2400"/>
              <a:t>(4,Ø)+ D</a:t>
            </a:r>
            <a:r>
              <a:rPr lang="en-US" altLang="zh-CN" sz="2400" baseline="-30000"/>
              <a:t>43</a:t>
            </a:r>
            <a:r>
              <a:rPr lang="zh-CN" altLang="en-US" sz="2400"/>
              <a:t>＝</a:t>
            </a:r>
            <a:r>
              <a:rPr lang="en-US" altLang="zh-CN" sz="2400"/>
              <a:t>6+8=14</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1</a:t>
            </a:r>
            <a:r>
              <a:rPr lang="en-US" altLang="zh-CN" sz="2400"/>
              <a:t>(4,{2})= f</a:t>
            </a:r>
            <a:r>
              <a:rPr lang="en-US" altLang="zh-CN" sz="2400" baseline="-30000"/>
              <a:t>0</a:t>
            </a:r>
            <a:r>
              <a:rPr lang="en-US" altLang="zh-CN" sz="2400"/>
              <a:t>(2,Ø)+ D</a:t>
            </a:r>
            <a:r>
              <a:rPr lang="en-US" altLang="zh-CN" sz="2400" baseline="-30000"/>
              <a:t>24</a:t>
            </a:r>
            <a:r>
              <a:rPr lang="zh-CN" altLang="en-US" sz="2400"/>
              <a:t>＝</a:t>
            </a:r>
            <a:r>
              <a:rPr lang="en-US" altLang="zh-CN" sz="2400"/>
              <a:t>8+5=13</a:t>
            </a:r>
          </a:p>
          <a:p>
            <a:pPr marL="0" indent="384175" algn="just">
              <a:spcBef>
                <a:spcPct val="10000"/>
              </a:spcBef>
              <a:buFont typeface="Wingdings" panose="05000000000000000000" pitchFamily="2" charset="2"/>
              <a:buNone/>
            </a:pPr>
            <a:r>
              <a:rPr lang="en-US" altLang="zh-CN" sz="2400"/>
              <a:t>f</a:t>
            </a:r>
            <a:r>
              <a:rPr lang="en-US" altLang="zh-CN" sz="2400" baseline="-30000"/>
              <a:t>1</a:t>
            </a:r>
            <a:r>
              <a:rPr lang="en-US" altLang="zh-CN" sz="2400"/>
              <a:t>(4,{3})= f</a:t>
            </a:r>
            <a:r>
              <a:rPr lang="en-US" altLang="zh-CN" sz="2400" baseline="-30000"/>
              <a:t>0</a:t>
            </a:r>
            <a:r>
              <a:rPr lang="en-US" altLang="zh-CN" sz="2400"/>
              <a:t>(3,Ø)+ D</a:t>
            </a:r>
            <a:r>
              <a:rPr lang="en-US" altLang="zh-CN" sz="2400" baseline="-30000"/>
              <a:t>34</a:t>
            </a:r>
            <a:r>
              <a:rPr lang="zh-CN" altLang="en-US" sz="2400"/>
              <a:t>＝</a:t>
            </a:r>
            <a:r>
              <a:rPr lang="en-US" altLang="zh-CN" sz="2400"/>
              <a:t>5+5=10</a:t>
            </a:r>
          </a:p>
          <a:p>
            <a:pPr marL="0" indent="384175" algn="just">
              <a:spcBef>
                <a:spcPct val="10000"/>
              </a:spcBef>
              <a:buFont typeface="Wingdings" panose="05000000000000000000" pitchFamily="2" charset="2"/>
              <a:buNone/>
            </a:pPr>
            <a:r>
              <a:rPr lang="zh-CN" altLang="en-US" sz="2400"/>
              <a:t>当</a:t>
            </a:r>
            <a:r>
              <a:rPr lang="en-US" altLang="zh-CN" sz="2400"/>
              <a:t>k=2</a:t>
            </a:r>
            <a:r>
              <a:rPr lang="zh-CN" altLang="en-US" sz="2400"/>
              <a:t>时，即从</a:t>
            </a:r>
            <a:r>
              <a:rPr lang="en-US" altLang="zh-CN" sz="2400"/>
              <a:t>1</a:t>
            </a:r>
            <a:r>
              <a:rPr lang="zh-CN" altLang="en-US" sz="2400"/>
              <a:t>城开始，中间经过两个城市到达</a:t>
            </a:r>
            <a:r>
              <a:rPr lang="en-US" altLang="zh-CN" sz="2400"/>
              <a:t>i</a:t>
            </a:r>
            <a:r>
              <a:rPr lang="zh-CN" altLang="en-US" sz="2400"/>
              <a:t>城的最短距离是：</a:t>
            </a:r>
          </a:p>
          <a:p>
            <a:pPr marL="0" indent="384175" algn="just">
              <a:spcBef>
                <a:spcPct val="10000"/>
              </a:spcBef>
              <a:buFont typeface="Wingdings" panose="05000000000000000000" pitchFamily="2" charset="2"/>
              <a:buNone/>
            </a:pPr>
            <a:r>
              <a:rPr lang="en-US" altLang="zh-CN" sz="2400"/>
              <a:t>f</a:t>
            </a:r>
            <a:r>
              <a:rPr lang="en-US" altLang="zh-CN" sz="2400" baseline="-30000"/>
              <a:t>2</a:t>
            </a:r>
            <a:r>
              <a:rPr lang="en-US" altLang="zh-CN" sz="2400"/>
              <a:t>(2,{3,4})=min [ f</a:t>
            </a:r>
            <a:r>
              <a:rPr lang="en-US" altLang="zh-CN" sz="2400" baseline="-30000"/>
              <a:t>1</a:t>
            </a:r>
            <a:r>
              <a:rPr lang="en-US" altLang="zh-CN" sz="2400"/>
              <a:t>(3, {4})+D</a:t>
            </a:r>
            <a:r>
              <a:rPr lang="en-US" altLang="zh-CN" sz="2400" baseline="-30000"/>
              <a:t>32     </a:t>
            </a:r>
            <a:r>
              <a:rPr lang="en-US" altLang="zh-CN" sz="2400"/>
              <a:t>f</a:t>
            </a:r>
            <a:r>
              <a:rPr lang="en-US" altLang="zh-CN" sz="2400" baseline="-30000"/>
              <a:t>1</a:t>
            </a:r>
            <a:r>
              <a:rPr lang="en-US" altLang="zh-CN" sz="2400"/>
              <a:t>(4, {3})+D</a:t>
            </a:r>
            <a:r>
              <a:rPr lang="en-US" altLang="zh-CN" sz="2400" baseline="-30000"/>
              <a:t>42</a:t>
            </a:r>
            <a:r>
              <a:rPr lang="en-US" altLang="zh-CN" sz="2400"/>
              <a:t>]</a:t>
            </a:r>
          </a:p>
          <a:p>
            <a:pPr marL="0" indent="384175" algn="just">
              <a:spcBef>
                <a:spcPct val="10000"/>
              </a:spcBef>
              <a:buFont typeface="Wingdings" panose="05000000000000000000" pitchFamily="2" charset="2"/>
              <a:buNone/>
            </a:pPr>
            <a:r>
              <a:rPr lang="en-US" altLang="zh-CN" sz="2400"/>
              <a:t>                 =min[14+9 ,10+7]=17             </a:t>
            </a:r>
            <a:r>
              <a:rPr lang="en-US" altLang="zh-CN" sz="2400">
                <a:solidFill>
                  <a:srgbClr val="FF0000"/>
                </a:solidFill>
              </a:rPr>
              <a:t>P</a:t>
            </a:r>
            <a:r>
              <a:rPr lang="en-US" altLang="zh-CN" sz="2400" baseline="-30000">
                <a:solidFill>
                  <a:srgbClr val="FF0000"/>
                </a:solidFill>
              </a:rPr>
              <a:t>2</a:t>
            </a:r>
            <a:r>
              <a:rPr lang="en-US" altLang="zh-CN" sz="2400">
                <a:solidFill>
                  <a:srgbClr val="FF0000"/>
                </a:solidFill>
              </a:rPr>
              <a:t>(2,{3,4})=4</a:t>
            </a:r>
          </a:p>
          <a:p>
            <a:pPr marL="0" indent="384175" algn="just">
              <a:lnSpc>
                <a:spcPct val="105000"/>
              </a:lnSpc>
              <a:spcBef>
                <a:spcPct val="10000"/>
              </a:spcBef>
              <a:buFont typeface="Wingdings" panose="05000000000000000000" pitchFamily="2" charset="2"/>
              <a:buNone/>
            </a:pPr>
            <a:endParaRPr lang="en-US" altLang="zh-CN" sz="2400"/>
          </a:p>
          <a:p>
            <a:pPr marL="0" indent="384175" algn="just">
              <a:lnSpc>
                <a:spcPct val="105000"/>
              </a:lnSpc>
              <a:spcBef>
                <a:spcPct val="10000"/>
              </a:spcBef>
              <a:buFont typeface="Wingdings" panose="05000000000000000000" pitchFamily="2" charset="2"/>
              <a:buNone/>
            </a:pPr>
            <a:endParaRPr lang="zh-CN" altLang="en-US" sz="2400"/>
          </a:p>
        </p:txBody>
      </p:sp>
      <p:grpSp>
        <p:nvGrpSpPr>
          <p:cNvPr id="78851" name="Group 4">
            <a:extLst>
              <a:ext uri="{FF2B5EF4-FFF2-40B4-BE49-F238E27FC236}">
                <a16:creationId xmlns:a16="http://schemas.microsoft.com/office/drawing/2014/main" id="{CCDE9BE7-682D-4D21-98B2-A1D77BE1D3A7}"/>
              </a:ext>
            </a:extLst>
          </p:cNvPr>
          <p:cNvGrpSpPr>
            <a:grpSpLocks/>
          </p:cNvGrpSpPr>
          <p:nvPr/>
        </p:nvGrpSpPr>
        <p:grpSpPr bwMode="auto">
          <a:xfrm>
            <a:off x="7391400" y="228600"/>
            <a:ext cx="1295400" cy="990600"/>
            <a:chOff x="3120" y="1584"/>
            <a:chExt cx="816" cy="624"/>
          </a:xfrm>
        </p:grpSpPr>
        <p:sp>
          <p:nvSpPr>
            <p:cNvPr id="78863" name="Line 5">
              <a:extLst>
                <a:ext uri="{FF2B5EF4-FFF2-40B4-BE49-F238E27FC236}">
                  <a16:creationId xmlns:a16="http://schemas.microsoft.com/office/drawing/2014/main" id="{84FE60E6-5D97-42C4-86A1-64175B054C2D}"/>
                </a:ext>
              </a:extLst>
            </p:cNvPr>
            <p:cNvSpPr>
              <a:spLocks noChangeShapeType="1"/>
            </p:cNvSpPr>
            <p:nvPr/>
          </p:nvSpPr>
          <p:spPr bwMode="auto">
            <a:xfrm flipV="1">
              <a:off x="3312" y="1680"/>
              <a:ext cx="432" cy="528"/>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8864" name="Text Box 6">
              <a:extLst>
                <a:ext uri="{FF2B5EF4-FFF2-40B4-BE49-F238E27FC236}">
                  <a16:creationId xmlns:a16="http://schemas.microsoft.com/office/drawing/2014/main" id="{3722F382-1FBE-4F03-AA8B-C6B9A2588715}"/>
                </a:ext>
              </a:extLst>
            </p:cNvPr>
            <p:cNvSpPr txBox="1">
              <a:spLocks noChangeArrowheads="1"/>
            </p:cNvSpPr>
            <p:nvPr/>
          </p:nvSpPr>
          <p:spPr bwMode="auto">
            <a:xfrm>
              <a:off x="3120" y="196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aseline="-24000">
                  <a:solidFill>
                    <a:srgbClr val="FF0000"/>
                  </a:solidFill>
                  <a:latin typeface="Arial Narrow" panose="020B0606020202030204" pitchFamily="34" charset="0"/>
                </a:rPr>
                <a:t>1</a:t>
              </a:r>
            </a:p>
          </p:txBody>
        </p:sp>
        <p:sp>
          <p:nvSpPr>
            <p:cNvPr id="78865" name="Text Box 7">
              <a:extLst>
                <a:ext uri="{FF2B5EF4-FFF2-40B4-BE49-F238E27FC236}">
                  <a16:creationId xmlns:a16="http://schemas.microsoft.com/office/drawing/2014/main" id="{EEE553D0-DA44-4F5A-8D1E-46A9D2B5DC64}"/>
                </a:ext>
              </a:extLst>
            </p:cNvPr>
            <p:cNvSpPr txBox="1">
              <a:spLocks noChangeArrowheads="1"/>
            </p:cNvSpPr>
            <p:nvPr/>
          </p:nvSpPr>
          <p:spPr bwMode="auto">
            <a:xfrm>
              <a:off x="3744" y="158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aseline="-24000">
                  <a:solidFill>
                    <a:srgbClr val="FF0000"/>
                  </a:solidFill>
                </a:rPr>
                <a:t>i</a:t>
              </a:r>
            </a:p>
          </p:txBody>
        </p:sp>
      </p:grpSp>
      <p:grpSp>
        <p:nvGrpSpPr>
          <p:cNvPr id="78852" name="Group 8">
            <a:extLst>
              <a:ext uri="{FF2B5EF4-FFF2-40B4-BE49-F238E27FC236}">
                <a16:creationId xmlns:a16="http://schemas.microsoft.com/office/drawing/2014/main" id="{BA7A6AD7-3B40-453C-9CCD-B65E59879054}"/>
              </a:ext>
            </a:extLst>
          </p:cNvPr>
          <p:cNvGrpSpPr>
            <a:grpSpLocks/>
          </p:cNvGrpSpPr>
          <p:nvPr/>
        </p:nvGrpSpPr>
        <p:grpSpPr bwMode="auto">
          <a:xfrm>
            <a:off x="6705600" y="2133600"/>
            <a:ext cx="1524000" cy="1066800"/>
            <a:chOff x="3936" y="3120"/>
            <a:chExt cx="960" cy="672"/>
          </a:xfrm>
        </p:grpSpPr>
        <p:sp>
          <p:nvSpPr>
            <p:cNvPr id="78859" name="Line 9">
              <a:extLst>
                <a:ext uri="{FF2B5EF4-FFF2-40B4-BE49-F238E27FC236}">
                  <a16:creationId xmlns:a16="http://schemas.microsoft.com/office/drawing/2014/main" id="{DF15B2F3-E4D2-4E42-8162-FB75137ABDBD}"/>
                </a:ext>
              </a:extLst>
            </p:cNvPr>
            <p:cNvSpPr>
              <a:spLocks noChangeShapeType="1"/>
            </p:cNvSpPr>
            <p:nvPr/>
          </p:nvSpPr>
          <p:spPr bwMode="auto">
            <a:xfrm flipV="1">
              <a:off x="4032" y="3120"/>
              <a:ext cx="336" cy="528"/>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8860" name="Line 10">
              <a:extLst>
                <a:ext uri="{FF2B5EF4-FFF2-40B4-BE49-F238E27FC236}">
                  <a16:creationId xmlns:a16="http://schemas.microsoft.com/office/drawing/2014/main" id="{A5539F2C-E9C9-4BE9-9408-98194401F3AA}"/>
                </a:ext>
              </a:extLst>
            </p:cNvPr>
            <p:cNvSpPr>
              <a:spLocks noChangeShapeType="1"/>
            </p:cNvSpPr>
            <p:nvPr/>
          </p:nvSpPr>
          <p:spPr bwMode="auto">
            <a:xfrm>
              <a:off x="4368" y="3120"/>
              <a:ext cx="528" cy="144"/>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8861" name="Text Box 11">
              <a:extLst>
                <a:ext uri="{FF2B5EF4-FFF2-40B4-BE49-F238E27FC236}">
                  <a16:creationId xmlns:a16="http://schemas.microsoft.com/office/drawing/2014/main" id="{F1961E30-ABED-435F-9C40-53C856564C94}"/>
                </a:ext>
              </a:extLst>
            </p:cNvPr>
            <p:cNvSpPr txBox="1">
              <a:spLocks noChangeArrowheads="1"/>
            </p:cNvSpPr>
            <p:nvPr/>
          </p:nvSpPr>
          <p:spPr bwMode="auto">
            <a:xfrm>
              <a:off x="3936" y="355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aseline="-24000">
                  <a:solidFill>
                    <a:srgbClr val="FF0000"/>
                  </a:solidFill>
                  <a:latin typeface="Arial Narrow" panose="020B0606020202030204" pitchFamily="34" charset="0"/>
                </a:rPr>
                <a:t>1</a:t>
              </a:r>
            </a:p>
          </p:txBody>
        </p:sp>
        <p:sp>
          <p:nvSpPr>
            <p:cNvPr id="78862" name="Text Box 12">
              <a:extLst>
                <a:ext uri="{FF2B5EF4-FFF2-40B4-BE49-F238E27FC236}">
                  <a16:creationId xmlns:a16="http://schemas.microsoft.com/office/drawing/2014/main" id="{AFD2377D-3DB4-4DED-88E5-187774493FFF}"/>
                </a:ext>
              </a:extLst>
            </p:cNvPr>
            <p:cNvSpPr txBox="1">
              <a:spLocks noChangeArrowheads="1"/>
            </p:cNvSpPr>
            <p:nvPr/>
          </p:nvSpPr>
          <p:spPr bwMode="auto">
            <a:xfrm>
              <a:off x="4656" y="316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aseline="-24000">
                  <a:solidFill>
                    <a:srgbClr val="FF0000"/>
                  </a:solidFill>
                </a:rPr>
                <a:t>i</a:t>
              </a:r>
            </a:p>
          </p:txBody>
        </p:sp>
      </p:grpSp>
      <p:grpSp>
        <p:nvGrpSpPr>
          <p:cNvPr id="78853" name="Group 13">
            <a:extLst>
              <a:ext uri="{FF2B5EF4-FFF2-40B4-BE49-F238E27FC236}">
                <a16:creationId xmlns:a16="http://schemas.microsoft.com/office/drawing/2014/main" id="{F33FA4D2-FFAF-4079-8E83-A9B04A83739E}"/>
              </a:ext>
            </a:extLst>
          </p:cNvPr>
          <p:cNvGrpSpPr>
            <a:grpSpLocks/>
          </p:cNvGrpSpPr>
          <p:nvPr/>
        </p:nvGrpSpPr>
        <p:grpSpPr bwMode="auto">
          <a:xfrm>
            <a:off x="6934200" y="3429000"/>
            <a:ext cx="1447800" cy="1066800"/>
            <a:chOff x="336" y="1344"/>
            <a:chExt cx="912" cy="672"/>
          </a:xfrm>
        </p:grpSpPr>
        <p:sp>
          <p:nvSpPr>
            <p:cNvPr id="78854" name="Line 14">
              <a:extLst>
                <a:ext uri="{FF2B5EF4-FFF2-40B4-BE49-F238E27FC236}">
                  <a16:creationId xmlns:a16="http://schemas.microsoft.com/office/drawing/2014/main" id="{D9702679-7F69-44CF-ADA4-21A7C3EFDEFD}"/>
                </a:ext>
              </a:extLst>
            </p:cNvPr>
            <p:cNvSpPr>
              <a:spLocks noChangeShapeType="1"/>
            </p:cNvSpPr>
            <p:nvPr/>
          </p:nvSpPr>
          <p:spPr bwMode="auto">
            <a:xfrm flipV="1">
              <a:off x="336" y="1344"/>
              <a:ext cx="336" cy="528"/>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8855" name="Line 15">
              <a:extLst>
                <a:ext uri="{FF2B5EF4-FFF2-40B4-BE49-F238E27FC236}">
                  <a16:creationId xmlns:a16="http://schemas.microsoft.com/office/drawing/2014/main" id="{67A1CA7B-7B63-45CA-BA1E-DFC7CCEB72D8}"/>
                </a:ext>
              </a:extLst>
            </p:cNvPr>
            <p:cNvSpPr>
              <a:spLocks noChangeShapeType="1"/>
            </p:cNvSpPr>
            <p:nvPr/>
          </p:nvSpPr>
          <p:spPr bwMode="auto">
            <a:xfrm>
              <a:off x="672" y="1344"/>
              <a:ext cx="528" cy="144"/>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8856" name="Line 16">
              <a:extLst>
                <a:ext uri="{FF2B5EF4-FFF2-40B4-BE49-F238E27FC236}">
                  <a16:creationId xmlns:a16="http://schemas.microsoft.com/office/drawing/2014/main" id="{CFC0CF9F-8DEF-4039-B0C7-790A4A3B1000}"/>
                </a:ext>
              </a:extLst>
            </p:cNvPr>
            <p:cNvSpPr>
              <a:spLocks noChangeShapeType="1"/>
            </p:cNvSpPr>
            <p:nvPr/>
          </p:nvSpPr>
          <p:spPr bwMode="auto">
            <a:xfrm>
              <a:off x="1200" y="1488"/>
              <a:ext cx="48" cy="288"/>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8857" name="Text Box 17">
              <a:extLst>
                <a:ext uri="{FF2B5EF4-FFF2-40B4-BE49-F238E27FC236}">
                  <a16:creationId xmlns:a16="http://schemas.microsoft.com/office/drawing/2014/main" id="{8650F703-B708-4D9D-8A09-D42625D06337}"/>
                </a:ext>
              </a:extLst>
            </p:cNvPr>
            <p:cNvSpPr txBox="1">
              <a:spLocks noChangeArrowheads="1"/>
            </p:cNvSpPr>
            <p:nvPr/>
          </p:nvSpPr>
          <p:spPr bwMode="auto">
            <a:xfrm>
              <a:off x="336" y="177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aseline="-24000">
                  <a:solidFill>
                    <a:srgbClr val="FF0000"/>
                  </a:solidFill>
                  <a:latin typeface="Arial Narrow" panose="020B0606020202030204" pitchFamily="34" charset="0"/>
                </a:rPr>
                <a:t>1</a:t>
              </a:r>
            </a:p>
          </p:txBody>
        </p:sp>
        <p:sp>
          <p:nvSpPr>
            <p:cNvPr id="78858" name="Text Box 18">
              <a:extLst>
                <a:ext uri="{FF2B5EF4-FFF2-40B4-BE49-F238E27FC236}">
                  <a16:creationId xmlns:a16="http://schemas.microsoft.com/office/drawing/2014/main" id="{E2FBF854-2340-45B0-8FF9-37B1BC608A50}"/>
                </a:ext>
              </a:extLst>
            </p:cNvPr>
            <p:cNvSpPr txBox="1">
              <a:spLocks noChangeArrowheads="1"/>
            </p:cNvSpPr>
            <p:nvPr/>
          </p:nvSpPr>
          <p:spPr bwMode="auto">
            <a:xfrm>
              <a:off x="1008" y="153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aseline="-24000">
                  <a:solidFill>
                    <a:srgbClr val="FF0000"/>
                  </a:solidFill>
                </a:rPr>
                <a:t>i</a:t>
              </a: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CDE6E0EF-2E0C-40E8-8674-36D13155F6C5}"/>
              </a:ext>
            </a:extLst>
          </p:cNvPr>
          <p:cNvSpPr>
            <a:spLocks noGrp="1" noChangeArrowheads="1"/>
          </p:cNvSpPr>
          <p:nvPr>
            <p:ph type="body" idx="1"/>
          </p:nvPr>
        </p:nvSpPr>
        <p:spPr>
          <a:xfrm>
            <a:off x="768350" y="1125538"/>
            <a:ext cx="7620000" cy="4038600"/>
          </a:xfrm>
        </p:spPr>
        <p:txBody>
          <a:bodyPr/>
          <a:lstStyle/>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2</a:t>
            </a:r>
            <a:r>
              <a:rPr lang="en-US" altLang="zh-CN" sz="2400"/>
              <a:t>(3,{2,4})=min [ f</a:t>
            </a:r>
            <a:r>
              <a:rPr lang="en-US" altLang="zh-CN" sz="2400" baseline="-30000"/>
              <a:t>1</a:t>
            </a:r>
            <a:r>
              <a:rPr lang="en-US" altLang="zh-CN" sz="2400"/>
              <a:t>(2, {4})+D</a:t>
            </a:r>
            <a:r>
              <a:rPr lang="en-US" altLang="zh-CN" sz="2400" baseline="-30000"/>
              <a:t>23     </a:t>
            </a:r>
            <a:r>
              <a:rPr lang="en-US" altLang="zh-CN" sz="2400"/>
              <a:t>f</a:t>
            </a:r>
            <a:r>
              <a:rPr lang="en-US" altLang="zh-CN" sz="2400" baseline="-30000"/>
              <a:t>1</a:t>
            </a:r>
            <a:r>
              <a:rPr lang="en-US" altLang="zh-CN" sz="2400"/>
              <a:t>(4, {2})+D</a:t>
            </a:r>
            <a:r>
              <a:rPr lang="en-US" altLang="zh-CN" sz="2400" baseline="-30000"/>
              <a:t>43</a:t>
            </a:r>
            <a:r>
              <a:rPr lang="en-US" altLang="zh-CN" sz="2400"/>
              <a:t>]</a:t>
            </a:r>
          </a:p>
          <a:p>
            <a:pPr marL="0" indent="384175" algn="just">
              <a:lnSpc>
                <a:spcPct val="105000"/>
              </a:lnSpc>
              <a:spcBef>
                <a:spcPct val="10000"/>
              </a:spcBef>
              <a:buFont typeface="Wingdings" panose="05000000000000000000" pitchFamily="2" charset="2"/>
              <a:buNone/>
            </a:pPr>
            <a:r>
              <a:rPr lang="en-US" altLang="zh-CN" sz="2400"/>
              <a:t>                 =min[13+8 ,13+8]=21        </a:t>
            </a:r>
            <a:r>
              <a:rPr lang="en-US" altLang="zh-CN" sz="2400">
                <a:solidFill>
                  <a:srgbClr val="FF0000"/>
                </a:solidFill>
              </a:rPr>
              <a:t>P</a:t>
            </a:r>
            <a:r>
              <a:rPr lang="en-US" altLang="zh-CN" sz="2400" baseline="-30000">
                <a:solidFill>
                  <a:srgbClr val="FF0000"/>
                </a:solidFill>
              </a:rPr>
              <a:t>2</a:t>
            </a:r>
            <a:r>
              <a:rPr lang="en-US" altLang="zh-CN" sz="2400">
                <a:solidFill>
                  <a:srgbClr val="FF0000"/>
                </a:solidFill>
              </a:rPr>
              <a:t>(3,{2,4})=2</a:t>
            </a:r>
            <a:r>
              <a:rPr lang="zh-CN" altLang="en-US" sz="2400">
                <a:solidFill>
                  <a:srgbClr val="FF0000"/>
                </a:solidFill>
              </a:rPr>
              <a:t>或</a:t>
            </a:r>
            <a:r>
              <a:rPr lang="en-US" altLang="zh-CN" sz="2400">
                <a:solidFill>
                  <a:srgbClr val="FF0000"/>
                </a:solidFill>
              </a:rPr>
              <a:t>4</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2</a:t>
            </a:r>
            <a:r>
              <a:rPr lang="en-US" altLang="zh-CN" sz="2400"/>
              <a:t>(4,{3,2})=min [ f</a:t>
            </a:r>
            <a:r>
              <a:rPr lang="en-US" altLang="zh-CN" sz="2400" baseline="-30000"/>
              <a:t>1</a:t>
            </a:r>
            <a:r>
              <a:rPr lang="en-US" altLang="zh-CN" sz="2400"/>
              <a:t>(3, {2})+D</a:t>
            </a:r>
            <a:r>
              <a:rPr lang="en-US" altLang="zh-CN" sz="2400" baseline="-30000"/>
              <a:t>34     </a:t>
            </a:r>
            <a:r>
              <a:rPr lang="en-US" altLang="zh-CN" sz="2400"/>
              <a:t>f</a:t>
            </a:r>
            <a:r>
              <a:rPr lang="en-US" altLang="zh-CN" sz="2400" baseline="-30000"/>
              <a:t>1</a:t>
            </a:r>
            <a:r>
              <a:rPr lang="en-US" altLang="zh-CN" sz="2400"/>
              <a:t>(2, {3})+D</a:t>
            </a:r>
            <a:r>
              <a:rPr lang="en-US" altLang="zh-CN" sz="2400" baseline="-30000"/>
              <a:t>24</a:t>
            </a:r>
            <a:r>
              <a:rPr lang="en-US" altLang="zh-CN" sz="2400"/>
              <a:t>]</a:t>
            </a:r>
          </a:p>
          <a:p>
            <a:pPr marL="0" indent="384175" algn="just">
              <a:lnSpc>
                <a:spcPct val="105000"/>
              </a:lnSpc>
              <a:spcBef>
                <a:spcPct val="10000"/>
              </a:spcBef>
              <a:buFont typeface="Wingdings" panose="05000000000000000000" pitchFamily="2" charset="2"/>
              <a:buNone/>
            </a:pPr>
            <a:r>
              <a:rPr lang="en-US" altLang="zh-CN" sz="2400"/>
              <a:t>                 =min[16+5 ,14+5]=19           </a:t>
            </a:r>
            <a:r>
              <a:rPr lang="en-US" altLang="zh-CN" sz="2400">
                <a:solidFill>
                  <a:srgbClr val="FF0000"/>
                </a:solidFill>
              </a:rPr>
              <a:t>P2(4,{3,2})=2</a:t>
            </a:r>
          </a:p>
          <a:p>
            <a:pPr marL="0" indent="384175" algn="just">
              <a:lnSpc>
                <a:spcPct val="105000"/>
              </a:lnSpc>
              <a:spcBef>
                <a:spcPct val="10000"/>
              </a:spcBef>
              <a:buFont typeface="Wingdings" panose="05000000000000000000" pitchFamily="2" charset="2"/>
              <a:buNone/>
            </a:pPr>
            <a:r>
              <a:rPr lang="zh-CN" altLang="en-US" sz="2400"/>
              <a:t>当</a:t>
            </a:r>
            <a:r>
              <a:rPr lang="en-US" altLang="zh-CN" sz="2400"/>
              <a:t>k=3</a:t>
            </a:r>
            <a:r>
              <a:rPr lang="zh-CN" altLang="en-US" sz="2400"/>
              <a:t>时，即从</a:t>
            </a:r>
            <a:r>
              <a:rPr lang="en-US" altLang="zh-CN" sz="2400"/>
              <a:t>1</a:t>
            </a:r>
            <a:r>
              <a:rPr lang="zh-CN" altLang="en-US" sz="2400"/>
              <a:t>城开始，中间经过三个城市到达</a:t>
            </a:r>
            <a:r>
              <a:rPr lang="en-US" altLang="zh-CN" sz="2400"/>
              <a:t>1</a:t>
            </a:r>
            <a:r>
              <a:rPr lang="zh-CN" altLang="en-US" sz="2400"/>
              <a:t>城的最短距离是：</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3</a:t>
            </a:r>
            <a:r>
              <a:rPr lang="en-US" altLang="zh-CN" sz="2400"/>
              <a:t>(1,{2,3,4})=min [ f</a:t>
            </a:r>
            <a:r>
              <a:rPr lang="en-US" altLang="zh-CN" sz="2400" baseline="-30000"/>
              <a:t>2</a:t>
            </a:r>
            <a:r>
              <a:rPr lang="en-US" altLang="zh-CN" sz="2400"/>
              <a:t>(2, {3,4})+D</a:t>
            </a:r>
            <a:r>
              <a:rPr lang="en-US" altLang="zh-CN" sz="2400" baseline="-30000"/>
              <a:t>21     </a:t>
            </a:r>
          </a:p>
          <a:p>
            <a:pPr marL="0" indent="384175" algn="just">
              <a:lnSpc>
                <a:spcPct val="105000"/>
              </a:lnSpc>
              <a:spcBef>
                <a:spcPct val="10000"/>
              </a:spcBef>
              <a:buFont typeface="Wingdings" panose="05000000000000000000" pitchFamily="2" charset="2"/>
              <a:buNone/>
            </a:pPr>
            <a:r>
              <a:rPr lang="en-US" altLang="zh-CN" sz="2400"/>
              <a:t>f</a:t>
            </a:r>
            <a:r>
              <a:rPr lang="en-US" altLang="zh-CN" sz="2400" baseline="-30000"/>
              <a:t>2</a:t>
            </a:r>
            <a:r>
              <a:rPr lang="en-US" altLang="zh-CN" sz="2400"/>
              <a:t>(3, {4,2})+D</a:t>
            </a:r>
            <a:r>
              <a:rPr lang="en-US" altLang="zh-CN" sz="2400" baseline="-30000"/>
              <a:t>31 </a:t>
            </a:r>
            <a:r>
              <a:rPr lang="en-US" altLang="zh-CN" sz="2400"/>
              <a:t>        f</a:t>
            </a:r>
            <a:r>
              <a:rPr lang="en-US" altLang="zh-CN" sz="2400" baseline="-30000"/>
              <a:t>2</a:t>
            </a:r>
            <a:r>
              <a:rPr lang="en-US" altLang="zh-CN" sz="2400"/>
              <a:t>(4, {3,2})+D</a:t>
            </a:r>
            <a:r>
              <a:rPr lang="en-US" altLang="zh-CN" sz="2400" baseline="-30000"/>
              <a:t>41</a:t>
            </a:r>
            <a:r>
              <a:rPr lang="en-US" altLang="zh-CN" sz="2400"/>
              <a:t>]</a:t>
            </a:r>
          </a:p>
          <a:p>
            <a:pPr marL="0" indent="384175" algn="just">
              <a:lnSpc>
                <a:spcPct val="105000"/>
              </a:lnSpc>
              <a:spcBef>
                <a:spcPct val="10000"/>
              </a:spcBef>
              <a:buFont typeface="Wingdings" panose="05000000000000000000" pitchFamily="2" charset="2"/>
              <a:buNone/>
            </a:pPr>
            <a:r>
              <a:rPr lang="en-US" altLang="zh-CN" sz="2400"/>
              <a:t>=min[17+6 , 21+7,  19+9]=23</a:t>
            </a:r>
          </a:p>
          <a:p>
            <a:pPr marL="0" indent="384175" algn="just">
              <a:lnSpc>
                <a:spcPct val="105000"/>
              </a:lnSpc>
              <a:spcBef>
                <a:spcPct val="10000"/>
              </a:spcBef>
              <a:buFont typeface="Wingdings" panose="05000000000000000000" pitchFamily="2" charset="2"/>
              <a:buNone/>
            </a:pPr>
            <a:r>
              <a:rPr lang="en-US" altLang="zh-CN" sz="2400">
                <a:solidFill>
                  <a:srgbClr val="FF0000"/>
                </a:solidFill>
              </a:rPr>
              <a:t>P</a:t>
            </a:r>
            <a:r>
              <a:rPr lang="en-US" altLang="zh-CN" sz="2400" baseline="-30000">
                <a:solidFill>
                  <a:srgbClr val="FF0000"/>
                </a:solidFill>
              </a:rPr>
              <a:t>3</a:t>
            </a:r>
            <a:r>
              <a:rPr lang="en-US" altLang="zh-CN" sz="2400">
                <a:solidFill>
                  <a:srgbClr val="FF0000"/>
                </a:solidFill>
              </a:rPr>
              <a:t>(1,{2,3,4})=2</a:t>
            </a:r>
          </a:p>
          <a:p>
            <a:pPr marL="0" indent="384175" algn="just">
              <a:lnSpc>
                <a:spcPct val="105000"/>
              </a:lnSpc>
              <a:spcBef>
                <a:spcPct val="10000"/>
              </a:spcBef>
              <a:buFont typeface="Wingdings" panose="05000000000000000000" pitchFamily="2" charset="2"/>
              <a:buNone/>
            </a:pPr>
            <a:r>
              <a:rPr lang="zh-CN" altLang="en-US" sz="2400"/>
              <a:t>由此可知，推销员的最短行走路线为</a:t>
            </a:r>
            <a:r>
              <a:rPr lang="en-US" altLang="zh-CN" sz="2400"/>
              <a:t>1</a:t>
            </a:r>
            <a:r>
              <a:rPr lang="zh-CN" altLang="en-US" sz="2400"/>
              <a:t>－</a:t>
            </a:r>
            <a:r>
              <a:rPr lang="en-US" altLang="zh-CN" sz="2400"/>
              <a:t>3</a:t>
            </a:r>
            <a:r>
              <a:rPr lang="zh-CN" altLang="en-US" sz="2400"/>
              <a:t>－</a:t>
            </a:r>
            <a:r>
              <a:rPr lang="en-US" altLang="zh-CN" sz="2400"/>
              <a:t>4</a:t>
            </a:r>
            <a:r>
              <a:rPr lang="zh-CN" altLang="en-US" sz="2400"/>
              <a:t>－</a:t>
            </a:r>
            <a:r>
              <a:rPr lang="en-US" altLang="zh-CN" sz="2400"/>
              <a:t>2</a:t>
            </a:r>
            <a:r>
              <a:rPr lang="zh-CN" altLang="en-US" sz="2400"/>
              <a:t>－</a:t>
            </a:r>
            <a:r>
              <a:rPr lang="en-US" altLang="zh-CN" sz="2400"/>
              <a:t>1</a:t>
            </a:r>
            <a:r>
              <a:rPr lang="zh-CN" altLang="en-US" sz="2400"/>
              <a:t>，最短总距离为</a:t>
            </a:r>
            <a:r>
              <a:rPr lang="en-US" altLang="zh-CN" sz="2400"/>
              <a:t>23</a:t>
            </a:r>
            <a:r>
              <a:rPr lang="zh-CN" altLang="en-US" sz="2400"/>
              <a:t>。</a:t>
            </a:r>
          </a:p>
          <a:p>
            <a:pPr marL="0" indent="384175" algn="just">
              <a:lnSpc>
                <a:spcPct val="105000"/>
              </a:lnSpc>
              <a:spcBef>
                <a:spcPct val="10000"/>
              </a:spcBef>
              <a:buFont typeface="Wingdings" panose="05000000000000000000" pitchFamily="2" charset="2"/>
              <a:buNone/>
            </a:pPr>
            <a:endParaRPr lang="zh-CN" altLang="en-US" sz="2400"/>
          </a:p>
        </p:txBody>
      </p:sp>
      <p:grpSp>
        <p:nvGrpSpPr>
          <p:cNvPr id="79875" name="Group 4">
            <a:extLst>
              <a:ext uri="{FF2B5EF4-FFF2-40B4-BE49-F238E27FC236}">
                <a16:creationId xmlns:a16="http://schemas.microsoft.com/office/drawing/2014/main" id="{1417B8B7-0077-455C-87A4-72089C0ED3DA}"/>
              </a:ext>
            </a:extLst>
          </p:cNvPr>
          <p:cNvGrpSpPr>
            <a:grpSpLocks/>
          </p:cNvGrpSpPr>
          <p:nvPr/>
        </p:nvGrpSpPr>
        <p:grpSpPr bwMode="auto">
          <a:xfrm>
            <a:off x="6345238" y="3351213"/>
            <a:ext cx="1905000" cy="1066800"/>
            <a:chOff x="2688" y="3312"/>
            <a:chExt cx="1200" cy="672"/>
          </a:xfrm>
        </p:grpSpPr>
        <p:sp>
          <p:nvSpPr>
            <p:cNvPr id="79876" name="Line 5">
              <a:extLst>
                <a:ext uri="{FF2B5EF4-FFF2-40B4-BE49-F238E27FC236}">
                  <a16:creationId xmlns:a16="http://schemas.microsoft.com/office/drawing/2014/main" id="{900046A4-1E88-48BE-A0DC-76C1B8E14C40}"/>
                </a:ext>
              </a:extLst>
            </p:cNvPr>
            <p:cNvSpPr>
              <a:spLocks noChangeShapeType="1"/>
            </p:cNvSpPr>
            <p:nvPr/>
          </p:nvSpPr>
          <p:spPr bwMode="auto">
            <a:xfrm flipV="1">
              <a:off x="2976" y="3312"/>
              <a:ext cx="336" cy="528"/>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77" name="Line 6">
              <a:extLst>
                <a:ext uri="{FF2B5EF4-FFF2-40B4-BE49-F238E27FC236}">
                  <a16:creationId xmlns:a16="http://schemas.microsoft.com/office/drawing/2014/main" id="{D1DB70D7-7266-4E3B-B57F-D2667CE3A0D2}"/>
                </a:ext>
              </a:extLst>
            </p:cNvPr>
            <p:cNvSpPr>
              <a:spLocks noChangeShapeType="1"/>
            </p:cNvSpPr>
            <p:nvPr/>
          </p:nvSpPr>
          <p:spPr bwMode="auto">
            <a:xfrm>
              <a:off x="3312" y="3312"/>
              <a:ext cx="528" cy="144"/>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78" name="Line 7">
              <a:extLst>
                <a:ext uri="{FF2B5EF4-FFF2-40B4-BE49-F238E27FC236}">
                  <a16:creationId xmlns:a16="http://schemas.microsoft.com/office/drawing/2014/main" id="{71EA7CD0-91C8-4B6C-B164-20B9EBBD89EF}"/>
                </a:ext>
              </a:extLst>
            </p:cNvPr>
            <p:cNvSpPr>
              <a:spLocks noChangeShapeType="1"/>
            </p:cNvSpPr>
            <p:nvPr/>
          </p:nvSpPr>
          <p:spPr bwMode="auto">
            <a:xfrm>
              <a:off x="3840" y="3456"/>
              <a:ext cx="48" cy="288"/>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79" name="Line 8">
              <a:extLst>
                <a:ext uri="{FF2B5EF4-FFF2-40B4-BE49-F238E27FC236}">
                  <a16:creationId xmlns:a16="http://schemas.microsoft.com/office/drawing/2014/main" id="{3E6DF8EE-83DA-40B9-8C8A-8EFA7884633D}"/>
                </a:ext>
              </a:extLst>
            </p:cNvPr>
            <p:cNvSpPr>
              <a:spLocks noChangeShapeType="1"/>
            </p:cNvSpPr>
            <p:nvPr/>
          </p:nvSpPr>
          <p:spPr bwMode="auto">
            <a:xfrm flipH="1">
              <a:off x="2976" y="3744"/>
              <a:ext cx="912" cy="96"/>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80" name="Text Box 9">
              <a:extLst>
                <a:ext uri="{FF2B5EF4-FFF2-40B4-BE49-F238E27FC236}">
                  <a16:creationId xmlns:a16="http://schemas.microsoft.com/office/drawing/2014/main" id="{DDDDA722-662D-4D29-B441-BFFBD1849AD8}"/>
                </a:ext>
              </a:extLst>
            </p:cNvPr>
            <p:cNvSpPr txBox="1">
              <a:spLocks noChangeArrowheads="1"/>
            </p:cNvSpPr>
            <p:nvPr/>
          </p:nvSpPr>
          <p:spPr bwMode="auto">
            <a:xfrm>
              <a:off x="2688" y="374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aseline="-24000">
                  <a:solidFill>
                    <a:srgbClr val="FF0000"/>
                  </a:solidFill>
                  <a:latin typeface="Arial Narrow" panose="020B0606020202030204" pitchFamily="34" charset="0"/>
                </a:rPr>
                <a:t>1</a:t>
              </a: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43EB943A-321C-4F14-BB0D-4FE65131A79F}"/>
              </a:ext>
            </a:extLst>
          </p:cNvPr>
          <p:cNvSpPr>
            <a:spLocks noGrp="1" noChangeArrowheads="1"/>
          </p:cNvSpPr>
          <p:nvPr>
            <p:ph type="title"/>
          </p:nvPr>
        </p:nvSpPr>
        <p:spPr>
          <a:xfrm>
            <a:off x="457200" y="277813"/>
            <a:ext cx="7010400" cy="788987"/>
          </a:xfrm>
        </p:spPr>
        <p:txBody>
          <a:bodyPr/>
          <a:lstStyle/>
          <a:p>
            <a:r>
              <a:rPr lang="zh-CN" altLang="en-US"/>
              <a:t>课后练习</a:t>
            </a:r>
            <a:r>
              <a:rPr lang="zh-CN" altLang="zh-CN"/>
              <a:t>题（运筹学第</a:t>
            </a:r>
            <a:r>
              <a:rPr lang="en-US" altLang="zh-CN"/>
              <a:t>4</a:t>
            </a:r>
            <a:r>
              <a:rPr lang="zh-CN" altLang="zh-CN"/>
              <a:t>版）</a:t>
            </a:r>
            <a:endParaRPr lang="zh-CN" altLang="en-US"/>
          </a:p>
        </p:txBody>
      </p:sp>
      <p:sp>
        <p:nvSpPr>
          <p:cNvPr id="80899" name="AutoShape 1" descr="C:\Users\john\AppData\Roaming\Tencent\Users\22892665\QQ\WinTemp\RichOle\~J5Q7I]{QM{GQR[]T5)7K.jpg">
            <a:extLst>
              <a:ext uri="{FF2B5EF4-FFF2-40B4-BE49-F238E27FC236}">
                <a16:creationId xmlns:a16="http://schemas.microsoft.com/office/drawing/2014/main" id="{74E9A031-899C-4EF6-8DB7-BF8033C48BAD}"/>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0900" name="AutoShape 2" descr="C:\Users\john\AppData\Roaming\Tencent\Users\22892665\QQ\WinTemp\RichOle\~J5Q7I]{QM{GQR[]T5)7K.jpg">
            <a:extLst>
              <a:ext uri="{FF2B5EF4-FFF2-40B4-BE49-F238E27FC236}">
                <a16:creationId xmlns:a16="http://schemas.microsoft.com/office/drawing/2014/main" id="{E13BFB01-E1BC-4962-8746-F501CD8E94A1}"/>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0901" name="AutoShape 3" descr="C:\Users\john\AppData\Roaming\Tencent\Users\22892665\QQ\WinTemp\RichOle\~J5Q7I]{QM{GQR[]T5)7K.jpg">
            <a:extLst>
              <a:ext uri="{FF2B5EF4-FFF2-40B4-BE49-F238E27FC236}">
                <a16:creationId xmlns:a16="http://schemas.microsoft.com/office/drawing/2014/main" id="{8207F747-2306-4863-931E-37F46D4FA087}"/>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Rectangle 3">
            <a:extLst>
              <a:ext uri="{FF2B5EF4-FFF2-40B4-BE49-F238E27FC236}">
                <a16:creationId xmlns:a16="http://schemas.microsoft.com/office/drawing/2014/main" id="{FA8B45D8-01FF-4811-A67F-163CD4AA76D7}"/>
              </a:ext>
            </a:extLst>
          </p:cNvPr>
          <p:cNvSpPr txBox="1">
            <a:spLocks noChangeArrowheads="1"/>
          </p:cNvSpPr>
          <p:nvPr/>
        </p:nvSpPr>
        <p:spPr bwMode="auto">
          <a:xfrm>
            <a:off x="457200" y="1219200"/>
            <a:ext cx="8229600" cy="5029200"/>
          </a:xfrm>
          <a:prstGeom prst="rect">
            <a:avLst/>
          </a:prstGeom>
          <a:noFill/>
          <a:ln w="9525">
            <a:noFill/>
            <a:miter lim="800000"/>
            <a:headEnd/>
            <a:tailEnd/>
          </a:ln>
        </p:spPr>
        <p:txBody>
          <a:bodyPr/>
          <a:lstStyle/>
          <a:p>
            <a:pPr marL="342900" indent="-342900" eaLnBrk="1" hangingPunct="1">
              <a:spcBef>
                <a:spcPct val="20000"/>
              </a:spcBef>
              <a:buClr>
                <a:schemeClr val="accent1"/>
              </a:buClr>
              <a:buSzPct val="65000"/>
              <a:buFont typeface="Wingdings" pitchFamily="2" charset="2"/>
              <a:buChar char="n"/>
              <a:defRPr/>
            </a:pPr>
            <a:r>
              <a:rPr lang="zh-CN" altLang="zh-CN" sz="3600" dirty="0">
                <a:latin typeface="Calibri" pitchFamily="34" charset="0"/>
                <a:cs typeface="Times New Roman" pitchFamily="18" charset="0"/>
              </a:rPr>
              <a:t>第</a:t>
            </a:r>
            <a:r>
              <a:rPr lang="en-US" altLang="zh-CN" sz="3600" dirty="0">
                <a:latin typeface="Calibri" pitchFamily="34" charset="0"/>
                <a:cs typeface="Times New Roman" pitchFamily="18" charset="0"/>
              </a:rPr>
              <a:t>9</a:t>
            </a:r>
            <a:r>
              <a:rPr lang="zh-CN" altLang="en-US" sz="3600" dirty="0">
                <a:latin typeface="Calibri" pitchFamily="34" charset="0"/>
                <a:cs typeface="Times New Roman" pitchFamily="18" charset="0"/>
              </a:rPr>
              <a:t>章 动态规划</a:t>
            </a:r>
            <a:endParaRPr lang="zh-CN" altLang="en-US" sz="3600" dirty="0">
              <a:latin typeface="Arial" charset="0"/>
            </a:endParaRPr>
          </a:p>
          <a:p>
            <a:pPr marL="669925" lvl="1" indent="-325438" eaLnBrk="1" hangingPunct="1">
              <a:spcBef>
                <a:spcPct val="20000"/>
              </a:spcBef>
              <a:buClr>
                <a:schemeClr val="accent2"/>
              </a:buClr>
              <a:buSzPct val="60000"/>
              <a:buFont typeface="Wingdings" pitchFamily="2" charset="2"/>
              <a:buChar char="q"/>
              <a:defRPr/>
            </a:pPr>
            <a:r>
              <a:rPr lang="en-US" altLang="zh-CN" sz="3200" kern="0" dirty="0">
                <a:solidFill>
                  <a:srgbClr val="FF0000"/>
                </a:solidFill>
                <a:latin typeface="华文细黑" pitchFamily="2" charset="-122"/>
                <a:cs typeface="Times New Roman" pitchFamily="18" charset="0"/>
              </a:rPr>
              <a:t>10.4</a:t>
            </a:r>
          </a:p>
          <a:p>
            <a:pPr marL="669925" lvl="1" indent="-325438" eaLnBrk="1" hangingPunct="1">
              <a:spcBef>
                <a:spcPct val="20000"/>
              </a:spcBef>
              <a:buClr>
                <a:schemeClr val="accent2"/>
              </a:buClr>
              <a:buSzPct val="60000"/>
              <a:buFont typeface="Wingdings" pitchFamily="2" charset="2"/>
              <a:buChar char="q"/>
              <a:defRPr/>
            </a:pPr>
            <a:r>
              <a:rPr lang="zh-CN" altLang="en-US" sz="3200" kern="0" dirty="0">
                <a:solidFill>
                  <a:srgbClr val="FF0000"/>
                </a:solidFill>
                <a:latin typeface="华文细黑" pitchFamily="2" charset="-122"/>
                <a:cs typeface="Times New Roman" pitchFamily="18" charset="0"/>
              </a:rPr>
              <a:t>实验型作业：</a:t>
            </a:r>
            <a:r>
              <a:rPr lang="en-US" altLang="zh-CN" sz="3200" kern="0" dirty="0">
                <a:solidFill>
                  <a:srgbClr val="FF0000"/>
                </a:solidFill>
                <a:latin typeface="华文细黑" pitchFamily="2" charset="-122"/>
                <a:cs typeface="Times New Roman" pitchFamily="18" charset="0"/>
              </a:rPr>
              <a:t>LINDO/LINGO/MATLAB </a:t>
            </a:r>
            <a:r>
              <a:rPr lang="zh-CN" altLang="en-US" sz="3200" kern="0" dirty="0">
                <a:solidFill>
                  <a:srgbClr val="FF0000"/>
                </a:solidFill>
                <a:latin typeface="华文细黑" pitchFamily="2" charset="-122"/>
                <a:cs typeface="Times New Roman" pitchFamily="18" charset="0"/>
              </a:rPr>
              <a:t>任选一种</a:t>
            </a:r>
            <a:r>
              <a:rPr lang="zh-CN" altLang="zh-CN" sz="3200" kern="0" dirty="0">
                <a:solidFill>
                  <a:srgbClr val="FF0000"/>
                </a:solidFill>
                <a:latin typeface="华文细黑" pitchFamily="2" charset="-122"/>
                <a:cs typeface="Times New Roman" pitchFamily="18" charset="0"/>
              </a:rPr>
              <a:t>软件解决</a:t>
            </a:r>
            <a:r>
              <a:rPr lang="zh-CN" altLang="en-US" sz="3200" kern="0" dirty="0">
                <a:solidFill>
                  <a:srgbClr val="FF0000"/>
                </a:solidFill>
                <a:latin typeface="华文细黑" pitchFamily="2" charset="-122"/>
                <a:cs typeface="Times New Roman" pitchFamily="18" charset="0"/>
              </a:rPr>
              <a:t>动态</a:t>
            </a:r>
            <a:r>
              <a:rPr lang="zh-CN" altLang="zh-CN" sz="3200" kern="0" dirty="0">
                <a:solidFill>
                  <a:srgbClr val="FF0000"/>
                </a:solidFill>
                <a:latin typeface="华文细黑" pitchFamily="2" charset="-122"/>
                <a:cs typeface="Times New Roman" pitchFamily="18" charset="0"/>
              </a:rPr>
              <a:t>规划</a:t>
            </a:r>
            <a:r>
              <a:rPr lang="zh-CN" altLang="en-US" sz="3200" kern="0" dirty="0">
                <a:solidFill>
                  <a:srgbClr val="FF0000"/>
                </a:solidFill>
                <a:latin typeface="华文细黑" pitchFamily="2" charset="-122"/>
                <a:cs typeface="Times New Roman" pitchFamily="18" charset="0"/>
              </a:rPr>
              <a:t>问题。（提供源代码！）</a:t>
            </a:r>
            <a:endParaRPr lang="zh-CN" altLang="zh-CN" sz="3200" kern="0" dirty="0">
              <a:solidFill>
                <a:srgbClr val="FF0000"/>
              </a:solidFill>
              <a:latin typeface="华文细黑" pitchFamily="2" charset="-122"/>
              <a:cs typeface="Times New Roman" pitchFamily="18" charset="0"/>
            </a:endParaRPr>
          </a:p>
          <a:p>
            <a:pPr marL="669925" lvl="1" indent="-325438" eaLnBrk="1" hangingPunct="1">
              <a:spcBef>
                <a:spcPct val="20000"/>
              </a:spcBef>
              <a:buClr>
                <a:schemeClr val="accent2"/>
              </a:buClr>
              <a:buSzPct val="60000"/>
              <a:buFont typeface="Wingdings" pitchFamily="2" charset="2"/>
              <a:buChar char="q"/>
              <a:defRPr/>
            </a:pPr>
            <a:endParaRPr lang="zh-CN" altLang="zh-CN" sz="3200" kern="0" dirty="0">
              <a:solidFill>
                <a:srgbClr val="FF0000"/>
              </a:solidFill>
              <a:latin typeface="华文细黑" pitchFamily="2" charset="-122"/>
              <a:cs typeface="Times New Roman" pitchFamily="18" charset="0"/>
            </a:endParaRPr>
          </a:p>
          <a:p>
            <a:pPr marL="669925" lvl="1" indent="-325438" eaLnBrk="1" hangingPunct="1">
              <a:spcBef>
                <a:spcPct val="20000"/>
              </a:spcBef>
              <a:buClr>
                <a:schemeClr val="accent2"/>
              </a:buClr>
              <a:buSzPct val="60000"/>
              <a:buFont typeface="Wingdings" pitchFamily="2" charset="2"/>
              <a:buChar char="q"/>
              <a:defRPr/>
            </a:pPr>
            <a:endParaRPr lang="zh-CN" altLang="zh-CN" sz="3200" kern="0" dirty="0">
              <a:solidFill>
                <a:srgbClr val="FF0000"/>
              </a:solidFill>
              <a:latin typeface="华文细黑" pitchFamily="2" charset="-122"/>
              <a:cs typeface="Times New Roman" pitchFamily="18" charset="0"/>
            </a:endParaRPr>
          </a:p>
          <a:p>
            <a:pPr marL="669925" lvl="1" indent="-325438" eaLnBrk="1" hangingPunct="1">
              <a:spcBef>
                <a:spcPct val="20000"/>
              </a:spcBef>
              <a:buClr>
                <a:schemeClr val="accent2"/>
              </a:buClr>
              <a:buSzPct val="60000"/>
              <a:buFont typeface="Wingdings" pitchFamily="2" charset="2"/>
              <a:buChar char="q"/>
              <a:defRPr/>
            </a:pPr>
            <a:endParaRPr lang="zh-CN" altLang="en-US" sz="3200" dirty="0">
              <a:solidFill>
                <a:srgbClr val="FF0000"/>
              </a:solidFill>
              <a:latin typeface="Calibri" pitchFamily="34" charset="0"/>
              <a:cs typeface="Times New Roman" pitchFamily="18" charset="0"/>
            </a:endParaRPr>
          </a:p>
          <a:p>
            <a:pPr marL="669925" lvl="1" indent="-325438" eaLnBrk="1" hangingPunct="1">
              <a:spcBef>
                <a:spcPct val="20000"/>
              </a:spcBef>
              <a:buClr>
                <a:schemeClr val="accent2"/>
              </a:buClr>
              <a:buSzPct val="60000"/>
              <a:buFont typeface="Wingdings" pitchFamily="2" charset="2"/>
              <a:buChar char="q"/>
              <a:defRPr/>
            </a:pPr>
            <a:endParaRPr lang="en-US" altLang="zh-CN" sz="3600" dirty="0">
              <a:latin typeface="Calibri" pitchFamily="34" charset="0"/>
              <a:cs typeface="Times New Roman" pitchFamily="18" charset="0"/>
            </a:endParaRPr>
          </a:p>
          <a:p>
            <a:pPr marL="669925" lvl="1" indent="-325438" eaLnBrk="1" hangingPunct="1">
              <a:spcBef>
                <a:spcPct val="20000"/>
              </a:spcBef>
              <a:buClr>
                <a:schemeClr val="accent2"/>
              </a:buClr>
              <a:buSzPct val="60000"/>
              <a:buFont typeface="Wingdings" pitchFamily="2" charset="2"/>
              <a:buChar char="q"/>
              <a:defRPr/>
            </a:pPr>
            <a:endParaRPr lang="zh-CN" altLang="en-US" sz="3600" kern="0" dirty="0">
              <a:solidFill>
                <a:srgbClr val="3333FF"/>
              </a:solidFill>
              <a:latin typeface="华文细黑" pitchFamily="2" charset="-122"/>
              <a:ea typeface="+mn-ea"/>
            </a:endParaRPr>
          </a:p>
          <a:p>
            <a:pPr marL="669925" lvl="1" indent="-325438" eaLnBrk="1" hangingPunct="1">
              <a:spcBef>
                <a:spcPct val="20000"/>
              </a:spcBef>
              <a:buClr>
                <a:schemeClr val="accent2"/>
              </a:buClr>
              <a:buSzPct val="60000"/>
              <a:buFont typeface="Wingdings" pitchFamily="2" charset="2"/>
              <a:buChar char="q"/>
              <a:defRPr/>
            </a:pPr>
            <a:endParaRPr lang="en-US" altLang="zh-CN" sz="2400" kern="0" dirty="0">
              <a:solidFill>
                <a:srgbClr val="3333FF"/>
              </a:solidFill>
              <a:latin typeface="华文细黑" pitchFamily="2" charset="-122"/>
              <a:ea typeface="+mn-ea"/>
            </a:endParaRPr>
          </a:p>
          <a:p>
            <a:pPr marL="669925" lvl="1" indent="-325438" eaLnBrk="1" hangingPunct="1">
              <a:spcBef>
                <a:spcPct val="20000"/>
              </a:spcBef>
              <a:buClr>
                <a:schemeClr val="accent2"/>
              </a:buClr>
              <a:buSzPct val="60000"/>
              <a:buFont typeface="Wingdings" pitchFamily="2" charset="2"/>
              <a:buChar char="q"/>
              <a:defRPr/>
            </a:pPr>
            <a:endParaRPr lang="en-US" altLang="zh-CN" sz="2400" kern="0" dirty="0">
              <a:solidFill>
                <a:srgbClr val="3333FF"/>
              </a:solidFill>
              <a:latin typeface="华文细黑" pitchFamily="2" charset="-122"/>
              <a:ea typeface="+mn-ea"/>
            </a:endParaRPr>
          </a:p>
          <a:p>
            <a:pPr marL="669925" lvl="1" indent="-325438" eaLnBrk="1" hangingPunct="1">
              <a:spcBef>
                <a:spcPct val="20000"/>
              </a:spcBef>
              <a:buClr>
                <a:schemeClr val="accent2"/>
              </a:buClr>
              <a:buSzPct val="60000"/>
              <a:buFont typeface="Wingdings" pitchFamily="2" charset="2"/>
              <a:buNone/>
              <a:defRPr/>
            </a:pPr>
            <a:endParaRPr lang="en-US" altLang="zh-CN" sz="2200" kern="0" dirty="0">
              <a:latin typeface="+mn-lt"/>
              <a:ea typeface="+mn-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a:extLst>
              <a:ext uri="{FF2B5EF4-FFF2-40B4-BE49-F238E27FC236}">
                <a16:creationId xmlns:a16="http://schemas.microsoft.com/office/drawing/2014/main" id="{4D198D60-D1E0-4D0B-9DA8-1CABFB7CEF36}"/>
              </a:ext>
            </a:extLst>
          </p:cNvPr>
          <p:cNvSpPr>
            <a:spLocks noGrp="1" noChangeArrowheads="1"/>
          </p:cNvSpPr>
          <p:nvPr>
            <p:ph type="title"/>
          </p:nvPr>
        </p:nvSpPr>
        <p:spPr>
          <a:xfrm>
            <a:off x="457200" y="277813"/>
            <a:ext cx="7010400" cy="788987"/>
          </a:xfrm>
        </p:spPr>
        <p:txBody>
          <a:bodyPr/>
          <a:lstStyle/>
          <a:p>
            <a:r>
              <a:rPr lang="zh-CN" altLang="en-US"/>
              <a:t>课后练习</a:t>
            </a:r>
            <a:r>
              <a:rPr lang="zh-CN" altLang="zh-CN"/>
              <a:t>题</a:t>
            </a:r>
            <a:r>
              <a:rPr lang="en-US" altLang="zh-CN"/>
              <a:t>  10.4</a:t>
            </a:r>
            <a:endParaRPr lang="zh-CN" altLang="en-US"/>
          </a:p>
        </p:txBody>
      </p:sp>
      <p:sp>
        <p:nvSpPr>
          <p:cNvPr id="81923" name="AutoShape 1" descr="C:\Users\john\AppData\Roaming\Tencent\Users\22892665\QQ\WinTemp\RichOle\~J5Q7I]{QM{GQR[]T5)7K.jpg">
            <a:extLst>
              <a:ext uri="{FF2B5EF4-FFF2-40B4-BE49-F238E27FC236}">
                <a16:creationId xmlns:a16="http://schemas.microsoft.com/office/drawing/2014/main" id="{E5C9F950-2220-4088-8185-E306944F4B03}"/>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1924" name="AutoShape 2" descr="C:\Users\john\AppData\Roaming\Tencent\Users\22892665\QQ\WinTemp\RichOle\~J5Q7I]{QM{GQR[]T5)7K.jpg">
            <a:extLst>
              <a:ext uri="{FF2B5EF4-FFF2-40B4-BE49-F238E27FC236}">
                <a16:creationId xmlns:a16="http://schemas.microsoft.com/office/drawing/2014/main" id="{C69A6B6C-9820-4871-9FCE-216C12A1A338}"/>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1925" name="AutoShape 3" descr="C:\Users\john\AppData\Roaming\Tencent\Users\22892665\QQ\WinTemp\RichOle\~J5Q7I]{QM{GQR[]T5)7K.jpg">
            <a:extLst>
              <a:ext uri="{FF2B5EF4-FFF2-40B4-BE49-F238E27FC236}">
                <a16:creationId xmlns:a16="http://schemas.microsoft.com/office/drawing/2014/main" id="{2D43A6D4-D5B4-4B3A-A6E5-50646578AFCD}"/>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81926" name="Picture 7">
            <a:extLst>
              <a:ext uri="{FF2B5EF4-FFF2-40B4-BE49-F238E27FC236}">
                <a16:creationId xmlns:a16="http://schemas.microsoft.com/office/drawing/2014/main" id="{E540BF36-5EBC-4B46-8415-6A07F30BC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47800"/>
            <a:ext cx="78390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7" name="矩形 8">
            <a:extLst>
              <a:ext uri="{FF2B5EF4-FFF2-40B4-BE49-F238E27FC236}">
                <a16:creationId xmlns:a16="http://schemas.microsoft.com/office/drawing/2014/main" id="{2BAA1A60-61CC-48EF-9817-B5D597FD1AAB}"/>
              </a:ext>
            </a:extLst>
          </p:cNvPr>
          <p:cNvSpPr>
            <a:spLocks noChangeArrowheads="1"/>
          </p:cNvSpPr>
          <p:nvPr/>
        </p:nvSpPr>
        <p:spPr bwMode="auto">
          <a:xfrm>
            <a:off x="280988" y="1458913"/>
            <a:ext cx="633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10.4</a:t>
            </a:r>
            <a:endParaRPr lang="zh-CN" altLang="en-US"/>
          </a:p>
        </p:txBody>
      </p:sp>
      <p:pic>
        <p:nvPicPr>
          <p:cNvPr id="81928" name="Picture 8">
            <a:extLst>
              <a:ext uri="{FF2B5EF4-FFF2-40B4-BE49-F238E27FC236}">
                <a16:creationId xmlns:a16="http://schemas.microsoft.com/office/drawing/2014/main" id="{9A9A23CB-B8DA-43C3-820C-8812CB2A2C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 y="2060575"/>
            <a:ext cx="8985250"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19820BCA-BBE1-4252-A943-A5863EF97EA7}"/>
              </a:ext>
            </a:extLst>
          </p:cNvPr>
          <p:cNvSpPr>
            <a:spLocks noGrp="1" noRot="1" noChangeArrowheads="1"/>
          </p:cNvSpPr>
          <p:nvPr>
            <p:ph type="title"/>
          </p:nvPr>
        </p:nvSpPr>
        <p:spPr>
          <a:xfrm>
            <a:off x="357188" y="71438"/>
            <a:ext cx="8540750" cy="500062"/>
          </a:xfrm>
        </p:spPr>
        <p:txBody>
          <a:bodyPr/>
          <a:lstStyle/>
          <a:p>
            <a:pPr eaLnBrk="1" hangingPunct="1"/>
            <a:r>
              <a:rPr lang="zh-CN" altLang="en-US" sz="4000"/>
              <a:t>参考文献</a:t>
            </a:r>
            <a:endParaRPr lang="en-US" altLang="zh-CN" sz="4000">
              <a:solidFill>
                <a:srgbClr val="006600"/>
              </a:solidFill>
            </a:endParaRPr>
          </a:p>
        </p:txBody>
      </p:sp>
      <p:sp>
        <p:nvSpPr>
          <p:cNvPr id="82947" name="Rectangle 3">
            <a:extLst>
              <a:ext uri="{FF2B5EF4-FFF2-40B4-BE49-F238E27FC236}">
                <a16:creationId xmlns:a16="http://schemas.microsoft.com/office/drawing/2014/main" id="{2B4823B2-1EAE-49A8-B624-8BCEE4859CDE}"/>
              </a:ext>
            </a:extLst>
          </p:cNvPr>
          <p:cNvSpPr>
            <a:spLocks noGrp="1" noRot="1" noChangeArrowheads="1"/>
          </p:cNvSpPr>
          <p:nvPr>
            <p:ph type="body" idx="1"/>
          </p:nvPr>
        </p:nvSpPr>
        <p:spPr>
          <a:xfrm>
            <a:off x="304800" y="1085850"/>
            <a:ext cx="8229600" cy="2724150"/>
          </a:xfrm>
        </p:spPr>
        <p:txBody>
          <a:bodyPr/>
          <a:lstStyle/>
          <a:p>
            <a:pPr algn="just" eaLnBrk="1" hangingPunct="1"/>
            <a:r>
              <a:rPr lang="en-US" altLang="zh-CN">
                <a:solidFill>
                  <a:srgbClr val="0000FF"/>
                </a:solidFill>
                <a:cs typeface="Times New Roman" panose="02020603050405020304" pitchFamily="18" charset="0"/>
              </a:rPr>
              <a:t>[1] 《</a:t>
            </a:r>
            <a:r>
              <a:rPr lang="zh-CN" altLang="zh-CN">
                <a:solidFill>
                  <a:srgbClr val="0000FF"/>
                </a:solidFill>
              </a:rPr>
              <a:t>运筹学第</a:t>
            </a:r>
            <a:r>
              <a:rPr lang="en-US" altLang="zh-CN">
                <a:solidFill>
                  <a:srgbClr val="0000FF"/>
                </a:solidFill>
              </a:rPr>
              <a:t>4</a:t>
            </a:r>
            <a:r>
              <a:rPr lang="zh-CN" altLang="zh-CN">
                <a:solidFill>
                  <a:srgbClr val="0000FF"/>
                </a:solidFill>
              </a:rPr>
              <a:t>版</a:t>
            </a:r>
            <a:r>
              <a:rPr lang="en-US" altLang="zh-CN">
                <a:solidFill>
                  <a:srgbClr val="0000FF"/>
                </a:solidFill>
                <a:cs typeface="Times New Roman" panose="02020603050405020304" pitchFamily="18" charset="0"/>
              </a:rPr>
              <a:t>》</a:t>
            </a:r>
            <a:r>
              <a:rPr lang="zh-CN" altLang="en-US">
                <a:solidFill>
                  <a:srgbClr val="0000FF"/>
                </a:solidFill>
                <a:cs typeface="Times New Roman" panose="02020603050405020304" pitchFamily="18" charset="0"/>
              </a:rPr>
              <a:t>，运筹学教材编写组</a:t>
            </a:r>
            <a:r>
              <a:rPr lang="en-US" altLang="zh-CN">
                <a:solidFill>
                  <a:srgbClr val="0000FF"/>
                </a:solidFill>
                <a:cs typeface="Times New Roman" panose="02020603050405020304" pitchFamily="18" charset="0"/>
              </a:rPr>
              <a:t>, </a:t>
            </a:r>
            <a:r>
              <a:rPr lang="zh-CN" altLang="en-US">
                <a:solidFill>
                  <a:srgbClr val="0000FF"/>
                </a:solidFill>
                <a:cs typeface="Times New Roman" panose="02020603050405020304" pitchFamily="18" charset="0"/>
              </a:rPr>
              <a:t>清华大学出版社</a:t>
            </a:r>
            <a:r>
              <a:rPr lang="en-US" altLang="zh-CN">
                <a:solidFill>
                  <a:srgbClr val="0000FF"/>
                </a:solidFill>
                <a:cs typeface="Times New Roman" panose="02020603050405020304" pitchFamily="18" charset="0"/>
              </a:rPr>
              <a:t>.</a:t>
            </a:r>
          </a:p>
          <a:p>
            <a:pPr algn="just" eaLnBrk="1" hangingPunct="1"/>
            <a:r>
              <a:rPr lang="en-US" altLang="zh-CN">
                <a:solidFill>
                  <a:srgbClr val="0000FF"/>
                </a:solidFill>
                <a:cs typeface="Times New Roman" panose="02020603050405020304" pitchFamily="18" charset="0"/>
              </a:rPr>
              <a:t>[2]</a:t>
            </a:r>
            <a:r>
              <a:rPr lang="zh-CN" altLang="en-US">
                <a:solidFill>
                  <a:srgbClr val="0000FF"/>
                </a:solidFill>
                <a:cs typeface="Times New Roman" panose="02020603050405020304" pitchFamily="18" charset="0"/>
              </a:rPr>
              <a:t>第六章  动态规划</a:t>
            </a:r>
            <a:r>
              <a:rPr lang="en-US" altLang="zh-CN">
                <a:solidFill>
                  <a:srgbClr val="0000FF"/>
                </a:solidFill>
                <a:cs typeface="Times New Roman" panose="02020603050405020304" pitchFamily="18" charset="0"/>
              </a:rPr>
              <a:t>, </a:t>
            </a:r>
            <a:r>
              <a:rPr lang="zh-CN" altLang="en-US">
                <a:solidFill>
                  <a:srgbClr val="0000FF"/>
                </a:solidFill>
                <a:cs typeface="Times New Roman" panose="02020603050405020304" pitchFamily="18" charset="0"/>
              </a:rPr>
              <a:t>网上</a:t>
            </a:r>
            <a:r>
              <a:rPr lang="en-US" altLang="zh-CN">
                <a:solidFill>
                  <a:srgbClr val="0000FF"/>
                </a:solidFill>
                <a:cs typeface="Times New Roman" panose="02020603050405020304" pitchFamily="18" charset="0"/>
              </a:rPr>
              <a:t>PPT</a:t>
            </a:r>
            <a:r>
              <a:rPr lang="zh-CN" altLang="en-US">
                <a:solidFill>
                  <a:srgbClr val="0000FF"/>
                </a:solidFill>
                <a:cs typeface="Times New Roman" panose="02020603050405020304" pitchFamily="18" charset="0"/>
              </a:rPr>
              <a:t>。</a:t>
            </a:r>
            <a:endParaRPr lang="en-US" altLang="zh-CN">
              <a:solidFill>
                <a:srgbClr val="0000FF"/>
              </a:solidFill>
              <a:cs typeface="Times New Roman" panose="02020603050405020304" pitchFamily="18" charset="0"/>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图片 4">
            <a:extLst>
              <a:ext uri="{FF2B5EF4-FFF2-40B4-BE49-F238E27FC236}">
                <a16:creationId xmlns:a16="http://schemas.microsoft.com/office/drawing/2014/main" id="{C8C3BCED-6F9B-48EF-963A-17B970C7AE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60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5" name="图片 5">
            <a:extLst>
              <a:ext uri="{FF2B5EF4-FFF2-40B4-BE49-F238E27FC236}">
                <a16:creationId xmlns:a16="http://schemas.microsoft.com/office/drawing/2014/main" id="{65B6CB82-B7D7-4691-8A22-4D686FD22D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187"/>
          <a:stretch>
            <a:fillRect/>
          </a:stretch>
        </p:blipFill>
        <p:spPr bwMode="auto">
          <a:xfrm>
            <a:off x="0" y="4600575"/>
            <a:ext cx="9036050" cy="194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2E0C1038-1E76-4C14-9287-76F4E4D3A51F}"/>
              </a:ext>
            </a:extLst>
          </p:cNvPr>
          <p:cNvSpPr>
            <a:spLocks noGrp="1" noChangeArrowheads="1"/>
          </p:cNvSpPr>
          <p:nvPr>
            <p:ph type="body" idx="1"/>
          </p:nvPr>
        </p:nvSpPr>
        <p:spPr>
          <a:xfrm>
            <a:off x="665163" y="1052513"/>
            <a:ext cx="7772400" cy="5054600"/>
          </a:xfrm>
        </p:spPr>
        <p:txBody>
          <a:bodyPr/>
          <a:lstStyle/>
          <a:p>
            <a:pPr marL="0" indent="384175" algn="just">
              <a:spcBef>
                <a:spcPct val="15000"/>
              </a:spcBef>
              <a:buFont typeface="Wingdings" panose="05000000000000000000" pitchFamily="2" charset="2"/>
              <a:buNone/>
            </a:pPr>
            <a:r>
              <a:rPr lang="en-US" altLang="zh-CN" sz="2400"/>
              <a:t>【</a:t>
            </a:r>
            <a:r>
              <a:rPr lang="zh-CN" altLang="en-US" sz="2400"/>
              <a:t>课堂作业</a:t>
            </a:r>
            <a:r>
              <a:rPr lang="en-US" altLang="zh-CN" sz="2400"/>
              <a:t>】</a:t>
            </a:r>
            <a:r>
              <a:rPr lang="zh-CN" altLang="en-US" sz="2400">
                <a:solidFill>
                  <a:srgbClr val="000066"/>
                </a:solidFill>
              </a:rPr>
              <a:t>：有一部货车每天沿着公路给四个零售店卸下</a:t>
            </a:r>
            <a:r>
              <a:rPr lang="en-US" altLang="zh-CN" sz="2400">
                <a:solidFill>
                  <a:srgbClr val="000066"/>
                </a:solidFill>
              </a:rPr>
              <a:t>6</a:t>
            </a:r>
            <a:r>
              <a:rPr lang="zh-CN" altLang="en-US" sz="2400">
                <a:solidFill>
                  <a:srgbClr val="000066"/>
                </a:solidFill>
              </a:rPr>
              <a:t>箱货物，如果各零售店出售该货物所得利润如下表所示，试求在各零售店卸下几箱货物，能使获得总利润最大？其值是多少？</a:t>
            </a:r>
          </a:p>
          <a:p>
            <a:pPr marL="0" indent="384175">
              <a:lnSpc>
                <a:spcPct val="110000"/>
              </a:lnSpc>
              <a:buFont typeface="Wingdings" panose="05000000000000000000" pitchFamily="2" charset="2"/>
              <a:buNone/>
            </a:pPr>
            <a:endParaRPr lang="zh-CN" altLang="en-US" sz="2400"/>
          </a:p>
          <a:p>
            <a:pPr marL="0" indent="384175">
              <a:lnSpc>
                <a:spcPct val="110000"/>
              </a:lnSpc>
              <a:buClr>
                <a:schemeClr val="hlink"/>
              </a:buClr>
              <a:buFont typeface="Wingdings" panose="05000000000000000000" pitchFamily="2" charset="2"/>
              <a:buNone/>
            </a:pPr>
            <a:endParaRPr lang="zh-CN" altLang="en-US" sz="2400"/>
          </a:p>
        </p:txBody>
      </p:sp>
      <p:graphicFrame>
        <p:nvGraphicFramePr>
          <p:cNvPr id="4" name="表格 3">
            <a:extLst>
              <a:ext uri="{FF2B5EF4-FFF2-40B4-BE49-F238E27FC236}">
                <a16:creationId xmlns:a16="http://schemas.microsoft.com/office/drawing/2014/main" id="{772EF0CF-075B-4CCB-841D-1195CA17161A}"/>
              </a:ext>
            </a:extLst>
          </p:cNvPr>
          <p:cNvGraphicFramePr>
            <a:graphicFrameLocks noGrp="1"/>
          </p:cNvGraphicFramePr>
          <p:nvPr/>
        </p:nvGraphicFramePr>
        <p:xfrm>
          <a:off x="1547813" y="3068638"/>
          <a:ext cx="5688012" cy="2408236"/>
        </p:xfrm>
        <a:graphic>
          <a:graphicData uri="http://schemas.openxmlformats.org/drawingml/2006/table">
            <a:tbl>
              <a:tblPr/>
              <a:tblGrid>
                <a:gridCol w="1529672">
                  <a:extLst>
                    <a:ext uri="{9D8B030D-6E8A-4147-A177-3AD203B41FA5}">
                      <a16:colId xmlns:a16="http://schemas.microsoft.com/office/drawing/2014/main" val="20000"/>
                    </a:ext>
                  </a:extLst>
                </a:gridCol>
                <a:gridCol w="1104763">
                  <a:extLst>
                    <a:ext uri="{9D8B030D-6E8A-4147-A177-3AD203B41FA5}">
                      <a16:colId xmlns:a16="http://schemas.microsoft.com/office/drawing/2014/main" val="20001"/>
                    </a:ext>
                  </a:extLst>
                </a:gridCol>
                <a:gridCol w="1104763">
                  <a:extLst>
                    <a:ext uri="{9D8B030D-6E8A-4147-A177-3AD203B41FA5}">
                      <a16:colId xmlns:a16="http://schemas.microsoft.com/office/drawing/2014/main" val="20002"/>
                    </a:ext>
                  </a:extLst>
                </a:gridCol>
                <a:gridCol w="940812">
                  <a:extLst>
                    <a:ext uri="{9D8B030D-6E8A-4147-A177-3AD203B41FA5}">
                      <a16:colId xmlns:a16="http://schemas.microsoft.com/office/drawing/2014/main" val="20003"/>
                    </a:ext>
                  </a:extLst>
                </a:gridCol>
                <a:gridCol w="1008002">
                  <a:extLst>
                    <a:ext uri="{9D8B030D-6E8A-4147-A177-3AD203B41FA5}">
                      <a16:colId xmlns:a16="http://schemas.microsoft.com/office/drawing/2014/main" val="20004"/>
                    </a:ext>
                  </a:extLst>
                </a:gridCol>
              </a:tblGrid>
              <a:tr h="541091">
                <a:tc>
                  <a:txBody>
                    <a:bodyPr/>
                    <a:lstStyle/>
                    <a:p>
                      <a:pPr indent="304800" algn="just">
                        <a:lnSpc>
                          <a:spcPts val="2100"/>
                        </a:lnSpc>
                        <a:spcAft>
                          <a:spcPts val="0"/>
                        </a:spcAft>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sz="1800" kern="100" dirty="0">
                          <a:effectLst/>
                          <a:latin typeface="Calibri" panose="020F0502020204030204" pitchFamily="34" charset="0"/>
                          <a:ea typeface="宋体" panose="02010600030101010101" pitchFamily="2" charset="-122"/>
                          <a:cs typeface="Times New Roman" panose="02020603050405020304" pitchFamily="18" charset="0"/>
                        </a:rPr>
                        <a:t>零售店</a:t>
                      </a:r>
                    </a:p>
                    <a:p>
                      <a:pPr indent="304800" algn="just">
                        <a:lnSpc>
                          <a:spcPts val="2100"/>
                        </a:lnSpc>
                        <a:spcAft>
                          <a:spcPts val="0"/>
                        </a:spcAft>
                      </a:pPr>
                      <a:r>
                        <a:rPr lang="zh-CN" sz="1800" kern="100" dirty="0">
                          <a:effectLst/>
                          <a:latin typeface="Calibri" panose="020F0502020204030204" pitchFamily="34" charset="0"/>
                          <a:ea typeface="宋体" panose="02010600030101010101" pitchFamily="2" charset="-122"/>
                          <a:cs typeface="Times New Roman" panose="02020603050405020304" pitchFamily="18" charset="0"/>
                        </a:rPr>
                        <a:t>箱数</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algn="l">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1</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p>
                      <a:pPr indent="304800"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p>
                      <a:pPr indent="304800"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p>
                      <a:pPr indent="304800"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66735">
                <a:tc>
                  <a:txBody>
                    <a:bodyPr/>
                    <a:lstStyle/>
                    <a:p>
                      <a:pPr indent="304800" algn="ctr">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6735">
                <a:tc>
                  <a:txBody>
                    <a:bodyPr/>
                    <a:lstStyle/>
                    <a:p>
                      <a:pPr indent="304800" algn="ctr">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1</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2</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3</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6735">
                <a:tc>
                  <a:txBody>
                    <a:bodyPr/>
                    <a:lstStyle/>
                    <a:p>
                      <a:pPr indent="304800" algn="ctr">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2</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5</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5</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66735">
                <a:tc>
                  <a:txBody>
                    <a:bodyPr/>
                    <a:lstStyle/>
                    <a:p>
                      <a:pPr indent="304800" algn="ctr">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3</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      7</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      7</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      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66735">
                <a:tc>
                  <a:txBody>
                    <a:bodyPr/>
                    <a:lstStyle/>
                    <a:p>
                      <a:pPr indent="304800" algn="ctr">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66735">
                <a:tc>
                  <a:txBody>
                    <a:bodyPr/>
                    <a:lstStyle/>
                    <a:p>
                      <a:pPr indent="304800" algn="ctr">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5</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9</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66735">
                <a:tc>
                  <a:txBody>
                    <a:bodyPr/>
                    <a:lstStyle/>
                    <a:p>
                      <a:pPr indent="304800" algn="ctr">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7</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100"/>
                        </a:lnSpc>
                        <a:spcAft>
                          <a:spcPts val="0"/>
                        </a:spcAft>
                      </a:pPr>
                      <a:r>
                        <a:rPr lang="en-US" sz="1800" kern="100">
                          <a:effectLst/>
                          <a:latin typeface="Calibri" panose="020F0502020204030204" pitchFamily="34" charset="0"/>
                          <a:ea typeface="宋体" panose="02010600030101010101" pitchFamily="2" charset="-122"/>
                          <a:cs typeface="Times New Roman" panose="02020603050405020304" pitchFamily="18" charset="0"/>
                        </a:rPr>
                        <a:t>    10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ts val="2100"/>
                        </a:lnSpc>
                        <a:spcAft>
                          <a:spcPts val="0"/>
                        </a:spcAft>
                      </a:pPr>
                      <a:r>
                        <a:rPr lang="en-US" sz="1800" kern="100" dirty="0">
                          <a:effectLst/>
                          <a:latin typeface="Calibri" panose="020F0502020204030204" pitchFamily="34" charset="0"/>
                          <a:ea typeface="宋体" panose="02010600030101010101" pitchFamily="2" charset="-122"/>
                          <a:cs typeface="Times New Roman" panose="02020603050405020304" pitchFamily="18" charset="0"/>
                        </a:rPr>
                        <a:t>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7100" name="标题 1">
            <a:extLst>
              <a:ext uri="{FF2B5EF4-FFF2-40B4-BE49-F238E27FC236}">
                <a16:creationId xmlns:a16="http://schemas.microsoft.com/office/drawing/2014/main" id="{85B72D5D-2946-4978-8F1E-5E78D00BE9D5}"/>
              </a:ext>
            </a:extLst>
          </p:cNvPr>
          <p:cNvSpPr>
            <a:spLocks noGrp="1" noChangeArrowheads="1"/>
          </p:cNvSpPr>
          <p:nvPr>
            <p:ph type="title"/>
          </p:nvPr>
        </p:nvSpPr>
        <p:spPr/>
        <p:txBody>
          <a:bodyPr/>
          <a:lstStyle/>
          <a:p>
            <a:r>
              <a:rPr lang="zh-CN" altLang="en-US"/>
              <a:t>货车卸货问题</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74BCF71A-9F0A-42B7-929D-5438EE05BD9A}"/>
              </a:ext>
            </a:extLst>
          </p:cNvPr>
          <p:cNvSpPr>
            <a:spLocks noGrp="1" noChangeArrowheads="1"/>
          </p:cNvSpPr>
          <p:nvPr>
            <p:ph type="title"/>
          </p:nvPr>
        </p:nvSpPr>
        <p:spPr/>
        <p:txBody>
          <a:bodyPr/>
          <a:lstStyle/>
          <a:p>
            <a:r>
              <a:rPr lang="zh-CN" altLang="en-US"/>
              <a:t>用</a:t>
            </a:r>
            <a:r>
              <a:rPr lang="en-US" altLang="zh-CN" sz="3000"/>
              <a:t>MATLAB</a:t>
            </a:r>
            <a:r>
              <a:rPr lang="zh-CN" altLang="zh-CN" sz="3000"/>
              <a:t>解决</a:t>
            </a:r>
            <a:r>
              <a:rPr lang="zh-CN" altLang="en-US" sz="3000"/>
              <a:t>动态规划</a:t>
            </a:r>
            <a:r>
              <a:rPr lang="zh-CN" altLang="zh-CN" sz="3000"/>
              <a:t>问题</a:t>
            </a:r>
            <a:endParaRPr lang="zh-CN" altLang="en-US"/>
          </a:p>
        </p:txBody>
      </p:sp>
      <p:sp>
        <p:nvSpPr>
          <p:cNvPr id="3" name="内容占位符 2">
            <a:extLst>
              <a:ext uri="{FF2B5EF4-FFF2-40B4-BE49-F238E27FC236}">
                <a16:creationId xmlns:a16="http://schemas.microsoft.com/office/drawing/2014/main" id="{84993DF2-E5E3-40C0-9C76-3BE5125D7461}"/>
              </a:ext>
            </a:extLst>
          </p:cNvPr>
          <p:cNvSpPr>
            <a:spLocks noGrp="1"/>
          </p:cNvSpPr>
          <p:nvPr>
            <p:ph idx="1"/>
          </p:nvPr>
        </p:nvSpPr>
        <p:spPr>
          <a:xfrm>
            <a:off x="323850" y="1066800"/>
            <a:ext cx="8496300" cy="5314950"/>
          </a:xfrm>
        </p:spPr>
        <p:txBody>
          <a:bodyPr/>
          <a:lstStyle/>
          <a:p>
            <a:pPr marL="0" indent="0">
              <a:buFont typeface="Wingdings" panose="05000000000000000000" pitchFamily="2" charset="2"/>
              <a:buNone/>
              <a:defRPr/>
            </a:pPr>
            <a:r>
              <a:rPr lang="zh-CN" altLang="zh-CN" sz="2400" dirty="0"/>
              <a:t>解：</a:t>
            </a:r>
            <a:endParaRPr lang="en-US" altLang="zh-CN" sz="2400" dirty="0"/>
          </a:p>
          <a:p>
            <a:pPr marL="0" indent="0">
              <a:buFont typeface="Wingdings" panose="05000000000000000000" pitchFamily="2" charset="2"/>
              <a:buNone/>
              <a:defRPr/>
            </a:pPr>
            <a:r>
              <a:rPr lang="en-US" altLang="zh-CN" sz="2400" b="0" dirty="0"/>
              <a:t>1)</a:t>
            </a:r>
            <a:r>
              <a:rPr lang="zh-CN" altLang="zh-CN" sz="2400" b="0" dirty="0"/>
              <a:t>将问题按售货店分为四个</a:t>
            </a:r>
            <a:r>
              <a:rPr lang="zh-CN" altLang="zh-CN" sz="2400" b="0" dirty="0">
                <a:solidFill>
                  <a:srgbClr val="0000FF"/>
                </a:solidFill>
              </a:rPr>
              <a:t>阶段</a:t>
            </a:r>
          </a:p>
          <a:p>
            <a:pPr marL="0" indent="0">
              <a:buFont typeface="Wingdings" panose="05000000000000000000" pitchFamily="2" charset="2"/>
              <a:buNone/>
              <a:defRPr/>
            </a:pPr>
            <a:r>
              <a:rPr lang="en-US" altLang="zh-CN" sz="2400" b="0" dirty="0"/>
              <a:t>2)</a:t>
            </a:r>
            <a:r>
              <a:rPr lang="zh-CN" altLang="zh-CN" sz="2400" b="0" dirty="0"/>
              <a:t>设</a:t>
            </a:r>
            <a:r>
              <a:rPr lang="en-US" altLang="zh-CN" sz="2400" b="0" i="1" dirty="0" err="1">
                <a:solidFill>
                  <a:srgbClr val="0000FF"/>
                </a:solidFill>
              </a:rPr>
              <a:t>s</a:t>
            </a:r>
            <a:r>
              <a:rPr lang="en-US" altLang="zh-CN" sz="2400" b="0" i="1" baseline="-25000" dirty="0" err="1">
                <a:solidFill>
                  <a:srgbClr val="0000FF"/>
                </a:solidFill>
              </a:rPr>
              <a:t>k</a:t>
            </a:r>
            <a:r>
              <a:rPr lang="zh-CN" altLang="zh-CN" sz="2400" b="0" dirty="0"/>
              <a:t>表示为分配给第</a:t>
            </a:r>
            <a:r>
              <a:rPr lang="en-US" altLang="zh-CN" sz="2400" b="0" i="1" dirty="0"/>
              <a:t>k</a:t>
            </a:r>
            <a:r>
              <a:rPr lang="zh-CN" altLang="zh-CN" sz="2400" b="0" dirty="0"/>
              <a:t>个售货店到第</a:t>
            </a:r>
            <a:r>
              <a:rPr lang="en-US" altLang="zh-CN" sz="2400" b="0" i="1" dirty="0"/>
              <a:t>n</a:t>
            </a:r>
            <a:r>
              <a:rPr lang="zh-CN" altLang="zh-CN" sz="2400" b="0" dirty="0"/>
              <a:t>个工厂的货物数，</a:t>
            </a:r>
          </a:p>
          <a:p>
            <a:pPr marL="0" indent="0">
              <a:buFont typeface="Wingdings" panose="05000000000000000000" pitchFamily="2" charset="2"/>
              <a:buNone/>
              <a:defRPr/>
            </a:pPr>
            <a:r>
              <a:rPr lang="en-US" altLang="zh-CN" sz="2400" b="0" i="1" dirty="0" err="1"/>
              <a:t>x</a:t>
            </a:r>
            <a:r>
              <a:rPr lang="en-US" altLang="zh-CN" sz="2400" b="0" i="1" baseline="-25000" dirty="0" err="1"/>
              <a:t>k</a:t>
            </a:r>
            <a:r>
              <a:rPr lang="zh-CN" altLang="zh-CN" sz="2400" b="0" dirty="0"/>
              <a:t>设为</a:t>
            </a:r>
            <a:r>
              <a:rPr lang="zh-CN" altLang="zh-CN" sz="2400" b="0" dirty="0">
                <a:solidFill>
                  <a:srgbClr val="0000FF"/>
                </a:solidFill>
              </a:rPr>
              <a:t>决策变量</a:t>
            </a:r>
            <a:r>
              <a:rPr lang="zh-CN" altLang="zh-CN" sz="2400" b="0" dirty="0"/>
              <a:t>，表示为分配给第</a:t>
            </a:r>
            <a:r>
              <a:rPr lang="en-US" altLang="zh-CN" sz="2400" b="0" i="1" dirty="0"/>
              <a:t>k</a:t>
            </a:r>
            <a:r>
              <a:rPr lang="zh-CN" altLang="zh-CN" sz="2400" b="0" dirty="0"/>
              <a:t>个售货店的货物数，</a:t>
            </a:r>
          </a:p>
          <a:p>
            <a:pPr marL="0" indent="0">
              <a:buFont typeface="Wingdings" panose="05000000000000000000" pitchFamily="2" charset="2"/>
              <a:buNone/>
              <a:defRPr/>
            </a:pPr>
            <a:r>
              <a:rPr lang="zh-CN" altLang="zh-CN" sz="2400" b="0" dirty="0">
                <a:solidFill>
                  <a:srgbClr val="0000FF"/>
                </a:solidFill>
              </a:rPr>
              <a:t>状态转移方程</a:t>
            </a:r>
            <a:r>
              <a:rPr lang="zh-CN" altLang="zh-CN" sz="2400" b="0" dirty="0"/>
              <a:t>为 </a:t>
            </a:r>
            <a:r>
              <a:rPr lang="en-US" altLang="zh-CN" sz="2400" i="1" dirty="0" err="1"/>
              <a:t>s</a:t>
            </a:r>
            <a:r>
              <a:rPr lang="en-US" altLang="zh-CN" sz="2400" i="1" baseline="-25000" dirty="0" err="1"/>
              <a:t>k</a:t>
            </a:r>
            <a:r>
              <a:rPr lang="zh-CN" altLang="zh-CN" sz="2400" baseline="-25000" dirty="0"/>
              <a:t>＋</a:t>
            </a:r>
            <a:r>
              <a:rPr lang="en-US" altLang="zh-CN" sz="2400" baseline="-25000" dirty="0"/>
              <a:t>1</a:t>
            </a:r>
            <a:r>
              <a:rPr lang="zh-CN" altLang="zh-CN" sz="2400" dirty="0"/>
              <a:t>＝</a:t>
            </a:r>
            <a:r>
              <a:rPr lang="en-US" altLang="zh-CN" sz="2400" i="1" dirty="0" err="1"/>
              <a:t>s</a:t>
            </a:r>
            <a:r>
              <a:rPr lang="en-US" altLang="zh-CN" sz="2400" i="1" baseline="-25000" dirty="0" err="1"/>
              <a:t>k</a:t>
            </a:r>
            <a:r>
              <a:rPr lang="zh-CN" altLang="zh-CN" sz="2400" dirty="0"/>
              <a:t>－</a:t>
            </a:r>
            <a:r>
              <a:rPr lang="en-US" altLang="zh-CN" sz="2400" i="1" dirty="0" err="1"/>
              <a:t>x</a:t>
            </a:r>
            <a:r>
              <a:rPr lang="en-US" altLang="zh-CN" sz="2400" i="1" baseline="-25000" dirty="0" err="1"/>
              <a:t>k</a:t>
            </a:r>
            <a:r>
              <a:rPr lang="zh-CN" altLang="zh-CN" sz="2400" b="0" dirty="0"/>
              <a:t>。</a:t>
            </a:r>
          </a:p>
          <a:p>
            <a:pPr marL="0" indent="0">
              <a:buFont typeface="Wingdings" panose="05000000000000000000" pitchFamily="2" charset="2"/>
              <a:buNone/>
              <a:defRPr/>
            </a:pPr>
            <a:r>
              <a:rPr lang="en-US" altLang="zh-CN" sz="2400" b="0" dirty="0" err="1">
                <a:solidFill>
                  <a:srgbClr val="0000FF"/>
                </a:solidFill>
              </a:rPr>
              <a:t>P</a:t>
            </a:r>
            <a:r>
              <a:rPr lang="en-US" altLang="zh-CN" sz="2400" b="0" i="1" baseline="-25000" dirty="0" err="1">
                <a:solidFill>
                  <a:srgbClr val="0000FF"/>
                </a:solidFill>
              </a:rPr>
              <a:t>k</a:t>
            </a:r>
            <a:r>
              <a:rPr lang="en-US" altLang="zh-CN" sz="2400" b="0" dirty="0">
                <a:solidFill>
                  <a:srgbClr val="0000FF"/>
                </a:solidFill>
              </a:rPr>
              <a:t>(</a:t>
            </a:r>
            <a:r>
              <a:rPr lang="en-US" altLang="zh-CN" sz="2400" b="0" i="1" dirty="0" err="1">
                <a:solidFill>
                  <a:srgbClr val="0000FF"/>
                </a:solidFill>
              </a:rPr>
              <a:t>x</a:t>
            </a:r>
            <a:r>
              <a:rPr lang="en-US" altLang="zh-CN" sz="2400" b="0" i="1" baseline="-25000" dirty="0" err="1">
                <a:solidFill>
                  <a:srgbClr val="0000FF"/>
                </a:solidFill>
              </a:rPr>
              <a:t>k</a:t>
            </a:r>
            <a:r>
              <a:rPr lang="en-US" altLang="zh-CN" sz="2400" b="0" dirty="0">
                <a:solidFill>
                  <a:srgbClr val="0000FF"/>
                </a:solidFill>
              </a:rPr>
              <a:t>)</a:t>
            </a:r>
            <a:r>
              <a:rPr lang="zh-CN" altLang="zh-CN" sz="2400" b="0" dirty="0"/>
              <a:t>表示为</a:t>
            </a:r>
            <a:r>
              <a:rPr lang="en-US" altLang="zh-CN" sz="2400" b="0" i="1" dirty="0" err="1"/>
              <a:t>x</a:t>
            </a:r>
            <a:r>
              <a:rPr lang="en-US" altLang="zh-CN" sz="2400" b="0" i="1" baseline="-25000" dirty="0" err="1"/>
              <a:t>k</a:t>
            </a:r>
            <a:r>
              <a:rPr lang="zh-CN" altLang="zh-CN" sz="2400" b="0" dirty="0"/>
              <a:t>箱货物分到第</a:t>
            </a:r>
            <a:r>
              <a:rPr lang="en-US" altLang="zh-CN" sz="2400" b="0" i="1" dirty="0"/>
              <a:t>k</a:t>
            </a:r>
            <a:r>
              <a:rPr lang="zh-CN" altLang="zh-CN" sz="2400" b="0" dirty="0"/>
              <a:t>个售货店所得的盈利值。</a:t>
            </a:r>
          </a:p>
          <a:p>
            <a:pPr marL="0" indent="0">
              <a:buFont typeface="Wingdings" panose="05000000000000000000" pitchFamily="2" charset="2"/>
              <a:buNone/>
              <a:defRPr/>
            </a:pPr>
            <a:r>
              <a:rPr lang="en-US" altLang="zh-CN" sz="2400" b="0" dirty="0" err="1">
                <a:solidFill>
                  <a:srgbClr val="0000FF"/>
                </a:solidFill>
              </a:rPr>
              <a:t>f</a:t>
            </a:r>
            <a:r>
              <a:rPr lang="en-US" altLang="zh-CN" sz="2400" b="0" i="1" baseline="-25000" dirty="0" err="1">
                <a:solidFill>
                  <a:srgbClr val="0000FF"/>
                </a:solidFill>
              </a:rPr>
              <a:t>k</a:t>
            </a:r>
            <a:r>
              <a:rPr lang="en-US" altLang="zh-CN" sz="2400" b="0" dirty="0">
                <a:solidFill>
                  <a:srgbClr val="0000FF"/>
                </a:solidFill>
              </a:rPr>
              <a:t>(</a:t>
            </a:r>
            <a:r>
              <a:rPr lang="en-US" altLang="zh-CN" sz="2400" b="0" i="1" dirty="0" err="1">
                <a:solidFill>
                  <a:srgbClr val="0000FF"/>
                </a:solidFill>
              </a:rPr>
              <a:t>s</a:t>
            </a:r>
            <a:r>
              <a:rPr lang="en-US" altLang="zh-CN" sz="2400" b="0" i="1" baseline="-25000" dirty="0" err="1">
                <a:solidFill>
                  <a:srgbClr val="0000FF"/>
                </a:solidFill>
              </a:rPr>
              <a:t>k</a:t>
            </a:r>
            <a:r>
              <a:rPr lang="en-US" altLang="zh-CN" sz="2400" b="0" dirty="0">
                <a:solidFill>
                  <a:srgbClr val="0000FF"/>
                </a:solidFill>
              </a:rPr>
              <a:t>)</a:t>
            </a:r>
            <a:r>
              <a:rPr lang="zh-CN" altLang="zh-CN" sz="2400" b="0" dirty="0"/>
              <a:t>表示为</a:t>
            </a:r>
            <a:r>
              <a:rPr lang="en-US" altLang="zh-CN" sz="2400" b="0" i="1" dirty="0" err="1"/>
              <a:t>s</a:t>
            </a:r>
            <a:r>
              <a:rPr lang="en-US" altLang="zh-CN" sz="2400" b="0" i="1" baseline="-25000" dirty="0" err="1"/>
              <a:t>k</a:t>
            </a:r>
            <a:r>
              <a:rPr lang="zh-CN" altLang="zh-CN" sz="2400" b="0" dirty="0"/>
              <a:t>箱货物分配给第</a:t>
            </a:r>
            <a:r>
              <a:rPr lang="en-US" altLang="zh-CN" sz="2400" b="0" i="1" dirty="0"/>
              <a:t>k</a:t>
            </a:r>
            <a:r>
              <a:rPr lang="zh-CN" altLang="zh-CN" sz="2400" b="0" dirty="0"/>
              <a:t>个售货店到第</a:t>
            </a:r>
            <a:r>
              <a:rPr lang="en-US" altLang="zh-CN" sz="2400" b="0" i="1" dirty="0"/>
              <a:t>n</a:t>
            </a:r>
            <a:r>
              <a:rPr lang="zh-CN" altLang="zh-CN" sz="2400" b="0" dirty="0"/>
              <a:t>个售货店的最大盈利值。</a:t>
            </a:r>
          </a:p>
          <a:p>
            <a:pPr marL="0" indent="0">
              <a:buFont typeface="Wingdings" panose="05000000000000000000" pitchFamily="2" charset="2"/>
              <a:buNone/>
              <a:defRPr/>
            </a:pPr>
            <a:r>
              <a:rPr lang="en-US" altLang="zh-CN" sz="2400" b="0" dirty="0"/>
              <a:t>3)</a:t>
            </a:r>
            <a:r>
              <a:rPr lang="zh-CN" altLang="zh-CN" sz="2400" b="0" dirty="0">
                <a:solidFill>
                  <a:srgbClr val="0000FF"/>
                </a:solidFill>
              </a:rPr>
              <a:t>递推关系式</a:t>
            </a:r>
            <a:r>
              <a:rPr lang="zh-CN" altLang="zh-CN" sz="2400" b="0" dirty="0"/>
              <a:t>：</a:t>
            </a:r>
          </a:p>
          <a:p>
            <a:pPr marL="0" indent="0">
              <a:buFont typeface="Wingdings" panose="05000000000000000000" pitchFamily="2" charset="2"/>
              <a:buNone/>
              <a:defRPr/>
            </a:pPr>
            <a:r>
              <a:rPr lang="en-US" altLang="zh-CN" sz="2400" dirty="0" err="1"/>
              <a:t>f</a:t>
            </a:r>
            <a:r>
              <a:rPr lang="en-US" altLang="zh-CN" sz="2400" i="1" baseline="-25000" dirty="0" err="1"/>
              <a:t>k</a:t>
            </a:r>
            <a:r>
              <a:rPr lang="en-US" altLang="zh-CN" sz="2400" dirty="0"/>
              <a:t>(</a:t>
            </a:r>
            <a:r>
              <a:rPr lang="en-US" altLang="zh-CN" sz="2400" i="1" dirty="0" err="1"/>
              <a:t>s</a:t>
            </a:r>
            <a:r>
              <a:rPr lang="en-US" altLang="zh-CN" sz="2400" i="1" baseline="-25000" dirty="0" err="1"/>
              <a:t>k</a:t>
            </a:r>
            <a:r>
              <a:rPr lang="en-US" altLang="zh-CN" sz="2400" dirty="0"/>
              <a:t>)</a:t>
            </a:r>
            <a:r>
              <a:rPr lang="zh-CN" altLang="zh-CN" sz="2400" dirty="0"/>
              <a:t>＝</a:t>
            </a:r>
            <a:r>
              <a:rPr lang="en-US" altLang="zh-CN" sz="2400" dirty="0"/>
              <a:t>max[ </a:t>
            </a:r>
            <a:r>
              <a:rPr lang="en-US" altLang="zh-CN" sz="2400" dirty="0" err="1"/>
              <a:t>P</a:t>
            </a:r>
            <a:r>
              <a:rPr lang="en-US" altLang="zh-CN" sz="2400" i="1" baseline="-25000" dirty="0" err="1"/>
              <a:t>k</a:t>
            </a:r>
            <a:r>
              <a:rPr lang="en-US" altLang="zh-CN" sz="2400" dirty="0"/>
              <a:t>(</a:t>
            </a:r>
            <a:r>
              <a:rPr lang="en-US" altLang="zh-CN" sz="2400" i="1" dirty="0" err="1"/>
              <a:t>x</a:t>
            </a:r>
            <a:r>
              <a:rPr lang="en-US" altLang="zh-CN" sz="2400" i="1" baseline="-25000" dirty="0" err="1"/>
              <a:t>k</a:t>
            </a:r>
            <a:r>
              <a:rPr lang="en-US" altLang="zh-CN" sz="2400" dirty="0"/>
              <a:t>)+ f</a:t>
            </a:r>
            <a:r>
              <a:rPr lang="en-US" altLang="zh-CN" sz="2400" i="1" baseline="-25000" dirty="0"/>
              <a:t>k</a:t>
            </a:r>
            <a:r>
              <a:rPr lang="en-US" altLang="zh-CN" sz="2400" baseline="-25000" dirty="0"/>
              <a:t>+1</a:t>
            </a:r>
            <a:r>
              <a:rPr lang="en-US" altLang="zh-CN" sz="2400" dirty="0"/>
              <a:t>(</a:t>
            </a:r>
            <a:r>
              <a:rPr lang="en-US" altLang="zh-CN" sz="2400" i="1" dirty="0" err="1"/>
              <a:t>s</a:t>
            </a:r>
            <a:r>
              <a:rPr lang="en-US" altLang="zh-CN" sz="2400" i="1" baseline="-25000" dirty="0" err="1"/>
              <a:t>k</a:t>
            </a:r>
            <a:r>
              <a:rPr lang="zh-CN" altLang="zh-CN" sz="2400" dirty="0"/>
              <a:t>－</a:t>
            </a:r>
            <a:r>
              <a:rPr lang="en-US" altLang="zh-CN" sz="2400" i="1" dirty="0" err="1"/>
              <a:t>x</a:t>
            </a:r>
            <a:r>
              <a:rPr lang="en-US" altLang="zh-CN" sz="2400" i="1" baseline="-25000" dirty="0" err="1"/>
              <a:t>k</a:t>
            </a:r>
            <a:r>
              <a:rPr lang="en-US" altLang="zh-CN" sz="2400" dirty="0"/>
              <a:t>) ]     </a:t>
            </a:r>
            <a:r>
              <a:rPr lang="en-US" altLang="zh-CN" sz="2400" i="1" dirty="0"/>
              <a:t>k</a:t>
            </a:r>
            <a:r>
              <a:rPr lang="en-US" altLang="zh-CN" sz="2400" dirty="0"/>
              <a:t>=4,3,2,1</a:t>
            </a:r>
            <a:endParaRPr lang="zh-CN" altLang="zh-CN" sz="2400" dirty="0"/>
          </a:p>
          <a:p>
            <a:pPr marL="0" indent="0">
              <a:buFont typeface="Wingdings" panose="05000000000000000000" pitchFamily="2" charset="2"/>
              <a:buNone/>
              <a:defRPr/>
            </a:pPr>
            <a:r>
              <a:rPr lang="zh-CN" altLang="zh-CN" sz="2400" b="0" dirty="0">
                <a:solidFill>
                  <a:srgbClr val="0000FF"/>
                </a:solidFill>
              </a:rPr>
              <a:t>边界条件</a:t>
            </a:r>
            <a:r>
              <a:rPr lang="zh-CN" altLang="zh-CN" sz="2400" b="0" dirty="0"/>
              <a:t>：</a:t>
            </a:r>
            <a:r>
              <a:rPr lang="en-US" altLang="zh-CN" sz="2400" dirty="0"/>
              <a:t>f</a:t>
            </a:r>
            <a:r>
              <a:rPr lang="en-US" altLang="zh-CN" sz="2400" baseline="-25000" dirty="0"/>
              <a:t>5</a:t>
            </a:r>
            <a:r>
              <a:rPr lang="en-US" altLang="zh-CN" sz="2400" dirty="0"/>
              <a:t>(</a:t>
            </a:r>
            <a:r>
              <a:rPr lang="en-US" altLang="zh-CN" sz="2400" i="1" dirty="0"/>
              <a:t>s</a:t>
            </a:r>
            <a:r>
              <a:rPr lang="en-US" altLang="zh-CN" sz="2400" baseline="-25000" dirty="0"/>
              <a:t>5</a:t>
            </a:r>
            <a:r>
              <a:rPr lang="en-US" altLang="zh-CN" sz="2400" dirty="0"/>
              <a:t>)</a:t>
            </a:r>
            <a:r>
              <a:rPr lang="zh-CN" altLang="zh-CN" sz="2400" dirty="0"/>
              <a:t>＝</a:t>
            </a:r>
            <a:r>
              <a:rPr lang="en-US" altLang="zh-CN" sz="2400" dirty="0"/>
              <a:t>0</a:t>
            </a:r>
            <a:endParaRPr lang="zh-CN" altLang="zh-CN" sz="2400" dirty="0"/>
          </a:p>
          <a:p>
            <a:pPr marL="0" indent="0">
              <a:buFont typeface="Wingdings" panose="05000000000000000000" pitchFamily="2" charset="2"/>
              <a:buNone/>
              <a:defRPr/>
            </a:pPr>
            <a:r>
              <a:rPr lang="en-US" altLang="zh-CN" sz="2400" b="0" dirty="0"/>
              <a:t>4)</a:t>
            </a:r>
            <a:r>
              <a:rPr lang="zh-CN" altLang="zh-CN" sz="2400" b="0" dirty="0"/>
              <a:t>从最后一个阶段开始向前逆推计算。</a:t>
            </a:r>
          </a:p>
          <a:p>
            <a:pPr>
              <a:defRPr/>
            </a:pP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DBE2FB83-A9AA-4167-AE36-591BA01DCB9C}"/>
              </a:ext>
            </a:extLst>
          </p:cNvPr>
          <p:cNvSpPr>
            <a:spLocks noGrp="1" noChangeArrowheads="1"/>
          </p:cNvSpPr>
          <p:nvPr>
            <p:ph type="title"/>
          </p:nvPr>
        </p:nvSpPr>
        <p:spPr/>
        <p:txBody>
          <a:bodyPr/>
          <a:lstStyle/>
          <a:p>
            <a:r>
              <a:rPr lang="zh-CN" altLang="en-US"/>
              <a:t>用</a:t>
            </a:r>
            <a:r>
              <a:rPr lang="en-US" altLang="zh-CN" sz="3300"/>
              <a:t>MATLAB</a:t>
            </a:r>
            <a:r>
              <a:rPr lang="zh-CN" altLang="zh-CN" sz="3300"/>
              <a:t>解决</a:t>
            </a:r>
            <a:r>
              <a:rPr lang="zh-CN" altLang="en-US" sz="3300"/>
              <a:t>动态规划</a:t>
            </a:r>
            <a:r>
              <a:rPr lang="zh-CN" altLang="zh-CN" sz="3300"/>
              <a:t>问题</a:t>
            </a:r>
            <a:endParaRPr lang="zh-CN" altLang="en-US"/>
          </a:p>
        </p:txBody>
      </p:sp>
      <p:sp>
        <p:nvSpPr>
          <p:cNvPr id="3" name="内容占位符 2">
            <a:extLst>
              <a:ext uri="{FF2B5EF4-FFF2-40B4-BE49-F238E27FC236}">
                <a16:creationId xmlns:a16="http://schemas.microsoft.com/office/drawing/2014/main" id="{A1558436-469B-42B0-81BB-4FC3558039B7}"/>
              </a:ext>
            </a:extLst>
          </p:cNvPr>
          <p:cNvSpPr>
            <a:spLocks noGrp="1"/>
          </p:cNvSpPr>
          <p:nvPr>
            <p:ph idx="1"/>
          </p:nvPr>
        </p:nvSpPr>
        <p:spPr>
          <a:xfrm>
            <a:off x="457200" y="1809750"/>
            <a:ext cx="7588250" cy="3646488"/>
          </a:xfrm>
        </p:spPr>
        <p:txBody>
          <a:bodyPr/>
          <a:lstStyle/>
          <a:p>
            <a:pPr>
              <a:defRPr/>
            </a:pPr>
            <a:r>
              <a:rPr lang="zh-CN" altLang="zh-CN" sz="1500" dirty="0"/>
              <a:t>第四阶段：</a:t>
            </a:r>
          </a:p>
          <a:p>
            <a:pPr marL="0" indent="0">
              <a:buFont typeface="Wingdings" panose="05000000000000000000" pitchFamily="2" charset="2"/>
              <a:buNone/>
              <a:defRPr/>
            </a:pPr>
            <a:r>
              <a:rPr lang="en-US" altLang="zh-CN" sz="1500" b="0" dirty="0"/>
              <a:t>    </a:t>
            </a:r>
            <a:r>
              <a:rPr lang="zh-CN" altLang="zh-CN" sz="1500" b="0" dirty="0"/>
              <a:t>设将</a:t>
            </a:r>
            <a:r>
              <a:rPr lang="en-US" altLang="zh-CN" sz="1500" b="0" i="1" dirty="0"/>
              <a:t>s</a:t>
            </a:r>
            <a:r>
              <a:rPr lang="en-US" altLang="zh-CN" sz="1500" b="0" baseline="-25000" dirty="0"/>
              <a:t>4</a:t>
            </a:r>
            <a:r>
              <a:rPr lang="zh-CN" altLang="zh-CN" sz="1500" b="0" dirty="0"/>
              <a:t>箱货物（</a:t>
            </a:r>
            <a:r>
              <a:rPr lang="en-US" altLang="zh-CN" sz="1500" b="0" i="1" dirty="0"/>
              <a:t>s</a:t>
            </a:r>
            <a:r>
              <a:rPr lang="en-US" altLang="zh-CN" sz="1500" b="0" baseline="-25000" dirty="0"/>
              <a:t>4</a:t>
            </a:r>
            <a:r>
              <a:rPr lang="zh-CN" altLang="zh-CN" sz="1500" b="0" dirty="0"/>
              <a:t>＝</a:t>
            </a:r>
            <a:r>
              <a:rPr lang="en-US" altLang="zh-CN" sz="1500" b="0" dirty="0"/>
              <a:t>0,1,2,3,4,5,6</a:t>
            </a:r>
            <a:r>
              <a:rPr lang="zh-CN" altLang="zh-CN" sz="1500" b="0" dirty="0"/>
              <a:t>）全部分配给</a:t>
            </a:r>
            <a:r>
              <a:rPr lang="en-US" altLang="zh-CN" sz="1500" b="0" dirty="0"/>
              <a:t>4</a:t>
            </a:r>
            <a:r>
              <a:rPr lang="zh-CN" altLang="zh-CN" sz="1500" b="0" dirty="0"/>
              <a:t>售货店时，最大盈利值为： </a:t>
            </a:r>
            <a:r>
              <a:rPr lang="en-US" altLang="zh-CN" sz="1500" b="0" dirty="0"/>
              <a:t>f</a:t>
            </a:r>
            <a:r>
              <a:rPr lang="en-US" altLang="zh-CN" sz="1500" b="0" baseline="-25000" dirty="0"/>
              <a:t>4</a:t>
            </a:r>
            <a:r>
              <a:rPr lang="en-US" altLang="zh-CN" sz="1500" b="0" dirty="0"/>
              <a:t>(</a:t>
            </a:r>
            <a:r>
              <a:rPr lang="en-US" altLang="zh-CN" sz="1500" b="0" i="1" dirty="0"/>
              <a:t>s</a:t>
            </a:r>
            <a:r>
              <a:rPr lang="en-US" altLang="zh-CN" sz="1500" b="0" baseline="-25000" dirty="0"/>
              <a:t>4</a:t>
            </a:r>
            <a:r>
              <a:rPr lang="en-US" altLang="zh-CN" sz="1500" b="0" dirty="0"/>
              <a:t>)</a:t>
            </a:r>
            <a:r>
              <a:rPr lang="zh-CN" altLang="zh-CN" sz="1500" b="0" dirty="0"/>
              <a:t>＝</a:t>
            </a:r>
            <a:r>
              <a:rPr lang="en-US" altLang="zh-CN" sz="1500" b="0" dirty="0"/>
              <a:t>     max[P</a:t>
            </a:r>
            <a:r>
              <a:rPr lang="en-US" altLang="zh-CN" sz="1500" b="0" baseline="-25000" dirty="0"/>
              <a:t>4</a:t>
            </a:r>
            <a:r>
              <a:rPr lang="en-US" altLang="zh-CN" sz="1500" b="0" dirty="0"/>
              <a:t>(</a:t>
            </a:r>
            <a:r>
              <a:rPr lang="en-US" altLang="zh-CN" sz="1500" b="0" i="1" dirty="0"/>
              <a:t>x</a:t>
            </a:r>
            <a:r>
              <a:rPr lang="en-US" altLang="zh-CN" sz="1500" b="0" baseline="-25000" dirty="0"/>
              <a:t>4</a:t>
            </a:r>
            <a:r>
              <a:rPr lang="en-US" altLang="zh-CN" sz="1500" b="0" dirty="0"/>
              <a:t>)]  </a:t>
            </a:r>
            <a:r>
              <a:rPr lang="zh-CN" altLang="zh-CN" sz="1500" b="0" dirty="0"/>
              <a:t>其中</a:t>
            </a:r>
            <a:r>
              <a:rPr lang="en-US" altLang="zh-CN" sz="1500" b="0" i="1" dirty="0"/>
              <a:t>x</a:t>
            </a:r>
            <a:r>
              <a:rPr lang="en-US" altLang="zh-CN" sz="1500" b="0" baseline="-25000" dirty="0"/>
              <a:t>4</a:t>
            </a:r>
            <a:r>
              <a:rPr lang="zh-CN" altLang="zh-CN" sz="1500" b="0" dirty="0"/>
              <a:t>＝</a:t>
            </a:r>
            <a:r>
              <a:rPr lang="en-US" altLang="zh-CN" sz="1500" b="0" i="1" dirty="0"/>
              <a:t>s</a:t>
            </a:r>
            <a:r>
              <a:rPr lang="en-US" altLang="zh-CN" sz="1500" b="0" baseline="-25000" dirty="0"/>
              <a:t>4</a:t>
            </a:r>
            <a:r>
              <a:rPr lang="zh-CN" altLang="zh-CN" sz="1500" b="0" dirty="0"/>
              <a:t>＝</a:t>
            </a:r>
            <a:r>
              <a:rPr lang="en-US" altLang="zh-CN" sz="1500" b="0" dirty="0"/>
              <a:t>0,1,2,3,4,5,6    </a:t>
            </a:r>
            <a:r>
              <a:rPr lang="en-US" altLang="zh-CN" sz="1500" b="0" i="1" dirty="0"/>
              <a:t>x</a:t>
            </a:r>
            <a:r>
              <a:rPr lang="en-US" altLang="zh-CN" sz="1500" b="0" baseline="-25000" dirty="0"/>
              <a:t>4</a:t>
            </a:r>
            <a:r>
              <a:rPr lang="en-US" altLang="zh-CN" sz="1500" b="0" baseline="30000" dirty="0"/>
              <a:t>*</a:t>
            </a:r>
            <a:r>
              <a:rPr lang="zh-CN" altLang="zh-CN" sz="1500" b="0" dirty="0"/>
              <a:t>表示使得</a:t>
            </a:r>
            <a:r>
              <a:rPr lang="en-US" altLang="zh-CN" sz="1500" b="0" dirty="0"/>
              <a:t>f</a:t>
            </a:r>
            <a:r>
              <a:rPr lang="en-US" altLang="zh-CN" sz="1500" b="0" baseline="-25000" dirty="0"/>
              <a:t>4</a:t>
            </a:r>
            <a:r>
              <a:rPr lang="en-US" altLang="zh-CN" sz="1500" b="0" dirty="0"/>
              <a:t>(</a:t>
            </a:r>
            <a:r>
              <a:rPr lang="en-US" altLang="zh-CN" sz="1500" b="0" i="1" dirty="0"/>
              <a:t>s</a:t>
            </a:r>
            <a:r>
              <a:rPr lang="en-US" altLang="zh-CN" sz="1500" b="0" baseline="-25000" dirty="0"/>
              <a:t>4</a:t>
            </a:r>
            <a:r>
              <a:rPr lang="en-US" altLang="zh-CN" sz="1500" b="0" dirty="0"/>
              <a:t>)</a:t>
            </a:r>
            <a:r>
              <a:rPr lang="zh-CN" altLang="zh-CN" sz="1500" b="0" dirty="0"/>
              <a:t>为最大值时的最优决策。</a:t>
            </a:r>
          </a:p>
          <a:p>
            <a:pPr>
              <a:defRPr/>
            </a:pPr>
            <a:endParaRPr lang="en-US" altLang="zh-CN" sz="1800" b="0" dirty="0"/>
          </a:p>
          <a:p>
            <a:pPr>
              <a:defRPr/>
            </a:pPr>
            <a:endParaRPr lang="en-US" altLang="zh-CN" sz="1800" b="0" dirty="0"/>
          </a:p>
          <a:p>
            <a:pPr>
              <a:defRPr/>
            </a:pPr>
            <a:endParaRPr lang="en-US" altLang="zh-CN" sz="1800" b="0" dirty="0"/>
          </a:p>
          <a:p>
            <a:pPr>
              <a:defRPr/>
            </a:pPr>
            <a:endParaRPr lang="zh-CN" altLang="en-US" dirty="0"/>
          </a:p>
        </p:txBody>
      </p:sp>
      <p:graphicFrame>
        <p:nvGraphicFramePr>
          <p:cNvPr id="5" name="表格 4">
            <a:extLst>
              <a:ext uri="{FF2B5EF4-FFF2-40B4-BE49-F238E27FC236}">
                <a16:creationId xmlns:a16="http://schemas.microsoft.com/office/drawing/2014/main" id="{8156A08D-283D-4FD6-A125-2F461E0B93FF}"/>
              </a:ext>
            </a:extLst>
          </p:cNvPr>
          <p:cNvGraphicFramePr>
            <a:graphicFrameLocks noGrp="1"/>
          </p:cNvGraphicFramePr>
          <p:nvPr/>
        </p:nvGraphicFramePr>
        <p:xfrm>
          <a:off x="1476375" y="3014663"/>
          <a:ext cx="5040314" cy="1782774"/>
        </p:xfrm>
        <a:graphic>
          <a:graphicData uri="http://schemas.openxmlformats.org/drawingml/2006/table">
            <a:tbl>
              <a:tblPr/>
              <a:tblGrid>
                <a:gridCol w="494572">
                  <a:extLst>
                    <a:ext uri="{9D8B030D-6E8A-4147-A177-3AD203B41FA5}">
                      <a16:colId xmlns:a16="http://schemas.microsoft.com/office/drawing/2014/main" val="20000"/>
                    </a:ext>
                  </a:extLst>
                </a:gridCol>
                <a:gridCol w="503460">
                  <a:extLst>
                    <a:ext uri="{9D8B030D-6E8A-4147-A177-3AD203B41FA5}">
                      <a16:colId xmlns:a16="http://schemas.microsoft.com/office/drawing/2014/main" val="20001"/>
                    </a:ext>
                  </a:extLst>
                </a:gridCol>
                <a:gridCol w="503460">
                  <a:extLst>
                    <a:ext uri="{9D8B030D-6E8A-4147-A177-3AD203B41FA5}">
                      <a16:colId xmlns:a16="http://schemas.microsoft.com/office/drawing/2014/main" val="20002"/>
                    </a:ext>
                  </a:extLst>
                </a:gridCol>
                <a:gridCol w="485048">
                  <a:extLst>
                    <a:ext uri="{9D8B030D-6E8A-4147-A177-3AD203B41FA5}">
                      <a16:colId xmlns:a16="http://schemas.microsoft.com/office/drawing/2014/main" val="20003"/>
                    </a:ext>
                  </a:extLst>
                </a:gridCol>
                <a:gridCol w="512983">
                  <a:extLst>
                    <a:ext uri="{9D8B030D-6E8A-4147-A177-3AD203B41FA5}">
                      <a16:colId xmlns:a16="http://schemas.microsoft.com/office/drawing/2014/main" val="20004"/>
                    </a:ext>
                  </a:extLst>
                </a:gridCol>
                <a:gridCol w="551076">
                  <a:extLst>
                    <a:ext uri="{9D8B030D-6E8A-4147-A177-3AD203B41FA5}">
                      <a16:colId xmlns:a16="http://schemas.microsoft.com/office/drawing/2014/main" val="20005"/>
                    </a:ext>
                  </a:extLst>
                </a:gridCol>
                <a:gridCol w="551076">
                  <a:extLst>
                    <a:ext uri="{9D8B030D-6E8A-4147-A177-3AD203B41FA5}">
                      <a16:colId xmlns:a16="http://schemas.microsoft.com/office/drawing/2014/main" val="20006"/>
                    </a:ext>
                  </a:extLst>
                </a:gridCol>
                <a:gridCol w="494572">
                  <a:extLst>
                    <a:ext uri="{9D8B030D-6E8A-4147-A177-3AD203B41FA5}">
                      <a16:colId xmlns:a16="http://schemas.microsoft.com/office/drawing/2014/main" val="20007"/>
                    </a:ext>
                  </a:extLst>
                </a:gridCol>
                <a:gridCol w="478065">
                  <a:extLst>
                    <a:ext uri="{9D8B030D-6E8A-4147-A177-3AD203B41FA5}">
                      <a16:colId xmlns:a16="http://schemas.microsoft.com/office/drawing/2014/main" val="20008"/>
                    </a:ext>
                  </a:extLst>
                </a:gridCol>
                <a:gridCol w="466002">
                  <a:extLst>
                    <a:ext uri="{9D8B030D-6E8A-4147-A177-3AD203B41FA5}">
                      <a16:colId xmlns:a16="http://schemas.microsoft.com/office/drawing/2014/main" val="20009"/>
                    </a:ext>
                  </a:extLst>
                </a:gridCol>
              </a:tblGrid>
              <a:tr h="238019">
                <a:tc rowSpan="2">
                  <a:txBody>
                    <a:bodyPr/>
                    <a:lstStyle/>
                    <a:p>
                      <a:pPr algn="just">
                        <a:spcAft>
                          <a:spcPts val="0"/>
                        </a:spcAft>
                      </a:pPr>
                      <a:r>
                        <a:rPr lang="zh-CN" sz="1200" kern="1200">
                          <a:solidFill>
                            <a:srgbClr val="000000"/>
                          </a:solidFill>
                          <a:effectLst/>
                          <a:latin typeface="Calibri" panose="020F0502020204030204" pitchFamily="34" charset="0"/>
                          <a:ea typeface="Arial" panose="020B0604020202020204" pitchFamily="34" charset="0"/>
                          <a:cs typeface="+mn-cs"/>
                        </a:rPr>
                        <a:t> </a:t>
                      </a:r>
                      <a:r>
                        <a:rPr lang="en-US" sz="1000" i="1" kern="1200">
                          <a:solidFill>
                            <a:srgbClr val="000000"/>
                          </a:solidFill>
                          <a:effectLst/>
                          <a:latin typeface="Arial" panose="020B0604020202020204" pitchFamily="34" charset="0"/>
                          <a:ea typeface="宋体" panose="02010600030101010101" pitchFamily="2" charset="-122"/>
                          <a:cs typeface="+mn-cs"/>
                        </a:rPr>
                        <a:t>x</a:t>
                      </a:r>
                      <a:r>
                        <a:rPr lang="en-US" sz="1000" kern="1200" baseline="-250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i="1" kern="1200">
                          <a:solidFill>
                            <a:srgbClr val="000000"/>
                          </a:solidFill>
                          <a:effectLst/>
                          <a:latin typeface="Arial" panose="020B0604020202020204" pitchFamily="34" charset="0"/>
                          <a:ea typeface="宋体" panose="02010600030101010101" pitchFamily="2" charset="-122"/>
                          <a:cs typeface="+mn-cs"/>
                        </a:rPr>
                        <a:t>s</a:t>
                      </a:r>
                      <a:r>
                        <a:rPr lang="en-US" sz="1000" kern="1200" baseline="-250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7">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r>
                        <a:rPr lang="en-US" sz="1000" kern="1200">
                          <a:solidFill>
                            <a:srgbClr val="000000"/>
                          </a:solidFill>
                          <a:effectLst/>
                          <a:latin typeface="Arial" panose="020B0604020202020204" pitchFamily="34" charset="0"/>
                          <a:ea typeface="宋体" panose="02010600030101010101" pitchFamily="2" charset="-122"/>
                          <a:cs typeface="+mn-cs"/>
                        </a:rPr>
                        <a:t>P</a:t>
                      </a:r>
                      <a:r>
                        <a:rPr lang="en-US" sz="1000" kern="1200" baseline="-25000">
                          <a:solidFill>
                            <a:srgbClr val="000000"/>
                          </a:solidFill>
                          <a:effectLst/>
                          <a:latin typeface="Arial" panose="020B0604020202020204" pitchFamily="34" charset="0"/>
                          <a:ea typeface="宋体" panose="02010600030101010101" pitchFamily="2" charset="-122"/>
                          <a:cs typeface="+mn-cs"/>
                        </a:rPr>
                        <a:t>4</a:t>
                      </a:r>
                      <a:r>
                        <a:rPr lang="en-US" sz="1000" kern="1200">
                          <a:solidFill>
                            <a:srgbClr val="000000"/>
                          </a:solidFill>
                          <a:effectLst/>
                          <a:latin typeface="Arial" panose="020B0604020202020204" pitchFamily="34" charset="0"/>
                          <a:ea typeface="宋体" panose="02010600030101010101" pitchFamily="2" charset="-122"/>
                          <a:cs typeface="+mn-cs"/>
                        </a:rPr>
                        <a:t>(</a:t>
                      </a:r>
                      <a:r>
                        <a:rPr lang="en-US" sz="1000" i="1" kern="1200">
                          <a:solidFill>
                            <a:srgbClr val="000000"/>
                          </a:solidFill>
                          <a:effectLst/>
                          <a:latin typeface="Arial" panose="020B0604020202020204" pitchFamily="34" charset="0"/>
                          <a:ea typeface="宋体" panose="02010600030101010101" pitchFamily="2" charset="-122"/>
                          <a:cs typeface="+mn-cs"/>
                        </a:rPr>
                        <a:t>x</a:t>
                      </a:r>
                      <a:r>
                        <a:rPr lang="en-US" sz="1000" kern="1200" baseline="-25000">
                          <a:solidFill>
                            <a:srgbClr val="000000"/>
                          </a:solidFill>
                          <a:effectLst/>
                          <a:latin typeface="Arial" panose="020B0604020202020204" pitchFamily="34" charset="0"/>
                          <a:ea typeface="宋体" panose="02010600030101010101" pitchFamily="2" charset="-122"/>
                          <a:cs typeface="+mn-cs"/>
                        </a:rPr>
                        <a:t>4</a:t>
                      </a:r>
                      <a:r>
                        <a:rPr lang="en-US" sz="1000" kern="1200">
                          <a:solidFill>
                            <a:srgbClr val="000000"/>
                          </a:solidFill>
                          <a:effectLst/>
                          <a:latin typeface="Arial" panose="020B0604020202020204" pitchFamily="34" charset="0"/>
                          <a:ea typeface="宋体" panose="02010600030101010101" pitchFamily="2" charset="-122"/>
                          <a:cs typeface="+mn-cs"/>
                        </a:rPr>
                        <a:t>)</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just">
                        <a:spcAft>
                          <a:spcPts val="0"/>
                        </a:spcAft>
                      </a:pPr>
                      <a:r>
                        <a:rPr lang="en-US" sz="10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kern="1200">
                          <a:solidFill>
                            <a:srgbClr val="000000"/>
                          </a:solidFill>
                          <a:effectLst/>
                          <a:latin typeface="Arial" panose="020B0604020202020204" pitchFamily="34" charset="0"/>
                          <a:ea typeface="宋体" panose="02010600030101010101" pitchFamily="2" charset="-122"/>
                          <a:cs typeface="+mn-cs"/>
                        </a:rPr>
                        <a:t>f</a:t>
                      </a:r>
                      <a:r>
                        <a:rPr lang="en-US" sz="1000" kern="1200" baseline="-25000">
                          <a:solidFill>
                            <a:srgbClr val="000000"/>
                          </a:solidFill>
                          <a:effectLst/>
                          <a:latin typeface="Arial" panose="020B0604020202020204" pitchFamily="34" charset="0"/>
                          <a:ea typeface="宋体" panose="02010600030101010101" pitchFamily="2" charset="-122"/>
                          <a:cs typeface="+mn-cs"/>
                        </a:rPr>
                        <a:t>4</a:t>
                      </a:r>
                      <a:r>
                        <a:rPr lang="en-US" sz="1000" kern="1200">
                          <a:solidFill>
                            <a:srgbClr val="000000"/>
                          </a:solidFill>
                          <a:effectLst/>
                          <a:latin typeface="Arial" panose="020B0604020202020204" pitchFamily="34" charset="0"/>
                          <a:ea typeface="宋体" panose="02010600030101010101" pitchFamily="2" charset="-122"/>
                          <a:cs typeface="+mn-cs"/>
                        </a:rPr>
                        <a:t>(</a:t>
                      </a:r>
                      <a:r>
                        <a:rPr lang="en-US" sz="1000" i="1" kern="1200">
                          <a:solidFill>
                            <a:srgbClr val="000000"/>
                          </a:solidFill>
                          <a:effectLst/>
                          <a:latin typeface="Arial" panose="020B0604020202020204" pitchFamily="34" charset="0"/>
                          <a:ea typeface="宋体" panose="02010600030101010101" pitchFamily="2" charset="-122"/>
                          <a:cs typeface="+mn-cs"/>
                        </a:rPr>
                        <a:t>s</a:t>
                      </a:r>
                      <a:r>
                        <a:rPr lang="en-US" sz="1000" kern="1200" baseline="-25000">
                          <a:solidFill>
                            <a:srgbClr val="000000"/>
                          </a:solidFill>
                          <a:effectLst/>
                          <a:latin typeface="Arial" panose="020B0604020202020204" pitchFamily="34" charset="0"/>
                          <a:ea typeface="宋体" panose="02010600030101010101" pitchFamily="2" charset="-122"/>
                          <a:cs typeface="+mn-cs"/>
                        </a:rPr>
                        <a:t>4</a:t>
                      </a:r>
                      <a:r>
                        <a:rPr lang="en-US" sz="1000" kern="1200">
                          <a:solidFill>
                            <a:srgbClr val="000000"/>
                          </a:solidFill>
                          <a:effectLst/>
                          <a:latin typeface="Arial" panose="020B0604020202020204" pitchFamily="34" charset="0"/>
                          <a:ea typeface="宋体" panose="02010600030101010101" pitchFamily="2" charset="-122"/>
                          <a:cs typeface="+mn-cs"/>
                        </a:rPr>
                        <a:t>)</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just">
                        <a:spcAft>
                          <a:spcPts val="0"/>
                        </a:spcAft>
                      </a:pPr>
                      <a:r>
                        <a:rPr lang="en-US" sz="10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i="1" kern="1200">
                          <a:solidFill>
                            <a:srgbClr val="000000"/>
                          </a:solidFill>
                          <a:effectLst/>
                          <a:latin typeface="Arial" panose="020B0604020202020204" pitchFamily="34" charset="0"/>
                          <a:ea typeface="宋体" panose="02010600030101010101" pitchFamily="2" charset="-122"/>
                          <a:cs typeface="+mn-cs"/>
                        </a:rPr>
                        <a:t>x</a:t>
                      </a:r>
                      <a:r>
                        <a:rPr lang="en-US" sz="1000" kern="1200" baseline="-25000">
                          <a:solidFill>
                            <a:srgbClr val="000000"/>
                          </a:solidFill>
                          <a:effectLst/>
                          <a:latin typeface="Arial" panose="020B0604020202020204" pitchFamily="34" charset="0"/>
                          <a:ea typeface="宋体" panose="02010600030101010101" pitchFamily="2" charset="-122"/>
                          <a:cs typeface="+mn-cs"/>
                        </a:rPr>
                        <a:t>4</a:t>
                      </a:r>
                      <a:r>
                        <a:rPr lang="en-US" sz="1000" kern="1200" baseline="30000">
                          <a:solidFill>
                            <a:srgbClr val="000000"/>
                          </a:solidFill>
                          <a:effectLst/>
                          <a:latin typeface="Arial" panose="020B0604020202020204" pitchFamily="34" charset="0"/>
                          <a:ea typeface="宋体" panose="02010600030101010101" pitchFamily="2" charset="-122"/>
                          <a:cs typeface="+mn-cs"/>
                        </a:rPr>
                        <a:t>*</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8019">
                <a:tc vMerge="1">
                  <a:txBody>
                    <a:bodyPr/>
                    <a:lstStyle/>
                    <a:p>
                      <a:endParaRPr lang="zh-CN" altLang="en-US"/>
                    </a:p>
                  </a:txBody>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209456">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dirty="0">
                          <a:solidFill>
                            <a:srgbClr val="000000"/>
                          </a:solidFill>
                          <a:effectLst/>
                          <a:latin typeface="Arial" panose="020B0604020202020204" pitchFamily="34" charset="0"/>
                          <a:ea typeface="宋体" panose="02010600030101010101" pitchFamily="2" charset="-122"/>
                          <a:cs typeface="+mn-cs"/>
                        </a:rPr>
                        <a:t>6</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2E7A5FDD-F0E9-4742-BF1B-A1DBFD4AB9AA}"/>
              </a:ext>
            </a:extLst>
          </p:cNvPr>
          <p:cNvSpPr>
            <a:spLocks noGrp="1" noChangeArrowheads="1"/>
          </p:cNvSpPr>
          <p:nvPr>
            <p:ph type="title"/>
          </p:nvPr>
        </p:nvSpPr>
        <p:spPr/>
        <p:txBody>
          <a:bodyPr/>
          <a:lstStyle/>
          <a:p>
            <a:r>
              <a:rPr lang="zh-CN" altLang="en-US"/>
              <a:t>用</a:t>
            </a:r>
            <a:r>
              <a:rPr lang="en-US" altLang="zh-CN" sz="3300"/>
              <a:t>MATLAB</a:t>
            </a:r>
            <a:r>
              <a:rPr lang="zh-CN" altLang="zh-CN" sz="3300"/>
              <a:t>解决</a:t>
            </a:r>
            <a:r>
              <a:rPr lang="zh-CN" altLang="en-US" sz="3300"/>
              <a:t>动态规划</a:t>
            </a:r>
            <a:r>
              <a:rPr lang="zh-CN" altLang="zh-CN" sz="3300"/>
              <a:t>问题</a:t>
            </a:r>
            <a:endParaRPr lang="zh-CN" altLang="en-US"/>
          </a:p>
        </p:txBody>
      </p:sp>
      <p:sp>
        <p:nvSpPr>
          <p:cNvPr id="3" name="内容占位符 2">
            <a:extLst>
              <a:ext uri="{FF2B5EF4-FFF2-40B4-BE49-F238E27FC236}">
                <a16:creationId xmlns:a16="http://schemas.microsoft.com/office/drawing/2014/main" id="{7B4AA5CC-D130-41C6-9F65-1A0C5FC7F0A2}"/>
              </a:ext>
            </a:extLst>
          </p:cNvPr>
          <p:cNvSpPr>
            <a:spLocks noGrp="1"/>
          </p:cNvSpPr>
          <p:nvPr>
            <p:ph idx="1"/>
          </p:nvPr>
        </p:nvSpPr>
        <p:spPr>
          <a:xfrm>
            <a:off x="457200" y="1809750"/>
            <a:ext cx="7588250" cy="3646488"/>
          </a:xfrm>
        </p:spPr>
        <p:txBody>
          <a:bodyPr/>
          <a:lstStyle/>
          <a:p>
            <a:pPr>
              <a:defRPr/>
            </a:pPr>
            <a:r>
              <a:rPr lang="zh-CN" altLang="en-US" sz="1500" dirty="0"/>
              <a:t>第三阶段：</a:t>
            </a:r>
          </a:p>
          <a:p>
            <a:pPr marL="0" indent="0">
              <a:buFont typeface="Wingdings" panose="05000000000000000000" pitchFamily="2" charset="2"/>
              <a:buNone/>
              <a:defRPr/>
            </a:pPr>
            <a:r>
              <a:rPr lang="zh-CN" altLang="en-US" sz="1500" b="0" dirty="0"/>
              <a:t>     设将</a:t>
            </a:r>
            <a:r>
              <a:rPr lang="en-US" altLang="zh-CN" sz="1500" b="0" dirty="0"/>
              <a:t>s3</a:t>
            </a:r>
            <a:r>
              <a:rPr lang="zh-CN" altLang="en-US" sz="1500" b="0" dirty="0"/>
              <a:t>箱货物（</a:t>
            </a:r>
            <a:r>
              <a:rPr lang="en-US" altLang="zh-CN" sz="1500" b="0" dirty="0"/>
              <a:t>s3</a:t>
            </a:r>
            <a:r>
              <a:rPr lang="zh-CN" altLang="en-US" sz="1500" b="0" dirty="0"/>
              <a:t>＝</a:t>
            </a:r>
            <a:r>
              <a:rPr lang="en-US" altLang="zh-CN" sz="1500" b="0" dirty="0"/>
              <a:t>0,1,2,3,4,5,6</a:t>
            </a:r>
            <a:r>
              <a:rPr lang="zh-CN" altLang="en-US" sz="1500" b="0" dirty="0"/>
              <a:t>）分配给</a:t>
            </a:r>
            <a:r>
              <a:rPr lang="en-US" altLang="zh-CN" sz="1500" b="0" dirty="0"/>
              <a:t>3</a:t>
            </a:r>
            <a:r>
              <a:rPr lang="zh-CN" altLang="en-US" sz="1500" b="0" dirty="0"/>
              <a:t>售货店和</a:t>
            </a:r>
            <a:r>
              <a:rPr lang="en-US" altLang="zh-CN" sz="1500" b="0" dirty="0"/>
              <a:t>4</a:t>
            </a:r>
            <a:r>
              <a:rPr lang="zh-CN" altLang="en-US" sz="1500" b="0" dirty="0"/>
              <a:t>售货店时，对每一个</a:t>
            </a:r>
            <a:r>
              <a:rPr lang="en-US" altLang="zh-CN" sz="1500" b="0" dirty="0"/>
              <a:t>s3</a:t>
            </a:r>
            <a:r>
              <a:rPr lang="zh-CN" altLang="en-US" sz="1500" b="0" dirty="0"/>
              <a:t>值，都有一种最优分配方案，使得最大盈利值为：</a:t>
            </a:r>
            <a:r>
              <a:rPr lang="en-US" altLang="zh-CN" sz="1500" b="0" dirty="0"/>
              <a:t>f3(s3)</a:t>
            </a:r>
            <a:r>
              <a:rPr lang="zh-CN" altLang="en-US" sz="1500" b="0" dirty="0"/>
              <a:t>＝</a:t>
            </a:r>
            <a:r>
              <a:rPr lang="en-US" altLang="zh-CN" sz="1500" b="0" dirty="0"/>
              <a:t>max[ P3(x3)+ f4(s3</a:t>
            </a:r>
            <a:r>
              <a:rPr lang="zh-CN" altLang="en-US" sz="1500" b="0" dirty="0"/>
              <a:t>－</a:t>
            </a:r>
            <a:r>
              <a:rPr lang="en-US" altLang="zh-CN" sz="1500" b="0" dirty="0"/>
              <a:t>x3) ] </a:t>
            </a:r>
            <a:r>
              <a:rPr lang="zh-CN" altLang="en-US" sz="1500" b="0" dirty="0"/>
              <a:t>，</a:t>
            </a:r>
            <a:r>
              <a:rPr lang="en-US" altLang="zh-CN" sz="1500" b="0" dirty="0"/>
              <a:t>x3</a:t>
            </a:r>
            <a:r>
              <a:rPr lang="zh-CN" altLang="en-US" sz="1500" b="0" dirty="0"/>
              <a:t>＝</a:t>
            </a:r>
            <a:r>
              <a:rPr lang="en-US" altLang="zh-CN" sz="1500" b="0" dirty="0"/>
              <a:t>0,1,2,3,4,5,6</a:t>
            </a:r>
          </a:p>
          <a:p>
            <a:pPr>
              <a:defRPr/>
            </a:pPr>
            <a:endParaRPr lang="en-US" altLang="zh-CN" sz="1500" b="0" dirty="0"/>
          </a:p>
          <a:p>
            <a:pPr>
              <a:defRPr/>
            </a:pPr>
            <a:endParaRPr lang="en-US" altLang="zh-CN" sz="1800" b="0" dirty="0"/>
          </a:p>
          <a:p>
            <a:pPr>
              <a:defRPr/>
            </a:pPr>
            <a:endParaRPr lang="en-US" altLang="zh-CN" sz="1800" b="0" dirty="0"/>
          </a:p>
          <a:p>
            <a:pPr>
              <a:defRPr/>
            </a:pPr>
            <a:endParaRPr lang="en-US" altLang="zh-CN" sz="1800" b="0" dirty="0"/>
          </a:p>
          <a:p>
            <a:pPr>
              <a:defRPr/>
            </a:pPr>
            <a:endParaRPr lang="zh-CN" altLang="en-US" dirty="0"/>
          </a:p>
        </p:txBody>
      </p:sp>
      <p:graphicFrame>
        <p:nvGraphicFramePr>
          <p:cNvPr id="7" name="表格 6">
            <a:extLst>
              <a:ext uri="{FF2B5EF4-FFF2-40B4-BE49-F238E27FC236}">
                <a16:creationId xmlns:a16="http://schemas.microsoft.com/office/drawing/2014/main" id="{2B517366-073F-48EE-9E67-5914E4262A51}"/>
              </a:ext>
            </a:extLst>
          </p:cNvPr>
          <p:cNvGraphicFramePr>
            <a:graphicFrameLocks noGrp="1"/>
          </p:cNvGraphicFramePr>
          <p:nvPr/>
        </p:nvGraphicFramePr>
        <p:xfrm>
          <a:off x="1331913" y="3500438"/>
          <a:ext cx="5040312" cy="1784349"/>
        </p:xfrm>
        <a:graphic>
          <a:graphicData uri="http://schemas.openxmlformats.org/drawingml/2006/table">
            <a:tbl>
              <a:tblPr/>
              <a:tblGrid>
                <a:gridCol w="494571">
                  <a:extLst>
                    <a:ext uri="{9D8B030D-6E8A-4147-A177-3AD203B41FA5}">
                      <a16:colId xmlns:a16="http://schemas.microsoft.com/office/drawing/2014/main" val="20000"/>
                    </a:ext>
                  </a:extLst>
                </a:gridCol>
                <a:gridCol w="503460">
                  <a:extLst>
                    <a:ext uri="{9D8B030D-6E8A-4147-A177-3AD203B41FA5}">
                      <a16:colId xmlns:a16="http://schemas.microsoft.com/office/drawing/2014/main" val="20001"/>
                    </a:ext>
                  </a:extLst>
                </a:gridCol>
                <a:gridCol w="503460">
                  <a:extLst>
                    <a:ext uri="{9D8B030D-6E8A-4147-A177-3AD203B41FA5}">
                      <a16:colId xmlns:a16="http://schemas.microsoft.com/office/drawing/2014/main" val="20002"/>
                    </a:ext>
                  </a:extLst>
                </a:gridCol>
                <a:gridCol w="485048">
                  <a:extLst>
                    <a:ext uri="{9D8B030D-6E8A-4147-A177-3AD203B41FA5}">
                      <a16:colId xmlns:a16="http://schemas.microsoft.com/office/drawing/2014/main" val="20003"/>
                    </a:ext>
                  </a:extLst>
                </a:gridCol>
                <a:gridCol w="512983">
                  <a:extLst>
                    <a:ext uri="{9D8B030D-6E8A-4147-A177-3AD203B41FA5}">
                      <a16:colId xmlns:a16="http://schemas.microsoft.com/office/drawing/2014/main" val="20004"/>
                    </a:ext>
                  </a:extLst>
                </a:gridCol>
                <a:gridCol w="551076">
                  <a:extLst>
                    <a:ext uri="{9D8B030D-6E8A-4147-A177-3AD203B41FA5}">
                      <a16:colId xmlns:a16="http://schemas.microsoft.com/office/drawing/2014/main" val="20005"/>
                    </a:ext>
                  </a:extLst>
                </a:gridCol>
                <a:gridCol w="551076">
                  <a:extLst>
                    <a:ext uri="{9D8B030D-6E8A-4147-A177-3AD203B41FA5}">
                      <a16:colId xmlns:a16="http://schemas.microsoft.com/office/drawing/2014/main" val="20006"/>
                    </a:ext>
                  </a:extLst>
                </a:gridCol>
                <a:gridCol w="494571">
                  <a:extLst>
                    <a:ext uri="{9D8B030D-6E8A-4147-A177-3AD203B41FA5}">
                      <a16:colId xmlns:a16="http://schemas.microsoft.com/office/drawing/2014/main" val="20007"/>
                    </a:ext>
                  </a:extLst>
                </a:gridCol>
                <a:gridCol w="478065">
                  <a:extLst>
                    <a:ext uri="{9D8B030D-6E8A-4147-A177-3AD203B41FA5}">
                      <a16:colId xmlns:a16="http://schemas.microsoft.com/office/drawing/2014/main" val="20008"/>
                    </a:ext>
                  </a:extLst>
                </a:gridCol>
                <a:gridCol w="466002">
                  <a:extLst>
                    <a:ext uri="{9D8B030D-6E8A-4147-A177-3AD203B41FA5}">
                      <a16:colId xmlns:a16="http://schemas.microsoft.com/office/drawing/2014/main" val="20009"/>
                    </a:ext>
                  </a:extLst>
                </a:gridCol>
              </a:tblGrid>
              <a:tr h="238295">
                <a:tc rowSpan="2">
                  <a:txBody>
                    <a:bodyPr/>
                    <a:lstStyle/>
                    <a:p>
                      <a:pPr algn="just">
                        <a:spcAft>
                          <a:spcPts val="0"/>
                        </a:spcAft>
                      </a:pPr>
                      <a:r>
                        <a:rPr lang="en-US" sz="1100" i="1" kern="1200">
                          <a:solidFill>
                            <a:srgbClr val="000000"/>
                          </a:solidFill>
                          <a:effectLst/>
                          <a:latin typeface="Arial" panose="020B0604020202020204" pitchFamily="34" charset="0"/>
                          <a:ea typeface="宋体" panose="02010600030101010101" pitchFamily="2" charset="-122"/>
                          <a:cs typeface="+mn-cs"/>
                        </a:rPr>
                        <a:t>x</a:t>
                      </a:r>
                      <a:r>
                        <a:rPr lang="en-US" sz="1100" kern="1200" baseline="-25000">
                          <a:solidFill>
                            <a:srgbClr val="000000"/>
                          </a:solidFill>
                          <a:effectLst/>
                          <a:latin typeface="Arial" panose="020B0604020202020204" pitchFamily="34" charset="0"/>
                          <a:ea typeface="宋体" panose="02010600030101010101" pitchFamily="2" charset="-122"/>
                          <a:cs typeface="+mn-cs"/>
                        </a:rPr>
                        <a:t>3</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100" i="1" kern="1200">
                          <a:solidFill>
                            <a:srgbClr val="000000"/>
                          </a:solidFill>
                          <a:effectLst/>
                          <a:latin typeface="Arial" panose="020B0604020202020204" pitchFamily="34" charset="0"/>
                          <a:ea typeface="宋体" panose="02010600030101010101" pitchFamily="2" charset="-122"/>
                          <a:cs typeface="+mn-cs"/>
                        </a:rPr>
                        <a:t>s</a:t>
                      </a:r>
                      <a:r>
                        <a:rPr lang="en-US" sz="1100" kern="1200" baseline="-25000">
                          <a:solidFill>
                            <a:srgbClr val="000000"/>
                          </a:solidFill>
                          <a:effectLst/>
                          <a:latin typeface="Arial" panose="020B0604020202020204" pitchFamily="34" charset="0"/>
                          <a:ea typeface="宋体" panose="02010600030101010101" pitchFamily="2" charset="-122"/>
                          <a:cs typeface="+mn-cs"/>
                        </a:rPr>
                        <a:t>3</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7">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r>
                        <a:rPr lang="en-US" sz="1100" b="1" kern="1200">
                          <a:solidFill>
                            <a:srgbClr val="000000"/>
                          </a:solidFill>
                          <a:effectLst/>
                          <a:latin typeface="Arial" panose="020B0604020202020204" pitchFamily="34" charset="0"/>
                          <a:ea typeface="宋体" panose="02010600030101010101" pitchFamily="2" charset="-122"/>
                          <a:cs typeface="+mn-cs"/>
                        </a:rPr>
                        <a:t>P</a:t>
                      </a:r>
                      <a:r>
                        <a:rPr lang="en-US" sz="1100" b="1" kern="1200" baseline="-25000">
                          <a:solidFill>
                            <a:srgbClr val="000000"/>
                          </a:solidFill>
                          <a:effectLst/>
                          <a:latin typeface="Arial" panose="020B0604020202020204" pitchFamily="34" charset="0"/>
                          <a:ea typeface="宋体" panose="02010600030101010101" pitchFamily="2" charset="-122"/>
                          <a:cs typeface="+mn-cs"/>
                        </a:rPr>
                        <a:t>3</a:t>
                      </a:r>
                      <a:r>
                        <a:rPr lang="en-US" sz="1100" b="1" kern="1200">
                          <a:solidFill>
                            <a:srgbClr val="000000"/>
                          </a:solidFill>
                          <a:effectLst/>
                          <a:latin typeface="Arial" panose="020B0604020202020204" pitchFamily="34" charset="0"/>
                          <a:ea typeface="宋体" panose="02010600030101010101" pitchFamily="2" charset="-122"/>
                          <a:cs typeface="+mn-cs"/>
                        </a:rPr>
                        <a:t>(</a:t>
                      </a:r>
                      <a:r>
                        <a:rPr lang="en-US" sz="1100" i="1" kern="1200">
                          <a:solidFill>
                            <a:srgbClr val="000000"/>
                          </a:solidFill>
                          <a:effectLst/>
                          <a:latin typeface="Arial" panose="020B0604020202020204" pitchFamily="34" charset="0"/>
                          <a:ea typeface="宋体" panose="02010600030101010101" pitchFamily="2" charset="-122"/>
                          <a:cs typeface="+mn-cs"/>
                        </a:rPr>
                        <a:t>x</a:t>
                      </a:r>
                      <a:r>
                        <a:rPr lang="en-US" sz="1100" b="1" kern="1200" baseline="-25000">
                          <a:solidFill>
                            <a:srgbClr val="000000"/>
                          </a:solidFill>
                          <a:effectLst/>
                          <a:latin typeface="Arial" panose="020B0604020202020204" pitchFamily="34" charset="0"/>
                          <a:ea typeface="宋体" panose="02010600030101010101" pitchFamily="2" charset="-122"/>
                          <a:cs typeface="+mn-cs"/>
                        </a:rPr>
                        <a:t>3</a:t>
                      </a:r>
                      <a:r>
                        <a:rPr lang="en-US" sz="1100" b="1" kern="1200">
                          <a:solidFill>
                            <a:srgbClr val="000000"/>
                          </a:solidFill>
                          <a:effectLst/>
                          <a:latin typeface="Arial" panose="020B0604020202020204" pitchFamily="34" charset="0"/>
                          <a:ea typeface="宋体" panose="02010600030101010101" pitchFamily="2" charset="-122"/>
                          <a:cs typeface="+mn-cs"/>
                        </a:rPr>
                        <a:t>)</a:t>
                      </a:r>
                      <a:r>
                        <a:rPr lang="zh-CN" sz="1100" b="1" kern="1200">
                          <a:solidFill>
                            <a:srgbClr val="000000"/>
                          </a:solidFill>
                          <a:effectLst/>
                          <a:latin typeface="Arial" panose="020B0604020202020204" pitchFamily="34" charset="0"/>
                          <a:ea typeface="宋体" panose="02010600030101010101" pitchFamily="2" charset="-122"/>
                          <a:cs typeface="+mn-cs"/>
                        </a:rPr>
                        <a:t>＋</a:t>
                      </a:r>
                      <a:r>
                        <a:rPr lang="en-US" sz="1100" b="1" kern="1200">
                          <a:solidFill>
                            <a:srgbClr val="000000"/>
                          </a:solidFill>
                          <a:effectLst/>
                          <a:latin typeface="Arial" panose="020B0604020202020204" pitchFamily="34" charset="0"/>
                          <a:ea typeface="宋体" panose="02010600030101010101" pitchFamily="2" charset="-122"/>
                          <a:cs typeface="+mn-cs"/>
                        </a:rPr>
                        <a:t>f</a:t>
                      </a:r>
                      <a:r>
                        <a:rPr lang="en-US" sz="1100" b="1" kern="1200" baseline="-25000">
                          <a:solidFill>
                            <a:srgbClr val="000000"/>
                          </a:solidFill>
                          <a:effectLst/>
                          <a:latin typeface="Arial" panose="020B0604020202020204" pitchFamily="34" charset="0"/>
                          <a:ea typeface="宋体" panose="02010600030101010101" pitchFamily="2" charset="-122"/>
                          <a:cs typeface="+mn-cs"/>
                        </a:rPr>
                        <a:t>4</a:t>
                      </a:r>
                      <a:r>
                        <a:rPr lang="en-US" sz="1100" b="1" kern="1200">
                          <a:solidFill>
                            <a:srgbClr val="000000"/>
                          </a:solidFill>
                          <a:effectLst/>
                          <a:latin typeface="Arial" panose="020B0604020202020204" pitchFamily="34" charset="0"/>
                          <a:ea typeface="宋体" panose="02010600030101010101" pitchFamily="2" charset="-122"/>
                          <a:cs typeface="+mn-cs"/>
                        </a:rPr>
                        <a:t>(</a:t>
                      </a:r>
                      <a:r>
                        <a:rPr lang="en-US" sz="1100" i="1" kern="1200">
                          <a:solidFill>
                            <a:srgbClr val="000000"/>
                          </a:solidFill>
                          <a:effectLst/>
                          <a:latin typeface="Arial" panose="020B0604020202020204" pitchFamily="34" charset="0"/>
                          <a:ea typeface="宋体" panose="02010600030101010101" pitchFamily="2" charset="-122"/>
                          <a:cs typeface="+mn-cs"/>
                        </a:rPr>
                        <a:t>s</a:t>
                      </a:r>
                      <a:r>
                        <a:rPr lang="en-US" sz="1100" b="1" kern="1200" baseline="-25000">
                          <a:solidFill>
                            <a:srgbClr val="000000"/>
                          </a:solidFill>
                          <a:effectLst/>
                          <a:latin typeface="Arial" panose="020B0604020202020204" pitchFamily="34" charset="0"/>
                          <a:ea typeface="宋体" panose="02010600030101010101" pitchFamily="2" charset="-122"/>
                          <a:cs typeface="+mn-cs"/>
                        </a:rPr>
                        <a:t>3</a:t>
                      </a:r>
                      <a:r>
                        <a:rPr lang="zh-CN" sz="1100" b="1" kern="1200">
                          <a:solidFill>
                            <a:srgbClr val="000000"/>
                          </a:solidFill>
                          <a:effectLst/>
                          <a:latin typeface="Arial" panose="020B0604020202020204" pitchFamily="34" charset="0"/>
                          <a:ea typeface="宋体" panose="02010600030101010101" pitchFamily="2" charset="-122"/>
                          <a:cs typeface="+mn-cs"/>
                        </a:rPr>
                        <a:t>－</a:t>
                      </a:r>
                      <a:r>
                        <a:rPr lang="en-US" sz="1100" i="1" kern="1200">
                          <a:solidFill>
                            <a:srgbClr val="000000"/>
                          </a:solidFill>
                          <a:effectLst/>
                          <a:latin typeface="Arial" panose="020B0604020202020204" pitchFamily="34" charset="0"/>
                          <a:ea typeface="宋体" panose="02010600030101010101" pitchFamily="2" charset="-122"/>
                          <a:cs typeface="+mn-cs"/>
                        </a:rPr>
                        <a:t>x</a:t>
                      </a:r>
                      <a:r>
                        <a:rPr lang="en-US" sz="1100" b="1" kern="1200" baseline="-25000">
                          <a:solidFill>
                            <a:srgbClr val="000000"/>
                          </a:solidFill>
                          <a:effectLst/>
                          <a:latin typeface="Arial" panose="020B0604020202020204" pitchFamily="34" charset="0"/>
                          <a:ea typeface="宋体" panose="02010600030101010101" pitchFamily="2" charset="-122"/>
                          <a:cs typeface="+mn-cs"/>
                        </a:rPr>
                        <a:t>3</a:t>
                      </a:r>
                      <a:r>
                        <a:rPr lang="en-US" sz="1100" b="1" kern="1200">
                          <a:solidFill>
                            <a:srgbClr val="000000"/>
                          </a:solidFill>
                          <a:effectLst/>
                          <a:latin typeface="Arial" panose="020B0604020202020204" pitchFamily="34" charset="0"/>
                          <a:ea typeface="宋体" panose="02010600030101010101" pitchFamily="2" charset="-122"/>
                          <a:cs typeface="+mn-cs"/>
                        </a:rPr>
                        <a:t>)</a:t>
                      </a:r>
                      <a:r>
                        <a:rPr lang="en-US" sz="11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just">
                        <a:spcAft>
                          <a:spcPts val="0"/>
                        </a:spcAft>
                      </a:pPr>
                      <a:r>
                        <a:rPr lang="en-US" sz="11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100" kern="1200">
                          <a:solidFill>
                            <a:srgbClr val="000000"/>
                          </a:solidFill>
                          <a:effectLst/>
                          <a:latin typeface="Arial" panose="020B0604020202020204" pitchFamily="34" charset="0"/>
                          <a:ea typeface="宋体" panose="02010600030101010101" pitchFamily="2" charset="-122"/>
                          <a:cs typeface="+mn-cs"/>
                        </a:rPr>
                        <a:t>f</a:t>
                      </a:r>
                      <a:r>
                        <a:rPr lang="en-US" sz="1100" kern="1200" baseline="-25000">
                          <a:solidFill>
                            <a:srgbClr val="000000"/>
                          </a:solidFill>
                          <a:effectLst/>
                          <a:latin typeface="Arial" panose="020B0604020202020204" pitchFamily="34" charset="0"/>
                          <a:ea typeface="宋体" panose="02010600030101010101" pitchFamily="2" charset="-122"/>
                          <a:cs typeface="+mn-cs"/>
                        </a:rPr>
                        <a:t>3</a:t>
                      </a:r>
                      <a:r>
                        <a:rPr lang="en-US" sz="1100" kern="1200">
                          <a:solidFill>
                            <a:srgbClr val="000000"/>
                          </a:solidFill>
                          <a:effectLst/>
                          <a:latin typeface="Arial" panose="020B0604020202020204" pitchFamily="34" charset="0"/>
                          <a:ea typeface="宋体" panose="02010600030101010101" pitchFamily="2" charset="-122"/>
                          <a:cs typeface="+mn-cs"/>
                        </a:rPr>
                        <a:t>(</a:t>
                      </a:r>
                      <a:r>
                        <a:rPr lang="en-US" sz="1100" i="1" kern="1200">
                          <a:solidFill>
                            <a:srgbClr val="000000"/>
                          </a:solidFill>
                          <a:effectLst/>
                          <a:latin typeface="Arial" panose="020B0604020202020204" pitchFamily="34" charset="0"/>
                          <a:ea typeface="宋体" panose="02010600030101010101" pitchFamily="2" charset="-122"/>
                          <a:cs typeface="+mn-cs"/>
                        </a:rPr>
                        <a:t>s</a:t>
                      </a:r>
                      <a:r>
                        <a:rPr lang="en-US" sz="1100" kern="1200" baseline="-25000">
                          <a:solidFill>
                            <a:srgbClr val="000000"/>
                          </a:solidFill>
                          <a:effectLst/>
                          <a:latin typeface="Arial" panose="020B0604020202020204" pitchFamily="34" charset="0"/>
                          <a:ea typeface="宋体" panose="02010600030101010101" pitchFamily="2" charset="-122"/>
                          <a:cs typeface="+mn-cs"/>
                        </a:rPr>
                        <a:t>3</a:t>
                      </a:r>
                      <a:r>
                        <a:rPr lang="en-US" sz="1100" kern="1200">
                          <a:solidFill>
                            <a:srgbClr val="000000"/>
                          </a:solidFill>
                          <a:effectLst/>
                          <a:latin typeface="Arial" panose="020B0604020202020204" pitchFamily="34" charset="0"/>
                          <a:ea typeface="宋体" panose="02010600030101010101" pitchFamily="2" charset="-122"/>
                          <a:cs typeface="+mn-cs"/>
                        </a:rPr>
                        <a:t>)</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just">
                        <a:spcAft>
                          <a:spcPts val="0"/>
                        </a:spcAft>
                      </a:pPr>
                      <a:r>
                        <a:rPr lang="en-US" sz="11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100" i="1" kern="1200">
                          <a:solidFill>
                            <a:srgbClr val="000000"/>
                          </a:solidFill>
                          <a:effectLst/>
                          <a:latin typeface="Arial" panose="020B0604020202020204" pitchFamily="34" charset="0"/>
                          <a:ea typeface="宋体" panose="02010600030101010101" pitchFamily="2" charset="-122"/>
                          <a:cs typeface="+mn-cs"/>
                        </a:rPr>
                        <a:t>x</a:t>
                      </a:r>
                      <a:r>
                        <a:rPr lang="en-US" sz="1100" kern="1200" baseline="-25000">
                          <a:solidFill>
                            <a:srgbClr val="000000"/>
                          </a:solidFill>
                          <a:effectLst/>
                          <a:latin typeface="Arial" panose="020B0604020202020204" pitchFamily="34" charset="0"/>
                          <a:ea typeface="宋体" panose="02010600030101010101" pitchFamily="2" charset="-122"/>
                          <a:cs typeface="+mn-cs"/>
                        </a:rPr>
                        <a:t>3</a:t>
                      </a:r>
                      <a:r>
                        <a:rPr lang="en-US" sz="1100" kern="1200" baseline="30000">
                          <a:solidFill>
                            <a:srgbClr val="000000"/>
                          </a:solidFill>
                          <a:effectLst/>
                          <a:latin typeface="Arial" panose="020B0604020202020204" pitchFamily="34" charset="0"/>
                          <a:ea typeface="宋体" panose="02010600030101010101" pitchFamily="2" charset="-122"/>
                          <a:cs typeface="+mn-cs"/>
                        </a:rPr>
                        <a:t>*</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8295">
                <a:tc vMerge="1">
                  <a:txBody>
                    <a:bodyPr/>
                    <a:lstStyle/>
                    <a:p>
                      <a:endParaRPr lang="zh-CN" altLang="en-US"/>
                    </a:p>
                  </a:txBody>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209699">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3010">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3010">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0+5</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3010">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3+5</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9</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3010">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5+5</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11</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3010">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7+5</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12</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3010">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7+6</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8+5</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8+4</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8+0</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13</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dirty="0">
                          <a:solidFill>
                            <a:srgbClr val="000000"/>
                          </a:solidFill>
                          <a:effectLst/>
                          <a:latin typeface="Arial" panose="020B0604020202020204" pitchFamily="34" charset="0"/>
                          <a:ea typeface="宋体" panose="02010600030101010101" pitchFamily="2" charset="-122"/>
                          <a:cs typeface="+mn-cs"/>
                        </a:rPr>
                        <a:t>3/4</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a:extLst>
              <a:ext uri="{FF2B5EF4-FFF2-40B4-BE49-F238E27FC236}">
                <a16:creationId xmlns:a16="http://schemas.microsoft.com/office/drawing/2014/main" id="{4AC9CF79-724C-489B-9C8B-1134A1A6F016}"/>
              </a:ext>
            </a:extLst>
          </p:cNvPr>
          <p:cNvSpPr>
            <a:spLocks noGrp="1" noChangeArrowheads="1"/>
          </p:cNvSpPr>
          <p:nvPr>
            <p:ph type="title"/>
          </p:nvPr>
        </p:nvSpPr>
        <p:spPr/>
        <p:txBody>
          <a:bodyPr/>
          <a:lstStyle/>
          <a:p>
            <a:r>
              <a:rPr lang="zh-CN" altLang="en-US"/>
              <a:t>用</a:t>
            </a:r>
            <a:r>
              <a:rPr lang="en-US" altLang="zh-CN" sz="3300"/>
              <a:t>MATLAB</a:t>
            </a:r>
            <a:r>
              <a:rPr lang="zh-CN" altLang="zh-CN" sz="3300"/>
              <a:t>解决</a:t>
            </a:r>
            <a:r>
              <a:rPr lang="zh-CN" altLang="en-US" sz="3300"/>
              <a:t>动态规划</a:t>
            </a:r>
            <a:r>
              <a:rPr lang="zh-CN" altLang="zh-CN" sz="3300"/>
              <a:t>问题</a:t>
            </a:r>
            <a:endParaRPr lang="zh-CN" altLang="en-US"/>
          </a:p>
        </p:txBody>
      </p:sp>
      <p:sp>
        <p:nvSpPr>
          <p:cNvPr id="3" name="内容占位符 2">
            <a:extLst>
              <a:ext uri="{FF2B5EF4-FFF2-40B4-BE49-F238E27FC236}">
                <a16:creationId xmlns:a16="http://schemas.microsoft.com/office/drawing/2014/main" id="{94197102-30F6-4ACC-970C-37AB8DF80F28}"/>
              </a:ext>
            </a:extLst>
          </p:cNvPr>
          <p:cNvSpPr>
            <a:spLocks noGrp="1"/>
          </p:cNvSpPr>
          <p:nvPr>
            <p:ph idx="1"/>
          </p:nvPr>
        </p:nvSpPr>
        <p:spPr>
          <a:xfrm>
            <a:off x="457200" y="1809750"/>
            <a:ext cx="7588250" cy="3646488"/>
          </a:xfrm>
        </p:spPr>
        <p:txBody>
          <a:bodyPr/>
          <a:lstStyle/>
          <a:p>
            <a:pPr>
              <a:defRPr/>
            </a:pPr>
            <a:r>
              <a:rPr lang="zh-CN" altLang="en-US" sz="1500" dirty="0"/>
              <a:t>第二阶段：</a:t>
            </a:r>
          </a:p>
          <a:p>
            <a:pPr marL="0" indent="0">
              <a:buFont typeface="Wingdings" panose="05000000000000000000" pitchFamily="2" charset="2"/>
              <a:buNone/>
              <a:defRPr/>
            </a:pPr>
            <a:r>
              <a:rPr lang="zh-CN" altLang="en-US" sz="1500" b="0" dirty="0"/>
              <a:t>     设将</a:t>
            </a:r>
            <a:r>
              <a:rPr lang="en-US" altLang="zh-CN" sz="1500" b="0" dirty="0"/>
              <a:t>s2</a:t>
            </a:r>
            <a:r>
              <a:rPr lang="zh-CN" altLang="en-US" sz="1500" b="0" dirty="0"/>
              <a:t>箱货物（</a:t>
            </a:r>
            <a:r>
              <a:rPr lang="en-US" altLang="zh-CN" sz="1500" b="0" dirty="0"/>
              <a:t>s2</a:t>
            </a:r>
            <a:r>
              <a:rPr lang="zh-CN" altLang="en-US" sz="1500" b="0" dirty="0"/>
              <a:t>＝</a:t>
            </a:r>
            <a:r>
              <a:rPr lang="en-US" altLang="zh-CN" sz="1500" b="0" dirty="0"/>
              <a:t>0,1,2,3,4,5,6</a:t>
            </a:r>
            <a:r>
              <a:rPr lang="zh-CN" altLang="en-US" sz="1500" b="0" dirty="0"/>
              <a:t>）分配给</a:t>
            </a:r>
            <a:r>
              <a:rPr lang="en-US" altLang="zh-CN" sz="1500" b="0" dirty="0"/>
              <a:t>2</a:t>
            </a:r>
            <a:r>
              <a:rPr lang="zh-CN" altLang="en-US" sz="1500" b="0" dirty="0"/>
              <a:t>售货店、</a:t>
            </a:r>
            <a:r>
              <a:rPr lang="en-US" altLang="zh-CN" sz="1500" b="0" dirty="0"/>
              <a:t>3</a:t>
            </a:r>
            <a:r>
              <a:rPr lang="zh-CN" altLang="en-US" sz="1500" b="0" dirty="0"/>
              <a:t>售货店和</a:t>
            </a:r>
            <a:r>
              <a:rPr lang="en-US" altLang="zh-CN" sz="1500" b="0" dirty="0"/>
              <a:t>4</a:t>
            </a:r>
            <a:r>
              <a:rPr lang="zh-CN" altLang="en-US" sz="1500" b="0" dirty="0"/>
              <a:t>售货店时，则最大盈利值为：</a:t>
            </a:r>
            <a:r>
              <a:rPr lang="en-US" altLang="zh-CN" sz="1500" b="0" dirty="0"/>
              <a:t>f2(s2)</a:t>
            </a:r>
            <a:r>
              <a:rPr lang="zh-CN" altLang="en-US" sz="1500" b="0" dirty="0"/>
              <a:t>＝</a:t>
            </a:r>
            <a:r>
              <a:rPr lang="en-US" altLang="zh-CN" sz="1500" b="0" dirty="0"/>
              <a:t>max[ P2(x2)+ f3(s2</a:t>
            </a:r>
            <a:r>
              <a:rPr lang="zh-CN" altLang="en-US" sz="1500" b="0" dirty="0"/>
              <a:t>－</a:t>
            </a:r>
            <a:r>
              <a:rPr lang="en-US" altLang="zh-CN" sz="1500" b="0" dirty="0"/>
              <a:t>x2) ]</a:t>
            </a:r>
            <a:r>
              <a:rPr lang="zh-CN" altLang="en-US" sz="1500" b="0" dirty="0"/>
              <a:t>其中，</a:t>
            </a:r>
            <a:r>
              <a:rPr lang="en-US" altLang="zh-CN" sz="1500" b="0" dirty="0"/>
              <a:t>x2</a:t>
            </a:r>
            <a:r>
              <a:rPr lang="zh-CN" altLang="en-US" sz="1500" b="0" dirty="0"/>
              <a:t>＝</a:t>
            </a:r>
            <a:r>
              <a:rPr lang="en-US" altLang="zh-CN" sz="1500" b="0" dirty="0"/>
              <a:t>0,1,2,3,4,5,6</a:t>
            </a:r>
          </a:p>
          <a:p>
            <a:pPr>
              <a:defRPr/>
            </a:pPr>
            <a:endParaRPr lang="en-US" altLang="zh-CN" sz="1500" b="0" dirty="0"/>
          </a:p>
          <a:p>
            <a:pPr>
              <a:defRPr/>
            </a:pPr>
            <a:endParaRPr lang="en-US" altLang="zh-CN" sz="1500" b="0" dirty="0"/>
          </a:p>
          <a:p>
            <a:pPr>
              <a:defRPr/>
            </a:pPr>
            <a:endParaRPr lang="en-US" altLang="zh-CN" sz="1800" b="0" dirty="0"/>
          </a:p>
          <a:p>
            <a:pPr>
              <a:defRPr/>
            </a:pPr>
            <a:endParaRPr lang="en-US" altLang="zh-CN" sz="1800" b="0" dirty="0"/>
          </a:p>
          <a:p>
            <a:pPr>
              <a:defRPr/>
            </a:pPr>
            <a:endParaRPr lang="en-US" altLang="zh-CN" sz="1800" b="0" dirty="0"/>
          </a:p>
          <a:p>
            <a:pPr>
              <a:defRPr/>
            </a:pPr>
            <a:endParaRPr lang="zh-CN" altLang="en-US" dirty="0"/>
          </a:p>
        </p:txBody>
      </p:sp>
      <p:graphicFrame>
        <p:nvGraphicFramePr>
          <p:cNvPr id="5" name="表格 4">
            <a:extLst>
              <a:ext uri="{FF2B5EF4-FFF2-40B4-BE49-F238E27FC236}">
                <a16:creationId xmlns:a16="http://schemas.microsoft.com/office/drawing/2014/main" id="{55E609A3-E25C-4062-B19B-754CA0BB5A8C}"/>
              </a:ext>
            </a:extLst>
          </p:cNvPr>
          <p:cNvGraphicFramePr>
            <a:graphicFrameLocks noGrp="1"/>
          </p:cNvGraphicFramePr>
          <p:nvPr/>
        </p:nvGraphicFramePr>
        <p:xfrm>
          <a:off x="1763713" y="3302000"/>
          <a:ext cx="5040311" cy="1782775"/>
        </p:xfrm>
        <a:graphic>
          <a:graphicData uri="http://schemas.openxmlformats.org/drawingml/2006/table">
            <a:tbl>
              <a:tblPr/>
              <a:tblGrid>
                <a:gridCol w="494571">
                  <a:extLst>
                    <a:ext uri="{9D8B030D-6E8A-4147-A177-3AD203B41FA5}">
                      <a16:colId xmlns:a16="http://schemas.microsoft.com/office/drawing/2014/main" val="20000"/>
                    </a:ext>
                  </a:extLst>
                </a:gridCol>
                <a:gridCol w="502825">
                  <a:extLst>
                    <a:ext uri="{9D8B030D-6E8A-4147-A177-3AD203B41FA5}">
                      <a16:colId xmlns:a16="http://schemas.microsoft.com/office/drawing/2014/main" val="20001"/>
                    </a:ext>
                  </a:extLst>
                </a:gridCol>
                <a:gridCol w="502825">
                  <a:extLst>
                    <a:ext uri="{9D8B030D-6E8A-4147-A177-3AD203B41FA5}">
                      <a16:colId xmlns:a16="http://schemas.microsoft.com/office/drawing/2014/main" val="20002"/>
                    </a:ext>
                  </a:extLst>
                </a:gridCol>
                <a:gridCol w="483779">
                  <a:extLst>
                    <a:ext uri="{9D8B030D-6E8A-4147-A177-3AD203B41FA5}">
                      <a16:colId xmlns:a16="http://schemas.microsoft.com/office/drawing/2014/main" val="20003"/>
                    </a:ext>
                  </a:extLst>
                </a:gridCol>
                <a:gridCol w="511078">
                  <a:extLst>
                    <a:ext uri="{9D8B030D-6E8A-4147-A177-3AD203B41FA5}">
                      <a16:colId xmlns:a16="http://schemas.microsoft.com/office/drawing/2014/main" val="20004"/>
                    </a:ext>
                  </a:extLst>
                </a:gridCol>
                <a:gridCol w="548536">
                  <a:extLst>
                    <a:ext uri="{9D8B030D-6E8A-4147-A177-3AD203B41FA5}">
                      <a16:colId xmlns:a16="http://schemas.microsoft.com/office/drawing/2014/main" val="20005"/>
                    </a:ext>
                  </a:extLst>
                </a:gridCol>
                <a:gridCol w="548536">
                  <a:extLst>
                    <a:ext uri="{9D8B030D-6E8A-4147-A177-3AD203B41FA5}">
                      <a16:colId xmlns:a16="http://schemas.microsoft.com/office/drawing/2014/main" val="20006"/>
                    </a:ext>
                  </a:extLst>
                </a:gridCol>
                <a:gridCol w="494571">
                  <a:extLst>
                    <a:ext uri="{9D8B030D-6E8A-4147-A177-3AD203B41FA5}">
                      <a16:colId xmlns:a16="http://schemas.microsoft.com/office/drawing/2014/main" val="20007"/>
                    </a:ext>
                  </a:extLst>
                </a:gridCol>
                <a:gridCol w="477430">
                  <a:extLst>
                    <a:ext uri="{9D8B030D-6E8A-4147-A177-3AD203B41FA5}">
                      <a16:colId xmlns:a16="http://schemas.microsoft.com/office/drawing/2014/main" val="20008"/>
                    </a:ext>
                  </a:extLst>
                </a:gridCol>
                <a:gridCol w="476160">
                  <a:extLst>
                    <a:ext uri="{9D8B030D-6E8A-4147-A177-3AD203B41FA5}">
                      <a16:colId xmlns:a16="http://schemas.microsoft.com/office/drawing/2014/main" val="20009"/>
                    </a:ext>
                  </a:extLst>
                </a:gridCol>
              </a:tblGrid>
              <a:tr h="238019">
                <a:tc rowSpan="2">
                  <a:txBody>
                    <a:bodyPr/>
                    <a:lstStyle/>
                    <a:p>
                      <a:pPr algn="just">
                        <a:spcAft>
                          <a:spcPts val="0"/>
                        </a:spcAft>
                      </a:pPr>
                      <a:r>
                        <a:rPr lang="en-US" sz="1000" i="1" kern="1200">
                          <a:solidFill>
                            <a:srgbClr val="000000"/>
                          </a:solidFill>
                          <a:effectLst/>
                          <a:latin typeface="Arial" panose="020B0604020202020204" pitchFamily="34" charset="0"/>
                          <a:ea typeface="宋体" panose="02010600030101010101" pitchFamily="2" charset="-122"/>
                          <a:cs typeface="+mn-cs"/>
                        </a:rPr>
                        <a:t>x</a:t>
                      </a:r>
                      <a:r>
                        <a:rPr lang="en-US" sz="1000" kern="1200" baseline="-25000">
                          <a:solidFill>
                            <a:srgbClr val="000000"/>
                          </a:solidFill>
                          <a:effectLst/>
                          <a:latin typeface="Arial" panose="020B0604020202020204" pitchFamily="34" charset="0"/>
                          <a:ea typeface="宋体" panose="02010600030101010101" pitchFamily="2" charset="-122"/>
                          <a:cs typeface="+mn-cs"/>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i="1" kern="1200">
                          <a:solidFill>
                            <a:srgbClr val="000000"/>
                          </a:solidFill>
                          <a:effectLst/>
                          <a:latin typeface="Arial" panose="020B0604020202020204" pitchFamily="34" charset="0"/>
                          <a:ea typeface="宋体" panose="02010600030101010101" pitchFamily="2" charset="-122"/>
                          <a:cs typeface="+mn-cs"/>
                        </a:rPr>
                        <a:t>s</a:t>
                      </a:r>
                      <a:r>
                        <a:rPr lang="en-US" sz="1000" kern="1200" baseline="-25000">
                          <a:solidFill>
                            <a:srgbClr val="000000"/>
                          </a:solidFill>
                          <a:effectLst/>
                          <a:latin typeface="Arial" panose="020B0604020202020204" pitchFamily="34" charset="0"/>
                          <a:ea typeface="宋体" panose="02010600030101010101" pitchFamily="2" charset="-122"/>
                          <a:cs typeface="+mn-cs"/>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7">
                  <a:txBody>
                    <a:bodyPr/>
                    <a:lstStyle/>
                    <a:p>
                      <a:pPr algn="just">
                        <a:spcAft>
                          <a:spcPts val="0"/>
                        </a:spcAft>
                      </a:pPr>
                      <a:r>
                        <a:rPr lang="en-US" sz="1200" kern="1200" dirty="0">
                          <a:solidFill>
                            <a:srgbClr val="000000"/>
                          </a:solidFill>
                          <a:effectLst/>
                          <a:latin typeface="Arial" panose="020B0604020202020204" pitchFamily="34" charset="0"/>
                          <a:ea typeface="宋体" panose="02010600030101010101" pitchFamily="2" charset="-122"/>
                          <a:cs typeface="+mn-cs"/>
                        </a:rPr>
                        <a:t>                 </a:t>
                      </a:r>
                      <a:r>
                        <a:rPr lang="en-US" sz="1000" b="1" kern="1200" dirty="0">
                          <a:solidFill>
                            <a:srgbClr val="000000"/>
                          </a:solidFill>
                          <a:effectLst/>
                          <a:latin typeface="Arial" panose="020B0604020202020204" pitchFamily="34" charset="0"/>
                          <a:ea typeface="宋体" panose="02010600030101010101" pitchFamily="2" charset="-122"/>
                          <a:cs typeface="+mn-cs"/>
                        </a:rPr>
                        <a:t>P</a:t>
                      </a:r>
                      <a:r>
                        <a:rPr lang="en-US" sz="1000" b="1" kern="1200" baseline="-25000" dirty="0">
                          <a:solidFill>
                            <a:srgbClr val="000000"/>
                          </a:solidFill>
                          <a:effectLst/>
                          <a:latin typeface="Arial" panose="020B0604020202020204" pitchFamily="34" charset="0"/>
                          <a:ea typeface="宋体" panose="02010600030101010101" pitchFamily="2" charset="-122"/>
                          <a:cs typeface="+mn-cs"/>
                        </a:rPr>
                        <a:t>2</a:t>
                      </a:r>
                      <a:r>
                        <a:rPr lang="en-US" sz="1000" b="1" kern="1200" dirty="0">
                          <a:solidFill>
                            <a:srgbClr val="000000"/>
                          </a:solidFill>
                          <a:effectLst/>
                          <a:latin typeface="Arial" panose="020B0604020202020204" pitchFamily="34" charset="0"/>
                          <a:ea typeface="宋体" panose="02010600030101010101" pitchFamily="2" charset="-122"/>
                          <a:cs typeface="+mn-cs"/>
                        </a:rPr>
                        <a:t>(</a:t>
                      </a:r>
                      <a:r>
                        <a:rPr lang="en-US" sz="1000" i="1" kern="1200" dirty="0">
                          <a:solidFill>
                            <a:srgbClr val="000000"/>
                          </a:solidFill>
                          <a:effectLst/>
                          <a:latin typeface="Arial" panose="020B0604020202020204" pitchFamily="34" charset="0"/>
                          <a:ea typeface="宋体" panose="02010600030101010101" pitchFamily="2" charset="-122"/>
                          <a:cs typeface="+mn-cs"/>
                        </a:rPr>
                        <a:t>x</a:t>
                      </a:r>
                      <a:r>
                        <a:rPr lang="en-US" sz="1000" b="1" kern="1200" baseline="-25000" dirty="0">
                          <a:solidFill>
                            <a:srgbClr val="000000"/>
                          </a:solidFill>
                          <a:effectLst/>
                          <a:latin typeface="Arial" panose="020B0604020202020204" pitchFamily="34" charset="0"/>
                          <a:ea typeface="宋体" panose="02010600030101010101" pitchFamily="2" charset="-122"/>
                          <a:cs typeface="+mn-cs"/>
                        </a:rPr>
                        <a:t>2</a:t>
                      </a:r>
                      <a:r>
                        <a:rPr lang="en-US" sz="1000" b="1" kern="1200" dirty="0">
                          <a:solidFill>
                            <a:srgbClr val="000000"/>
                          </a:solidFill>
                          <a:effectLst/>
                          <a:latin typeface="Arial" panose="020B0604020202020204" pitchFamily="34" charset="0"/>
                          <a:ea typeface="宋体" panose="02010600030101010101" pitchFamily="2" charset="-122"/>
                          <a:cs typeface="+mn-cs"/>
                        </a:rPr>
                        <a:t>)</a:t>
                      </a:r>
                      <a:r>
                        <a:rPr lang="zh-CN" sz="1000" b="1" kern="1200" dirty="0">
                          <a:solidFill>
                            <a:srgbClr val="000000"/>
                          </a:solidFill>
                          <a:effectLst/>
                          <a:latin typeface="Arial" panose="020B0604020202020204" pitchFamily="34" charset="0"/>
                          <a:ea typeface="宋体" panose="02010600030101010101" pitchFamily="2" charset="-122"/>
                          <a:cs typeface="+mn-cs"/>
                        </a:rPr>
                        <a:t>＋</a:t>
                      </a:r>
                      <a:r>
                        <a:rPr lang="en-US" sz="1000" b="1" kern="1200" dirty="0">
                          <a:solidFill>
                            <a:srgbClr val="000000"/>
                          </a:solidFill>
                          <a:effectLst/>
                          <a:latin typeface="Arial" panose="020B0604020202020204" pitchFamily="34" charset="0"/>
                          <a:ea typeface="宋体" panose="02010600030101010101" pitchFamily="2" charset="-122"/>
                          <a:cs typeface="+mn-cs"/>
                        </a:rPr>
                        <a:t>f</a:t>
                      </a:r>
                      <a:r>
                        <a:rPr lang="en-US" sz="1000" b="1" kern="1200" baseline="-25000" dirty="0">
                          <a:solidFill>
                            <a:srgbClr val="000000"/>
                          </a:solidFill>
                          <a:effectLst/>
                          <a:latin typeface="Arial" panose="020B0604020202020204" pitchFamily="34" charset="0"/>
                          <a:ea typeface="宋体" panose="02010600030101010101" pitchFamily="2" charset="-122"/>
                          <a:cs typeface="+mn-cs"/>
                        </a:rPr>
                        <a:t>3</a:t>
                      </a:r>
                      <a:r>
                        <a:rPr lang="en-US" sz="1000" b="1" kern="1200" dirty="0">
                          <a:solidFill>
                            <a:srgbClr val="000000"/>
                          </a:solidFill>
                          <a:effectLst/>
                          <a:latin typeface="Arial" panose="020B0604020202020204" pitchFamily="34" charset="0"/>
                          <a:ea typeface="宋体" panose="02010600030101010101" pitchFamily="2" charset="-122"/>
                          <a:cs typeface="+mn-cs"/>
                        </a:rPr>
                        <a:t>(</a:t>
                      </a:r>
                      <a:r>
                        <a:rPr lang="en-US" sz="1000" i="1" kern="1200" dirty="0">
                          <a:solidFill>
                            <a:srgbClr val="000000"/>
                          </a:solidFill>
                          <a:effectLst/>
                          <a:latin typeface="Arial" panose="020B0604020202020204" pitchFamily="34" charset="0"/>
                          <a:ea typeface="宋体" panose="02010600030101010101" pitchFamily="2" charset="-122"/>
                          <a:cs typeface="+mn-cs"/>
                        </a:rPr>
                        <a:t>s</a:t>
                      </a:r>
                      <a:r>
                        <a:rPr lang="en-US" sz="1000" b="1" kern="1200" baseline="-25000" dirty="0">
                          <a:solidFill>
                            <a:srgbClr val="000000"/>
                          </a:solidFill>
                          <a:effectLst/>
                          <a:latin typeface="Arial" panose="020B0604020202020204" pitchFamily="34" charset="0"/>
                          <a:ea typeface="宋体" panose="02010600030101010101" pitchFamily="2" charset="-122"/>
                          <a:cs typeface="+mn-cs"/>
                        </a:rPr>
                        <a:t>2</a:t>
                      </a:r>
                      <a:r>
                        <a:rPr lang="zh-CN" sz="1000" b="1" kern="1200" dirty="0">
                          <a:solidFill>
                            <a:srgbClr val="000000"/>
                          </a:solidFill>
                          <a:effectLst/>
                          <a:latin typeface="Arial" panose="020B0604020202020204" pitchFamily="34" charset="0"/>
                          <a:ea typeface="宋体" panose="02010600030101010101" pitchFamily="2" charset="-122"/>
                          <a:cs typeface="+mn-cs"/>
                        </a:rPr>
                        <a:t>－</a:t>
                      </a:r>
                      <a:r>
                        <a:rPr lang="en-US" sz="1000" i="1" kern="1200" dirty="0">
                          <a:solidFill>
                            <a:srgbClr val="000000"/>
                          </a:solidFill>
                          <a:effectLst/>
                          <a:latin typeface="Arial" panose="020B0604020202020204" pitchFamily="34" charset="0"/>
                          <a:ea typeface="宋体" panose="02010600030101010101" pitchFamily="2" charset="-122"/>
                          <a:cs typeface="+mn-cs"/>
                        </a:rPr>
                        <a:t>x</a:t>
                      </a:r>
                      <a:r>
                        <a:rPr lang="en-US" sz="1000" b="1" kern="1200" baseline="-25000" dirty="0">
                          <a:solidFill>
                            <a:srgbClr val="000000"/>
                          </a:solidFill>
                          <a:effectLst/>
                          <a:latin typeface="Arial" panose="020B0604020202020204" pitchFamily="34" charset="0"/>
                          <a:ea typeface="宋体" panose="02010600030101010101" pitchFamily="2" charset="-122"/>
                          <a:cs typeface="+mn-cs"/>
                        </a:rPr>
                        <a:t>2</a:t>
                      </a:r>
                      <a:r>
                        <a:rPr lang="en-US" sz="1000" b="1" kern="1200" dirty="0">
                          <a:solidFill>
                            <a:srgbClr val="000000"/>
                          </a:solidFill>
                          <a:effectLst/>
                          <a:latin typeface="Arial" panose="020B0604020202020204" pitchFamily="34" charset="0"/>
                          <a:ea typeface="宋体" panose="02010600030101010101" pitchFamily="2" charset="-122"/>
                          <a:cs typeface="+mn-cs"/>
                        </a:rPr>
                        <a:t>)</a:t>
                      </a:r>
                      <a:r>
                        <a:rPr lang="en-US" sz="1000" kern="1200" dirty="0">
                          <a:solidFill>
                            <a:srgbClr val="000000"/>
                          </a:solidFill>
                          <a:effectLst/>
                          <a:latin typeface="Arial" panose="020B0604020202020204" pitchFamily="34" charset="0"/>
                          <a:ea typeface="宋体" panose="02010600030101010101" pitchFamily="2" charset="-122"/>
                          <a:cs typeface="+mn-cs"/>
                        </a:rPr>
                        <a:t> </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just">
                        <a:spcAft>
                          <a:spcPts val="0"/>
                        </a:spcAft>
                      </a:pPr>
                      <a:r>
                        <a:rPr lang="en-US" sz="10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kern="1200">
                          <a:solidFill>
                            <a:srgbClr val="000000"/>
                          </a:solidFill>
                          <a:effectLst/>
                          <a:latin typeface="Arial" panose="020B0604020202020204" pitchFamily="34" charset="0"/>
                          <a:ea typeface="宋体" panose="02010600030101010101" pitchFamily="2" charset="-122"/>
                          <a:cs typeface="+mn-cs"/>
                        </a:rPr>
                        <a:t>f</a:t>
                      </a:r>
                      <a:r>
                        <a:rPr lang="en-US" sz="1000" kern="1200" baseline="-25000">
                          <a:solidFill>
                            <a:srgbClr val="000000"/>
                          </a:solidFill>
                          <a:effectLst/>
                          <a:latin typeface="Arial" panose="020B0604020202020204" pitchFamily="34" charset="0"/>
                          <a:ea typeface="宋体" panose="02010600030101010101" pitchFamily="2" charset="-122"/>
                          <a:cs typeface="+mn-cs"/>
                        </a:rPr>
                        <a:t>2</a:t>
                      </a:r>
                      <a:r>
                        <a:rPr lang="en-US" sz="1000" kern="1200">
                          <a:solidFill>
                            <a:srgbClr val="000000"/>
                          </a:solidFill>
                          <a:effectLst/>
                          <a:latin typeface="Arial" panose="020B0604020202020204" pitchFamily="34" charset="0"/>
                          <a:ea typeface="宋体" panose="02010600030101010101" pitchFamily="2" charset="-122"/>
                          <a:cs typeface="+mn-cs"/>
                        </a:rPr>
                        <a:t>(</a:t>
                      </a:r>
                      <a:r>
                        <a:rPr lang="en-US" sz="1000" i="1" kern="1200">
                          <a:solidFill>
                            <a:srgbClr val="000000"/>
                          </a:solidFill>
                          <a:effectLst/>
                          <a:latin typeface="Arial" panose="020B0604020202020204" pitchFamily="34" charset="0"/>
                          <a:ea typeface="宋体" panose="02010600030101010101" pitchFamily="2" charset="-122"/>
                          <a:cs typeface="+mn-cs"/>
                        </a:rPr>
                        <a:t>s</a:t>
                      </a:r>
                      <a:r>
                        <a:rPr lang="en-US" sz="1000" kern="1200" baseline="-25000">
                          <a:solidFill>
                            <a:srgbClr val="000000"/>
                          </a:solidFill>
                          <a:effectLst/>
                          <a:latin typeface="Arial" panose="020B0604020202020204" pitchFamily="34" charset="0"/>
                          <a:ea typeface="宋体" panose="02010600030101010101" pitchFamily="2" charset="-122"/>
                          <a:cs typeface="+mn-cs"/>
                        </a:rPr>
                        <a:t>2</a:t>
                      </a:r>
                      <a:r>
                        <a:rPr lang="en-US" sz="1000" kern="1200">
                          <a:solidFill>
                            <a:srgbClr val="000000"/>
                          </a:solidFill>
                          <a:effectLst/>
                          <a:latin typeface="Arial" panose="020B0604020202020204" pitchFamily="34" charset="0"/>
                          <a:ea typeface="宋体" panose="02010600030101010101" pitchFamily="2" charset="-122"/>
                          <a:cs typeface="+mn-cs"/>
                        </a:rPr>
                        <a:t>)</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just">
                        <a:spcAft>
                          <a:spcPts val="0"/>
                        </a:spcAft>
                      </a:pPr>
                      <a:r>
                        <a:rPr lang="en-US" sz="10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i="1" kern="1200">
                          <a:solidFill>
                            <a:srgbClr val="000000"/>
                          </a:solidFill>
                          <a:effectLst/>
                          <a:latin typeface="Arial" panose="020B0604020202020204" pitchFamily="34" charset="0"/>
                          <a:ea typeface="宋体" panose="02010600030101010101" pitchFamily="2" charset="-122"/>
                          <a:cs typeface="+mn-cs"/>
                        </a:rPr>
                        <a:t>x</a:t>
                      </a:r>
                      <a:r>
                        <a:rPr lang="en-US" sz="1000" kern="1200" baseline="-25000">
                          <a:solidFill>
                            <a:srgbClr val="000000"/>
                          </a:solidFill>
                          <a:effectLst/>
                          <a:latin typeface="Arial" panose="020B0604020202020204" pitchFamily="34" charset="0"/>
                          <a:ea typeface="宋体" panose="02010600030101010101" pitchFamily="2" charset="-122"/>
                          <a:cs typeface="+mn-cs"/>
                        </a:rPr>
                        <a:t>2</a:t>
                      </a:r>
                      <a:r>
                        <a:rPr lang="en-US" sz="1000" kern="1200" baseline="30000">
                          <a:solidFill>
                            <a:srgbClr val="000000"/>
                          </a:solidFill>
                          <a:effectLst/>
                          <a:latin typeface="Arial" panose="020B0604020202020204" pitchFamily="34" charset="0"/>
                          <a:ea typeface="宋体" panose="02010600030101010101" pitchFamily="2" charset="-122"/>
                          <a:cs typeface="+mn-cs"/>
                        </a:rPr>
                        <a:t>*</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8019">
                <a:tc vMerge="1">
                  <a:txBody>
                    <a:bodyPr/>
                    <a:lstStyle/>
                    <a:p>
                      <a:endParaRPr lang="zh-CN" altLang="en-US"/>
                    </a:p>
                  </a:txBody>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209457">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0+9</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9</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0+11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2+9</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0/1/2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0+12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2+11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4+9</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9+0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1/2/3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0+13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2+12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4+11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6+9</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9+4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10+0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dirty="0">
                          <a:solidFill>
                            <a:srgbClr val="000000"/>
                          </a:solidFill>
                          <a:effectLst/>
                          <a:latin typeface="Arial" panose="020B0604020202020204" pitchFamily="34" charset="0"/>
                          <a:ea typeface="宋体" panose="02010600030101010101" pitchFamily="2" charset="-122"/>
                          <a:cs typeface="+mn-cs"/>
                        </a:rPr>
                        <a:t>2/3/4</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a:extLst>
              <a:ext uri="{FF2B5EF4-FFF2-40B4-BE49-F238E27FC236}">
                <a16:creationId xmlns:a16="http://schemas.microsoft.com/office/drawing/2014/main" id="{2D108634-FC41-40AD-930F-D6293586F864}"/>
              </a:ext>
            </a:extLst>
          </p:cNvPr>
          <p:cNvSpPr>
            <a:spLocks noGrp="1" noChangeArrowheads="1"/>
          </p:cNvSpPr>
          <p:nvPr>
            <p:ph type="title"/>
          </p:nvPr>
        </p:nvSpPr>
        <p:spPr/>
        <p:txBody>
          <a:bodyPr/>
          <a:lstStyle/>
          <a:p>
            <a:r>
              <a:rPr lang="zh-CN" altLang="en-US"/>
              <a:t>用</a:t>
            </a:r>
            <a:r>
              <a:rPr lang="en-US" altLang="zh-CN" sz="3300"/>
              <a:t>MATLAB</a:t>
            </a:r>
            <a:r>
              <a:rPr lang="zh-CN" altLang="zh-CN" sz="3300"/>
              <a:t>解决</a:t>
            </a:r>
            <a:r>
              <a:rPr lang="zh-CN" altLang="en-US" sz="3300"/>
              <a:t>动态规划</a:t>
            </a:r>
            <a:r>
              <a:rPr lang="zh-CN" altLang="zh-CN" sz="3300"/>
              <a:t>问题</a:t>
            </a:r>
            <a:endParaRPr lang="zh-CN" altLang="en-US"/>
          </a:p>
        </p:txBody>
      </p:sp>
      <p:sp>
        <p:nvSpPr>
          <p:cNvPr id="3" name="内容占位符 2">
            <a:extLst>
              <a:ext uri="{FF2B5EF4-FFF2-40B4-BE49-F238E27FC236}">
                <a16:creationId xmlns:a16="http://schemas.microsoft.com/office/drawing/2014/main" id="{2BCD21A6-7A09-493F-9251-312448FC2B73}"/>
              </a:ext>
            </a:extLst>
          </p:cNvPr>
          <p:cNvSpPr>
            <a:spLocks noGrp="1"/>
          </p:cNvSpPr>
          <p:nvPr>
            <p:ph idx="1"/>
          </p:nvPr>
        </p:nvSpPr>
        <p:spPr>
          <a:xfrm>
            <a:off x="457200" y="1809750"/>
            <a:ext cx="7588250" cy="3646488"/>
          </a:xfrm>
        </p:spPr>
        <p:txBody>
          <a:bodyPr/>
          <a:lstStyle/>
          <a:p>
            <a:pPr>
              <a:defRPr/>
            </a:pPr>
            <a:r>
              <a:rPr lang="zh-CN" altLang="en-US" sz="1500" dirty="0"/>
              <a:t>第一阶段：</a:t>
            </a:r>
          </a:p>
          <a:p>
            <a:pPr marL="0" indent="0">
              <a:buFont typeface="Wingdings" panose="05000000000000000000" pitchFamily="2" charset="2"/>
              <a:buNone/>
              <a:defRPr/>
            </a:pPr>
            <a:r>
              <a:rPr lang="zh-CN" altLang="en-US" sz="1500" b="0" dirty="0"/>
              <a:t>     设将</a:t>
            </a:r>
            <a:r>
              <a:rPr lang="en-US" altLang="zh-CN" sz="1500" b="0" dirty="0"/>
              <a:t>s2</a:t>
            </a:r>
            <a:r>
              <a:rPr lang="zh-CN" altLang="en-US" sz="1500" b="0" dirty="0"/>
              <a:t>箱货物（</a:t>
            </a:r>
            <a:r>
              <a:rPr lang="en-US" altLang="zh-CN" sz="1500" b="0" dirty="0"/>
              <a:t>s1</a:t>
            </a:r>
            <a:r>
              <a:rPr lang="zh-CN" altLang="en-US" sz="1500" b="0" dirty="0"/>
              <a:t>＝</a:t>
            </a:r>
            <a:r>
              <a:rPr lang="en-US" altLang="zh-CN" sz="1500" b="0" dirty="0"/>
              <a:t>0,1,2,3,4,5,6</a:t>
            </a:r>
            <a:r>
              <a:rPr lang="zh-CN" altLang="en-US" sz="1500" b="0" dirty="0"/>
              <a:t>）分配给</a:t>
            </a:r>
            <a:r>
              <a:rPr lang="en-US" altLang="zh-CN" sz="1500" b="0" dirty="0"/>
              <a:t>1</a:t>
            </a:r>
            <a:r>
              <a:rPr lang="zh-CN" altLang="en-US" sz="1500" b="0" dirty="0"/>
              <a:t>售货店、</a:t>
            </a:r>
            <a:r>
              <a:rPr lang="en-US" altLang="zh-CN" sz="1500" b="0" dirty="0"/>
              <a:t>2</a:t>
            </a:r>
            <a:r>
              <a:rPr lang="zh-CN" altLang="en-US" sz="1500" b="0" dirty="0"/>
              <a:t>售货店、</a:t>
            </a:r>
            <a:r>
              <a:rPr lang="en-US" altLang="zh-CN" sz="1500" b="0" dirty="0"/>
              <a:t>3</a:t>
            </a:r>
            <a:r>
              <a:rPr lang="zh-CN" altLang="en-US" sz="1500" b="0" dirty="0"/>
              <a:t>售货店和</a:t>
            </a:r>
            <a:r>
              <a:rPr lang="en-US" altLang="zh-CN" sz="1500" b="0" dirty="0"/>
              <a:t>4</a:t>
            </a:r>
            <a:r>
              <a:rPr lang="zh-CN" altLang="en-US" sz="1500" b="0" dirty="0"/>
              <a:t>售货店时，则最大盈利值为：</a:t>
            </a:r>
            <a:r>
              <a:rPr lang="en-US" altLang="zh-CN" sz="1500" b="0" dirty="0"/>
              <a:t>f1(s1)</a:t>
            </a:r>
            <a:r>
              <a:rPr lang="zh-CN" altLang="en-US" sz="1500" b="0" dirty="0"/>
              <a:t>＝</a:t>
            </a:r>
            <a:r>
              <a:rPr lang="en-US" altLang="zh-CN" sz="1500" b="0" dirty="0"/>
              <a:t>max[ P1(x1)+ f2(s1</a:t>
            </a:r>
            <a:r>
              <a:rPr lang="zh-CN" altLang="en-US" sz="1500" b="0" dirty="0"/>
              <a:t>－</a:t>
            </a:r>
            <a:r>
              <a:rPr lang="en-US" altLang="zh-CN" sz="1500" b="0" dirty="0"/>
              <a:t>x1) ]</a:t>
            </a:r>
            <a:r>
              <a:rPr lang="zh-CN" altLang="en-US" sz="1500" b="0" dirty="0"/>
              <a:t>，其中，</a:t>
            </a:r>
            <a:r>
              <a:rPr lang="en-US" altLang="zh-CN" sz="1500" b="0" dirty="0"/>
              <a:t>x1</a:t>
            </a:r>
            <a:r>
              <a:rPr lang="zh-CN" altLang="en-US" sz="1500" b="0" dirty="0"/>
              <a:t>＝</a:t>
            </a:r>
            <a:r>
              <a:rPr lang="en-US" altLang="zh-CN" sz="1500" b="0" dirty="0"/>
              <a:t>0,1,2,3,4,5,6</a:t>
            </a:r>
          </a:p>
          <a:p>
            <a:pPr>
              <a:defRPr/>
            </a:pPr>
            <a:endParaRPr lang="en-US" altLang="zh-CN" sz="1500" b="0" dirty="0"/>
          </a:p>
          <a:p>
            <a:pPr>
              <a:defRPr/>
            </a:pPr>
            <a:endParaRPr lang="en-US" altLang="zh-CN" sz="1500" b="0" dirty="0"/>
          </a:p>
          <a:p>
            <a:pPr>
              <a:defRPr/>
            </a:pPr>
            <a:endParaRPr lang="en-US" altLang="zh-CN" sz="1800" b="0" dirty="0"/>
          </a:p>
          <a:p>
            <a:pPr>
              <a:defRPr/>
            </a:pPr>
            <a:endParaRPr lang="en-US" altLang="zh-CN" sz="1800" b="0" dirty="0"/>
          </a:p>
          <a:p>
            <a:pPr>
              <a:defRPr/>
            </a:pPr>
            <a:endParaRPr lang="en-US" altLang="zh-CN" sz="1800" b="0" dirty="0"/>
          </a:p>
          <a:p>
            <a:pPr>
              <a:defRPr/>
            </a:pPr>
            <a:endParaRPr lang="zh-CN" altLang="en-US" dirty="0"/>
          </a:p>
        </p:txBody>
      </p:sp>
      <p:graphicFrame>
        <p:nvGraphicFramePr>
          <p:cNvPr id="5" name="表格 4">
            <a:extLst>
              <a:ext uri="{FF2B5EF4-FFF2-40B4-BE49-F238E27FC236}">
                <a16:creationId xmlns:a16="http://schemas.microsoft.com/office/drawing/2014/main" id="{5C0A0B8F-2B90-4226-829B-460740CB6C8C}"/>
              </a:ext>
            </a:extLst>
          </p:cNvPr>
          <p:cNvGraphicFramePr>
            <a:graphicFrameLocks noGrp="1"/>
          </p:cNvGraphicFramePr>
          <p:nvPr/>
        </p:nvGraphicFramePr>
        <p:xfrm>
          <a:off x="1403350" y="3141663"/>
          <a:ext cx="5041898" cy="1782774"/>
        </p:xfrm>
        <a:graphic>
          <a:graphicData uri="http://schemas.openxmlformats.org/drawingml/2006/table">
            <a:tbl>
              <a:tblPr/>
              <a:tblGrid>
                <a:gridCol w="494727">
                  <a:extLst>
                    <a:ext uri="{9D8B030D-6E8A-4147-A177-3AD203B41FA5}">
                      <a16:colId xmlns:a16="http://schemas.microsoft.com/office/drawing/2014/main" val="20000"/>
                    </a:ext>
                  </a:extLst>
                </a:gridCol>
                <a:gridCol w="503618">
                  <a:extLst>
                    <a:ext uri="{9D8B030D-6E8A-4147-A177-3AD203B41FA5}">
                      <a16:colId xmlns:a16="http://schemas.microsoft.com/office/drawing/2014/main" val="20001"/>
                    </a:ext>
                  </a:extLst>
                </a:gridCol>
                <a:gridCol w="503618">
                  <a:extLst>
                    <a:ext uri="{9D8B030D-6E8A-4147-A177-3AD203B41FA5}">
                      <a16:colId xmlns:a16="http://schemas.microsoft.com/office/drawing/2014/main" val="20002"/>
                    </a:ext>
                  </a:extLst>
                </a:gridCol>
                <a:gridCol w="485201">
                  <a:extLst>
                    <a:ext uri="{9D8B030D-6E8A-4147-A177-3AD203B41FA5}">
                      <a16:colId xmlns:a16="http://schemas.microsoft.com/office/drawing/2014/main" val="20003"/>
                    </a:ext>
                  </a:extLst>
                </a:gridCol>
                <a:gridCol w="513145">
                  <a:extLst>
                    <a:ext uri="{9D8B030D-6E8A-4147-A177-3AD203B41FA5}">
                      <a16:colId xmlns:a16="http://schemas.microsoft.com/office/drawing/2014/main" val="20004"/>
                    </a:ext>
                  </a:extLst>
                </a:gridCol>
                <a:gridCol w="551249">
                  <a:extLst>
                    <a:ext uri="{9D8B030D-6E8A-4147-A177-3AD203B41FA5}">
                      <a16:colId xmlns:a16="http://schemas.microsoft.com/office/drawing/2014/main" val="20005"/>
                    </a:ext>
                  </a:extLst>
                </a:gridCol>
                <a:gridCol w="551249">
                  <a:extLst>
                    <a:ext uri="{9D8B030D-6E8A-4147-A177-3AD203B41FA5}">
                      <a16:colId xmlns:a16="http://schemas.microsoft.com/office/drawing/2014/main" val="20006"/>
                    </a:ext>
                  </a:extLst>
                </a:gridCol>
                <a:gridCol w="494727">
                  <a:extLst>
                    <a:ext uri="{9D8B030D-6E8A-4147-A177-3AD203B41FA5}">
                      <a16:colId xmlns:a16="http://schemas.microsoft.com/office/drawing/2014/main" val="20007"/>
                    </a:ext>
                  </a:extLst>
                </a:gridCol>
                <a:gridCol w="478215">
                  <a:extLst>
                    <a:ext uri="{9D8B030D-6E8A-4147-A177-3AD203B41FA5}">
                      <a16:colId xmlns:a16="http://schemas.microsoft.com/office/drawing/2014/main" val="20008"/>
                    </a:ext>
                  </a:extLst>
                </a:gridCol>
                <a:gridCol w="466149">
                  <a:extLst>
                    <a:ext uri="{9D8B030D-6E8A-4147-A177-3AD203B41FA5}">
                      <a16:colId xmlns:a16="http://schemas.microsoft.com/office/drawing/2014/main" val="20009"/>
                    </a:ext>
                  </a:extLst>
                </a:gridCol>
              </a:tblGrid>
              <a:tr h="238019">
                <a:tc rowSpan="2">
                  <a:txBody>
                    <a:bodyPr/>
                    <a:lstStyle/>
                    <a:p>
                      <a:pPr algn="just">
                        <a:spcAft>
                          <a:spcPts val="0"/>
                        </a:spcAft>
                      </a:pPr>
                      <a:r>
                        <a:rPr lang="en-US" sz="1000" i="1" kern="1200">
                          <a:solidFill>
                            <a:srgbClr val="000000"/>
                          </a:solidFill>
                          <a:effectLst/>
                          <a:latin typeface="Arial" panose="020B0604020202020204" pitchFamily="34" charset="0"/>
                          <a:ea typeface="宋体" panose="02010600030101010101" pitchFamily="2" charset="-122"/>
                          <a:cs typeface="+mn-cs"/>
                        </a:rPr>
                        <a:t>x</a:t>
                      </a:r>
                      <a:r>
                        <a:rPr lang="en-US" sz="1000" kern="1200" baseline="-250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i="1" kern="1200">
                          <a:solidFill>
                            <a:srgbClr val="000000"/>
                          </a:solidFill>
                          <a:effectLst/>
                          <a:latin typeface="Arial" panose="020B0604020202020204" pitchFamily="34" charset="0"/>
                          <a:ea typeface="宋体" panose="02010600030101010101" pitchFamily="2" charset="-122"/>
                          <a:cs typeface="+mn-cs"/>
                        </a:rPr>
                        <a:t>s</a:t>
                      </a:r>
                      <a:r>
                        <a:rPr lang="en-US" sz="1000" kern="1200" baseline="-250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7">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r>
                        <a:rPr lang="en-US" sz="1000" b="1" kern="1200">
                          <a:solidFill>
                            <a:srgbClr val="000000"/>
                          </a:solidFill>
                          <a:effectLst/>
                          <a:latin typeface="Arial" panose="020B0604020202020204" pitchFamily="34" charset="0"/>
                          <a:ea typeface="宋体" panose="02010600030101010101" pitchFamily="2" charset="-122"/>
                          <a:cs typeface="+mn-cs"/>
                        </a:rPr>
                        <a:t>P</a:t>
                      </a:r>
                      <a:r>
                        <a:rPr lang="en-US" sz="1000" b="1" kern="1200" baseline="-25000">
                          <a:solidFill>
                            <a:srgbClr val="000000"/>
                          </a:solidFill>
                          <a:effectLst/>
                          <a:latin typeface="Arial" panose="020B0604020202020204" pitchFamily="34" charset="0"/>
                          <a:ea typeface="宋体" panose="02010600030101010101" pitchFamily="2" charset="-122"/>
                          <a:cs typeface="+mn-cs"/>
                        </a:rPr>
                        <a:t>1</a:t>
                      </a:r>
                      <a:r>
                        <a:rPr lang="en-US" sz="1000" b="1" kern="1200">
                          <a:solidFill>
                            <a:srgbClr val="000000"/>
                          </a:solidFill>
                          <a:effectLst/>
                          <a:latin typeface="Arial" panose="020B0604020202020204" pitchFamily="34" charset="0"/>
                          <a:ea typeface="宋体" panose="02010600030101010101" pitchFamily="2" charset="-122"/>
                          <a:cs typeface="+mn-cs"/>
                        </a:rPr>
                        <a:t>(</a:t>
                      </a:r>
                      <a:r>
                        <a:rPr lang="en-US" sz="1000" i="1" kern="1200">
                          <a:solidFill>
                            <a:srgbClr val="000000"/>
                          </a:solidFill>
                          <a:effectLst/>
                          <a:latin typeface="Arial" panose="020B0604020202020204" pitchFamily="34" charset="0"/>
                          <a:ea typeface="宋体" panose="02010600030101010101" pitchFamily="2" charset="-122"/>
                          <a:cs typeface="+mn-cs"/>
                        </a:rPr>
                        <a:t>x</a:t>
                      </a:r>
                      <a:r>
                        <a:rPr lang="en-US" sz="1000" b="1" kern="1200" baseline="-25000">
                          <a:solidFill>
                            <a:srgbClr val="000000"/>
                          </a:solidFill>
                          <a:effectLst/>
                          <a:latin typeface="Arial" panose="020B0604020202020204" pitchFamily="34" charset="0"/>
                          <a:ea typeface="宋体" panose="02010600030101010101" pitchFamily="2" charset="-122"/>
                          <a:cs typeface="+mn-cs"/>
                        </a:rPr>
                        <a:t>1</a:t>
                      </a:r>
                      <a:r>
                        <a:rPr lang="en-US" sz="1000" b="1" kern="1200">
                          <a:solidFill>
                            <a:srgbClr val="000000"/>
                          </a:solidFill>
                          <a:effectLst/>
                          <a:latin typeface="Arial" panose="020B0604020202020204" pitchFamily="34" charset="0"/>
                          <a:ea typeface="宋体" panose="02010600030101010101" pitchFamily="2" charset="-122"/>
                          <a:cs typeface="+mn-cs"/>
                        </a:rPr>
                        <a:t>)</a:t>
                      </a:r>
                      <a:r>
                        <a:rPr lang="zh-CN" sz="1000" b="1" kern="1200">
                          <a:solidFill>
                            <a:srgbClr val="000000"/>
                          </a:solidFill>
                          <a:effectLst/>
                          <a:latin typeface="Arial" panose="020B0604020202020204" pitchFamily="34" charset="0"/>
                          <a:ea typeface="宋体" panose="02010600030101010101" pitchFamily="2" charset="-122"/>
                          <a:cs typeface="+mn-cs"/>
                        </a:rPr>
                        <a:t>＋</a:t>
                      </a:r>
                      <a:r>
                        <a:rPr lang="en-US" sz="1000" b="1" kern="1200">
                          <a:solidFill>
                            <a:srgbClr val="000000"/>
                          </a:solidFill>
                          <a:effectLst/>
                          <a:latin typeface="Arial" panose="020B0604020202020204" pitchFamily="34" charset="0"/>
                          <a:ea typeface="宋体" panose="02010600030101010101" pitchFamily="2" charset="-122"/>
                          <a:cs typeface="+mn-cs"/>
                        </a:rPr>
                        <a:t>f</a:t>
                      </a:r>
                      <a:r>
                        <a:rPr lang="en-US" sz="1000" b="1" kern="1200" baseline="-25000">
                          <a:solidFill>
                            <a:srgbClr val="000000"/>
                          </a:solidFill>
                          <a:effectLst/>
                          <a:latin typeface="Arial" panose="020B0604020202020204" pitchFamily="34" charset="0"/>
                          <a:ea typeface="宋体" panose="02010600030101010101" pitchFamily="2" charset="-122"/>
                          <a:cs typeface="+mn-cs"/>
                        </a:rPr>
                        <a:t>2</a:t>
                      </a:r>
                      <a:r>
                        <a:rPr lang="en-US" sz="1000" b="1" kern="1200">
                          <a:solidFill>
                            <a:srgbClr val="000000"/>
                          </a:solidFill>
                          <a:effectLst/>
                          <a:latin typeface="Arial" panose="020B0604020202020204" pitchFamily="34" charset="0"/>
                          <a:ea typeface="宋体" panose="02010600030101010101" pitchFamily="2" charset="-122"/>
                          <a:cs typeface="+mn-cs"/>
                        </a:rPr>
                        <a:t>(</a:t>
                      </a:r>
                      <a:r>
                        <a:rPr lang="en-US" sz="1000" i="1" kern="1200">
                          <a:solidFill>
                            <a:srgbClr val="000000"/>
                          </a:solidFill>
                          <a:effectLst/>
                          <a:latin typeface="Arial" panose="020B0604020202020204" pitchFamily="34" charset="0"/>
                          <a:ea typeface="宋体" panose="02010600030101010101" pitchFamily="2" charset="-122"/>
                          <a:cs typeface="+mn-cs"/>
                        </a:rPr>
                        <a:t>s</a:t>
                      </a:r>
                      <a:r>
                        <a:rPr lang="en-US" sz="1000" b="1" kern="1200" baseline="-25000">
                          <a:solidFill>
                            <a:srgbClr val="000000"/>
                          </a:solidFill>
                          <a:effectLst/>
                          <a:latin typeface="Arial" panose="020B0604020202020204" pitchFamily="34" charset="0"/>
                          <a:ea typeface="宋体" panose="02010600030101010101" pitchFamily="2" charset="-122"/>
                          <a:cs typeface="+mn-cs"/>
                        </a:rPr>
                        <a:t>1</a:t>
                      </a:r>
                      <a:r>
                        <a:rPr lang="zh-CN" sz="1000" b="1" kern="1200">
                          <a:solidFill>
                            <a:srgbClr val="000000"/>
                          </a:solidFill>
                          <a:effectLst/>
                          <a:latin typeface="Arial" panose="020B0604020202020204" pitchFamily="34" charset="0"/>
                          <a:ea typeface="宋体" panose="02010600030101010101" pitchFamily="2" charset="-122"/>
                          <a:cs typeface="+mn-cs"/>
                        </a:rPr>
                        <a:t>－</a:t>
                      </a:r>
                      <a:r>
                        <a:rPr lang="en-US" sz="1000" i="1" kern="1200">
                          <a:solidFill>
                            <a:srgbClr val="000000"/>
                          </a:solidFill>
                          <a:effectLst/>
                          <a:latin typeface="Arial" panose="020B0604020202020204" pitchFamily="34" charset="0"/>
                          <a:ea typeface="宋体" panose="02010600030101010101" pitchFamily="2" charset="-122"/>
                          <a:cs typeface="+mn-cs"/>
                        </a:rPr>
                        <a:t>x</a:t>
                      </a:r>
                      <a:r>
                        <a:rPr lang="en-US" sz="1000" b="1" kern="1200" baseline="-25000">
                          <a:solidFill>
                            <a:srgbClr val="000000"/>
                          </a:solidFill>
                          <a:effectLst/>
                          <a:latin typeface="Arial" panose="020B0604020202020204" pitchFamily="34" charset="0"/>
                          <a:ea typeface="宋体" panose="02010600030101010101" pitchFamily="2" charset="-122"/>
                          <a:cs typeface="+mn-cs"/>
                        </a:rPr>
                        <a:t>1</a:t>
                      </a:r>
                      <a:r>
                        <a:rPr lang="en-US" sz="1000" b="1" kern="1200">
                          <a:solidFill>
                            <a:srgbClr val="000000"/>
                          </a:solidFill>
                          <a:effectLst/>
                          <a:latin typeface="Arial" panose="020B0604020202020204" pitchFamily="34" charset="0"/>
                          <a:ea typeface="宋体" panose="02010600030101010101" pitchFamily="2" charset="-122"/>
                          <a:cs typeface="+mn-cs"/>
                        </a:rPr>
                        <a:t>)</a:t>
                      </a:r>
                      <a:r>
                        <a:rPr lang="en-US" sz="10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just">
                        <a:spcAft>
                          <a:spcPts val="0"/>
                        </a:spcAft>
                      </a:pPr>
                      <a:r>
                        <a:rPr lang="en-US" sz="10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kern="1200">
                          <a:solidFill>
                            <a:srgbClr val="000000"/>
                          </a:solidFill>
                          <a:effectLst/>
                          <a:latin typeface="Arial" panose="020B0604020202020204" pitchFamily="34" charset="0"/>
                          <a:ea typeface="宋体" panose="02010600030101010101" pitchFamily="2" charset="-122"/>
                          <a:cs typeface="+mn-cs"/>
                        </a:rPr>
                        <a:t>f</a:t>
                      </a:r>
                      <a:r>
                        <a:rPr lang="en-US" sz="1000" kern="1200" baseline="-25000">
                          <a:solidFill>
                            <a:srgbClr val="000000"/>
                          </a:solidFill>
                          <a:effectLst/>
                          <a:latin typeface="Arial" panose="020B0604020202020204" pitchFamily="34" charset="0"/>
                          <a:ea typeface="宋体" panose="02010600030101010101" pitchFamily="2" charset="-122"/>
                          <a:cs typeface="+mn-cs"/>
                        </a:rPr>
                        <a:t>1</a:t>
                      </a:r>
                      <a:r>
                        <a:rPr lang="en-US" sz="1000" kern="1200">
                          <a:solidFill>
                            <a:srgbClr val="000000"/>
                          </a:solidFill>
                          <a:effectLst/>
                          <a:latin typeface="Arial" panose="020B0604020202020204" pitchFamily="34" charset="0"/>
                          <a:ea typeface="宋体" panose="02010600030101010101" pitchFamily="2" charset="-122"/>
                          <a:cs typeface="+mn-cs"/>
                        </a:rPr>
                        <a:t>(</a:t>
                      </a:r>
                      <a:r>
                        <a:rPr lang="en-US" sz="1000" i="1" kern="1200">
                          <a:solidFill>
                            <a:srgbClr val="000000"/>
                          </a:solidFill>
                          <a:effectLst/>
                          <a:latin typeface="Arial" panose="020B0604020202020204" pitchFamily="34" charset="0"/>
                          <a:ea typeface="宋体" panose="02010600030101010101" pitchFamily="2" charset="-122"/>
                          <a:cs typeface="+mn-cs"/>
                        </a:rPr>
                        <a:t>s</a:t>
                      </a:r>
                      <a:r>
                        <a:rPr lang="en-US" sz="1000" kern="1200" baseline="-25000">
                          <a:solidFill>
                            <a:srgbClr val="000000"/>
                          </a:solidFill>
                          <a:effectLst/>
                          <a:latin typeface="Arial" panose="020B0604020202020204" pitchFamily="34" charset="0"/>
                          <a:ea typeface="宋体" panose="02010600030101010101" pitchFamily="2" charset="-122"/>
                          <a:cs typeface="+mn-cs"/>
                        </a:rPr>
                        <a:t>1</a:t>
                      </a:r>
                      <a:r>
                        <a:rPr lang="en-US" sz="1000" kern="1200">
                          <a:solidFill>
                            <a:srgbClr val="000000"/>
                          </a:solidFill>
                          <a:effectLst/>
                          <a:latin typeface="Arial" panose="020B0604020202020204" pitchFamily="34" charset="0"/>
                          <a:ea typeface="宋体" panose="02010600030101010101" pitchFamily="2" charset="-122"/>
                          <a:cs typeface="+mn-cs"/>
                        </a:rPr>
                        <a:t>)</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just">
                        <a:spcAft>
                          <a:spcPts val="0"/>
                        </a:spcAft>
                      </a:pPr>
                      <a:r>
                        <a:rPr lang="en-US" sz="10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i="1" kern="1200">
                          <a:solidFill>
                            <a:srgbClr val="000000"/>
                          </a:solidFill>
                          <a:effectLst/>
                          <a:latin typeface="Arial" panose="020B0604020202020204" pitchFamily="34" charset="0"/>
                          <a:ea typeface="宋体" panose="02010600030101010101" pitchFamily="2" charset="-122"/>
                          <a:cs typeface="+mn-cs"/>
                        </a:rPr>
                        <a:t>x</a:t>
                      </a:r>
                      <a:r>
                        <a:rPr lang="en-US" sz="1000" kern="1200" baseline="-25000">
                          <a:solidFill>
                            <a:srgbClr val="000000"/>
                          </a:solidFill>
                          <a:effectLst/>
                          <a:latin typeface="Arial" panose="020B0604020202020204" pitchFamily="34" charset="0"/>
                          <a:ea typeface="宋体" panose="02010600030101010101" pitchFamily="2" charset="-122"/>
                          <a:cs typeface="+mn-cs"/>
                        </a:rPr>
                        <a:t>1</a:t>
                      </a:r>
                      <a:r>
                        <a:rPr lang="en-US" sz="1000" kern="1200" baseline="30000">
                          <a:solidFill>
                            <a:srgbClr val="000000"/>
                          </a:solidFill>
                          <a:effectLst/>
                          <a:latin typeface="Arial" panose="020B0604020202020204" pitchFamily="34" charset="0"/>
                          <a:ea typeface="宋体" panose="02010600030101010101" pitchFamily="2" charset="-122"/>
                          <a:cs typeface="+mn-cs"/>
                        </a:rPr>
                        <a:t>*</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8019">
                <a:tc vMerge="1">
                  <a:txBody>
                    <a:bodyPr/>
                    <a:lstStyle/>
                    <a:p>
                      <a:endParaRPr lang="zh-CN" altLang="en-US"/>
                    </a:p>
                  </a:txBody>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209456">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8</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0+9</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0+11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4+9</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0+13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4+11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6+9</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2878">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0+15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4+13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6+11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7+9</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7+0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a:solidFill>
                            <a:srgbClr val="000000"/>
                          </a:solidFill>
                          <a:effectLst/>
                          <a:latin typeface="Arial" panose="020B0604020202020204" pitchFamily="34" charset="0"/>
                          <a:ea typeface="宋体" panose="02010600030101010101" pitchFamily="2" charset="-122"/>
                          <a:cs typeface="+mn-cs"/>
                        </a:rPr>
                        <a:t>17</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200" dirty="0">
                          <a:solidFill>
                            <a:srgbClr val="000000"/>
                          </a:solidFill>
                          <a:effectLst/>
                          <a:latin typeface="Arial" panose="020B0604020202020204" pitchFamily="34" charset="0"/>
                          <a:ea typeface="宋体" panose="02010600030101010101" pitchFamily="2" charset="-122"/>
                          <a:cs typeface="+mn-cs"/>
                        </a:rPr>
                        <a:t>1/2</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9" marR="685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AAEF8896-CD54-47D8-B9BD-F16F07D6A38D}"/>
              </a:ext>
            </a:extLst>
          </p:cNvPr>
          <p:cNvSpPr>
            <a:spLocks noGrp="1" noChangeArrowheads="1"/>
          </p:cNvSpPr>
          <p:nvPr>
            <p:ph type="title"/>
          </p:nvPr>
        </p:nvSpPr>
        <p:spPr/>
        <p:txBody>
          <a:bodyPr/>
          <a:lstStyle/>
          <a:p>
            <a:r>
              <a:rPr lang="zh-CN" altLang="en-US"/>
              <a:t>用</a:t>
            </a:r>
            <a:r>
              <a:rPr lang="en-US" altLang="zh-CN" sz="3300"/>
              <a:t>MATLAB</a:t>
            </a:r>
            <a:r>
              <a:rPr lang="zh-CN" altLang="zh-CN" sz="3300"/>
              <a:t>解决</a:t>
            </a:r>
            <a:r>
              <a:rPr lang="zh-CN" altLang="en-US" sz="3300"/>
              <a:t>动态规划</a:t>
            </a:r>
            <a:r>
              <a:rPr lang="zh-CN" altLang="zh-CN" sz="3300"/>
              <a:t>问题</a:t>
            </a:r>
            <a:endParaRPr lang="zh-CN" altLang="en-US"/>
          </a:p>
        </p:txBody>
      </p:sp>
      <p:sp>
        <p:nvSpPr>
          <p:cNvPr id="3" name="内容占位符 2">
            <a:extLst>
              <a:ext uri="{FF2B5EF4-FFF2-40B4-BE49-F238E27FC236}">
                <a16:creationId xmlns:a16="http://schemas.microsoft.com/office/drawing/2014/main" id="{B784ED99-1937-451F-9C3A-6E01496DC8AD}"/>
              </a:ext>
            </a:extLst>
          </p:cNvPr>
          <p:cNvSpPr>
            <a:spLocks noGrp="1"/>
          </p:cNvSpPr>
          <p:nvPr>
            <p:ph idx="1"/>
          </p:nvPr>
        </p:nvSpPr>
        <p:spPr>
          <a:xfrm>
            <a:off x="485775" y="1033463"/>
            <a:ext cx="7589838" cy="3646487"/>
          </a:xfrm>
        </p:spPr>
        <p:txBody>
          <a:bodyPr/>
          <a:lstStyle/>
          <a:p>
            <a:pPr>
              <a:defRPr/>
            </a:pPr>
            <a:r>
              <a:rPr lang="zh-CN" altLang="zh-CN" b="0" dirty="0"/>
              <a:t>按计算表格的顺序反推，可知最优分配方案有</a:t>
            </a:r>
            <a:r>
              <a:rPr lang="en-US" altLang="zh-CN" b="0" dirty="0"/>
              <a:t>6</a:t>
            </a:r>
            <a:r>
              <a:rPr lang="zh-CN" altLang="zh-CN" b="0" dirty="0"/>
              <a:t>个</a:t>
            </a:r>
            <a:r>
              <a:rPr lang="zh-CN" altLang="zh-CN" dirty="0"/>
              <a:t>：</a:t>
            </a:r>
          </a:p>
          <a:p>
            <a:pPr>
              <a:defRPr/>
            </a:pPr>
            <a:r>
              <a:rPr lang="en-US" altLang="zh-CN" b="0" i="1" dirty="0"/>
              <a:t>x</a:t>
            </a:r>
            <a:r>
              <a:rPr lang="en-US" altLang="zh-CN" b="0" baseline="-25000" dirty="0"/>
              <a:t>1</a:t>
            </a:r>
            <a:r>
              <a:rPr lang="en-US" altLang="zh-CN" b="0" dirty="0"/>
              <a:t>*</a:t>
            </a:r>
            <a:r>
              <a:rPr lang="zh-CN" altLang="zh-CN" b="0" dirty="0"/>
              <a:t>＝</a:t>
            </a:r>
            <a:r>
              <a:rPr lang="en-US" altLang="zh-CN" b="0" dirty="0"/>
              <a:t>1</a:t>
            </a:r>
            <a:r>
              <a:rPr lang="zh-CN" altLang="zh-CN" b="0" dirty="0"/>
              <a:t>，</a:t>
            </a:r>
            <a:r>
              <a:rPr lang="en-US" altLang="zh-CN" b="0" i="1" dirty="0"/>
              <a:t>x</a:t>
            </a:r>
            <a:r>
              <a:rPr lang="en-US" altLang="zh-CN" b="0" baseline="-25000" dirty="0"/>
              <a:t>2</a:t>
            </a:r>
            <a:r>
              <a:rPr lang="en-US" altLang="zh-CN" b="0" dirty="0"/>
              <a:t>*</a:t>
            </a:r>
            <a:r>
              <a:rPr lang="zh-CN" altLang="zh-CN" b="0" dirty="0"/>
              <a:t>＝</a:t>
            </a:r>
            <a:r>
              <a:rPr lang="en-US" altLang="zh-CN" b="0" dirty="0"/>
              <a:t>1</a:t>
            </a:r>
            <a:r>
              <a:rPr lang="zh-CN" altLang="zh-CN" b="0" dirty="0"/>
              <a:t>，</a:t>
            </a:r>
            <a:r>
              <a:rPr lang="en-US" altLang="zh-CN" b="0" i="1" dirty="0"/>
              <a:t>x</a:t>
            </a:r>
            <a:r>
              <a:rPr lang="en-US" altLang="zh-CN" b="0" baseline="-25000" dirty="0"/>
              <a:t>3</a:t>
            </a:r>
            <a:r>
              <a:rPr lang="en-US" altLang="zh-CN" b="0" dirty="0"/>
              <a:t>*=3</a:t>
            </a:r>
            <a:r>
              <a:rPr lang="zh-CN" altLang="zh-CN" b="0" dirty="0"/>
              <a:t>，</a:t>
            </a:r>
            <a:r>
              <a:rPr lang="en-US" altLang="zh-CN" b="0" i="1" dirty="0"/>
              <a:t>x</a:t>
            </a:r>
            <a:r>
              <a:rPr lang="en-US" altLang="zh-CN" b="0" baseline="-25000" dirty="0"/>
              <a:t>4</a:t>
            </a:r>
            <a:r>
              <a:rPr lang="en-US" altLang="zh-CN" b="0" dirty="0"/>
              <a:t>*=1</a:t>
            </a:r>
            <a:r>
              <a:rPr lang="zh-CN" altLang="zh-CN" b="0" dirty="0"/>
              <a:t>。</a:t>
            </a:r>
          </a:p>
          <a:p>
            <a:pPr>
              <a:defRPr/>
            </a:pPr>
            <a:r>
              <a:rPr lang="en-US" altLang="zh-CN" b="0" i="1" dirty="0"/>
              <a:t>x</a:t>
            </a:r>
            <a:r>
              <a:rPr lang="en-US" altLang="zh-CN" b="0" baseline="-25000" dirty="0"/>
              <a:t>1</a:t>
            </a:r>
            <a:r>
              <a:rPr lang="en-US" altLang="zh-CN" b="0" dirty="0"/>
              <a:t>*</a:t>
            </a:r>
            <a:r>
              <a:rPr lang="zh-CN" altLang="zh-CN" b="0" dirty="0"/>
              <a:t>＝</a:t>
            </a:r>
            <a:r>
              <a:rPr lang="en-US" altLang="zh-CN" b="0" dirty="0"/>
              <a:t>1</a:t>
            </a:r>
            <a:r>
              <a:rPr lang="zh-CN" altLang="zh-CN" b="0" dirty="0"/>
              <a:t>，</a:t>
            </a:r>
            <a:r>
              <a:rPr lang="en-US" altLang="zh-CN" b="0" i="1" dirty="0"/>
              <a:t>x</a:t>
            </a:r>
            <a:r>
              <a:rPr lang="en-US" altLang="zh-CN" b="0" baseline="-25000" dirty="0"/>
              <a:t>2</a:t>
            </a:r>
            <a:r>
              <a:rPr lang="en-US" altLang="zh-CN" b="0" dirty="0"/>
              <a:t>*</a:t>
            </a:r>
            <a:r>
              <a:rPr lang="zh-CN" altLang="zh-CN" b="0" dirty="0"/>
              <a:t>＝</a:t>
            </a:r>
            <a:r>
              <a:rPr lang="en-US" altLang="zh-CN" b="0" dirty="0"/>
              <a:t>2</a:t>
            </a:r>
            <a:r>
              <a:rPr lang="zh-CN" altLang="zh-CN" b="0" dirty="0"/>
              <a:t>，</a:t>
            </a:r>
            <a:r>
              <a:rPr lang="en-US" altLang="zh-CN" b="0" i="1" dirty="0"/>
              <a:t>x</a:t>
            </a:r>
            <a:r>
              <a:rPr lang="en-US" altLang="zh-CN" b="0" baseline="-25000" dirty="0"/>
              <a:t>3</a:t>
            </a:r>
            <a:r>
              <a:rPr lang="en-US" altLang="zh-CN" b="0" dirty="0"/>
              <a:t>*=2</a:t>
            </a:r>
            <a:r>
              <a:rPr lang="zh-CN" altLang="zh-CN" b="0" dirty="0"/>
              <a:t>，</a:t>
            </a:r>
            <a:r>
              <a:rPr lang="en-US" altLang="zh-CN" b="0" i="1" dirty="0"/>
              <a:t>x</a:t>
            </a:r>
            <a:r>
              <a:rPr lang="en-US" altLang="zh-CN" b="0" baseline="-25000" dirty="0"/>
              <a:t>4</a:t>
            </a:r>
            <a:r>
              <a:rPr lang="en-US" altLang="zh-CN" b="0" dirty="0"/>
              <a:t>*=1</a:t>
            </a:r>
            <a:r>
              <a:rPr lang="zh-CN" altLang="zh-CN" b="0" dirty="0"/>
              <a:t>。</a:t>
            </a:r>
          </a:p>
          <a:p>
            <a:pPr>
              <a:defRPr/>
            </a:pPr>
            <a:r>
              <a:rPr lang="en-US" altLang="zh-CN" b="0" i="1" dirty="0"/>
              <a:t>x</a:t>
            </a:r>
            <a:r>
              <a:rPr lang="en-US" altLang="zh-CN" b="0" baseline="-25000" dirty="0"/>
              <a:t>1</a:t>
            </a:r>
            <a:r>
              <a:rPr lang="en-US" altLang="zh-CN" b="0" dirty="0"/>
              <a:t>*</a:t>
            </a:r>
            <a:r>
              <a:rPr lang="zh-CN" altLang="zh-CN" b="0" dirty="0"/>
              <a:t>＝</a:t>
            </a:r>
            <a:r>
              <a:rPr lang="en-US" altLang="zh-CN" b="0" dirty="0"/>
              <a:t>1</a:t>
            </a:r>
            <a:r>
              <a:rPr lang="zh-CN" altLang="zh-CN" b="0" dirty="0"/>
              <a:t>，</a:t>
            </a:r>
            <a:r>
              <a:rPr lang="en-US" altLang="zh-CN" b="0" i="1" dirty="0"/>
              <a:t>x</a:t>
            </a:r>
            <a:r>
              <a:rPr lang="en-US" altLang="zh-CN" b="0" baseline="-25000" dirty="0"/>
              <a:t>2</a:t>
            </a:r>
            <a:r>
              <a:rPr lang="en-US" altLang="zh-CN" b="0" dirty="0"/>
              <a:t>*</a:t>
            </a:r>
            <a:r>
              <a:rPr lang="zh-CN" altLang="zh-CN" b="0" dirty="0"/>
              <a:t>＝</a:t>
            </a:r>
            <a:r>
              <a:rPr lang="en-US" altLang="zh-CN" b="0" dirty="0"/>
              <a:t>3</a:t>
            </a:r>
            <a:r>
              <a:rPr lang="zh-CN" altLang="zh-CN" b="0" dirty="0"/>
              <a:t>，</a:t>
            </a:r>
            <a:r>
              <a:rPr lang="en-US" altLang="zh-CN" b="0" i="1" dirty="0"/>
              <a:t>x</a:t>
            </a:r>
            <a:r>
              <a:rPr lang="en-US" altLang="zh-CN" b="0" baseline="-25000" dirty="0"/>
              <a:t>3</a:t>
            </a:r>
            <a:r>
              <a:rPr lang="en-US" altLang="zh-CN" b="0" dirty="0"/>
              <a:t>*=1</a:t>
            </a:r>
            <a:r>
              <a:rPr lang="zh-CN" altLang="zh-CN" b="0" dirty="0"/>
              <a:t>，</a:t>
            </a:r>
            <a:r>
              <a:rPr lang="en-US" altLang="zh-CN" b="0" i="1" dirty="0"/>
              <a:t>x</a:t>
            </a:r>
            <a:r>
              <a:rPr lang="en-US" altLang="zh-CN" b="0" baseline="-25000" dirty="0"/>
              <a:t>4</a:t>
            </a:r>
            <a:r>
              <a:rPr lang="en-US" altLang="zh-CN" b="0" dirty="0"/>
              <a:t>*=1</a:t>
            </a:r>
            <a:r>
              <a:rPr lang="zh-CN" altLang="zh-CN" b="0" dirty="0"/>
              <a:t>。</a:t>
            </a:r>
          </a:p>
          <a:p>
            <a:pPr>
              <a:defRPr/>
            </a:pPr>
            <a:r>
              <a:rPr lang="en-US" altLang="zh-CN" b="0" i="1" dirty="0"/>
              <a:t>x</a:t>
            </a:r>
            <a:r>
              <a:rPr lang="en-US" altLang="zh-CN" b="0" baseline="-25000" dirty="0"/>
              <a:t>1</a:t>
            </a:r>
            <a:r>
              <a:rPr lang="en-US" altLang="zh-CN" b="0" dirty="0"/>
              <a:t>*</a:t>
            </a:r>
            <a:r>
              <a:rPr lang="zh-CN" altLang="zh-CN" b="0" dirty="0"/>
              <a:t>＝</a:t>
            </a:r>
            <a:r>
              <a:rPr lang="en-US" altLang="zh-CN" b="0" dirty="0"/>
              <a:t>2</a:t>
            </a:r>
            <a:r>
              <a:rPr lang="zh-CN" altLang="zh-CN" b="0" dirty="0"/>
              <a:t>，</a:t>
            </a:r>
            <a:r>
              <a:rPr lang="en-US" altLang="zh-CN" b="0" i="1" dirty="0"/>
              <a:t>x</a:t>
            </a:r>
            <a:r>
              <a:rPr lang="en-US" altLang="zh-CN" b="0" baseline="-25000" dirty="0"/>
              <a:t>2</a:t>
            </a:r>
            <a:r>
              <a:rPr lang="en-US" altLang="zh-CN" b="0" dirty="0"/>
              <a:t>*</a:t>
            </a:r>
            <a:r>
              <a:rPr lang="zh-CN" altLang="zh-CN" b="0" dirty="0"/>
              <a:t>＝</a:t>
            </a:r>
            <a:r>
              <a:rPr lang="en-US" altLang="zh-CN" b="0" dirty="0"/>
              <a:t>0</a:t>
            </a:r>
            <a:r>
              <a:rPr lang="zh-CN" altLang="zh-CN" b="0" dirty="0"/>
              <a:t>，</a:t>
            </a:r>
            <a:r>
              <a:rPr lang="en-US" altLang="zh-CN" b="0" i="1" dirty="0"/>
              <a:t>x</a:t>
            </a:r>
            <a:r>
              <a:rPr lang="en-US" altLang="zh-CN" b="0" baseline="-25000" dirty="0"/>
              <a:t>3</a:t>
            </a:r>
            <a:r>
              <a:rPr lang="en-US" altLang="zh-CN" b="0" dirty="0"/>
              <a:t>*=3</a:t>
            </a:r>
            <a:r>
              <a:rPr lang="zh-CN" altLang="zh-CN" b="0" dirty="0"/>
              <a:t>，</a:t>
            </a:r>
            <a:r>
              <a:rPr lang="en-US" altLang="zh-CN" b="0" i="1" dirty="0"/>
              <a:t>x</a:t>
            </a:r>
            <a:r>
              <a:rPr lang="en-US" altLang="zh-CN" b="0" baseline="-25000" dirty="0"/>
              <a:t>4</a:t>
            </a:r>
            <a:r>
              <a:rPr lang="en-US" altLang="zh-CN" b="0" dirty="0"/>
              <a:t>*=1</a:t>
            </a:r>
            <a:r>
              <a:rPr lang="zh-CN" altLang="zh-CN" b="0" dirty="0"/>
              <a:t>。</a:t>
            </a:r>
          </a:p>
          <a:p>
            <a:pPr>
              <a:defRPr/>
            </a:pPr>
            <a:r>
              <a:rPr lang="en-US" altLang="zh-CN" b="0" i="1" dirty="0"/>
              <a:t>x</a:t>
            </a:r>
            <a:r>
              <a:rPr lang="en-US" altLang="zh-CN" b="0" baseline="-25000" dirty="0"/>
              <a:t>1</a:t>
            </a:r>
            <a:r>
              <a:rPr lang="en-US" altLang="zh-CN" b="0" dirty="0"/>
              <a:t>*</a:t>
            </a:r>
            <a:r>
              <a:rPr lang="zh-CN" altLang="zh-CN" b="0" dirty="0"/>
              <a:t>＝</a:t>
            </a:r>
            <a:r>
              <a:rPr lang="en-US" altLang="zh-CN" b="0" dirty="0"/>
              <a:t>2</a:t>
            </a:r>
            <a:r>
              <a:rPr lang="zh-CN" altLang="zh-CN" b="0" dirty="0"/>
              <a:t>，</a:t>
            </a:r>
            <a:r>
              <a:rPr lang="en-US" altLang="zh-CN" b="0" i="1" dirty="0"/>
              <a:t>x</a:t>
            </a:r>
            <a:r>
              <a:rPr lang="en-US" altLang="zh-CN" b="0" baseline="-25000" dirty="0"/>
              <a:t>2</a:t>
            </a:r>
            <a:r>
              <a:rPr lang="en-US" altLang="zh-CN" b="0" dirty="0"/>
              <a:t>*</a:t>
            </a:r>
            <a:r>
              <a:rPr lang="zh-CN" altLang="zh-CN" b="0" dirty="0"/>
              <a:t>＝</a:t>
            </a:r>
            <a:r>
              <a:rPr lang="en-US" altLang="zh-CN" b="0" dirty="0"/>
              <a:t>1</a:t>
            </a:r>
            <a:r>
              <a:rPr lang="zh-CN" altLang="zh-CN" b="0" dirty="0"/>
              <a:t>，</a:t>
            </a:r>
            <a:r>
              <a:rPr lang="en-US" altLang="zh-CN" b="0" i="1" dirty="0"/>
              <a:t>x</a:t>
            </a:r>
            <a:r>
              <a:rPr lang="en-US" altLang="zh-CN" b="0" baseline="-25000" dirty="0"/>
              <a:t>3</a:t>
            </a:r>
            <a:r>
              <a:rPr lang="en-US" altLang="zh-CN" b="0" dirty="0"/>
              <a:t>*=2</a:t>
            </a:r>
            <a:r>
              <a:rPr lang="zh-CN" altLang="zh-CN" b="0" dirty="0"/>
              <a:t>，</a:t>
            </a:r>
            <a:r>
              <a:rPr lang="en-US" altLang="zh-CN" b="0" i="1" dirty="0"/>
              <a:t>x</a:t>
            </a:r>
            <a:r>
              <a:rPr lang="en-US" altLang="zh-CN" b="0" baseline="-25000" dirty="0"/>
              <a:t>4</a:t>
            </a:r>
            <a:r>
              <a:rPr lang="en-US" altLang="zh-CN" b="0" dirty="0"/>
              <a:t>*=1</a:t>
            </a:r>
            <a:r>
              <a:rPr lang="zh-CN" altLang="zh-CN" b="0" dirty="0"/>
              <a:t>。</a:t>
            </a:r>
          </a:p>
          <a:p>
            <a:pPr>
              <a:defRPr/>
            </a:pPr>
            <a:r>
              <a:rPr lang="en-US" altLang="zh-CN" b="0" i="1" dirty="0"/>
              <a:t>x</a:t>
            </a:r>
            <a:r>
              <a:rPr lang="en-US" altLang="zh-CN" b="0" baseline="-25000" dirty="0"/>
              <a:t>1</a:t>
            </a:r>
            <a:r>
              <a:rPr lang="en-US" altLang="zh-CN" b="0" dirty="0"/>
              <a:t>*</a:t>
            </a:r>
            <a:r>
              <a:rPr lang="zh-CN" altLang="zh-CN" b="0" dirty="0"/>
              <a:t>＝</a:t>
            </a:r>
            <a:r>
              <a:rPr lang="en-US" altLang="zh-CN" b="0" dirty="0"/>
              <a:t>2</a:t>
            </a:r>
            <a:r>
              <a:rPr lang="zh-CN" altLang="zh-CN" b="0" dirty="0"/>
              <a:t>，</a:t>
            </a:r>
            <a:r>
              <a:rPr lang="en-US" altLang="zh-CN" b="0" i="1" dirty="0"/>
              <a:t>x</a:t>
            </a:r>
            <a:r>
              <a:rPr lang="en-US" altLang="zh-CN" b="0" baseline="-25000" dirty="0"/>
              <a:t>2</a:t>
            </a:r>
            <a:r>
              <a:rPr lang="en-US" altLang="zh-CN" b="0" dirty="0"/>
              <a:t>*</a:t>
            </a:r>
            <a:r>
              <a:rPr lang="zh-CN" altLang="zh-CN" b="0" dirty="0"/>
              <a:t>＝</a:t>
            </a:r>
            <a:r>
              <a:rPr lang="en-US" altLang="zh-CN" b="0" dirty="0"/>
              <a:t>2</a:t>
            </a:r>
            <a:r>
              <a:rPr lang="zh-CN" altLang="zh-CN" b="0" dirty="0"/>
              <a:t>，</a:t>
            </a:r>
            <a:r>
              <a:rPr lang="en-US" altLang="zh-CN" b="0" i="1" dirty="0"/>
              <a:t>x</a:t>
            </a:r>
            <a:r>
              <a:rPr lang="en-US" altLang="zh-CN" b="0" baseline="-25000" dirty="0"/>
              <a:t>3</a:t>
            </a:r>
            <a:r>
              <a:rPr lang="en-US" altLang="zh-CN" b="0" dirty="0"/>
              <a:t>*=1</a:t>
            </a:r>
            <a:r>
              <a:rPr lang="zh-CN" altLang="zh-CN" b="0" dirty="0"/>
              <a:t>，</a:t>
            </a:r>
            <a:r>
              <a:rPr lang="en-US" altLang="zh-CN" b="0" i="1" dirty="0"/>
              <a:t>x</a:t>
            </a:r>
            <a:r>
              <a:rPr lang="en-US" altLang="zh-CN" b="0" baseline="-25000" dirty="0"/>
              <a:t>4</a:t>
            </a:r>
            <a:r>
              <a:rPr lang="en-US" altLang="zh-CN" b="0" dirty="0"/>
              <a:t>*=1</a:t>
            </a:r>
            <a:r>
              <a:rPr lang="zh-CN" altLang="zh-CN" b="0" dirty="0"/>
              <a:t>。</a:t>
            </a:r>
          </a:p>
          <a:p>
            <a:pPr>
              <a:defRPr/>
            </a:pPr>
            <a:r>
              <a:rPr lang="zh-CN" altLang="zh-CN" b="0" dirty="0"/>
              <a:t>以上</a:t>
            </a:r>
            <a:r>
              <a:rPr lang="en-US" altLang="zh-CN" b="0" dirty="0"/>
              <a:t>6</a:t>
            </a:r>
            <a:r>
              <a:rPr lang="zh-CN" altLang="zh-CN" b="0" dirty="0"/>
              <a:t>种最优方案的总利润均为</a:t>
            </a:r>
            <a:r>
              <a:rPr lang="en-US" altLang="zh-CN" b="0" dirty="0"/>
              <a:t>17</a:t>
            </a:r>
            <a:r>
              <a:rPr lang="zh-CN" altLang="zh-CN" b="0" dirty="0"/>
              <a:t>。</a:t>
            </a:r>
          </a:p>
          <a:p>
            <a:pPr marL="0" indent="0">
              <a:buFont typeface="Wingdings" panose="05000000000000000000" pitchFamily="2" charset="2"/>
              <a:buNone/>
              <a:defRPr/>
            </a:pPr>
            <a:endParaRPr lang="en-US" altLang="zh-CN" sz="1500" b="0" dirty="0"/>
          </a:p>
          <a:p>
            <a:pPr>
              <a:defRPr/>
            </a:pPr>
            <a:endParaRPr lang="en-US" altLang="zh-CN" sz="1800" b="0" dirty="0"/>
          </a:p>
          <a:p>
            <a:pPr>
              <a:defRPr/>
            </a:pPr>
            <a:endParaRPr lang="en-US" altLang="zh-CN" sz="1800" b="0" dirty="0"/>
          </a:p>
          <a:p>
            <a:pPr>
              <a:defRPr/>
            </a:pPr>
            <a:endParaRPr lang="en-US" altLang="zh-CN" sz="1800" b="0" dirty="0"/>
          </a:p>
          <a:p>
            <a:pPr>
              <a:defRPr/>
            </a:pP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a:extLst>
              <a:ext uri="{FF2B5EF4-FFF2-40B4-BE49-F238E27FC236}">
                <a16:creationId xmlns:a16="http://schemas.microsoft.com/office/drawing/2014/main" id="{F492E127-410E-41B9-A455-7A86A8E06A9D}"/>
              </a:ext>
            </a:extLst>
          </p:cNvPr>
          <p:cNvSpPr>
            <a:spLocks noGrp="1" noChangeArrowheads="1"/>
          </p:cNvSpPr>
          <p:nvPr>
            <p:ph type="title"/>
          </p:nvPr>
        </p:nvSpPr>
        <p:spPr/>
        <p:txBody>
          <a:bodyPr/>
          <a:lstStyle/>
          <a:p>
            <a:r>
              <a:rPr lang="zh-CN" altLang="en-US"/>
              <a:t>用</a:t>
            </a:r>
            <a:r>
              <a:rPr lang="en-US" altLang="zh-CN" sz="3300"/>
              <a:t>MATLAB</a:t>
            </a:r>
            <a:r>
              <a:rPr lang="zh-CN" altLang="zh-CN" sz="3300"/>
              <a:t>解决</a:t>
            </a:r>
            <a:r>
              <a:rPr lang="zh-CN" altLang="en-US" sz="3300"/>
              <a:t>动态规划</a:t>
            </a:r>
            <a:r>
              <a:rPr lang="zh-CN" altLang="zh-CN" sz="3300"/>
              <a:t>问题</a:t>
            </a:r>
            <a:endParaRPr lang="zh-CN" altLang="en-US"/>
          </a:p>
        </p:txBody>
      </p:sp>
      <p:sp>
        <p:nvSpPr>
          <p:cNvPr id="3" name="内容占位符 2">
            <a:extLst>
              <a:ext uri="{FF2B5EF4-FFF2-40B4-BE49-F238E27FC236}">
                <a16:creationId xmlns:a16="http://schemas.microsoft.com/office/drawing/2014/main" id="{0C199E4E-9BD3-4AA9-92BA-5977FF6C46B3}"/>
              </a:ext>
            </a:extLst>
          </p:cNvPr>
          <p:cNvSpPr>
            <a:spLocks noGrp="1"/>
          </p:cNvSpPr>
          <p:nvPr>
            <p:ph idx="1"/>
          </p:nvPr>
        </p:nvSpPr>
        <p:spPr>
          <a:xfrm>
            <a:off x="457200" y="1809750"/>
            <a:ext cx="6911975" cy="293688"/>
          </a:xfrm>
        </p:spPr>
        <p:txBody>
          <a:bodyPr/>
          <a:lstStyle/>
          <a:p>
            <a:pPr>
              <a:defRPr/>
            </a:pPr>
            <a:r>
              <a:rPr lang="zh-CN" altLang="zh-CN" sz="1500" b="0" dirty="0"/>
              <a:t>使用</a:t>
            </a:r>
            <a:r>
              <a:rPr lang="en-US" altLang="zh-CN" sz="1500" b="0" dirty="0" err="1"/>
              <a:t>Matlab</a:t>
            </a:r>
            <a:r>
              <a:rPr lang="zh-CN" altLang="zh-CN" sz="1500" b="0" dirty="0"/>
              <a:t>解决上面的问题</a:t>
            </a:r>
            <a:r>
              <a:rPr lang="en-US" altLang="zh-CN" sz="1500" b="0" dirty="0"/>
              <a:t>,</a:t>
            </a:r>
            <a:r>
              <a:rPr lang="zh-CN" altLang="zh-CN" sz="1500" b="0" dirty="0"/>
              <a:t>在</a:t>
            </a:r>
            <a:r>
              <a:rPr lang="en-US" altLang="zh-CN" sz="1500" b="0" dirty="0" err="1"/>
              <a:t>matlab</a:t>
            </a:r>
            <a:r>
              <a:rPr lang="zh-CN" altLang="zh-CN" sz="1500" b="0" dirty="0"/>
              <a:t>命令窗口输入下面的程序：</a:t>
            </a:r>
          </a:p>
          <a:p>
            <a:pPr marL="0" indent="0">
              <a:buFont typeface="Wingdings" panose="05000000000000000000" pitchFamily="2" charset="2"/>
              <a:buNone/>
              <a:defRPr/>
            </a:pPr>
            <a:endParaRPr lang="en-US" altLang="zh-CN" sz="1500" b="0" dirty="0"/>
          </a:p>
          <a:p>
            <a:pPr>
              <a:defRPr/>
            </a:pPr>
            <a:endParaRPr lang="en-US" altLang="zh-CN" sz="1800" b="0" dirty="0"/>
          </a:p>
          <a:p>
            <a:pPr>
              <a:defRPr/>
            </a:pPr>
            <a:endParaRPr lang="en-US" altLang="zh-CN" sz="1800" b="0" dirty="0"/>
          </a:p>
          <a:p>
            <a:pPr>
              <a:defRPr/>
            </a:pPr>
            <a:endParaRPr lang="en-US" altLang="zh-CN" sz="1800" b="0" dirty="0"/>
          </a:p>
          <a:p>
            <a:pPr>
              <a:defRPr/>
            </a:pPr>
            <a:endParaRPr lang="zh-CN" altLang="en-US" dirty="0"/>
          </a:p>
        </p:txBody>
      </p:sp>
      <p:pic>
        <p:nvPicPr>
          <p:cNvPr id="94212" name="图片 5">
            <a:extLst>
              <a:ext uri="{FF2B5EF4-FFF2-40B4-BE49-F238E27FC236}">
                <a16:creationId xmlns:a16="http://schemas.microsoft.com/office/drawing/2014/main" id="{562C4D60-D4B2-4802-9B89-F1C29CADD7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588" y="2085975"/>
            <a:ext cx="3292475" cy="328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3" name="图片 6">
            <a:extLst>
              <a:ext uri="{FF2B5EF4-FFF2-40B4-BE49-F238E27FC236}">
                <a16:creationId xmlns:a16="http://schemas.microsoft.com/office/drawing/2014/main" id="{041363D7-6723-424C-A406-22AB654FD9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4038" y="2078038"/>
            <a:ext cx="3311525"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a:extLst>
              <a:ext uri="{FF2B5EF4-FFF2-40B4-BE49-F238E27FC236}">
                <a16:creationId xmlns:a16="http://schemas.microsoft.com/office/drawing/2014/main" id="{79F3220E-621D-4C05-B9C7-D293783F7ED5}"/>
              </a:ext>
            </a:extLst>
          </p:cNvPr>
          <p:cNvSpPr>
            <a:spLocks noGrp="1" noChangeArrowheads="1"/>
          </p:cNvSpPr>
          <p:nvPr>
            <p:ph type="title"/>
          </p:nvPr>
        </p:nvSpPr>
        <p:spPr>
          <a:xfrm>
            <a:off x="457200" y="277813"/>
            <a:ext cx="7010400" cy="788987"/>
          </a:xfrm>
        </p:spPr>
        <p:txBody>
          <a:bodyPr/>
          <a:lstStyle/>
          <a:p>
            <a:r>
              <a:rPr lang="zh-CN" altLang="en-US"/>
              <a:t>动态规划举例</a:t>
            </a:r>
            <a:r>
              <a:rPr lang="en-US" altLang="zh-CN"/>
              <a:t>-Matlab</a:t>
            </a:r>
            <a:endParaRPr lang="zh-CN" altLang="en-US"/>
          </a:p>
        </p:txBody>
      </p:sp>
      <p:sp>
        <p:nvSpPr>
          <p:cNvPr id="2" name="矩形 1">
            <a:extLst>
              <a:ext uri="{FF2B5EF4-FFF2-40B4-BE49-F238E27FC236}">
                <a16:creationId xmlns:a16="http://schemas.microsoft.com/office/drawing/2014/main" id="{C25F844F-34DF-45E8-B25F-9FF2B440BE58}"/>
              </a:ext>
            </a:extLst>
          </p:cNvPr>
          <p:cNvSpPr/>
          <p:nvPr/>
        </p:nvSpPr>
        <p:spPr>
          <a:xfrm>
            <a:off x="107950" y="981075"/>
            <a:ext cx="3959225" cy="5754688"/>
          </a:xfrm>
          <a:prstGeom prst="rect">
            <a:avLst/>
          </a:prstGeom>
          <a:ln>
            <a:solidFill>
              <a:srgbClr val="FF00FF"/>
            </a:solidFill>
          </a:ln>
        </p:spPr>
        <p:txBody>
          <a:bodyPr>
            <a:spAutoFit/>
          </a:bodyPr>
          <a:lstStyle/>
          <a:p>
            <a:pPr marL="400050" algn="just">
              <a:spcAft>
                <a:spcPts val="0"/>
              </a:spcAft>
              <a:defRPr/>
            </a:pPr>
            <a:r>
              <a:rPr lang="en-US" altLang="zh-CN" sz="1600" dirty="0">
                <a:solidFill>
                  <a:srgbClr val="000000"/>
                </a:solidFill>
                <a:latin typeface="+mn-lt"/>
              </a:rPr>
              <a:t>m=1;</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A=[0 4 6 7 7 7 7];</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B=[0 2 4 6 8 9 10];</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C=[0 3 5 7 8 8 8];</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D=[0 4 5 6 6 6 6];</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for a=1:7</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for b=1:7</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for c=1:7</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for e=1:7	</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if </a:t>
            </a:r>
            <a:r>
              <a:rPr lang="en-US" altLang="zh-CN" sz="1600" dirty="0" err="1">
                <a:solidFill>
                  <a:srgbClr val="000000"/>
                </a:solidFill>
                <a:latin typeface="+mn-lt"/>
              </a:rPr>
              <a:t>a+b+c+e</a:t>
            </a:r>
            <a:r>
              <a:rPr lang="en-US" altLang="zh-CN" sz="1600" dirty="0">
                <a:solidFill>
                  <a:srgbClr val="000000"/>
                </a:solidFill>
                <a:latin typeface="+mn-lt"/>
              </a:rPr>
              <a:t>==10</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d(m)=A(a)+B(b)+C(c)+D(e);</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E(m,1)=a;</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E(m,2)=b;</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E(m,3)=c;</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E(m,4)=e;</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m=m+1;</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else</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continue;</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end</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end</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end</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        end</a:t>
            </a:r>
            <a:endParaRPr lang="zh-CN" altLang="zh-CN" sz="1600" kern="100" dirty="0">
              <a:latin typeface="+mn-lt"/>
              <a:cs typeface="Times New Roman" panose="02020603050405020304" pitchFamily="18" charset="0"/>
            </a:endParaRPr>
          </a:p>
          <a:p>
            <a:pPr marL="400050" algn="just">
              <a:spcAft>
                <a:spcPts val="0"/>
              </a:spcAft>
              <a:defRPr/>
            </a:pPr>
            <a:r>
              <a:rPr lang="en-US" altLang="zh-CN" sz="1600" dirty="0">
                <a:solidFill>
                  <a:srgbClr val="000000"/>
                </a:solidFill>
                <a:latin typeface="+mn-lt"/>
              </a:rPr>
              <a:t>end</a:t>
            </a:r>
            <a:endParaRPr lang="zh-CN" altLang="zh-CN" sz="1600" kern="100" dirty="0">
              <a:latin typeface="+mn-lt"/>
              <a:cs typeface="Times New Roman" panose="02020603050405020304" pitchFamily="18" charset="0"/>
            </a:endParaRPr>
          </a:p>
        </p:txBody>
      </p:sp>
      <p:sp>
        <p:nvSpPr>
          <p:cNvPr id="6" name="矩形 5">
            <a:extLst>
              <a:ext uri="{FF2B5EF4-FFF2-40B4-BE49-F238E27FC236}">
                <a16:creationId xmlns:a16="http://schemas.microsoft.com/office/drawing/2014/main" id="{9EA65438-6A22-4DCD-88F4-0936289A0417}"/>
              </a:ext>
            </a:extLst>
          </p:cNvPr>
          <p:cNvSpPr/>
          <p:nvPr/>
        </p:nvSpPr>
        <p:spPr>
          <a:xfrm>
            <a:off x="4659313" y="2205038"/>
            <a:ext cx="2808287" cy="4278312"/>
          </a:xfrm>
          <a:prstGeom prst="rect">
            <a:avLst/>
          </a:prstGeom>
          <a:ln>
            <a:solidFill>
              <a:srgbClr val="FF00FF"/>
            </a:solidFill>
          </a:ln>
        </p:spPr>
        <p:txBody>
          <a:bodyPr>
            <a:spAutoFit/>
          </a:bodyPr>
          <a:lstStyle/>
          <a:p>
            <a:pPr marL="400050" algn="just">
              <a:spcAft>
                <a:spcPts val="0"/>
              </a:spcAft>
              <a:defRPr/>
            </a:pPr>
            <a:r>
              <a:rPr lang="en-US" altLang="zh-CN" sz="1600" dirty="0" err="1">
                <a:solidFill>
                  <a:srgbClr val="000000"/>
                </a:solidFill>
              </a:rPr>
              <a:t>MAXNum</a:t>
            </a:r>
            <a:r>
              <a:rPr lang="en-US" altLang="zh-CN" sz="1600" dirty="0">
                <a:solidFill>
                  <a:srgbClr val="000000"/>
                </a:solidFill>
              </a:rPr>
              <a:t>=d(1);</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for l=1:size(d,2)</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if d(l)&gt;</a:t>
            </a:r>
            <a:r>
              <a:rPr lang="en-US" altLang="zh-CN" sz="1600" dirty="0" err="1">
                <a:solidFill>
                  <a:srgbClr val="000000"/>
                </a:solidFill>
              </a:rPr>
              <a:t>MAXNum</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a:t>
            </a:r>
            <a:r>
              <a:rPr lang="en-US" altLang="zh-CN" sz="1600" dirty="0" err="1">
                <a:solidFill>
                  <a:srgbClr val="000000"/>
                </a:solidFill>
              </a:rPr>
              <a:t>MAXNum</a:t>
            </a:r>
            <a:r>
              <a:rPr lang="en-US" altLang="zh-CN" sz="1600" dirty="0">
                <a:solidFill>
                  <a:srgbClr val="000000"/>
                </a:solidFill>
              </a:rPr>
              <a:t>=d(l);</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p=l;</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else</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continue;</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end</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end</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for l=1:size(d,2)</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if d(l)==</a:t>
            </a:r>
            <a:r>
              <a:rPr lang="en-US" altLang="zh-CN" sz="1600" dirty="0" err="1">
                <a:solidFill>
                  <a:srgbClr val="000000"/>
                </a:solidFill>
              </a:rPr>
              <a:t>MAXNum</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E(l,:)-1</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else</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continue;</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     end</a:t>
            </a:r>
            <a:endParaRPr lang="zh-CN" altLang="zh-CN" sz="1600" kern="100" dirty="0">
              <a:latin typeface="Calibri" panose="020F0502020204030204" pitchFamily="34" charset="0"/>
              <a:cs typeface="Times New Roman" panose="02020603050405020304" pitchFamily="18" charset="0"/>
            </a:endParaRPr>
          </a:p>
          <a:p>
            <a:pPr marL="400050" algn="just">
              <a:spcAft>
                <a:spcPts val="0"/>
              </a:spcAft>
              <a:defRPr/>
            </a:pPr>
            <a:r>
              <a:rPr lang="en-US" altLang="zh-CN" sz="1600" dirty="0">
                <a:solidFill>
                  <a:srgbClr val="000000"/>
                </a:solidFill>
              </a:rPr>
              <a:t>end</a:t>
            </a:r>
            <a:endParaRPr lang="zh-CN" altLang="zh-CN" sz="1600" kern="100" dirty="0">
              <a:latin typeface="Calibri" panose="020F0502020204030204" pitchFamily="34" charset="0"/>
              <a:cs typeface="Times New Roman" panose="02020603050405020304" pitchFamily="18" charset="0"/>
            </a:endParaRPr>
          </a:p>
          <a:p>
            <a:pPr>
              <a:defRPr/>
            </a:pPr>
            <a:r>
              <a:rPr lang="en-US" altLang="zh-CN" sz="1600" dirty="0" err="1">
                <a:solidFill>
                  <a:srgbClr val="000000"/>
                </a:solidFill>
              </a:rPr>
              <a:t>MAXNum</a:t>
            </a:r>
            <a:endParaRPr lang="zh-CN" altLang="en-US" sz="1600" dirty="0"/>
          </a:p>
        </p:txBody>
      </p:sp>
      <p:sp>
        <p:nvSpPr>
          <p:cNvPr id="95237" name="矩形 2">
            <a:extLst>
              <a:ext uri="{FF2B5EF4-FFF2-40B4-BE49-F238E27FC236}">
                <a16:creationId xmlns:a16="http://schemas.microsoft.com/office/drawing/2014/main" id="{E3DDD8E9-C5FE-4DB5-BD88-6158364D5ECB}"/>
              </a:ext>
            </a:extLst>
          </p:cNvPr>
          <p:cNvSpPr>
            <a:spLocks noChangeArrowheads="1"/>
          </p:cNvSpPr>
          <p:nvPr/>
        </p:nvSpPr>
        <p:spPr bwMode="auto">
          <a:xfrm>
            <a:off x="5364163" y="1266825"/>
            <a:ext cx="1825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货车卸货问题</a:t>
            </a:r>
            <a:r>
              <a:rPr lang="en-US" altLang="zh-CN"/>
              <a:t>.m</a:t>
            </a:r>
            <a:endParaRPr lang="zh-CN" altLang="en-US"/>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a:extLst>
              <a:ext uri="{FF2B5EF4-FFF2-40B4-BE49-F238E27FC236}">
                <a16:creationId xmlns:a16="http://schemas.microsoft.com/office/drawing/2014/main" id="{116B4A3B-202B-434E-AF76-1F6B5E83EF23}"/>
              </a:ext>
            </a:extLst>
          </p:cNvPr>
          <p:cNvSpPr>
            <a:spLocks noGrp="1" noChangeArrowheads="1"/>
          </p:cNvSpPr>
          <p:nvPr>
            <p:ph type="title"/>
          </p:nvPr>
        </p:nvSpPr>
        <p:spPr/>
        <p:txBody>
          <a:bodyPr/>
          <a:lstStyle/>
          <a:p>
            <a:r>
              <a:rPr lang="zh-CN" altLang="en-US"/>
              <a:t>用</a:t>
            </a:r>
            <a:r>
              <a:rPr lang="en-US" altLang="zh-CN" sz="3300"/>
              <a:t>MATLAB</a:t>
            </a:r>
            <a:r>
              <a:rPr lang="zh-CN" altLang="zh-CN" sz="3300"/>
              <a:t>解决</a:t>
            </a:r>
            <a:r>
              <a:rPr lang="zh-CN" altLang="en-US" sz="3300"/>
              <a:t>动态规划</a:t>
            </a:r>
            <a:r>
              <a:rPr lang="zh-CN" altLang="zh-CN" sz="3300"/>
              <a:t>问题</a:t>
            </a:r>
            <a:endParaRPr lang="zh-CN" altLang="en-US"/>
          </a:p>
        </p:txBody>
      </p:sp>
      <p:sp>
        <p:nvSpPr>
          <p:cNvPr id="3" name="内容占位符 2">
            <a:extLst>
              <a:ext uri="{FF2B5EF4-FFF2-40B4-BE49-F238E27FC236}">
                <a16:creationId xmlns:a16="http://schemas.microsoft.com/office/drawing/2014/main" id="{8D914661-1D16-4952-9F38-78F6D45DE229}"/>
              </a:ext>
            </a:extLst>
          </p:cNvPr>
          <p:cNvSpPr>
            <a:spLocks noGrp="1"/>
          </p:cNvSpPr>
          <p:nvPr>
            <p:ph idx="1"/>
          </p:nvPr>
        </p:nvSpPr>
        <p:spPr>
          <a:xfrm>
            <a:off x="457200" y="1809750"/>
            <a:ext cx="3213100" cy="3478213"/>
          </a:xfrm>
        </p:spPr>
        <p:txBody>
          <a:bodyPr/>
          <a:lstStyle/>
          <a:p>
            <a:pPr>
              <a:defRPr/>
            </a:pPr>
            <a:r>
              <a:rPr lang="zh-CN" altLang="zh-CN" sz="1500" b="0" dirty="0"/>
              <a:t>按回车后可以得到</a:t>
            </a:r>
            <a:r>
              <a:rPr lang="zh-CN" altLang="en-US" sz="1500" b="0" dirty="0"/>
              <a:t>右图</a:t>
            </a:r>
            <a:r>
              <a:rPr lang="zh-CN" altLang="zh-CN" sz="1500" b="0" dirty="0"/>
              <a:t>的结果：</a:t>
            </a:r>
            <a:endParaRPr lang="en-US" altLang="zh-CN" sz="1500" b="0" dirty="0"/>
          </a:p>
          <a:p>
            <a:pPr marL="0" indent="0">
              <a:buFont typeface="Wingdings" panose="05000000000000000000" pitchFamily="2" charset="2"/>
              <a:buNone/>
              <a:defRPr/>
            </a:pPr>
            <a:r>
              <a:rPr lang="zh-CN" altLang="en-US" sz="1350" b="0" dirty="0"/>
              <a:t>     由运行结果可知最优方案有</a:t>
            </a:r>
            <a:r>
              <a:rPr lang="en-US" altLang="zh-CN" sz="1350" b="0" dirty="0"/>
              <a:t>6</a:t>
            </a:r>
            <a:r>
              <a:rPr lang="zh-CN" altLang="en-US" sz="1350" b="0" dirty="0"/>
              <a:t>个：</a:t>
            </a:r>
          </a:p>
          <a:p>
            <a:pPr marL="0" indent="0">
              <a:buFont typeface="Wingdings" panose="05000000000000000000" pitchFamily="2" charset="2"/>
              <a:buNone/>
              <a:defRPr/>
            </a:pPr>
            <a:r>
              <a:rPr lang="en-US" altLang="zh-CN" sz="1350" b="0" dirty="0"/>
              <a:t>     1</a:t>
            </a:r>
            <a:r>
              <a:rPr lang="zh-CN" altLang="en-US" sz="1350" b="0" dirty="0"/>
              <a:t>）	</a:t>
            </a:r>
            <a:r>
              <a:rPr lang="en-US" altLang="zh-CN" sz="1350" b="0" dirty="0"/>
              <a:t>x1*</a:t>
            </a:r>
            <a:r>
              <a:rPr lang="zh-CN" altLang="en-US" sz="1350" b="0" dirty="0"/>
              <a:t>＝</a:t>
            </a:r>
            <a:r>
              <a:rPr lang="en-US" altLang="zh-CN" sz="1350" b="0" dirty="0"/>
              <a:t>1</a:t>
            </a:r>
            <a:r>
              <a:rPr lang="zh-CN" altLang="en-US" sz="1350" b="0" dirty="0"/>
              <a:t>，</a:t>
            </a:r>
            <a:r>
              <a:rPr lang="en-US" altLang="zh-CN" sz="1350" b="0" dirty="0"/>
              <a:t>x2*</a:t>
            </a:r>
            <a:r>
              <a:rPr lang="zh-CN" altLang="en-US" sz="1350" b="0" dirty="0"/>
              <a:t>＝</a:t>
            </a:r>
            <a:r>
              <a:rPr lang="en-US" altLang="zh-CN" sz="1350" b="0" dirty="0"/>
              <a:t>1</a:t>
            </a:r>
            <a:r>
              <a:rPr lang="zh-CN" altLang="en-US" sz="1350" b="0" dirty="0"/>
              <a:t>，</a:t>
            </a:r>
            <a:r>
              <a:rPr lang="en-US" altLang="zh-CN" sz="1350" b="0" dirty="0"/>
              <a:t>x3*=3</a:t>
            </a:r>
            <a:r>
              <a:rPr lang="zh-CN" altLang="en-US" sz="1350" b="0" dirty="0"/>
              <a:t>，</a:t>
            </a:r>
            <a:r>
              <a:rPr lang="en-US" altLang="zh-CN" sz="1350" b="0" dirty="0"/>
              <a:t>x4*=1</a:t>
            </a:r>
            <a:r>
              <a:rPr lang="zh-CN" altLang="en-US" sz="1350" b="0" dirty="0"/>
              <a:t>。</a:t>
            </a:r>
          </a:p>
          <a:p>
            <a:pPr marL="0" indent="0">
              <a:buFont typeface="Wingdings" panose="05000000000000000000" pitchFamily="2" charset="2"/>
              <a:buNone/>
              <a:defRPr/>
            </a:pPr>
            <a:r>
              <a:rPr lang="en-US" altLang="zh-CN" sz="1350" b="0" dirty="0"/>
              <a:t>     2</a:t>
            </a:r>
            <a:r>
              <a:rPr lang="zh-CN" altLang="en-US" sz="1350" b="0" dirty="0"/>
              <a:t>）	</a:t>
            </a:r>
            <a:r>
              <a:rPr lang="en-US" altLang="zh-CN" sz="1350" b="0" dirty="0"/>
              <a:t>x1*</a:t>
            </a:r>
            <a:r>
              <a:rPr lang="zh-CN" altLang="en-US" sz="1350" b="0" dirty="0"/>
              <a:t>＝</a:t>
            </a:r>
            <a:r>
              <a:rPr lang="en-US" altLang="zh-CN" sz="1350" b="0" dirty="0"/>
              <a:t>1</a:t>
            </a:r>
            <a:r>
              <a:rPr lang="zh-CN" altLang="en-US" sz="1350" b="0" dirty="0"/>
              <a:t>，</a:t>
            </a:r>
            <a:r>
              <a:rPr lang="en-US" altLang="zh-CN" sz="1350" b="0" dirty="0"/>
              <a:t>x2*</a:t>
            </a:r>
            <a:r>
              <a:rPr lang="zh-CN" altLang="en-US" sz="1350" b="0" dirty="0"/>
              <a:t>＝</a:t>
            </a:r>
            <a:r>
              <a:rPr lang="en-US" altLang="zh-CN" sz="1350" b="0" dirty="0"/>
              <a:t>2</a:t>
            </a:r>
            <a:r>
              <a:rPr lang="zh-CN" altLang="en-US" sz="1350" b="0" dirty="0"/>
              <a:t>，</a:t>
            </a:r>
            <a:r>
              <a:rPr lang="en-US" altLang="zh-CN" sz="1350" b="0" dirty="0"/>
              <a:t>x3*=2</a:t>
            </a:r>
            <a:r>
              <a:rPr lang="zh-CN" altLang="en-US" sz="1350" b="0" dirty="0"/>
              <a:t>，</a:t>
            </a:r>
            <a:r>
              <a:rPr lang="en-US" altLang="zh-CN" sz="1350" b="0" dirty="0"/>
              <a:t>x4*=1</a:t>
            </a:r>
            <a:r>
              <a:rPr lang="zh-CN" altLang="en-US" sz="1350" b="0" dirty="0"/>
              <a:t>。</a:t>
            </a:r>
          </a:p>
          <a:p>
            <a:pPr marL="0" indent="0">
              <a:buFont typeface="Wingdings" panose="05000000000000000000" pitchFamily="2" charset="2"/>
              <a:buNone/>
              <a:defRPr/>
            </a:pPr>
            <a:r>
              <a:rPr lang="en-US" altLang="zh-CN" sz="1350" b="0" dirty="0"/>
              <a:t>     3</a:t>
            </a:r>
            <a:r>
              <a:rPr lang="zh-CN" altLang="en-US" sz="1350" b="0" dirty="0"/>
              <a:t>）	</a:t>
            </a:r>
            <a:r>
              <a:rPr lang="en-US" altLang="zh-CN" sz="1350" b="0" dirty="0"/>
              <a:t>x1*</a:t>
            </a:r>
            <a:r>
              <a:rPr lang="zh-CN" altLang="en-US" sz="1350" b="0" dirty="0"/>
              <a:t>＝</a:t>
            </a:r>
            <a:r>
              <a:rPr lang="en-US" altLang="zh-CN" sz="1350" b="0" dirty="0"/>
              <a:t>1</a:t>
            </a:r>
            <a:r>
              <a:rPr lang="zh-CN" altLang="en-US" sz="1350" b="0" dirty="0"/>
              <a:t>，</a:t>
            </a:r>
            <a:r>
              <a:rPr lang="en-US" altLang="zh-CN" sz="1350" b="0" dirty="0"/>
              <a:t>x2*</a:t>
            </a:r>
            <a:r>
              <a:rPr lang="zh-CN" altLang="en-US" sz="1350" b="0" dirty="0"/>
              <a:t>＝</a:t>
            </a:r>
            <a:r>
              <a:rPr lang="en-US" altLang="zh-CN" sz="1350" b="0" dirty="0"/>
              <a:t>3</a:t>
            </a:r>
            <a:r>
              <a:rPr lang="zh-CN" altLang="en-US" sz="1350" b="0" dirty="0"/>
              <a:t>，</a:t>
            </a:r>
            <a:r>
              <a:rPr lang="en-US" altLang="zh-CN" sz="1350" b="0" dirty="0"/>
              <a:t>x3*=1</a:t>
            </a:r>
            <a:r>
              <a:rPr lang="zh-CN" altLang="en-US" sz="1350" b="0" dirty="0"/>
              <a:t>，</a:t>
            </a:r>
            <a:r>
              <a:rPr lang="en-US" altLang="zh-CN" sz="1350" b="0" dirty="0"/>
              <a:t>x4*=1</a:t>
            </a:r>
            <a:r>
              <a:rPr lang="zh-CN" altLang="en-US" sz="1350" b="0" dirty="0"/>
              <a:t>。</a:t>
            </a:r>
          </a:p>
          <a:p>
            <a:pPr marL="0" indent="0">
              <a:buFont typeface="Wingdings" panose="05000000000000000000" pitchFamily="2" charset="2"/>
              <a:buNone/>
              <a:defRPr/>
            </a:pPr>
            <a:r>
              <a:rPr lang="en-US" altLang="zh-CN" sz="1350" b="0" dirty="0"/>
              <a:t>     4</a:t>
            </a:r>
            <a:r>
              <a:rPr lang="zh-CN" altLang="en-US" sz="1350" b="0" dirty="0"/>
              <a:t>）	</a:t>
            </a:r>
            <a:r>
              <a:rPr lang="en-US" altLang="zh-CN" sz="1350" b="0" dirty="0"/>
              <a:t>x1*</a:t>
            </a:r>
            <a:r>
              <a:rPr lang="zh-CN" altLang="en-US" sz="1350" b="0" dirty="0"/>
              <a:t>＝</a:t>
            </a:r>
            <a:r>
              <a:rPr lang="en-US" altLang="zh-CN" sz="1350" b="0" dirty="0"/>
              <a:t>2</a:t>
            </a:r>
            <a:r>
              <a:rPr lang="zh-CN" altLang="en-US" sz="1350" b="0" dirty="0"/>
              <a:t>，</a:t>
            </a:r>
            <a:r>
              <a:rPr lang="en-US" altLang="zh-CN" sz="1350" b="0" dirty="0"/>
              <a:t>x2*</a:t>
            </a:r>
            <a:r>
              <a:rPr lang="zh-CN" altLang="en-US" sz="1350" b="0" dirty="0"/>
              <a:t>＝</a:t>
            </a:r>
            <a:r>
              <a:rPr lang="en-US" altLang="zh-CN" sz="1350" b="0" dirty="0"/>
              <a:t>0</a:t>
            </a:r>
            <a:r>
              <a:rPr lang="zh-CN" altLang="en-US" sz="1350" b="0" dirty="0"/>
              <a:t>，</a:t>
            </a:r>
            <a:r>
              <a:rPr lang="en-US" altLang="zh-CN" sz="1350" b="0" dirty="0"/>
              <a:t>x3*=3</a:t>
            </a:r>
            <a:r>
              <a:rPr lang="zh-CN" altLang="en-US" sz="1350" b="0" dirty="0"/>
              <a:t>，</a:t>
            </a:r>
            <a:r>
              <a:rPr lang="en-US" altLang="zh-CN" sz="1350" b="0" dirty="0"/>
              <a:t>x4*=1</a:t>
            </a:r>
            <a:r>
              <a:rPr lang="zh-CN" altLang="en-US" sz="1350" b="0" dirty="0"/>
              <a:t>。</a:t>
            </a:r>
          </a:p>
          <a:p>
            <a:pPr marL="0" indent="0">
              <a:buFont typeface="Wingdings" panose="05000000000000000000" pitchFamily="2" charset="2"/>
              <a:buNone/>
              <a:defRPr/>
            </a:pPr>
            <a:r>
              <a:rPr lang="en-US" altLang="zh-CN" sz="1350" b="0" dirty="0"/>
              <a:t>     5</a:t>
            </a:r>
            <a:r>
              <a:rPr lang="zh-CN" altLang="en-US" sz="1350" b="0" dirty="0"/>
              <a:t>）	</a:t>
            </a:r>
            <a:r>
              <a:rPr lang="en-US" altLang="zh-CN" sz="1350" b="0" dirty="0"/>
              <a:t>x1*</a:t>
            </a:r>
            <a:r>
              <a:rPr lang="zh-CN" altLang="en-US" sz="1350" b="0" dirty="0"/>
              <a:t>＝</a:t>
            </a:r>
            <a:r>
              <a:rPr lang="en-US" altLang="zh-CN" sz="1350" b="0" dirty="0"/>
              <a:t>2</a:t>
            </a:r>
            <a:r>
              <a:rPr lang="zh-CN" altLang="en-US" sz="1350" b="0" dirty="0"/>
              <a:t>，</a:t>
            </a:r>
            <a:r>
              <a:rPr lang="en-US" altLang="zh-CN" sz="1350" b="0" dirty="0"/>
              <a:t>x2*</a:t>
            </a:r>
            <a:r>
              <a:rPr lang="zh-CN" altLang="en-US" sz="1350" b="0" dirty="0"/>
              <a:t>＝</a:t>
            </a:r>
            <a:r>
              <a:rPr lang="en-US" altLang="zh-CN" sz="1350" b="0" dirty="0"/>
              <a:t>1</a:t>
            </a:r>
            <a:r>
              <a:rPr lang="zh-CN" altLang="en-US" sz="1350" b="0" dirty="0"/>
              <a:t>，</a:t>
            </a:r>
            <a:r>
              <a:rPr lang="en-US" altLang="zh-CN" sz="1350" b="0" dirty="0"/>
              <a:t>x3*=2</a:t>
            </a:r>
            <a:r>
              <a:rPr lang="zh-CN" altLang="en-US" sz="1350" b="0" dirty="0"/>
              <a:t>，</a:t>
            </a:r>
            <a:r>
              <a:rPr lang="en-US" altLang="zh-CN" sz="1350" b="0" dirty="0"/>
              <a:t>x4*=1</a:t>
            </a:r>
            <a:r>
              <a:rPr lang="zh-CN" altLang="en-US" sz="1350" b="0" dirty="0"/>
              <a:t>。</a:t>
            </a:r>
          </a:p>
          <a:p>
            <a:pPr marL="0" indent="0">
              <a:buFont typeface="Wingdings" panose="05000000000000000000" pitchFamily="2" charset="2"/>
              <a:buNone/>
              <a:defRPr/>
            </a:pPr>
            <a:r>
              <a:rPr lang="en-US" altLang="zh-CN" sz="1350" b="0" dirty="0"/>
              <a:t>     6</a:t>
            </a:r>
            <a:r>
              <a:rPr lang="zh-CN" altLang="en-US" sz="1350" b="0" dirty="0"/>
              <a:t>）	</a:t>
            </a:r>
            <a:r>
              <a:rPr lang="en-US" altLang="zh-CN" sz="1350" b="0" dirty="0"/>
              <a:t>x1*</a:t>
            </a:r>
            <a:r>
              <a:rPr lang="zh-CN" altLang="en-US" sz="1350" b="0" dirty="0"/>
              <a:t>＝</a:t>
            </a:r>
            <a:r>
              <a:rPr lang="en-US" altLang="zh-CN" sz="1350" b="0" dirty="0"/>
              <a:t>2</a:t>
            </a:r>
            <a:r>
              <a:rPr lang="zh-CN" altLang="en-US" sz="1350" b="0" dirty="0"/>
              <a:t>，</a:t>
            </a:r>
            <a:r>
              <a:rPr lang="en-US" altLang="zh-CN" sz="1350" b="0" dirty="0"/>
              <a:t>x2*</a:t>
            </a:r>
            <a:r>
              <a:rPr lang="zh-CN" altLang="en-US" sz="1350" b="0" dirty="0"/>
              <a:t>＝</a:t>
            </a:r>
            <a:r>
              <a:rPr lang="en-US" altLang="zh-CN" sz="1350" b="0" dirty="0"/>
              <a:t>2</a:t>
            </a:r>
            <a:r>
              <a:rPr lang="zh-CN" altLang="en-US" sz="1350" b="0" dirty="0"/>
              <a:t>，</a:t>
            </a:r>
            <a:r>
              <a:rPr lang="en-US" altLang="zh-CN" sz="1350" b="0" dirty="0"/>
              <a:t>x3*=1</a:t>
            </a:r>
            <a:r>
              <a:rPr lang="zh-CN" altLang="en-US" sz="1350" b="0" dirty="0"/>
              <a:t>，</a:t>
            </a:r>
            <a:r>
              <a:rPr lang="en-US" altLang="zh-CN" sz="1350" b="0" dirty="0"/>
              <a:t>x4*=1</a:t>
            </a:r>
            <a:r>
              <a:rPr lang="zh-CN" altLang="en-US" sz="1350" b="0" dirty="0"/>
              <a:t>。</a:t>
            </a:r>
          </a:p>
          <a:p>
            <a:pPr marL="0" indent="0">
              <a:buFont typeface="Wingdings" panose="05000000000000000000" pitchFamily="2" charset="2"/>
              <a:buNone/>
              <a:defRPr/>
            </a:pPr>
            <a:r>
              <a:rPr lang="zh-CN" altLang="en-US" sz="1350" b="0" dirty="0"/>
              <a:t>最大总利润为</a:t>
            </a:r>
            <a:r>
              <a:rPr lang="en-US" altLang="zh-CN" sz="1350" b="0" dirty="0"/>
              <a:t>17</a:t>
            </a:r>
            <a:r>
              <a:rPr lang="zh-CN" altLang="en-US" sz="1350" b="0" dirty="0"/>
              <a:t>。这与之前的计算结果一致。</a:t>
            </a:r>
          </a:p>
          <a:p>
            <a:pPr>
              <a:defRPr/>
            </a:pPr>
            <a:endParaRPr lang="zh-CN" altLang="zh-CN" sz="1500" b="0" dirty="0"/>
          </a:p>
          <a:p>
            <a:pPr marL="0" indent="0">
              <a:buFont typeface="Wingdings" panose="05000000000000000000" pitchFamily="2" charset="2"/>
              <a:buNone/>
              <a:defRPr/>
            </a:pPr>
            <a:endParaRPr lang="en-US" altLang="zh-CN" sz="1500" b="0" dirty="0"/>
          </a:p>
          <a:p>
            <a:pPr>
              <a:defRPr/>
            </a:pPr>
            <a:endParaRPr lang="en-US" altLang="zh-CN" sz="1800" b="0" dirty="0"/>
          </a:p>
          <a:p>
            <a:pPr>
              <a:defRPr/>
            </a:pPr>
            <a:endParaRPr lang="en-US" altLang="zh-CN" sz="1800" b="0" dirty="0"/>
          </a:p>
          <a:p>
            <a:pPr>
              <a:defRPr/>
            </a:pPr>
            <a:endParaRPr lang="en-US" altLang="zh-CN" sz="1800" b="0" dirty="0"/>
          </a:p>
          <a:p>
            <a:pPr>
              <a:defRPr/>
            </a:pPr>
            <a:endParaRPr lang="zh-CN" altLang="en-US" dirty="0"/>
          </a:p>
        </p:txBody>
      </p:sp>
      <p:pic>
        <p:nvPicPr>
          <p:cNvPr id="97284" name="图片 3">
            <a:extLst>
              <a:ext uri="{FF2B5EF4-FFF2-40B4-BE49-F238E27FC236}">
                <a16:creationId xmlns:a16="http://schemas.microsoft.com/office/drawing/2014/main" id="{80C7D8F8-BE3A-4858-ACB2-F66CB589A8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3850" y="1674813"/>
            <a:ext cx="3459163" cy="361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90BB24D4-C4E2-4009-A053-5D071C816D6C}"/>
              </a:ext>
            </a:extLst>
          </p:cNvPr>
          <p:cNvSpPr>
            <a:spLocks noGrp="1" noChangeArrowheads="1"/>
          </p:cNvSpPr>
          <p:nvPr>
            <p:ph type="title"/>
          </p:nvPr>
        </p:nvSpPr>
        <p:spPr/>
        <p:txBody>
          <a:bodyPr/>
          <a:lstStyle/>
          <a:p>
            <a:r>
              <a:rPr lang="zh-CN" altLang="en-US"/>
              <a:t>用</a:t>
            </a:r>
            <a:r>
              <a:rPr lang="en-US" altLang="zh-CN"/>
              <a:t>Lingo</a:t>
            </a:r>
            <a:r>
              <a:rPr lang="zh-CN" altLang="zh-CN" sz="3300"/>
              <a:t>解决</a:t>
            </a:r>
            <a:r>
              <a:rPr lang="zh-CN" altLang="en-US" sz="3300"/>
              <a:t>动态规划</a:t>
            </a:r>
            <a:r>
              <a:rPr lang="zh-CN" altLang="zh-CN" sz="3300"/>
              <a:t>问题</a:t>
            </a:r>
            <a:endParaRPr lang="zh-CN" altLang="en-US"/>
          </a:p>
        </p:txBody>
      </p:sp>
      <p:sp>
        <p:nvSpPr>
          <p:cNvPr id="7" name="矩形 6">
            <a:extLst>
              <a:ext uri="{FF2B5EF4-FFF2-40B4-BE49-F238E27FC236}">
                <a16:creationId xmlns:a16="http://schemas.microsoft.com/office/drawing/2014/main" id="{CF04B214-B4F6-467C-875C-E227523DB8EB}"/>
              </a:ext>
            </a:extLst>
          </p:cNvPr>
          <p:cNvSpPr/>
          <p:nvPr/>
        </p:nvSpPr>
        <p:spPr>
          <a:xfrm>
            <a:off x="457200" y="1557338"/>
            <a:ext cx="4572000" cy="3324225"/>
          </a:xfrm>
          <a:prstGeom prst="rect">
            <a:avLst/>
          </a:prstGeom>
        </p:spPr>
        <p:txBody>
          <a:bodyPr>
            <a:spAutoFit/>
          </a:bodyPr>
          <a:lstStyle/>
          <a:p>
            <a:pPr>
              <a:spcAft>
                <a:spcPts val="0"/>
              </a:spcAft>
              <a:defRPr/>
            </a:pP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model</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sets</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R/1..7/:z;</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L/1..4/;</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c(R,L):</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x,y</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err="1">
                <a:solidFill>
                  <a:srgbClr val="0000FF"/>
                </a:solidFill>
                <a:latin typeface="Courier New" panose="02070309020205020404" pitchFamily="49" charset="0"/>
                <a:ea typeface="等线" panose="02010600030101010101" pitchFamily="2" charset="-122"/>
                <a:cs typeface="Times New Roman" panose="02020603050405020304" pitchFamily="18" charset="0"/>
              </a:rPr>
              <a:t>endsets</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data</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x=0 0 0 0</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4 2 3 4</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6 4 5 5</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7 6 7 6</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7 8 8 6</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7 9 8 6</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7 10 8 6;</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z=0 1 2 3 4 5 6;</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err="1">
                <a:solidFill>
                  <a:srgbClr val="0000FF"/>
                </a:solidFill>
                <a:latin typeface="Courier New" panose="02070309020205020404" pitchFamily="49" charset="0"/>
                <a:ea typeface="等线" panose="02010600030101010101" pitchFamily="2" charset="-122"/>
                <a:cs typeface="Times New Roman" panose="02020603050405020304" pitchFamily="18" charset="0"/>
              </a:rPr>
              <a:t>enddata</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max</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@sum</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(c(</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i,j</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):x(</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i,j</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)*y(</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i,j</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@for</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(L(</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i</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@sum</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(c(</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j,k</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)|k#eq#1:y(</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j,k</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))=1);</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@sum</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(c(</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i,j</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):y(</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i,j</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)*z(</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i</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))=6;</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@for</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(c(</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i,j</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000"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@bin</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(y(</a:t>
            </a:r>
            <a:r>
              <a:rPr lang="en-US" altLang="zh-CN" sz="1000"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i,j</a:t>
            </a:r>
            <a:r>
              <a:rPr lang="en-US" altLang="zh-CN" sz="10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defRPr/>
            </a:pPr>
            <a:r>
              <a:rPr lang="zh-CN" altLang="zh-CN" sz="1000" kern="0" dirty="0">
                <a:solidFill>
                  <a:srgbClr val="0000FF"/>
                </a:solidFill>
                <a:latin typeface="等线" panose="02010600030101010101" pitchFamily="2" charset="-122"/>
                <a:ea typeface="Courier New" panose="02070309020205020404" pitchFamily="49" charset="0"/>
                <a:cs typeface="Times New Roman" panose="02020603050405020304" pitchFamily="18" charset="0"/>
              </a:rPr>
              <a:t>end</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98308" name="图片 7">
            <a:extLst>
              <a:ext uri="{FF2B5EF4-FFF2-40B4-BE49-F238E27FC236}">
                <a16:creationId xmlns:a16="http://schemas.microsoft.com/office/drawing/2014/main" id="{44365BC9-2793-4030-8186-0F7E7BBAE3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0150" y="1716088"/>
            <a:ext cx="3676650" cy="309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a:extLst>
              <a:ext uri="{FF2B5EF4-FFF2-40B4-BE49-F238E27FC236}">
                <a16:creationId xmlns:a16="http://schemas.microsoft.com/office/drawing/2014/main" id="{F33D2D97-0490-4C69-A176-E324C22BAC71}"/>
              </a:ext>
            </a:extLst>
          </p:cNvPr>
          <p:cNvSpPr>
            <a:spLocks noGrp="1" noChangeArrowheads="1"/>
          </p:cNvSpPr>
          <p:nvPr>
            <p:ph type="title"/>
          </p:nvPr>
        </p:nvSpPr>
        <p:spPr/>
        <p:txBody>
          <a:bodyPr/>
          <a:lstStyle/>
          <a:p>
            <a:r>
              <a:rPr lang="zh-CN" altLang="en-US"/>
              <a:t>投资问题</a:t>
            </a:r>
          </a:p>
        </p:txBody>
      </p:sp>
      <p:sp>
        <p:nvSpPr>
          <p:cNvPr id="7" name="矩形 6">
            <a:extLst>
              <a:ext uri="{FF2B5EF4-FFF2-40B4-BE49-F238E27FC236}">
                <a16:creationId xmlns:a16="http://schemas.microsoft.com/office/drawing/2014/main" id="{7A92CE27-DE79-47D3-B387-D355CD098394}"/>
              </a:ext>
            </a:extLst>
          </p:cNvPr>
          <p:cNvSpPr>
            <a:spLocks noRot="1" noChangeAspect="1" noMove="1" noResize="1" noEditPoints="1" noAdjustHandles="1" noChangeArrowheads="1" noChangeShapeType="1" noTextEdit="1"/>
          </p:cNvSpPr>
          <p:nvPr/>
        </p:nvSpPr>
        <p:spPr>
          <a:xfrm>
            <a:off x="539552" y="1196752"/>
            <a:ext cx="7920880" cy="928459"/>
          </a:xfrm>
          <a:prstGeom prst="rect">
            <a:avLst/>
          </a:prstGeom>
          <a:blipFill>
            <a:blip r:embed="rId2"/>
            <a:stretch>
              <a:fillRect l="-693" t="-5229" r="-616" b="-7190"/>
            </a:stretch>
          </a:blipFill>
        </p:spPr>
        <p:txBody>
          <a:bodyPr/>
          <a:lstStyle/>
          <a:p>
            <a:pPr>
              <a:defRPr/>
            </a:pPr>
            <a:r>
              <a:rPr lang="zh-CN" altLang="en-US">
                <a:noFill/>
              </a:rPr>
              <a:t> </a:t>
            </a:r>
          </a:p>
        </p:txBody>
      </p:sp>
      <p:sp>
        <p:nvSpPr>
          <p:cNvPr id="8" name="矩形 7">
            <a:extLst>
              <a:ext uri="{FF2B5EF4-FFF2-40B4-BE49-F238E27FC236}">
                <a16:creationId xmlns:a16="http://schemas.microsoft.com/office/drawing/2014/main" id="{450B9F4F-17FE-45DB-BC93-AF08CF896248}"/>
              </a:ext>
            </a:extLst>
          </p:cNvPr>
          <p:cNvSpPr>
            <a:spLocks noRot="1" noChangeAspect="1" noMove="1" noResize="1" noEditPoints="1" noAdjustHandles="1" noChangeArrowheads="1" noChangeShapeType="1" noTextEdit="1"/>
          </p:cNvSpPr>
          <p:nvPr/>
        </p:nvSpPr>
        <p:spPr>
          <a:xfrm>
            <a:off x="971600" y="2492896"/>
            <a:ext cx="4572000" cy="2533129"/>
          </a:xfrm>
          <a:prstGeom prst="rect">
            <a:avLst/>
          </a:prstGeom>
          <a:blipFill>
            <a:blip r:embed="rId3"/>
            <a:stretch>
              <a:fillRect l="-1067" t="-2169" r="-1200" b="-241"/>
            </a:stretch>
          </a:blipFill>
        </p:spPr>
        <p:txBody>
          <a:bodyPr/>
          <a:lstStyle/>
          <a:p>
            <a:pPr>
              <a:defRPr/>
            </a:pPr>
            <a:r>
              <a:rPr lang="zh-CN" altLang="en-US">
                <a:noFill/>
              </a:rPr>
              <a:t>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a:extLst>
              <a:ext uri="{FF2B5EF4-FFF2-40B4-BE49-F238E27FC236}">
                <a16:creationId xmlns:a16="http://schemas.microsoft.com/office/drawing/2014/main" id="{A1BC7F86-4A1E-4604-B896-A67D4A6287C1}"/>
              </a:ext>
            </a:extLst>
          </p:cNvPr>
          <p:cNvSpPr>
            <a:spLocks noGrp="1" noChangeArrowheads="1"/>
          </p:cNvSpPr>
          <p:nvPr>
            <p:ph type="title"/>
          </p:nvPr>
        </p:nvSpPr>
        <p:spPr/>
        <p:txBody>
          <a:bodyPr/>
          <a:lstStyle/>
          <a:p>
            <a:r>
              <a:rPr lang="zh-CN" altLang="en-US"/>
              <a:t>投资问题</a:t>
            </a:r>
          </a:p>
        </p:txBody>
      </p:sp>
      <p:pic>
        <p:nvPicPr>
          <p:cNvPr id="100355" name="图片 5">
            <a:extLst>
              <a:ext uri="{FF2B5EF4-FFF2-40B4-BE49-F238E27FC236}">
                <a16:creationId xmlns:a16="http://schemas.microsoft.com/office/drawing/2014/main" id="{A3265CE3-ECAC-4D46-AAC5-ABFB4CBC8B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860800"/>
            <a:ext cx="467995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C5EF1169-8EAC-4FB0-B376-732B177BC43B}"/>
              </a:ext>
            </a:extLst>
          </p:cNvPr>
          <p:cNvSpPr/>
          <p:nvPr/>
        </p:nvSpPr>
        <p:spPr>
          <a:xfrm>
            <a:off x="4787900" y="4941888"/>
            <a:ext cx="4572000" cy="1200150"/>
          </a:xfrm>
          <a:prstGeom prst="rect">
            <a:avLst/>
          </a:prstGeom>
        </p:spPr>
        <p:txBody>
          <a:bodyPr>
            <a:spAutoFit/>
          </a:bodyPr>
          <a:lstStyle/>
          <a:p>
            <a:pPr algn="just">
              <a:spcAft>
                <a:spcPts val="0"/>
              </a:spcAft>
              <a:defRPr/>
            </a:pPr>
            <a:r>
              <a:rPr lang="zh-CN" altLang="zh-CN" kern="100" dirty="0">
                <a:latin typeface="Calibri" panose="020F0502020204030204" pitchFamily="34" charset="0"/>
                <a:cs typeface="Times New Roman" panose="02020603050405020304" pitchFamily="18" charset="0"/>
              </a:rPr>
              <a:t>最优的总效益：</a:t>
            </a:r>
            <a:r>
              <a:rPr lang="en-US" altLang="zh-CN" kern="100" dirty="0">
                <a:latin typeface="Calibri" panose="020F0502020204030204" pitchFamily="34" charset="0"/>
                <a:cs typeface="Times New Roman" panose="02020603050405020304" pitchFamily="18" charset="0"/>
              </a:rPr>
              <a:t>200</a:t>
            </a:r>
            <a:r>
              <a:rPr lang="zh-CN" altLang="zh-CN" kern="100" dirty="0">
                <a:latin typeface="Calibri" panose="020F0502020204030204" pitchFamily="34" charset="0"/>
                <a:cs typeface="Times New Roman" panose="02020603050405020304" pitchFamily="18" charset="0"/>
              </a:rPr>
              <a:t>万元</a:t>
            </a:r>
          </a:p>
          <a:p>
            <a:pPr algn="just">
              <a:spcAft>
                <a:spcPts val="0"/>
              </a:spcAft>
              <a:defRPr/>
            </a:pPr>
            <a:r>
              <a:rPr lang="zh-CN" altLang="zh-CN" kern="100" dirty="0">
                <a:latin typeface="Calibri" panose="020F0502020204030204" pitchFamily="34" charset="0"/>
                <a:cs typeface="Times New Roman" panose="02020603050405020304" pitchFamily="18" charset="0"/>
              </a:rPr>
              <a:t>投资方式：第一项目投资</a:t>
            </a:r>
            <a:r>
              <a:rPr lang="en-US" altLang="zh-CN" kern="100" dirty="0">
                <a:latin typeface="Calibri" panose="020F0502020204030204" pitchFamily="34" charset="0"/>
                <a:cs typeface="Times New Roman" panose="02020603050405020304" pitchFamily="18" charset="0"/>
              </a:rPr>
              <a:t>0</a:t>
            </a:r>
            <a:r>
              <a:rPr lang="zh-CN" altLang="zh-CN" kern="100" dirty="0">
                <a:latin typeface="Calibri" panose="020F0502020204030204" pitchFamily="34" charset="0"/>
                <a:cs typeface="Times New Roman" panose="02020603050405020304" pitchFamily="18" charset="0"/>
              </a:rPr>
              <a:t>万元</a:t>
            </a:r>
          </a:p>
          <a:p>
            <a:pPr algn="just">
              <a:spcAft>
                <a:spcPts val="0"/>
              </a:spcAft>
              <a:defRPr/>
            </a:pP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第二项目投资</a:t>
            </a:r>
            <a:r>
              <a:rPr lang="en-US" altLang="zh-CN" kern="100" dirty="0">
                <a:latin typeface="Calibri" panose="020F0502020204030204" pitchFamily="34" charset="0"/>
                <a:cs typeface="Times New Roman" panose="02020603050405020304" pitchFamily="18" charset="0"/>
              </a:rPr>
              <a:t>0</a:t>
            </a:r>
            <a:r>
              <a:rPr lang="zh-CN" altLang="zh-CN" kern="100" dirty="0">
                <a:latin typeface="Calibri" panose="020F0502020204030204" pitchFamily="34" charset="0"/>
                <a:cs typeface="Times New Roman" panose="02020603050405020304" pitchFamily="18" charset="0"/>
              </a:rPr>
              <a:t>万元</a:t>
            </a:r>
          </a:p>
          <a:p>
            <a:pPr algn="just">
              <a:spcAft>
                <a:spcPts val="0"/>
              </a:spcAft>
              <a:defRPr/>
            </a:pP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第三项目投资</a:t>
            </a:r>
            <a:r>
              <a:rPr lang="en-US" altLang="zh-CN" kern="100" dirty="0">
                <a:latin typeface="Calibri" panose="020F0502020204030204" pitchFamily="34" charset="0"/>
                <a:cs typeface="Times New Roman" panose="02020603050405020304" pitchFamily="18" charset="0"/>
              </a:rPr>
              <a:t>10</a:t>
            </a:r>
            <a:r>
              <a:rPr lang="zh-CN" altLang="zh-CN" kern="100" dirty="0">
                <a:latin typeface="Calibri" panose="020F0502020204030204" pitchFamily="34" charset="0"/>
                <a:cs typeface="Times New Roman" panose="02020603050405020304" pitchFamily="18" charset="0"/>
              </a:rPr>
              <a:t>万元</a:t>
            </a:r>
          </a:p>
        </p:txBody>
      </p:sp>
      <p:sp>
        <p:nvSpPr>
          <p:cNvPr id="100357" name="矩形 3">
            <a:extLst>
              <a:ext uri="{FF2B5EF4-FFF2-40B4-BE49-F238E27FC236}">
                <a16:creationId xmlns:a16="http://schemas.microsoft.com/office/drawing/2014/main" id="{E307BCA3-6A62-4FD8-B21C-B1435EBD4060}"/>
              </a:ext>
            </a:extLst>
          </p:cNvPr>
          <p:cNvSpPr>
            <a:spLocks noChangeArrowheads="1"/>
          </p:cNvSpPr>
          <p:nvPr/>
        </p:nvSpPr>
        <p:spPr bwMode="auto">
          <a:xfrm>
            <a:off x="400050" y="1066800"/>
            <a:ext cx="323532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000">
                <a:solidFill>
                  <a:srgbClr val="0000FF"/>
                </a:solidFill>
                <a:latin typeface="Courier New" panose="02070309020205020404" pitchFamily="49" charset="0"/>
              </a:rPr>
              <a:t>sets</a:t>
            </a:r>
            <a:r>
              <a:rPr lang="en-US" altLang="zh-CN" sz="1000">
                <a:solidFill>
                  <a:srgbClr val="000000"/>
                </a:solidFill>
                <a:latin typeface="Courier New" panose="02070309020205020404" pitchFamily="49" charset="0"/>
              </a:rPr>
              <a:t>:</a:t>
            </a:r>
            <a:endParaRPr lang="zh-CN" altLang="en-US" sz="1000">
              <a:solidFill>
                <a:srgbClr val="000000"/>
              </a:solidFill>
              <a:latin typeface="Courier New" panose="02070309020205020404" pitchFamily="49" charset="0"/>
            </a:endParaRPr>
          </a:p>
          <a:p>
            <a:r>
              <a:rPr lang="zh-CN" altLang="en-US" sz="1000">
                <a:solidFill>
                  <a:srgbClr val="000000"/>
                </a:solidFill>
                <a:latin typeface="Courier New" panose="02070309020205020404" pitchFamily="49" charset="0"/>
              </a:rPr>
              <a:t>	</a:t>
            </a:r>
            <a:r>
              <a:rPr lang="en-US" altLang="zh-CN" sz="1000">
                <a:solidFill>
                  <a:srgbClr val="000000"/>
                </a:solidFill>
                <a:latin typeface="Courier New" panose="02070309020205020404" pitchFamily="49" charset="0"/>
              </a:rPr>
              <a:t>stage/1..3/:x,y;</a:t>
            </a:r>
            <a:endParaRPr lang="zh-CN" altLang="en-US" sz="1000">
              <a:solidFill>
                <a:srgbClr val="000000"/>
              </a:solidFill>
              <a:latin typeface="Courier New" panose="02070309020205020404" pitchFamily="49" charset="0"/>
            </a:endParaRPr>
          </a:p>
          <a:p>
            <a:r>
              <a:rPr lang="en-US" altLang="zh-CN" sz="1000">
                <a:solidFill>
                  <a:srgbClr val="0000FF"/>
                </a:solidFill>
                <a:latin typeface="Courier New" panose="02070309020205020404" pitchFamily="49" charset="0"/>
              </a:rPr>
              <a:t>endsets</a:t>
            </a:r>
            <a:endParaRPr lang="zh-CN" altLang="en-US" sz="1000">
              <a:solidFill>
                <a:srgbClr val="000000"/>
              </a:solidFill>
              <a:latin typeface="Courier New" panose="02070309020205020404" pitchFamily="49" charset="0"/>
            </a:endParaRPr>
          </a:p>
          <a:p>
            <a:endParaRPr lang="zh-CN" altLang="en-US" sz="1000">
              <a:solidFill>
                <a:srgbClr val="000000"/>
              </a:solidFill>
              <a:latin typeface="Courier New" panose="02070309020205020404" pitchFamily="49" charset="0"/>
            </a:endParaRPr>
          </a:p>
          <a:p>
            <a:r>
              <a:rPr lang="en-US" altLang="zh-CN" sz="1000">
                <a:solidFill>
                  <a:srgbClr val="0000FF"/>
                </a:solidFill>
                <a:latin typeface="Courier New" panose="02070309020205020404" pitchFamily="49" charset="0"/>
              </a:rPr>
              <a:t>data</a:t>
            </a:r>
            <a:r>
              <a:rPr lang="en-US" altLang="zh-CN" sz="1000">
                <a:solidFill>
                  <a:srgbClr val="000000"/>
                </a:solidFill>
                <a:latin typeface="Courier New" panose="02070309020205020404" pitchFamily="49" charset="0"/>
              </a:rPr>
              <a:t>:</a:t>
            </a:r>
            <a:endParaRPr lang="zh-CN" altLang="en-US" sz="1000">
              <a:solidFill>
                <a:srgbClr val="000000"/>
              </a:solidFill>
              <a:latin typeface="Courier New" panose="02070309020205020404" pitchFamily="49" charset="0"/>
            </a:endParaRPr>
          </a:p>
          <a:p>
            <a:r>
              <a:rPr lang="zh-CN" altLang="en-US" sz="1000">
                <a:solidFill>
                  <a:srgbClr val="000000"/>
                </a:solidFill>
                <a:latin typeface="Courier New" panose="02070309020205020404" pitchFamily="49" charset="0"/>
              </a:rPr>
              <a:t>	</a:t>
            </a:r>
            <a:r>
              <a:rPr lang="en-US" altLang="zh-CN" sz="1000">
                <a:solidFill>
                  <a:srgbClr val="000000"/>
                </a:solidFill>
                <a:latin typeface="Courier New" panose="02070309020205020404" pitchFamily="49" charset="0"/>
              </a:rPr>
              <a:t>c1 = 4;</a:t>
            </a:r>
            <a:endParaRPr lang="zh-CN" altLang="en-US" sz="1000">
              <a:solidFill>
                <a:srgbClr val="000000"/>
              </a:solidFill>
              <a:latin typeface="Courier New" panose="02070309020205020404" pitchFamily="49" charset="0"/>
            </a:endParaRPr>
          </a:p>
          <a:p>
            <a:r>
              <a:rPr lang="zh-CN" altLang="en-US" sz="1000">
                <a:solidFill>
                  <a:srgbClr val="000000"/>
                </a:solidFill>
                <a:latin typeface="Courier New" panose="02070309020205020404" pitchFamily="49" charset="0"/>
              </a:rPr>
              <a:t>	</a:t>
            </a:r>
            <a:r>
              <a:rPr lang="en-US" altLang="zh-CN" sz="1000">
                <a:solidFill>
                  <a:srgbClr val="000000"/>
                </a:solidFill>
                <a:latin typeface="Courier New" panose="02070309020205020404" pitchFamily="49" charset="0"/>
              </a:rPr>
              <a:t>c2 = 9;</a:t>
            </a:r>
            <a:endParaRPr lang="zh-CN" altLang="en-US" sz="1000">
              <a:solidFill>
                <a:srgbClr val="000000"/>
              </a:solidFill>
              <a:latin typeface="Courier New" panose="02070309020205020404" pitchFamily="49" charset="0"/>
            </a:endParaRPr>
          </a:p>
          <a:p>
            <a:r>
              <a:rPr lang="zh-CN" altLang="en-US" sz="1000">
                <a:solidFill>
                  <a:srgbClr val="000000"/>
                </a:solidFill>
                <a:latin typeface="Courier New" panose="02070309020205020404" pitchFamily="49" charset="0"/>
              </a:rPr>
              <a:t>	</a:t>
            </a:r>
            <a:r>
              <a:rPr lang="en-US" altLang="zh-CN" sz="1000">
                <a:solidFill>
                  <a:srgbClr val="000000"/>
                </a:solidFill>
                <a:latin typeface="Courier New" panose="02070309020205020404" pitchFamily="49" charset="0"/>
              </a:rPr>
              <a:t>c3 = 2;</a:t>
            </a:r>
            <a:endParaRPr lang="zh-CN" altLang="en-US" sz="1000">
              <a:solidFill>
                <a:srgbClr val="000000"/>
              </a:solidFill>
              <a:latin typeface="Courier New" panose="02070309020205020404" pitchFamily="49" charset="0"/>
            </a:endParaRPr>
          </a:p>
          <a:p>
            <a:r>
              <a:rPr lang="en-US" altLang="zh-CN" sz="1000">
                <a:solidFill>
                  <a:srgbClr val="0000FF"/>
                </a:solidFill>
                <a:latin typeface="Courier New" panose="02070309020205020404" pitchFamily="49" charset="0"/>
              </a:rPr>
              <a:t>enddata</a:t>
            </a:r>
            <a:endParaRPr lang="zh-CN" altLang="en-US" sz="1000">
              <a:solidFill>
                <a:srgbClr val="000000"/>
              </a:solidFill>
              <a:latin typeface="Courier New" panose="02070309020205020404" pitchFamily="49" charset="0"/>
            </a:endParaRPr>
          </a:p>
          <a:p>
            <a:endParaRPr lang="zh-CN" altLang="en-US" sz="1000">
              <a:solidFill>
                <a:srgbClr val="000000"/>
              </a:solidFill>
              <a:latin typeface="Courier New" panose="02070309020205020404" pitchFamily="49" charset="0"/>
            </a:endParaRPr>
          </a:p>
          <a:p>
            <a:r>
              <a:rPr lang="en-US" altLang="zh-CN" sz="1000">
                <a:solidFill>
                  <a:srgbClr val="0000FF"/>
                </a:solidFill>
                <a:latin typeface="Courier New" panose="02070309020205020404" pitchFamily="49" charset="0"/>
              </a:rPr>
              <a:t>max</a:t>
            </a:r>
            <a:r>
              <a:rPr lang="zh-CN" altLang="en-US" sz="1000">
                <a:solidFill>
                  <a:srgbClr val="000000"/>
                </a:solidFill>
                <a:latin typeface="Courier New" panose="02070309020205020404" pitchFamily="49" charset="0"/>
              </a:rPr>
              <a:t> </a:t>
            </a:r>
            <a:r>
              <a:rPr lang="en-US" altLang="zh-CN" sz="1000">
                <a:solidFill>
                  <a:srgbClr val="000000"/>
                </a:solidFill>
                <a:latin typeface="Courier New" panose="02070309020205020404" pitchFamily="49" charset="0"/>
              </a:rPr>
              <a:t>= c1*x(1)+c2*x(2)+c3*x(3)*x(3);</a:t>
            </a:r>
            <a:endParaRPr lang="zh-CN" altLang="en-US" sz="1000">
              <a:solidFill>
                <a:srgbClr val="000000"/>
              </a:solidFill>
              <a:latin typeface="Courier New" panose="02070309020205020404" pitchFamily="49" charset="0"/>
            </a:endParaRPr>
          </a:p>
          <a:p>
            <a:r>
              <a:rPr lang="en-US" altLang="zh-CN" sz="1000">
                <a:solidFill>
                  <a:srgbClr val="000000"/>
                </a:solidFill>
                <a:latin typeface="Courier New" panose="02070309020205020404" pitchFamily="49" charset="0"/>
              </a:rPr>
              <a:t>n = </a:t>
            </a:r>
            <a:r>
              <a:rPr lang="en-US" altLang="zh-CN" sz="1000">
                <a:solidFill>
                  <a:srgbClr val="0000FF"/>
                </a:solidFill>
                <a:latin typeface="Courier New" panose="02070309020205020404" pitchFamily="49" charset="0"/>
              </a:rPr>
              <a:t>@size</a:t>
            </a:r>
            <a:r>
              <a:rPr lang="en-US" altLang="zh-CN" sz="1000">
                <a:solidFill>
                  <a:srgbClr val="000000"/>
                </a:solidFill>
                <a:latin typeface="Courier New" panose="02070309020205020404" pitchFamily="49" charset="0"/>
              </a:rPr>
              <a:t>(stage);</a:t>
            </a:r>
            <a:endParaRPr lang="zh-CN" altLang="en-US" sz="1000">
              <a:solidFill>
                <a:srgbClr val="000000"/>
              </a:solidFill>
              <a:latin typeface="Courier New" panose="02070309020205020404" pitchFamily="49" charset="0"/>
            </a:endParaRPr>
          </a:p>
          <a:p>
            <a:r>
              <a:rPr lang="pt-BR" altLang="zh-CN" sz="1000">
                <a:solidFill>
                  <a:srgbClr val="0000FF"/>
                </a:solidFill>
                <a:latin typeface="Courier New" panose="02070309020205020404" pitchFamily="49" charset="0"/>
              </a:rPr>
              <a:t>@for</a:t>
            </a:r>
            <a:r>
              <a:rPr lang="pt-BR" altLang="zh-CN" sz="1000">
                <a:solidFill>
                  <a:srgbClr val="000000"/>
                </a:solidFill>
                <a:latin typeface="Courier New" panose="02070309020205020404" pitchFamily="49" charset="0"/>
              </a:rPr>
              <a:t>(stage(k)|k #lt# n:</a:t>
            </a:r>
            <a:endParaRPr lang="zh-CN" altLang="en-US" sz="1000">
              <a:solidFill>
                <a:srgbClr val="000000"/>
              </a:solidFill>
              <a:latin typeface="Courier New" panose="02070309020205020404" pitchFamily="49" charset="0"/>
            </a:endParaRPr>
          </a:p>
          <a:p>
            <a:r>
              <a:rPr lang="zh-CN" altLang="en-US" sz="1000">
                <a:solidFill>
                  <a:srgbClr val="000000"/>
                </a:solidFill>
                <a:latin typeface="Courier New" panose="02070309020205020404" pitchFamily="49" charset="0"/>
              </a:rPr>
              <a:t>	</a:t>
            </a:r>
            <a:r>
              <a:rPr lang="es-ES" altLang="zh-CN" sz="1000">
                <a:solidFill>
                  <a:srgbClr val="000000"/>
                </a:solidFill>
                <a:latin typeface="Courier New" panose="02070309020205020404" pitchFamily="49" charset="0"/>
              </a:rPr>
              <a:t>x(k+1)+y(k+1)&lt;=y(k));</a:t>
            </a:r>
            <a:endParaRPr lang="zh-CN" altLang="en-US" sz="1000">
              <a:solidFill>
                <a:srgbClr val="000000"/>
              </a:solidFill>
              <a:latin typeface="Courier New" panose="02070309020205020404" pitchFamily="49" charset="0"/>
            </a:endParaRPr>
          </a:p>
          <a:p>
            <a:r>
              <a:rPr lang="es-ES" altLang="zh-CN" sz="1000">
                <a:solidFill>
                  <a:srgbClr val="000000"/>
                </a:solidFill>
                <a:latin typeface="Courier New" panose="02070309020205020404" pitchFamily="49" charset="0"/>
              </a:rPr>
              <a:t>x(1)+y(1)&lt;=10;</a:t>
            </a:r>
            <a:endParaRPr lang="zh-CN" altLang="en-US" sz="1000">
              <a:solidFill>
                <a:srgbClr val="000000"/>
              </a:solidFill>
              <a:latin typeface="Courier New" panose="02070309020205020404" pitchFamily="49" charset="0"/>
            </a:endParaRPr>
          </a:p>
        </p:txBody>
      </p:sp>
      <p:sp>
        <p:nvSpPr>
          <p:cNvPr id="100358" name="矩形 8">
            <a:extLst>
              <a:ext uri="{FF2B5EF4-FFF2-40B4-BE49-F238E27FC236}">
                <a16:creationId xmlns:a16="http://schemas.microsoft.com/office/drawing/2014/main" id="{618EA5EA-E152-4F74-B7F1-DD53760EB44D}"/>
              </a:ext>
            </a:extLst>
          </p:cNvPr>
          <p:cNvSpPr>
            <a:spLocks noChangeArrowheads="1"/>
          </p:cNvSpPr>
          <p:nvPr/>
        </p:nvSpPr>
        <p:spPr bwMode="auto">
          <a:xfrm>
            <a:off x="5483225" y="1712913"/>
            <a:ext cx="1735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[3]</a:t>
            </a:r>
            <a:r>
              <a:rPr lang="zh-CN" altLang="en-US"/>
              <a:t>投资问题</a:t>
            </a:r>
            <a:r>
              <a:rPr lang="en-US" altLang="zh-CN"/>
              <a:t>.lg4</a:t>
            </a:r>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a:extLst>
              <a:ext uri="{FF2B5EF4-FFF2-40B4-BE49-F238E27FC236}">
                <a16:creationId xmlns:a16="http://schemas.microsoft.com/office/drawing/2014/main" id="{33758E10-2F8F-4D02-9CA1-6CF29583F27A}"/>
              </a:ext>
            </a:extLst>
          </p:cNvPr>
          <p:cNvSpPr>
            <a:spLocks noGrp="1" noChangeArrowheads="1"/>
          </p:cNvSpPr>
          <p:nvPr>
            <p:ph type="title"/>
          </p:nvPr>
        </p:nvSpPr>
        <p:spPr/>
        <p:txBody>
          <a:bodyPr/>
          <a:lstStyle/>
          <a:p>
            <a:r>
              <a:rPr lang="zh-CN" altLang="en-US"/>
              <a:t>资源分配问题</a:t>
            </a:r>
          </a:p>
        </p:txBody>
      </p:sp>
      <p:pic>
        <p:nvPicPr>
          <p:cNvPr id="101379" name="图片 6">
            <a:extLst>
              <a:ext uri="{FF2B5EF4-FFF2-40B4-BE49-F238E27FC236}">
                <a16:creationId xmlns:a16="http://schemas.microsoft.com/office/drawing/2014/main" id="{BFEAE122-A907-46F2-B723-9E58D70A7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484313"/>
            <a:ext cx="7777162"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273B0663-E860-42E8-B548-0FD58CBC3F0E}"/>
              </a:ext>
            </a:extLst>
          </p:cNvPr>
          <p:cNvSpPr>
            <a:spLocks noGrp="1" noChangeArrowheads="1"/>
          </p:cNvSpPr>
          <p:nvPr>
            <p:ph type="title"/>
          </p:nvPr>
        </p:nvSpPr>
        <p:spPr/>
        <p:txBody>
          <a:bodyPr/>
          <a:lstStyle/>
          <a:p>
            <a:r>
              <a:rPr lang="zh-CN" altLang="en-US"/>
              <a:t>资源分配问题</a:t>
            </a:r>
          </a:p>
        </p:txBody>
      </p:sp>
      <p:sp>
        <p:nvSpPr>
          <p:cNvPr id="5" name="矩形 4">
            <a:extLst>
              <a:ext uri="{FF2B5EF4-FFF2-40B4-BE49-F238E27FC236}">
                <a16:creationId xmlns:a16="http://schemas.microsoft.com/office/drawing/2014/main" id="{46E42587-A8DB-404D-B831-2A56296EE9DB}"/>
              </a:ext>
            </a:extLst>
          </p:cNvPr>
          <p:cNvSpPr/>
          <p:nvPr/>
        </p:nvSpPr>
        <p:spPr>
          <a:xfrm>
            <a:off x="250825" y="833438"/>
            <a:ext cx="4572000" cy="3170237"/>
          </a:xfrm>
          <a:prstGeom prst="rect">
            <a:avLst/>
          </a:prstGeom>
          <a:ln>
            <a:solidFill>
              <a:srgbClr val="FF00FF"/>
            </a:solidFill>
          </a:ln>
        </p:spPr>
        <p:txBody>
          <a:bodyPr>
            <a:spAutoFit/>
          </a:bodyPr>
          <a:lstStyle/>
          <a:p>
            <a:pPr>
              <a:spcAft>
                <a:spcPts val="0"/>
              </a:spcAft>
              <a:defRPr/>
            </a:pPr>
            <a:r>
              <a:rPr lang="en-US" altLang="zh-CN" sz="1000" kern="0" dirty="0">
                <a:solidFill>
                  <a:srgbClr val="0000FF"/>
                </a:solidFill>
                <a:latin typeface="Courier New" panose="02070309020205020404" pitchFamily="49" charset="0"/>
                <a:cs typeface="Times New Roman" panose="02020603050405020304" pitchFamily="18" charset="0"/>
              </a:rPr>
              <a:t>model</a:t>
            </a:r>
            <a:r>
              <a:rPr lang="en-US" altLang="zh-CN" sz="1000" kern="0" dirty="0">
                <a:solidFill>
                  <a:srgbClr val="000000"/>
                </a:solidFill>
                <a:latin typeface="Courier New" panose="02070309020205020404" pitchFamily="49" charset="0"/>
                <a:cs typeface="Times New Roman" panose="02020603050405020304" pitchFamily="18" charset="0"/>
              </a:rPr>
              <a:t>:</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cs typeface="Times New Roman" panose="02020603050405020304" pitchFamily="18" charset="0"/>
              </a:rPr>
              <a:t>sets</a:t>
            </a:r>
            <a:r>
              <a:rPr lang="en-US" altLang="zh-CN" sz="1000" kern="0" dirty="0">
                <a:solidFill>
                  <a:srgbClr val="000000"/>
                </a:solidFill>
                <a:latin typeface="Courier New" panose="02070309020205020404" pitchFamily="49" charset="0"/>
                <a:cs typeface="Times New Roman" panose="02020603050405020304" pitchFamily="18" charset="0"/>
              </a:rPr>
              <a:t>:</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user/1..3/;</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a:t>
            </a:r>
            <a:r>
              <a:rPr lang="en-US" altLang="zh-CN" sz="1000" kern="0" dirty="0" err="1">
                <a:solidFill>
                  <a:srgbClr val="000000"/>
                </a:solidFill>
                <a:latin typeface="Courier New" panose="02070309020205020404" pitchFamily="49" charset="0"/>
                <a:cs typeface="Times New Roman" panose="02020603050405020304" pitchFamily="18" charset="0"/>
              </a:rPr>
              <a:t>amout</a:t>
            </a:r>
            <a:r>
              <a:rPr lang="en-US" altLang="zh-CN" sz="1000" kern="0" dirty="0">
                <a:solidFill>
                  <a:srgbClr val="000000"/>
                </a:solidFill>
                <a:latin typeface="Courier New" panose="02070309020205020404" pitchFamily="49" charset="0"/>
                <a:cs typeface="Times New Roman" panose="02020603050405020304" pitchFamily="18" charset="0"/>
              </a:rPr>
              <a:t>/1..8/;</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arcs(</a:t>
            </a:r>
            <a:r>
              <a:rPr lang="en-US" altLang="zh-CN" sz="1000" kern="0" dirty="0" err="1">
                <a:solidFill>
                  <a:srgbClr val="000000"/>
                </a:solidFill>
                <a:latin typeface="Courier New" panose="02070309020205020404" pitchFamily="49" charset="0"/>
                <a:cs typeface="Times New Roman" panose="02020603050405020304" pitchFamily="18" charset="0"/>
              </a:rPr>
              <a:t>user,amout</a:t>
            </a:r>
            <a:r>
              <a:rPr lang="en-US" altLang="zh-CN" sz="1000" kern="0" dirty="0">
                <a:solidFill>
                  <a:srgbClr val="000000"/>
                </a:solidFill>
                <a:latin typeface="Courier New" panose="02070309020205020404" pitchFamily="49" charset="0"/>
                <a:cs typeface="Times New Roman" panose="02020603050405020304" pitchFamily="18" charset="0"/>
              </a:rPr>
              <a:t>):</a:t>
            </a:r>
            <a:r>
              <a:rPr lang="en-US" altLang="zh-CN" sz="1000" kern="0" dirty="0" err="1">
                <a:solidFill>
                  <a:srgbClr val="000000"/>
                </a:solidFill>
                <a:latin typeface="Courier New" panose="02070309020205020404" pitchFamily="49" charset="0"/>
                <a:cs typeface="Times New Roman" panose="02020603050405020304" pitchFamily="18" charset="0"/>
              </a:rPr>
              <a:t>benefit,status,selection</a:t>
            </a:r>
            <a:r>
              <a:rPr lang="en-US" altLang="zh-CN" sz="1000" kern="0" dirty="0">
                <a:solidFill>
                  <a:srgbClr val="000000"/>
                </a:solidFill>
                <a:latin typeface="Courier New" panose="02070309020205020404" pitchFamily="49" charset="0"/>
                <a:cs typeface="Times New Roman" panose="02020603050405020304" pitchFamily="18" charset="0"/>
              </a:rPr>
              <a:t>;</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err="1">
                <a:solidFill>
                  <a:srgbClr val="0000FF"/>
                </a:solidFill>
                <a:latin typeface="Courier New" panose="02070309020205020404" pitchFamily="49" charset="0"/>
                <a:cs typeface="Times New Roman" panose="02020603050405020304" pitchFamily="18" charset="0"/>
              </a:rPr>
              <a:t>endsets</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cs typeface="Times New Roman" panose="02020603050405020304" pitchFamily="18" charset="0"/>
              </a:rPr>
              <a:t>data</a:t>
            </a:r>
            <a:r>
              <a:rPr lang="en-US" altLang="zh-CN" sz="1000" kern="0" dirty="0">
                <a:solidFill>
                  <a:srgbClr val="000000"/>
                </a:solidFill>
                <a:latin typeface="Courier New" panose="02070309020205020404" pitchFamily="49" charset="0"/>
                <a:cs typeface="Times New Roman" panose="02020603050405020304" pitchFamily="18" charset="0"/>
              </a:rPr>
              <a:t>:</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benefit=0 5 15 40 80 90 95 100</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0 5 15 40 60 70 73 75</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0 4 26 40 45 50 51 53;</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status=0 1 2 3 4 5 6 7</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0 1 2 3 4 5 6 7</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0 1 2 3 4 5 6 7;</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err="1">
                <a:solidFill>
                  <a:srgbClr val="0000FF"/>
                </a:solidFill>
                <a:latin typeface="Courier New" panose="02070309020205020404" pitchFamily="49" charset="0"/>
                <a:cs typeface="Times New Roman" panose="02020603050405020304" pitchFamily="18" charset="0"/>
              </a:rPr>
              <a:t>enddata</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cs typeface="Times New Roman" panose="02020603050405020304" pitchFamily="18" charset="0"/>
              </a:rPr>
              <a:t>max</a:t>
            </a:r>
            <a:r>
              <a:rPr lang="en-US" altLang="zh-CN" sz="1000" kern="0" dirty="0">
                <a:solidFill>
                  <a:srgbClr val="000000"/>
                </a:solidFill>
                <a:latin typeface="Courier New" panose="02070309020205020404" pitchFamily="49" charset="0"/>
                <a:cs typeface="Times New Roman" panose="02020603050405020304" pitchFamily="18" charset="0"/>
              </a:rPr>
              <a:t>=</a:t>
            </a:r>
            <a:r>
              <a:rPr lang="en-US" altLang="zh-CN" sz="1000" kern="0" dirty="0">
                <a:solidFill>
                  <a:srgbClr val="0000FF"/>
                </a:solidFill>
                <a:latin typeface="Courier New" panose="02070309020205020404" pitchFamily="49" charset="0"/>
                <a:cs typeface="Times New Roman" panose="02020603050405020304" pitchFamily="18" charset="0"/>
              </a:rPr>
              <a:t>@sum</a:t>
            </a:r>
            <a:r>
              <a:rPr lang="en-US" altLang="zh-CN" sz="1000" kern="0" dirty="0">
                <a:solidFill>
                  <a:srgbClr val="000000"/>
                </a:solidFill>
                <a:latin typeface="Courier New" panose="02070309020205020404" pitchFamily="49" charset="0"/>
                <a:cs typeface="Times New Roman" panose="02020603050405020304" pitchFamily="18" charset="0"/>
              </a:rPr>
              <a:t>(arcs(</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):benefit(</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)*selection(</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a:t>
            </a:r>
            <a:r>
              <a:rPr lang="en-US" altLang="zh-CN" sz="1000" kern="0" dirty="0">
                <a:solidFill>
                  <a:srgbClr val="0000FF"/>
                </a:solidFill>
                <a:latin typeface="Courier New" panose="02070309020205020404" pitchFamily="49" charset="0"/>
                <a:cs typeface="Times New Roman" panose="02020603050405020304" pitchFamily="18" charset="0"/>
              </a:rPr>
              <a:t>@for</a:t>
            </a:r>
            <a:r>
              <a:rPr lang="en-US" altLang="zh-CN" sz="1000" kern="0" dirty="0">
                <a:solidFill>
                  <a:srgbClr val="000000"/>
                </a:solidFill>
                <a:latin typeface="Courier New" panose="02070309020205020404" pitchFamily="49" charset="0"/>
                <a:cs typeface="Times New Roman" panose="02020603050405020304" pitchFamily="18" charset="0"/>
              </a:rPr>
              <a:t>(arcs:</a:t>
            </a:r>
            <a:r>
              <a:rPr lang="en-US" altLang="zh-CN" sz="1000" kern="0" dirty="0">
                <a:solidFill>
                  <a:srgbClr val="0000FF"/>
                </a:solidFill>
                <a:latin typeface="Courier New" panose="02070309020205020404" pitchFamily="49" charset="0"/>
                <a:cs typeface="Times New Roman" panose="02020603050405020304" pitchFamily="18" charset="0"/>
              </a:rPr>
              <a:t>@bin</a:t>
            </a:r>
            <a:r>
              <a:rPr lang="en-US" altLang="zh-CN" sz="1000" kern="0" dirty="0">
                <a:solidFill>
                  <a:srgbClr val="000000"/>
                </a:solidFill>
                <a:latin typeface="Courier New" panose="02070309020205020404" pitchFamily="49" charset="0"/>
                <a:cs typeface="Times New Roman" panose="02020603050405020304" pitchFamily="18" charset="0"/>
              </a:rPr>
              <a:t>(selection));</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a:t>
            </a:r>
            <a:r>
              <a:rPr lang="en-US" altLang="zh-CN" sz="1000" kern="0" dirty="0">
                <a:solidFill>
                  <a:srgbClr val="0000FF"/>
                </a:solidFill>
                <a:latin typeface="Courier New" panose="02070309020205020404" pitchFamily="49" charset="0"/>
                <a:cs typeface="Times New Roman" panose="02020603050405020304" pitchFamily="18" charset="0"/>
              </a:rPr>
              <a:t>@for</a:t>
            </a:r>
            <a:r>
              <a:rPr lang="en-US" altLang="zh-CN" sz="1000" kern="0" dirty="0">
                <a:solidFill>
                  <a:srgbClr val="000000"/>
                </a:solidFill>
                <a:latin typeface="Courier New" panose="02070309020205020404" pitchFamily="49" charset="0"/>
                <a:cs typeface="Times New Roman" panose="02020603050405020304" pitchFamily="18" charset="0"/>
              </a:rPr>
              <a:t>(user(</a:t>
            </a:r>
            <a:r>
              <a:rPr lang="en-US" altLang="zh-CN" sz="1000" kern="0" dirty="0" err="1">
                <a:solidFill>
                  <a:srgbClr val="000000"/>
                </a:solidFill>
                <a:latin typeface="Courier New" panose="02070309020205020404" pitchFamily="49" charset="0"/>
                <a:cs typeface="Times New Roman" panose="02020603050405020304" pitchFamily="18" charset="0"/>
              </a:rPr>
              <a:t>i</a:t>
            </a:r>
            <a:r>
              <a:rPr lang="en-US" altLang="zh-CN" sz="1000" kern="0" dirty="0">
                <a:solidFill>
                  <a:srgbClr val="000000"/>
                </a:solidFill>
                <a:latin typeface="Courier New" panose="02070309020205020404" pitchFamily="49" charset="0"/>
                <a:cs typeface="Times New Roman" panose="02020603050405020304" pitchFamily="18" charset="0"/>
              </a:rPr>
              <a:t>):</a:t>
            </a:r>
            <a:r>
              <a:rPr lang="en-US" altLang="zh-CN" sz="1000" kern="0" dirty="0">
                <a:solidFill>
                  <a:srgbClr val="0000FF"/>
                </a:solidFill>
                <a:latin typeface="Courier New" panose="02070309020205020404" pitchFamily="49" charset="0"/>
                <a:cs typeface="Times New Roman" panose="02020603050405020304" pitchFamily="18" charset="0"/>
              </a:rPr>
              <a:t>@sum</a:t>
            </a:r>
            <a:r>
              <a:rPr lang="en-US" altLang="zh-CN" sz="1000" kern="0" dirty="0">
                <a:solidFill>
                  <a:srgbClr val="000000"/>
                </a:solidFill>
                <a:latin typeface="Courier New" panose="02070309020205020404" pitchFamily="49" charset="0"/>
                <a:cs typeface="Times New Roman" panose="02020603050405020304" pitchFamily="18" charset="0"/>
              </a:rPr>
              <a:t>(arcs(</a:t>
            </a:r>
            <a:r>
              <a:rPr lang="en-US" altLang="zh-CN" sz="1000" kern="0" dirty="0" err="1">
                <a:solidFill>
                  <a:srgbClr val="000000"/>
                </a:solidFill>
                <a:latin typeface="Courier New" panose="02070309020205020404" pitchFamily="49" charset="0"/>
                <a:cs typeface="Times New Roman" panose="02020603050405020304" pitchFamily="18" charset="0"/>
              </a:rPr>
              <a:t>i,k</a:t>
            </a:r>
            <a:r>
              <a:rPr lang="en-US" altLang="zh-CN" sz="1000" kern="0" dirty="0">
                <a:solidFill>
                  <a:srgbClr val="000000"/>
                </a:solidFill>
                <a:latin typeface="Courier New" panose="02070309020205020404" pitchFamily="49" charset="0"/>
                <a:cs typeface="Times New Roman" panose="02020603050405020304" pitchFamily="18" charset="0"/>
              </a:rPr>
              <a:t>):selection(</a:t>
            </a:r>
            <a:r>
              <a:rPr lang="en-US" altLang="zh-CN" sz="1000" kern="0" dirty="0" err="1">
                <a:solidFill>
                  <a:srgbClr val="000000"/>
                </a:solidFill>
                <a:latin typeface="Courier New" panose="02070309020205020404" pitchFamily="49" charset="0"/>
                <a:cs typeface="Times New Roman" panose="02020603050405020304" pitchFamily="18" charset="0"/>
              </a:rPr>
              <a:t>i,k</a:t>
            </a:r>
            <a:r>
              <a:rPr lang="en-US" altLang="zh-CN" sz="1000" kern="0" dirty="0">
                <a:solidFill>
                  <a:srgbClr val="000000"/>
                </a:solidFill>
                <a:latin typeface="Courier New" panose="02070309020205020404" pitchFamily="49" charset="0"/>
                <a:cs typeface="Times New Roman" panose="02020603050405020304" pitchFamily="18" charset="0"/>
              </a:rPr>
              <a:t>))=1);</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a:t>
            </a:r>
            <a:r>
              <a:rPr lang="en-US" altLang="zh-CN" sz="1000" kern="0" dirty="0">
                <a:solidFill>
                  <a:srgbClr val="0000FF"/>
                </a:solidFill>
                <a:latin typeface="Courier New" panose="02070309020205020404" pitchFamily="49" charset="0"/>
                <a:cs typeface="Times New Roman" panose="02020603050405020304" pitchFamily="18" charset="0"/>
              </a:rPr>
              <a:t>@sum</a:t>
            </a:r>
            <a:r>
              <a:rPr lang="en-US" altLang="zh-CN" sz="1000" kern="0" dirty="0">
                <a:solidFill>
                  <a:srgbClr val="000000"/>
                </a:solidFill>
                <a:latin typeface="Courier New" panose="02070309020205020404" pitchFamily="49" charset="0"/>
                <a:cs typeface="Times New Roman" panose="02020603050405020304" pitchFamily="18" charset="0"/>
              </a:rPr>
              <a:t>(arcs(</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):status(</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)*selection(</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))=7;</a:t>
            </a:r>
            <a:endParaRPr lang="zh-CN" altLang="zh-CN" sz="1050" kern="100" dirty="0">
              <a:latin typeface="Calibri" panose="020F0502020204030204" pitchFamily="34" charset="0"/>
              <a:cs typeface="Times New Roman" panose="02020603050405020304" pitchFamily="18" charset="0"/>
            </a:endParaRPr>
          </a:p>
          <a:p>
            <a:pPr>
              <a:defRPr/>
            </a:pPr>
            <a:r>
              <a:rPr lang="zh-CN" altLang="zh-CN" sz="1000" kern="0" dirty="0">
                <a:solidFill>
                  <a:srgbClr val="0000FF"/>
                </a:solidFill>
                <a:ea typeface="Courier New" panose="02070309020205020404" pitchFamily="49" charset="0"/>
              </a:rPr>
              <a:t>end</a:t>
            </a:r>
            <a:endParaRPr lang="zh-CN" altLang="en-US" dirty="0"/>
          </a:p>
        </p:txBody>
      </p:sp>
      <p:pic>
        <p:nvPicPr>
          <p:cNvPr id="102404" name="图片 9">
            <a:extLst>
              <a:ext uri="{FF2B5EF4-FFF2-40B4-BE49-F238E27FC236}">
                <a16:creationId xmlns:a16="http://schemas.microsoft.com/office/drawing/2014/main" id="{EF57252F-515C-487B-B3E2-C7D7185280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900" b="16827"/>
          <a:stretch>
            <a:fillRect/>
          </a:stretch>
        </p:blipFill>
        <p:spPr bwMode="auto">
          <a:xfrm>
            <a:off x="107950" y="4076700"/>
            <a:ext cx="3024188"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5" name="图片 10">
            <a:extLst>
              <a:ext uri="{FF2B5EF4-FFF2-40B4-BE49-F238E27FC236}">
                <a16:creationId xmlns:a16="http://schemas.microsoft.com/office/drawing/2014/main" id="{49140744-2EB1-428A-B6DB-7D9F9EE3D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434" r="51801" b="665"/>
          <a:stretch>
            <a:fillRect/>
          </a:stretch>
        </p:blipFill>
        <p:spPr bwMode="auto">
          <a:xfrm>
            <a:off x="4895850" y="1216025"/>
            <a:ext cx="3024188"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6" name="图片 11">
            <a:extLst>
              <a:ext uri="{FF2B5EF4-FFF2-40B4-BE49-F238E27FC236}">
                <a16:creationId xmlns:a16="http://schemas.microsoft.com/office/drawing/2014/main" id="{10023416-826E-4A3B-A854-99E5925D83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5445" t="1982" r="50423"/>
          <a:stretch>
            <a:fillRect/>
          </a:stretch>
        </p:blipFill>
        <p:spPr bwMode="auto">
          <a:xfrm>
            <a:off x="4903788" y="4365625"/>
            <a:ext cx="319722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a:extLst>
              <a:ext uri="{FF2B5EF4-FFF2-40B4-BE49-F238E27FC236}">
                <a16:creationId xmlns:a16="http://schemas.microsoft.com/office/drawing/2014/main" id="{7248A923-971A-4543-92CC-393A9727C81F}"/>
              </a:ext>
            </a:extLst>
          </p:cNvPr>
          <p:cNvSpPr>
            <a:spLocks noGrp="1" noChangeArrowheads="1"/>
          </p:cNvSpPr>
          <p:nvPr>
            <p:ph type="title"/>
          </p:nvPr>
        </p:nvSpPr>
        <p:spPr/>
        <p:txBody>
          <a:bodyPr/>
          <a:lstStyle/>
          <a:p>
            <a:r>
              <a:rPr lang="zh-CN" altLang="en-US"/>
              <a:t>资源分配问题</a:t>
            </a:r>
          </a:p>
        </p:txBody>
      </p:sp>
      <p:sp>
        <p:nvSpPr>
          <p:cNvPr id="4" name="矩形 3">
            <a:extLst>
              <a:ext uri="{FF2B5EF4-FFF2-40B4-BE49-F238E27FC236}">
                <a16:creationId xmlns:a16="http://schemas.microsoft.com/office/drawing/2014/main" id="{4CAF8683-39BF-4135-8AEB-D50355EEDA7C}"/>
              </a:ext>
            </a:extLst>
          </p:cNvPr>
          <p:cNvSpPr/>
          <p:nvPr/>
        </p:nvSpPr>
        <p:spPr>
          <a:xfrm>
            <a:off x="463550" y="1046163"/>
            <a:ext cx="8223250" cy="922337"/>
          </a:xfrm>
          <a:prstGeom prst="rect">
            <a:avLst/>
          </a:prstGeom>
        </p:spPr>
        <p:txBody>
          <a:bodyPr>
            <a:spAutoFit/>
          </a:bodyPr>
          <a:lstStyle/>
          <a:p>
            <a:pPr algn="just">
              <a:spcAft>
                <a:spcPts val="0"/>
              </a:spcAft>
              <a:defRPr/>
            </a:pPr>
            <a:r>
              <a:rPr lang="zh-CN" altLang="zh-CN" kern="100" dirty="0">
                <a:latin typeface="Calibri" panose="020F0502020204030204" pitchFamily="34" charset="0"/>
                <a:cs typeface="Times New Roman" panose="02020603050405020304" pitchFamily="18" charset="0"/>
              </a:rPr>
              <a:t>例：</a:t>
            </a: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某企业甲、乙、丙三个销售市场，其市场的利润与销售人员的分配有关，现有</a:t>
            </a:r>
            <a:r>
              <a:rPr lang="en-US" altLang="zh-CN" kern="100" dirty="0">
                <a:latin typeface="Calibri" panose="020F0502020204030204" pitchFamily="34" charset="0"/>
                <a:cs typeface="Times New Roman" panose="02020603050405020304" pitchFamily="18" charset="0"/>
              </a:rPr>
              <a:t>6</a:t>
            </a:r>
            <a:r>
              <a:rPr lang="zh-CN" altLang="zh-CN" kern="100" dirty="0">
                <a:latin typeface="Calibri" panose="020F0502020204030204" pitchFamily="34" charset="0"/>
                <a:cs typeface="Times New Roman" panose="02020603050405020304" pitchFamily="18" charset="0"/>
              </a:rPr>
              <a:t>个销售人员，分配到各市场所获得的利润如下表所示，试问该如何分配销售人员才能使总利润最大？</a:t>
            </a:r>
          </a:p>
        </p:txBody>
      </p:sp>
      <p:graphicFrame>
        <p:nvGraphicFramePr>
          <p:cNvPr id="5" name="表格 4">
            <a:extLst>
              <a:ext uri="{FF2B5EF4-FFF2-40B4-BE49-F238E27FC236}">
                <a16:creationId xmlns:a16="http://schemas.microsoft.com/office/drawing/2014/main" id="{C39D8A06-DC0B-4B20-9F05-D51F2B837797}"/>
              </a:ext>
            </a:extLst>
          </p:cNvPr>
          <p:cNvGraphicFramePr>
            <a:graphicFrameLocks noGrp="1"/>
          </p:cNvGraphicFramePr>
          <p:nvPr/>
        </p:nvGraphicFramePr>
        <p:xfrm>
          <a:off x="1187450" y="2219325"/>
          <a:ext cx="5268915" cy="1279528"/>
        </p:xfrm>
        <a:graphic>
          <a:graphicData uri="http://schemas.openxmlformats.org/drawingml/2006/table">
            <a:tbl>
              <a:tblPr firstRow="1" firstCol="1" bandRow="1"/>
              <a:tblGrid>
                <a:gridCol w="1053529">
                  <a:extLst>
                    <a:ext uri="{9D8B030D-6E8A-4147-A177-3AD203B41FA5}">
                      <a16:colId xmlns:a16="http://schemas.microsoft.com/office/drawing/2014/main" val="20000"/>
                    </a:ext>
                  </a:extLst>
                </a:gridCol>
                <a:gridCol w="1053529">
                  <a:extLst>
                    <a:ext uri="{9D8B030D-6E8A-4147-A177-3AD203B41FA5}">
                      <a16:colId xmlns:a16="http://schemas.microsoft.com/office/drawing/2014/main" val="20001"/>
                    </a:ext>
                  </a:extLst>
                </a:gridCol>
                <a:gridCol w="1053529">
                  <a:extLst>
                    <a:ext uri="{9D8B030D-6E8A-4147-A177-3AD203B41FA5}">
                      <a16:colId xmlns:a16="http://schemas.microsoft.com/office/drawing/2014/main" val="20002"/>
                    </a:ext>
                  </a:extLst>
                </a:gridCol>
                <a:gridCol w="1054164">
                  <a:extLst>
                    <a:ext uri="{9D8B030D-6E8A-4147-A177-3AD203B41FA5}">
                      <a16:colId xmlns:a16="http://schemas.microsoft.com/office/drawing/2014/main" val="20003"/>
                    </a:ext>
                  </a:extLst>
                </a:gridCol>
                <a:gridCol w="1054164">
                  <a:extLst>
                    <a:ext uri="{9D8B030D-6E8A-4147-A177-3AD203B41FA5}">
                      <a16:colId xmlns:a16="http://schemas.microsoft.com/office/drawing/2014/main" val="20004"/>
                    </a:ext>
                  </a:extLst>
                </a:gridCol>
              </a:tblGrid>
              <a:tr h="159941">
                <a:tc gridSpan="2">
                  <a:txBody>
                    <a:bodyPr/>
                    <a:lstStyle/>
                    <a:p>
                      <a:pPr indent="800100" algn="just">
                        <a:spcAft>
                          <a:spcPts val="0"/>
                        </a:spcAft>
                      </a:pPr>
                      <a:r>
                        <a:rPr lang="zh-CN" sz="1000" kern="100">
                          <a:effectLst/>
                          <a:latin typeface="Calibri" panose="020F0502020204030204" pitchFamily="34" charset="0"/>
                          <a:ea typeface="宋体" panose="02010600030101010101" pitchFamily="2" charset="-122"/>
                          <a:cs typeface="Times New Roman" panose="02020603050405020304" pitchFamily="18" charset="0"/>
                        </a:rPr>
                        <a:t>市场</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just">
                        <a:spcAft>
                          <a:spcPts val="0"/>
                        </a:spcAft>
                      </a:pPr>
                      <a:r>
                        <a:rPr lang="zh-CN" sz="1000" kern="100">
                          <a:effectLst/>
                          <a:latin typeface="Calibri" panose="020F0502020204030204" pitchFamily="34" charset="0"/>
                          <a:ea typeface="宋体" panose="02010600030101010101" pitchFamily="2" charset="-122"/>
                          <a:cs typeface="Times New Roman" panose="02020603050405020304" pitchFamily="18" charset="0"/>
                        </a:rPr>
                        <a:t>甲</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00" kern="100">
                          <a:effectLst/>
                          <a:latin typeface="Calibri" panose="020F0502020204030204" pitchFamily="34" charset="0"/>
                          <a:ea typeface="宋体" panose="02010600030101010101" pitchFamily="2" charset="-122"/>
                          <a:cs typeface="Times New Roman" panose="02020603050405020304" pitchFamily="18" charset="0"/>
                        </a:rPr>
                        <a:t>乙</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00" kern="100">
                          <a:effectLst/>
                          <a:latin typeface="Calibri" panose="020F0502020204030204" pitchFamily="34" charset="0"/>
                          <a:ea typeface="宋体" panose="02010600030101010101" pitchFamily="2" charset="-122"/>
                          <a:cs typeface="Times New Roman" panose="02020603050405020304" pitchFamily="18" charset="0"/>
                        </a:rPr>
                        <a:t>丙</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59941">
                <a:tc rowSpan="7">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 </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zh-CN" sz="1000" kern="100">
                          <a:effectLst/>
                          <a:latin typeface="Calibri" panose="020F0502020204030204" pitchFamily="34" charset="0"/>
                          <a:ea typeface="宋体" panose="02010600030101010101" pitchFamily="2" charset="-122"/>
                          <a:cs typeface="Times New Roman" panose="02020603050405020304" pitchFamily="18" charset="0"/>
                        </a:rPr>
                        <a:t>人数</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9941">
                <a:tc vMerge="1">
                  <a:txBody>
                    <a:bodyPr/>
                    <a:lstStyle/>
                    <a:p>
                      <a:endParaRPr lang="zh-CN" altLang="en-US"/>
                    </a:p>
                  </a:txBody>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60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65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75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9941">
                <a:tc vMerge="1">
                  <a:txBody>
                    <a:bodyPr/>
                    <a:lstStyle/>
                    <a:p>
                      <a:endParaRPr lang="zh-CN" altLang="en-US"/>
                    </a:p>
                  </a:txBody>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2</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80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85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100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59941">
                <a:tc vMerge="1">
                  <a:txBody>
                    <a:bodyPr/>
                    <a:lstStyle/>
                    <a:p>
                      <a:endParaRPr lang="zh-CN" altLang="en-US"/>
                    </a:p>
                  </a:txBody>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3</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105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110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120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59941">
                <a:tc vMerge="1">
                  <a:txBody>
                    <a:bodyPr/>
                    <a:lstStyle/>
                    <a:p>
                      <a:endParaRPr lang="zh-CN" altLang="en-US"/>
                    </a:p>
                  </a:txBody>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4</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115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140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135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59941">
                <a:tc vMerge="1">
                  <a:txBody>
                    <a:bodyPr/>
                    <a:lstStyle/>
                    <a:p>
                      <a:endParaRPr lang="zh-CN" altLang="en-US"/>
                    </a:p>
                  </a:txBody>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130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160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150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59941">
                <a:tc vMerge="1">
                  <a:txBody>
                    <a:bodyPr/>
                    <a:lstStyle/>
                    <a:p>
                      <a:endParaRPr lang="zh-CN" altLang="en-US"/>
                    </a:p>
                  </a:txBody>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6</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150</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a:effectLst/>
                          <a:latin typeface="Calibri" panose="020F0502020204030204" pitchFamily="34" charset="0"/>
                          <a:ea typeface="宋体" panose="02010600030101010101" pitchFamily="2" charset="-122"/>
                          <a:cs typeface="Times New Roman" panose="02020603050405020304" pitchFamily="18" charset="0"/>
                        </a:rPr>
                        <a:t>175</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00" kern="100" dirty="0">
                          <a:effectLst/>
                          <a:latin typeface="Calibri" panose="020F0502020204030204" pitchFamily="34" charset="0"/>
                          <a:ea typeface="宋体" panose="02010600030101010101" pitchFamily="2" charset="-122"/>
                          <a:cs typeface="Times New Roman" panose="02020603050405020304" pitchFamily="18" charset="0"/>
                        </a:rPr>
                        <a:t>180</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36DAF6F2-3030-46C9-BED8-4BB3EBD8B05D}"/>
              </a:ext>
            </a:extLst>
          </p:cNvPr>
          <p:cNvSpPr>
            <a:spLocks noGrp="1" noChangeArrowheads="1"/>
          </p:cNvSpPr>
          <p:nvPr>
            <p:ph type="title"/>
          </p:nvPr>
        </p:nvSpPr>
        <p:spPr/>
        <p:txBody>
          <a:bodyPr/>
          <a:lstStyle/>
          <a:p>
            <a:r>
              <a:rPr lang="zh-CN" altLang="en-US"/>
              <a:t>资源分配问题</a:t>
            </a:r>
          </a:p>
        </p:txBody>
      </p:sp>
      <p:sp>
        <p:nvSpPr>
          <p:cNvPr id="3" name="矩形 2">
            <a:extLst>
              <a:ext uri="{FF2B5EF4-FFF2-40B4-BE49-F238E27FC236}">
                <a16:creationId xmlns:a16="http://schemas.microsoft.com/office/drawing/2014/main" id="{CED7642E-813A-4D2E-93DA-87ADA45DBD2D}"/>
              </a:ext>
            </a:extLst>
          </p:cNvPr>
          <p:cNvSpPr/>
          <p:nvPr/>
        </p:nvSpPr>
        <p:spPr>
          <a:xfrm>
            <a:off x="250825" y="1268413"/>
            <a:ext cx="2305050" cy="3694112"/>
          </a:xfrm>
          <a:prstGeom prst="rect">
            <a:avLst/>
          </a:prstGeom>
        </p:spPr>
        <p:txBody>
          <a:bodyPr>
            <a:spAutoFit/>
          </a:bodyPr>
          <a:lstStyle/>
          <a:p>
            <a:pPr algn="just">
              <a:spcAft>
                <a:spcPts val="0"/>
              </a:spcAft>
              <a:defRPr/>
            </a:pPr>
            <a:r>
              <a:rPr lang="en-US" altLang="zh-CN" sz="1200" kern="100" dirty="0">
                <a:latin typeface="Calibri" panose="020F0502020204030204" pitchFamily="34" charset="0"/>
                <a:cs typeface="Times New Roman" panose="02020603050405020304" pitchFamily="18" charset="0"/>
              </a:rPr>
              <a:t>m=1;</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A=[0 60 80 105 115 130 150];</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B=[0 65 85 110 140 160 175];</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C=[0 75 100 120 135 150 180];</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for </a:t>
            </a:r>
            <a:r>
              <a:rPr lang="en-US" altLang="zh-CN" sz="1200" kern="100" dirty="0" err="1">
                <a:latin typeface="Calibri" panose="020F0502020204030204" pitchFamily="34" charset="0"/>
                <a:cs typeface="Times New Roman" panose="02020603050405020304" pitchFamily="18" charset="0"/>
              </a:rPr>
              <a:t>i</a:t>
            </a:r>
            <a:r>
              <a:rPr lang="en-US" altLang="zh-CN" sz="1200" kern="100" dirty="0">
                <a:latin typeface="Calibri" panose="020F0502020204030204" pitchFamily="34" charset="0"/>
                <a:cs typeface="Times New Roman" panose="02020603050405020304" pitchFamily="18" charset="0"/>
              </a:rPr>
              <a:t> = 1:7</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for j = 1:7</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for k = 1:7</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if </a:t>
            </a:r>
            <a:r>
              <a:rPr lang="en-US" altLang="zh-CN" sz="1200" kern="100" dirty="0" err="1">
                <a:latin typeface="Calibri" panose="020F0502020204030204" pitchFamily="34" charset="0"/>
                <a:cs typeface="Times New Roman" panose="02020603050405020304" pitchFamily="18" charset="0"/>
              </a:rPr>
              <a:t>i+j+k</a:t>
            </a:r>
            <a:r>
              <a:rPr lang="en-US" altLang="zh-CN" sz="1200" kern="100" dirty="0">
                <a:latin typeface="Calibri" panose="020F0502020204030204" pitchFamily="34" charset="0"/>
                <a:cs typeface="Times New Roman" panose="02020603050405020304" pitchFamily="18" charset="0"/>
              </a:rPr>
              <a:t>==9</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d(m)=A(</a:t>
            </a:r>
            <a:r>
              <a:rPr lang="en-US" altLang="zh-CN" sz="1200" kern="100" dirty="0" err="1">
                <a:latin typeface="Calibri" panose="020F0502020204030204" pitchFamily="34" charset="0"/>
                <a:cs typeface="Times New Roman" panose="02020603050405020304" pitchFamily="18" charset="0"/>
              </a:rPr>
              <a:t>i</a:t>
            </a:r>
            <a:r>
              <a:rPr lang="en-US" altLang="zh-CN" sz="1200" kern="100" dirty="0">
                <a:latin typeface="Calibri" panose="020F0502020204030204" pitchFamily="34" charset="0"/>
                <a:cs typeface="Times New Roman" panose="02020603050405020304" pitchFamily="18" charset="0"/>
              </a:rPr>
              <a:t>)+B(J)+C(K);</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E(m,1)=</a:t>
            </a:r>
            <a:r>
              <a:rPr lang="en-US" altLang="zh-CN" sz="1200" kern="100" dirty="0" err="1">
                <a:latin typeface="Calibri" panose="020F0502020204030204" pitchFamily="34" charset="0"/>
                <a:cs typeface="Times New Roman" panose="02020603050405020304" pitchFamily="18" charset="0"/>
              </a:rPr>
              <a:t>i</a:t>
            </a:r>
            <a:r>
              <a:rPr lang="en-US" altLang="zh-CN" sz="1200" kern="100" dirty="0">
                <a:latin typeface="Calibri" panose="020F0502020204030204" pitchFamily="34" charset="0"/>
                <a:cs typeface="Times New Roman" panose="02020603050405020304" pitchFamily="18" charset="0"/>
              </a:rPr>
              <a:t>;</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E(m,2)=j;</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E(m,3)=k;  </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M=m+1;</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Calibri" panose="020F0502020204030204" pitchFamily="34" charset="0"/>
                <a:cs typeface="Times New Roman" panose="02020603050405020304" pitchFamily="18" charset="0"/>
              </a:rPr>
              <a:t>                </a:t>
            </a:r>
            <a:r>
              <a:rPr lang="en-US" altLang="zh-CN" sz="1200" kern="100" dirty="0">
                <a:latin typeface="Calibri" panose="020F0502020204030204" pitchFamily="34" charset="0"/>
                <a:cs typeface="Times New Roman" panose="02020603050405020304" pitchFamily="18" charset="0"/>
              </a:rPr>
              <a:t>else</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continue;</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end</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end</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end</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end</a:t>
            </a:r>
            <a:endParaRPr lang="zh-CN" altLang="zh-CN" sz="1200" kern="100" dirty="0">
              <a:latin typeface="Calibri" panose="020F0502020204030204" pitchFamily="34" charset="0"/>
              <a:cs typeface="Times New Roman" panose="02020603050405020304" pitchFamily="18" charset="0"/>
            </a:endParaRPr>
          </a:p>
        </p:txBody>
      </p:sp>
      <p:sp>
        <p:nvSpPr>
          <p:cNvPr id="6" name="矩形 5">
            <a:extLst>
              <a:ext uri="{FF2B5EF4-FFF2-40B4-BE49-F238E27FC236}">
                <a16:creationId xmlns:a16="http://schemas.microsoft.com/office/drawing/2014/main" id="{5E517A78-57AF-473C-9992-DCF62EC53DBE}"/>
              </a:ext>
            </a:extLst>
          </p:cNvPr>
          <p:cNvSpPr/>
          <p:nvPr/>
        </p:nvSpPr>
        <p:spPr>
          <a:xfrm>
            <a:off x="2987675" y="1341438"/>
            <a:ext cx="1893888" cy="3230562"/>
          </a:xfrm>
          <a:prstGeom prst="rect">
            <a:avLst/>
          </a:prstGeom>
        </p:spPr>
        <p:txBody>
          <a:bodyPr>
            <a:spAutoFit/>
          </a:bodyPr>
          <a:lstStyle/>
          <a:p>
            <a:pPr algn="just">
              <a:spcAft>
                <a:spcPts val="0"/>
              </a:spcAft>
              <a:defRPr/>
            </a:pPr>
            <a:r>
              <a:rPr lang="en-US" altLang="zh-CN" sz="1200" kern="100" dirty="0" err="1">
                <a:latin typeface="Calibri" panose="020F0502020204030204" pitchFamily="34" charset="0"/>
                <a:cs typeface="Times New Roman" panose="02020603050405020304" pitchFamily="18" charset="0"/>
              </a:rPr>
              <a:t>MAXNum</a:t>
            </a:r>
            <a:r>
              <a:rPr lang="en-US" altLang="zh-CN" sz="1200" kern="100" dirty="0">
                <a:latin typeface="Calibri" panose="020F0502020204030204" pitchFamily="34" charset="0"/>
                <a:cs typeface="Times New Roman" panose="02020603050405020304" pitchFamily="18" charset="0"/>
              </a:rPr>
              <a:t>=d(l);</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for l=</a:t>
            </a:r>
            <a:r>
              <a:rPr lang="en-US" altLang="zh-CN" sz="1200" kern="100" dirty="0" err="1">
                <a:latin typeface="Calibri" panose="020F0502020204030204" pitchFamily="34" charset="0"/>
                <a:cs typeface="Times New Roman" panose="02020603050405020304" pitchFamily="18" charset="0"/>
              </a:rPr>
              <a:t>l:size</a:t>
            </a:r>
            <a:r>
              <a:rPr lang="en-US" altLang="zh-CN" sz="1200" kern="100" dirty="0">
                <a:latin typeface="Calibri" panose="020F0502020204030204" pitchFamily="34" charset="0"/>
                <a:cs typeface="Times New Roman" panose="02020603050405020304" pitchFamily="18" charset="0"/>
              </a:rPr>
              <a:t>(d,2)</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if d(l)&gt;</a:t>
            </a:r>
            <a:r>
              <a:rPr lang="en-US" altLang="zh-CN" sz="1200" kern="100" dirty="0" err="1">
                <a:latin typeface="Calibri" panose="020F0502020204030204" pitchFamily="34" charset="0"/>
                <a:cs typeface="Times New Roman" panose="02020603050405020304" pitchFamily="18" charset="0"/>
              </a:rPr>
              <a:t>MAXNum</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a:t>
            </a:r>
            <a:r>
              <a:rPr lang="en-US" altLang="zh-CN" sz="1200" kern="100" dirty="0" err="1">
                <a:latin typeface="Calibri" panose="020F0502020204030204" pitchFamily="34" charset="0"/>
                <a:cs typeface="Times New Roman" panose="02020603050405020304" pitchFamily="18" charset="0"/>
              </a:rPr>
              <a:t>MAXNum</a:t>
            </a:r>
            <a:r>
              <a:rPr lang="en-US" altLang="zh-CN" sz="1200" kern="100" dirty="0">
                <a:latin typeface="Calibri" panose="020F0502020204030204" pitchFamily="34" charset="0"/>
                <a:cs typeface="Times New Roman" panose="02020603050405020304" pitchFamily="18" charset="0"/>
              </a:rPr>
              <a:t>=d(l);</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P=1;</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else</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continue;</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end</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end</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for l=</a:t>
            </a:r>
            <a:r>
              <a:rPr lang="en-US" altLang="zh-CN" sz="1200" kern="100" dirty="0" err="1">
                <a:latin typeface="Calibri" panose="020F0502020204030204" pitchFamily="34" charset="0"/>
                <a:cs typeface="Times New Roman" panose="02020603050405020304" pitchFamily="18" charset="0"/>
              </a:rPr>
              <a:t>l:size</a:t>
            </a:r>
            <a:r>
              <a:rPr lang="en-US" altLang="zh-CN" sz="1200" kern="100" dirty="0">
                <a:latin typeface="Calibri" panose="020F0502020204030204" pitchFamily="34" charset="0"/>
                <a:cs typeface="Times New Roman" panose="02020603050405020304" pitchFamily="18" charset="0"/>
              </a:rPr>
              <a:t>(d,2)</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if d(l)=</a:t>
            </a:r>
            <a:r>
              <a:rPr lang="en-US" altLang="zh-CN" sz="1200" kern="100" dirty="0" err="1">
                <a:latin typeface="Calibri" panose="020F0502020204030204" pitchFamily="34" charset="0"/>
                <a:cs typeface="Times New Roman" panose="02020603050405020304" pitchFamily="18" charset="0"/>
              </a:rPr>
              <a:t>MAXNum</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E(l,:)</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else</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continue;</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end</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en-US" altLang="zh-CN" sz="1200" kern="100" dirty="0">
                <a:latin typeface="Calibri" panose="020F0502020204030204" pitchFamily="34" charset="0"/>
                <a:cs typeface="Times New Roman" panose="02020603050405020304" pitchFamily="18" charset="0"/>
              </a:rPr>
              <a:t> end</a:t>
            </a:r>
            <a:endParaRPr lang="zh-CN" altLang="zh-CN" sz="1200" kern="100" dirty="0">
              <a:latin typeface="Calibri" panose="020F0502020204030204" pitchFamily="34" charset="0"/>
              <a:cs typeface="Times New Roman" panose="02020603050405020304" pitchFamily="18" charset="0"/>
            </a:endParaRPr>
          </a:p>
          <a:p>
            <a:pPr>
              <a:defRPr/>
            </a:pPr>
            <a:r>
              <a:rPr lang="en-US" altLang="zh-CN" sz="1200" dirty="0" err="1">
                <a:latin typeface="Calibri" panose="020F0502020204030204" pitchFamily="34" charset="0"/>
                <a:cs typeface="Times New Roman" panose="02020603050405020304" pitchFamily="18" charset="0"/>
              </a:rPr>
              <a:t>MAXNum</a:t>
            </a:r>
            <a:endParaRPr lang="zh-CN" altLang="en-US" sz="1200" dirty="0"/>
          </a:p>
        </p:txBody>
      </p:sp>
      <p:sp>
        <p:nvSpPr>
          <p:cNvPr id="7" name="矩形 6">
            <a:extLst>
              <a:ext uri="{FF2B5EF4-FFF2-40B4-BE49-F238E27FC236}">
                <a16:creationId xmlns:a16="http://schemas.microsoft.com/office/drawing/2014/main" id="{DBDE7001-288A-4DF3-8D23-D03FE3C7E4D1}"/>
              </a:ext>
            </a:extLst>
          </p:cNvPr>
          <p:cNvSpPr/>
          <p:nvPr/>
        </p:nvSpPr>
        <p:spPr>
          <a:xfrm>
            <a:off x="4427538" y="4365625"/>
            <a:ext cx="4572000" cy="2030413"/>
          </a:xfrm>
          <a:prstGeom prst="rect">
            <a:avLst/>
          </a:prstGeom>
        </p:spPr>
        <p:txBody>
          <a:bodyPr>
            <a:spAutoFit/>
          </a:bodyPr>
          <a:lstStyle/>
          <a:p>
            <a:pPr algn="just">
              <a:spcAft>
                <a:spcPts val="0"/>
              </a:spcAft>
              <a:defRPr/>
            </a:pPr>
            <a:r>
              <a:rPr lang="zh-CN" altLang="zh-CN" kern="100" dirty="0">
                <a:latin typeface="Calibri" panose="020F0502020204030204" pitchFamily="34" charset="0"/>
                <a:cs typeface="Times New Roman" panose="02020603050405020304" pitchFamily="18" charset="0"/>
              </a:rPr>
              <a:t>按回车键，得出计算结果：</a:t>
            </a:r>
          </a:p>
          <a:p>
            <a:pPr algn="just">
              <a:spcAft>
                <a:spcPts val="0"/>
              </a:spcAft>
              <a:defRPr/>
            </a:pPr>
            <a:r>
              <a:rPr lang="en-US" altLang="zh-CN" kern="100" dirty="0" err="1">
                <a:latin typeface="Calibri" panose="020F0502020204030204" pitchFamily="34" charset="0"/>
                <a:cs typeface="Times New Roman" panose="02020603050405020304" pitchFamily="18" charset="0"/>
              </a:rPr>
              <a:t>ans</a:t>
            </a:r>
            <a:r>
              <a:rPr lang="en-US" altLang="zh-CN" kern="100" dirty="0">
                <a:latin typeface="Calibri" panose="020F0502020204030204" pitchFamily="34" charset="0"/>
                <a:cs typeface="Times New Roman" panose="02020603050405020304" pitchFamily="18" charset="0"/>
              </a:rPr>
              <a:t> =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Calibri" panose="020F0502020204030204" pitchFamily="34" charset="0"/>
                <a:cs typeface="Times New Roman" panose="02020603050405020304" pitchFamily="18" charset="0"/>
              </a:rPr>
              <a:t>       2      5      2</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err="1">
                <a:latin typeface="Calibri" panose="020F0502020204030204" pitchFamily="34" charset="0"/>
                <a:cs typeface="Times New Roman" panose="02020603050405020304" pitchFamily="18" charset="0"/>
              </a:rPr>
              <a:t>MAXNum</a:t>
            </a:r>
            <a:r>
              <a:rPr lang="en-US" altLang="zh-CN" kern="100" dirty="0">
                <a:latin typeface="Calibri" panose="020F0502020204030204" pitchFamily="34" charset="0"/>
                <a:cs typeface="Times New Roman" panose="02020603050405020304" pitchFamily="18" charset="0"/>
              </a:rPr>
              <a:t> =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Calibri" panose="020F0502020204030204" pitchFamily="34" charset="0"/>
                <a:cs typeface="Times New Roman" panose="02020603050405020304" pitchFamily="18" charset="0"/>
              </a:rPr>
              <a:t>      275</a:t>
            </a:r>
            <a:endParaRPr lang="zh-CN" altLang="zh-CN" kern="100" dirty="0">
              <a:latin typeface="Calibri" panose="020F0502020204030204" pitchFamily="34" charset="0"/>
              <a:cs typeface="Times New Roman" panose="02020603050405020304" pitchFamily="18" charset="0"/>
            </a:endParaRPr>
          </a:p>
          <a:p>
            <a:pPr>
              <a:defRPr/>
            </a:pPr>
            <a:r>
              <a:rPr lang="zh-CN" altLang="zh-CN" dirty="0">
                <a:latin typeface="Calibri" panose="020F0502020204030204" pitchFamily="34" charset="0"/>
                <a:cs typeface="Times New Roman" panose="02020603050405020304" pitchFamily="18" charset="0"/>
              </a:rPr>
              <a:t>可以很容易得到最大利润为</a:t>
            </a:r>
            <a:r>
              <a:rPr lang="en-US" altLang="zh-CN" dirty="0">
                <a:latin typeface="Calibri" panose="020F0502020204030204" pitchFamily="34" charset="0"/>
                <a:cs typeface="Times New Roman" panose="02020603050405020304" pitchFamily="18" charset="0"/>
              </a:rPr>
              <a:t>275</a:t>
            </a:r>
            <a:r>
              <a:rPr lang="zh-CN" altLang="zh-CN" dirty="0">
                <a:latin typeface="Calibri" panose="020F0502020204030204" pitchFamily="34" charset="0"/>
                <a:cs typeface="Times New Roman" panose="02020603050405020304" pitchFamily="18" charset="0"/>
              </a:rPr>
              <a:t>，最优分配方案为：（</a:t>
            </a:r>
            <a:r>
              <a:rPr lang="en-US" altLang="zh-CN" dirty="0">
                <a:latin typeface="Calibri" panose="020F0502020204030204" pitchFamily="34" charset="0"/>
                <a:cs typeface="Times New Roman" panose="02020603050405020304" pitchFamily="18" charset="0"/>
              </a:rPr>
              <a:t>1,4,1</a:t>
            </a:r>
            <a:r>
              <a:rPr lang="zh-CN" altLang="zh-CN" dirty="0">
                <a:latin typeface="Calibri" panose="020F0502020204030204" pitchFamily="34" charset="0"/>
                <a:cs typeface="Times New Roman" panose="02020603050405020304" pitchFamily="18" charset="0"/>
              </a:rPr>
              <a:t>）</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a:extLst>
              <a:ext uri="{FF2B5EF4-FFF2-40B4-BE49-F238E27FC236}">
                <a16:creationId xmlns:a16="http://schemas.microsoft.com/office/drawing/2014/main" id="{F0A1215D-886D-4DE8-8EB1-64085E0FBC06}"/>
              </a:ext>
            </a:extLst>
          </p:cNvPr>
          <p:cNvSpPr>
            <a:spLocks noGrp="1" noChangeArrowheads="1"/>
          </p:cNvSpPr>
          <p:nvPr>
            <p:ph type="title"/>
          </p:nvPr>
        </p:nvSpPr>
        <p:spPr/>
        <p:txBody>
          <a:bodyPr/>
          <a:lstStyle/>
          <a:p>
            <a:r>
              <a:rPr lang="zh-CN" altLang="en-US"/>
              <a:t>最短路问题</a:t>
            </a:r>
          </a:p>
        </p:txBody>
      </p:sp>
      <p:sp>
        <p:nvSpPr>
          <p:cNvPr id="3" name="矩形 2">
            <a:extLst>
              <a:ext uri="{FF2B5EF4-FFF2-40B4-BE49-F238E27FC236}">
                <a16:creationId xmlns:a16="http://schemas.microsoft.com/office/drawing/2014/main" id="{3C9C7399-1A0C-408F-8287-86EDB1DBDDCB}"/>
              </a:ext>
            </a:extLst>
          </p:cNvPr>
          <p:cNvSpPr/>
          <p:nvPr/>
        </p:nvSpPr>
        <p:spPr>
          <a:xfrm>
            <a:off x="457200" y="1066800"/>
            <a:ext cx="8353425" cy="646113"/>
          </a:xfrm>
          <a:prstGeom prst="rect">
            <a:avLst/>
          </a:prstGeom>
        </p:spPr>
        <p:txBody>
          <a:bodyPr>
            <a:spAutoFit/>
          </a:bodyPr>
          <a:lstStyle/>
          <a:p>
            <a:pPr algn="just">
              <a:spcAft>
                <a:spcPts val="0"/>
              </a:spcAft>
              <a:defRPr/>
            </a:pPr>
            <a:r>
              <a:rPr lang="zh-CN" altLang="zh-CN" kern="100" dirty="0">
                <a:latin typeface="Calibri" panose="020F0502020204030204" pitchFamily="34" charset="0"/>
                <a:cs typeface="Times New Roman" panose="02020603050405020304" pitchFamily="18" charset="0"/>
              </a:rPr>
              <a:t>例：如图，给定一个线路网络，两点之间连线上的数字表示两点间的距离（或费用），试求一条由</a:t>
            </a:r>
            <a:r>
              <a:rPr lang="en-US" altLang="zh-CN" kern="100" dirty="0">
                <a:latin typeface="Calibri" panose="020F0502020204030204" pitchFamily="34" charset="0"/>
                <a:cs typeface="Times New Roman" panose="02020603050405020304" pitchFamily="18" charset="0"/>
              </a:rPr>
              <a:t>A</a:t>
            </a:r>
            <a:r>
              <a:rPr lang="zh-CN" altLang="zh-CN" kern="100" dirty="0">
                <a:latin typeface="Calibri" panose="020F0502020204030204" pitchFamily="34" charset="0"/>
                <a:cs typeface="Times New Roman" panose="02020603050405020304" pitchFamily="18" charset="0"/>
              </a:rPr>
              <a:t>到</a:t>
            </a:r>
            <a:r>
              <a:rPr lang="en-US" altLang="zh-CN" kern="100" dirty="0">
                <a:latin typeface="Calibri" panose="020F0502020204030204" pitchFamily="34" charset="0"/>
                <a:cs typeface="Times New Roman" panose="02020603050405020304" pitchFamily="18" charset="0"/>
              </a:rPr>
              <a:t>G</a:t>
            </a:r>
            <a:r>
              <a:rPr lang="zh-CN" altLang="zh-CN" kern="100" dirty="0">
                <a:latin typeface="Calibri" panose="020F0502020204030204" pitchFamily="34" charset="0"/>
                <a:cs typeface="Times New Roman" panose="02020603050405020304" pitchFamily="18" charset="0"/>
              </a:rPr>
              <a:t>的铺管线路，使总距离为最短（总费用最小）。</a:t>
            </a:r>
          </a:p>
        </p:txBody>
      </p:sp>
      <p:pic>
        <p:nvPicPr>
          <p:cNvPr id="105476" name="图片 4">
            <a:extLst>
              <a:ext uri="{FF2B5EF4-FFF2-40B4-BE49-F238E27FC236}">
                <a16:creationId xmlns:a16="http://schemas.microsoft.com/office/drawing/2014/main" id="{62D0691A-6673-4CEE-9671-146854906F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730375"/>
            <a:ext cx="757555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a:extLst>
              <a:ext uri="{FF2B5EF4-FFF2-40B4-BE49-F238E27FC236}">
                <a16:creationId xmlns:a16="http://schemas.microsoft.com/office/drawing/2014/main" id="{E1D4488E-2B2F-4ADF-AA7E-B5233AEC5C8A}"/>
              </a:ext>
            </a:extLst>
          </p:cNvPr>
          <p:cNvSpPr>
            <a:spLocks noGrp="1" noChangeArrowheads="1"/>
          </p:cNvSpPr>
          <p:nvPr>
            <p:ph type="title"/>
          </p:nvPr>
        </p:nvSpPr>
        <p:spPr/>
        <p:txBody>
          <a:bodyPr/>
          <a:lstStyle/>
          <a:p>
            <a:r>
              <a:rPr lang="zh-CN" altLang="en-US"/>
              <a:t>最短路问题</a:t>
            </a:r>
          </a:p>
        </p:txBody>
      </p:sp>
      <p:sp>
        <p:nvSpPr>
          <p:cNvPr id="4" name="矩形 3">
            <a:extLst>
              <a:ext uri="{FF2B5EF4-FFF2-40B4-BE49-F238E27FC236}">
                <a16:creationId xmlns:a16="http://schemas.microsoft.com/office/drawing/2014/main" id="{F029DE06-A401-4907-86F4-73152D299EF4}"/>
              </a:ext>
            </a:extLst>
          </p:cNvPr>
          <p:cNvSpPr/>
          <p:nvPr/>
        </p:nvSpPr>
        <p:spPr>
          <a:xfrm>
            <a:off x="457200" y="836613"/>
            <a:ext cx="4572000" cy="2862262"/>
          </a:xfrm>
          <a:prstGeom prst="rect">
            <a:avLst/>
          </a:prstGeom>
        </p:spPr>
        <p:txBody>
          <a:bodyPr>
            <a:spAutoFit/>
          </a:bodyPr>
          <a:lstStyle/>
          <a:p>
            <a:pPr>
              <a:spcAft>
                <a:spcPts val="0"/>
              </a:spcAft>
              <a:defRPr/>
            </a:pPr>
            <a:r>
              <a:rPr lang="en-US" altLang="zh-CN" sz="1000" kern="0" dirty="0">
                <a:solidFill>
                  <a:srgbClr val="0000FF"/>
                </a:solidFill>
                <a:latin typeface="Courier New" panose="02070309020205020404" pitchFamily="49" charset="0"/>
                <a:cs typeface="Times New Roman" panose="02020603050405020304" pitchFamily="18" charset="0"/>
              </a:rPr>
              <a:t>model</a:t>
            </a:r>
            <a:r>
              <a:rPr lang="en-US" altLang="zh-CN" sz="1000" kern="0" dirty="0">
                <a:solidFill>
                  <a:srgbClr val="000000"/>
                </a:solidFill>
                <a:latin typeface="Courier New" panose="02070309020205020404" pitchFamily="49" charset="0"/>
                <a:cs typeface="Times New Roman" panose="02020603050405020304" pitchFamily="18" charset="0"/>
              </a:rPr>
              <a:t>:</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cs typeface="Times New Roman" panose="02020603050405020304" pitchFamily="18" charset="0"/>
              </a:rPr>
              <a:t>sets</a:t>
            </a:r>
            <a:r>
              <a:rPr lang="en-US" altLang="zh-CN" sz="1000" kern="0" dirty="0">
                <a:solidFill>
                  <a:srgbClr val="000000"/>
                </a:solidFill>
                <a:latin typeface="Courier New" panose="02070309020205020404" pitchFamily="49" charset="0"/>
                <a:cs typeface="Times New Roman" panose="02020603050405020304" pitchFamily="18" charset="0"/>
              </a:rPr>
              <a:t>:</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node/A,B1,B2,C1,C2,C3,C4,D1,D2,D3,E1,E2,E3,F1,F2,G/:f;</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line(</a:t>
            </a:r>
            <a:r>
              <a:rPr lang="en-US" altLang="zh-CN" sz="1000" kern="0" dirty="0" err="1">
                <a:solidFill>
                  <a:srgbClr val="000000"/>
                </a:solidFill>
                <a:latin typeface="Courier New" panose="02070309020205020404" pitchFamily="49" charset="0"/>
                <a:cs typeface="Times New Roman" panose="02020603050405020304" pitchFamily="18" charset="0"/>
              </a:rPr>
              <a:t>node,node</a:t>
            </a:r>
            <a:r>
              <a:rPr lang="en-US" altLang="zh-CN" sz="1000" kern="0" dirty="0">
                <a:solidFill>
                  <a:srgbClr val="000000"/>
                </a:solidFill>
                <a:latin typeface="Courier New" panose="02070309020205020404" pitchFamily="49" charset="0"/>
                <a:cs typeface="Times New Roman" panose="02020603050405020304" pitchFamily="18" charset="0"/>
              </a:rPr>
              <a:t>)/A,B1 A,B2 B1,C1 B1,C2 B1,C3 B2,C2 B2,C3 B2,C4 C1,D1 C1,D2 </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C2,D1 C2,D2 C3,D2 C3,D3 C4,D2 C4,D3 D1,E1 D1,E2 D2,E2 D2,E3 D3,E2 D3,E3</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E1,F1 E1,F2 E2,F1 E2,F2 E3,F1 E3,F2 F1,G F2,G/: </a:t>
            </a:r>
            <a:r>
              <a:rPr lang="en-US" altLang="zh-CN" sz="1000" kern="0" dirty="0" err="1">
                <a:solidFill>
                  <a:srgbClr val="000000"/>
                </a:solidFill>
                <a:latin typeface="Courier New" panose="02070309020205020404" pitchFamily="49" charset="0"/>
                <a:cs typeface="Times New Roman" panose="02020603050405020304" pitchFamily="18" charset="0"/>
              </a:rPr>
              <a:t>d,p</a:t>
            </a:r>
            <a:r>
              <a:rPr lang="en-US" altLang="zh-CN" sz="1000" kern="0" dirty="0">
                <a:solidFill>
                  <a:srgbClr val="000000"/>
                </a:solidFill>
                <a:latin typeface="Courier New" panose="02070309020205020404" pitchFamily="49" charset="0"/>
                <a:cs typeface="Times New Roman" panose="02020603050405020304" pitchFamily="18" charset="0"/>
              </a:rPr>
              <a:t>;</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err="1">
                <a:solidFill>
                  <a:srgbClr val="0000FF"/>
                </a:solidFill>
                <a:latin typeface="Courier New" panose="02070309020205020404" pitchFamily="49" charset="0"/>
                <a:cs typeface="Times New Roman" panose="02020603050405020304" pitchFamily="18" charset="0"/>
              </a:rPr>
              <a:t>endsets</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cs typeface="Times New Roman" panose="02020603050405020304" pitchFamily="18" charset="0"/>
              </a:rPr>
              <a:t>data</a:t>
            </a:r>
            <a:r>
              <a:rPr lang="en-US" altLang="zh-CN" sz="1000" kern="0" dirty="0">
                <a:solidFill>
                  <a:srgbClr val="000000"/>
                </a:solidFill>
                <a:latin typeface="Courier New" panose="02070309020205020404" pitchFamily="49" charset="0"/>
                <a:cs typeface="Times New Roman" panose="02020603050405020304" pitchFamily="18" charset="0"/>
              </a:rPr>
              <a:t>:</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  d = 5 3 1 3 6 8 7 6 6 8 3 5 3 3 8 4 2 2 1 2 3 3 3 5 5 2 6 6 4 3;</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err="1">
                <a:solidFill>
                  <a:srgbClr val="0000FF"/>
                </a:solidFill>
                <a:latin typeface="Courier New" panose="02070309020205020404" pitchFamily="49" charset="0"/>
                <a:cs typeface="Times New Roman" panose="02020603050405020304" pitchFamily="18" charset="0"/>
              </a:rPr>
              <a:t>enddata</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00"/>
                </a:solidFill>
                <a:latin typeface="Courier New" panose="02070309020205020404" pitchFamily="49" charset="0"/>
                <a:cs typeface="Times New Roman" panose="02020603050405020304" pitchFamily="18" charset="0"/>
              </a:rPr>
              <a:t>f(</a:t>
            </a:r>
            <a:r>
              <a:rPr lang="en-US" altLang="zh-CN" sz="1000" kern="0" dirty="0">
                <a:solidFill>
                  <a:srgbClr val="0000FF"/>
                </a:solidFill>
                <a:latin typeface="Courier New" panose="02070309020205020404" pitchFamily="49" charset="0"/>
                <a:cs typeface="Times New Roman" panose="02020603050405020304" pitchFamily="18" charset="0"/>
              </a:rPr>
              <a:t>@size</a:t>
            </a:r>
            <a:r>
              <a:rPr lang="en-US" altLang="zh-CN" sz="1000" kern="0" dirty="0">
                <a:solidFill>
                  <a:srgbClr val="000000"/>
                </a:solidFill>
                <a:latin typeface="Courier New" panose="02070309020205020404" pitchFamily="49" charset="0"/>
                <a:cs typeface="Times New Roman" panose="02020603050405020304" pitchFamily="18" charset="0"/>
              </a:rPr>
              <a:t>(node)) = 0;</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cs typeface="Times New Roman" panose="02020603050405020304" pitchFamily="18" charset="0"/>
              </a:rPr>
              <a:t>@for</a:t>
            </a:r>
            <a:r>
              <a:rPr lang="en-US" altLang="zh-CN" sz="1000" kern="0" dirty="0">
                <a:solidFill>
                  <a:srgbClr val="000000"/>
                </a:solidFill>
                <a:latin typeface="Courier New" panose="02070309020205020404" pitchFamily="49" charset="0"/>
                <a:cs typeface="Times New Roman" panose="02020603050405020304" pitchFamily="18" charset="0"/>
              </a:rPr>
              <a:t> (node(</a:t>
            </a:r>
            <a:r>
              <a:rPr lang="en-US" altLang="zh-CN" sz="1000" kern="0" dirty="0" err="1">
                <a:solidFill>
                  <a:srgbClr val="000000"/>
                </a:solidFill>
                <a:latin typeface="Courier New" panose="02070309020205020404" pitchFamily="49" charset="0"/>
                <a:cs typeface="Times New Roman" panose="02020603050405020304" pitchFamily="18" charset="0"/>
              </a:rPr>
              <a:t>i</a:t>
            </a:r>
            <a:r>
              <a:rPr lang="en-US" altLang="zh-CN" sz="1000" kern="0" dirty="0">
                <a:solidFill>
                  <a:srgbClr val="000000"/>
                </a:solidFill>
                <a:latin typeface="Courier New" panose="02070309020205020404" pitchFamily="49" charset="0"/>
                <a:cs typeface="Times New Roman" panose="02020603050405020304" pitchFamily="18" charset="0"/>
              </a:rPr>
              <a:t>) | </a:t>
            </a:r>
            <a:r>
              <a:rPr lang="en-US" altLang="zh-CN" sz="1000" kern="0" dirty="0" err="1">
                <a:solidFill>
                  <a:srgbClr val="000000"/>
                </a:solidFill>
                <a:latin typeface="Courier New" panose="02070309020205020404" pitchFamily="49" charset="0"/>
                <a:cs typeface="Times New Roman" panose="02020603050405020304" pitchFamily="18" charset="0"/>
              </a:rPr>
              <a:t>i#lt</a:t>
            </a:r>
            <a:r>
              <a:rPr lang="en-US" altLang="zh-CN" sz="1000" kern="0" dirty="0">
                <a:solidFill>
                  <a:srgbClr val="000000"/>
                </a:solidFill>
                <a:latin typeface="Courier New" panose="02070309020205020404" pitchFamily="49" charset="0"/>
                <a:cs typeface="Times New Roman" panose="02020603050405020304" pitchFamily="18" charset="0"/>
              </a:rPr>
              <a:t># </a:t>
            </a:r>
            <a:r>
              <a:rPr lang="en-US" altLang="zh-CN" sz="1000" kern="0" dirty="0">
                <a:solidFill>
                  <a:srgbClr val="0000FF"/>
                </a:solidFill>
                <a:latin typeface="Courier New" panose="02070309020205020404" pitchFamily="49" charset="0"/>
                <a:cs typeface="Times New Roman" panose="02020603050405020304" pitchFamily="18" charset="0"/>
              </a:rPr>
              <a:t>@size</a:t>
            </a:r>
            <a:r>
              <a:rPr lang="en-US" altLang="zh-CN" sz="1000" kern="0" dirty="0">
                <a:solidFill>
                  <a:srgbClr val="000000"/>
                </a:solidFill>
                <a:latin typeface="Courier New" panose="02070309020205020404" pitchFamily="49" charset="0"/>
                <a:cs typeface="Times New Roman" panose="02020603050405020304" pitchFamily="18" charset="0"/>
              </a:rPr>
              <a:t>(node):f(</a:t>
            </a:r>
            <a:r>
              <a:rPr lang="en-US" altLang="zh-CN" sz="1000" kern="0" dirty="0" err="1">
                <a:solidFill>
                  <a:srgbClr val="000000"/>
                </a:solidFill>
                <a:latin typeface="Courier New" panose="02070309020205020404" pitchFamily="49" charset="0"/>
                <a:cs typeface="Times New Roman" panose="02020603050405020304" pitchFamily="18" charset="0"/>
              </a:rPr>
              <a:t>i</a:t>
            </a:r>
            <a:r>
              <a:rPr lang="en-US" altLang="zh-CN" sz="1000" kern="0" dirty="0">
                <a:solidFill>
                  <a:srgbClr val="000000"/>
                </a:solidFill>
                <a:latin typeface="Courier New" panose="02070309020205020404" pitchFamily="49" charset="0"/>
                <a:cs typeface="Times New Roman" panose="02020603050405020304" pitchFamily="18" charset="0"/>
              </a:rPr>
              <a:t>) = </a:t>
            </a:r>
            <a:r>
              <a:rPr lang="en-US" altLang="zh-CN" sz="1000" kern="0" dirty="0">
                <a:solidFill>
                  <a:srgbClr val="0000FF"/>
                </a:solidFill>
                <a:latin typeface="Courier New" panose="02070309020205020404" pitchFamily="49" charset="0"/>
                <a:cs typeface="Times New Roman" panose="02020603050405020304" pitchFamily="18" charset="0"/>
              </a:rPr>
              <a:t>@min</a:t>
            </a:r>
            <a:r>
              <a:rPr lang="en-US" altLang="zh-CN" sz="1000" kern="0" dirty="0">
                <a:solidFill>
                  <a:srgbClr val="000000"/>
                </a:solidFill>
                <a:latin typeface="Courier New" panose="02070309020205020404" pitchFamily="49" charset="0"/>
                <a:cs typeface="Times New Roman" panose="02020603050405020304" pitchFamily="18" charset="0"/>
              </a:rPr>
              <a:t>(line(</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):d(</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 + f(j)));</a:t>
            </a:r>
            <a:endParaRPr lang="zh-CN" altLang="zh-CN" sz="1050" kern="100" dirty="0">
              <a:latin typeface="Calibri" panose="020F0502020204030204" pitchFamily="34" charset="0"/>
              <a:cs typeface="Times New Roman" panose="02020603050405020304" pitchFamily="18" charset="0"/>
            </a:endParaRPr>
          </a:p>
          <a:p>
            <a:pPr>
              <a:spcAft>
                <a:spcPts val="0"/>
              </a:spcAft>
              <a:defRPr/>
            </a:pPr>
            <a:r>
              <a:rPr lang="en-US" altLang="zh-CN" sz="1000" kern="0" dirty="0">
                <a:solidFill>
                  <a:srgbClr val="0000FF"/>
                </a:solidFill>
                <a:latin typeface="Courier New" panose="02070309020205020404" pitchFamily="49" charset="0"/>
                <a:cs typeface="Times New Roman" panose="02020603050405020304" pitchFamily="18" charset="0"/>
              </a:rPr>
              <a:t>@for</a:t>
            </a:r>
            <a:r>
              <a:rPr lang="en-US" altLang="zh-CN" sz="1000" kern="0" dirty="0">
                <a:solidFill>
                  <a:srgbClr val="000000"/>
                </a:solidFill>
                <a:latin typeface="Courier New" panose="02070309020205020404" pitchFamily="49" charset="0"/>
                <a:cs typeface="Times New Roman" panose="02020603050405020304" pitchFamily="18" charset="0"/>
              </a:rPr>
              <a:t> (line(</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):p(</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 = </a:t>
            </a:r>
            <a:r>
              <a:rPr lang="en-US" altLang="zh-CN" sz="1000" kern="0" dirty="0">
                <a:solidFill>
                  <a:srgbClr val="0000FF"/>
                </a:solidFill>
                <a:latin typeface="Courier New" panose="02070309020205020404" pitchFamily="49" charset="0"/>
                <a:cs typeface="Times New Roman" panose="02020603050405020304" pitchFamily="18" charset="0"/>
              </a:rPr>
              <a:t>@if</a:t>
            </a:r>
            <a:r>
              <a:rPr lang="en-US" altLang="zh-CN" sz="1000" kern="0" dirty="0">
                <a:solidFill>
                  <a:srgbClr val="000000"/>
                </a:solidFill>
                <a:latin typeface="Courier New" panose="02070309020205020404" pitchFamily="49" charset="0"/>
                <a:cs typeface="Times New Roman" panose="02020603050405020304" pitchFamily="18" charset="0"/>
              </a:rPr>
              <a:t>(f(</a:t>
            </a:r>
            <a:r>
              <a:rPr lang="en-US" altLang="zh-CN" sz="1000" kern="0" dirty="0" err="1">
                <a:solidFill>
                  <a:srgbClr val="000000"/>
                </a:solidFill>
                <a:latin typeface="Courier New" panose="02070309020205020404" pitchFamily="49" charset="0"/>
                <a:cs typeface="Times New Roman" panose="02020603050405020304" pitchFamily="18" charset="0"/>
              </a:rPr>
              <a:t>i</a:t>
            </a:r>
            <a:r>
              <a:rPr lang="en-US" altLang="zh-CN" sz="1000" kern="0" dirty="0">
                <a:solidFill>
                  <a:srgbClr val="000000"/>
                </a:solidFill>
                <a:latin typeface="Courier New" panose="02070309020205020404" pitchFamily="49" charset="0"/>
                <a:cs typeface="Times New Roman" panose="02020603050405020304" pitchFamily="18" charset="0"/>
              </a:rPr>
              <a:t>) #</a:t>
            </a:r>
            <a:r>
              <a:rPr lang="en-US" altLang="zh-CN" sz="1000" kern="0" dirty="0" err="1">
                <a:solidFill>
                  <a:srgbClr val="000000"/>
                </a:solidFill>
                <a:latin typeface="Courier New" panose="02070309020205020404" pitchFamily="49" charset="0"/>
                <a:cs typeface="Times New Roman" panose="02020603050405020304" pitchFamily="18" charset="0"/>
              </a:rPr>
              <a:t>eq</a:t>
            </a:r>
            <a:r>
              <a:rPr lang="en-US" altLang="zh-CN" sz="1000" kern="0" dirty="0">
                <a:solidFill>
                  <a:srgbClr val="000000"/>
                </a:solidFill>
                <a:latin typeface="Courier New" panose="02070309020205020404" pitchFamily="49" charset="0"/>
                <a:cs typeface="Times New Roman" panose="02020603050405020304" pitchFamily="18" charset="0"/>
              </a:rPr>
              <a:t># d(</a:t>
            </a:r>
            <a:r>
              <a:rPr lang="en-US" altLang="zh-CN" sz="1000" kern="0" dirty="0" err="1">
                <a:solidFill>
                  <a:srgbClr val="000000"/>
                </a:solidFill>
                <a:latin typeface="Courier New" panose="02070309020205020404" pitchFamily="49" charset="0"/>
                <a:cs typeface="Times New Roman" panose="02020603050405020304" pitchFamily="18" charset="0"/>
              </a:rPr>
              <a:t>i,j</a:t>
            </a:r>
            <a:r>
              <a:rPr lang="en-US" altLang="zh-CN" sz="1000" kern="0" dirty="0">
                <a:solidFill>
                  <a:srgbClr val="000000"/>
                </a:solidFill>
                <a:latin typeface="Courier New" panose="02070309020205020404" pitchFamily="49" charset="0"/>
                <a:cs typeface="Times New Roman" panose="02020603050405020304" pitchFamily="18" charset="0"/>
              </a:rPr>
              <a:t>)+f(j),1,0));</a:t>
            </a:r>
            <a:endParaRPr lang="zh-CN" altLang="zh-CN" sz="1050" kern="100" dirty="0">
              <a:latin typeface="Calibri" panose="020F0502020204030204" pitchFamily="34" charset="0"/>
              <a:cs typeface="Times New Roman" panose="02020603050405020304" pitchFamily="18" charset="0"/>
            </a:endParaRPr>
          </a:p>
          <a:p>
            <a:pPr algn="just">
              <a:spcAft>
                <a:spcPts val="0"/>
              </a:spcAft>
              <a:defRPr/>
            </a:pPr>
            <a:r>
              <a:rPr lang="zh-CN" altLang="zh-CN" sz="1000" kern="0" dirty="0">
                <a:solidFill>
                  <a:srgbClr val="0000FF"/>
                </a:solidFill>
                <a:latin typeface="Calibri" panose="020F0502020204030204" pitchFamily="34" charset="0"/>
                <a:ea typeface="Courier New" panose="02070309020205020404" pitchFamily="49" charset="0"/>
                <a:cs typeface="Times New Roman" panose="02020603050405020304" pitchFamily="18" charset="0"/>
              </a:rPr>
              <a:t>end</a:t>
            </a:r>
            <a:endParaRPr lang="zh-CN" altLang="zh-CN" sz="1050" kern="100" dirty="0">
              <a:latin typeface="Calibri" panose="020F0502020204030204" pitchFamily="34" charset="0"/>
              <a:cs typeface="Times New Roman" panose="02020603050405020304" pitchFamily="18" charset="0"/>
            </a:endParaRPr>
          </a:p>
        </p:txBody>
      </p:sp>
      <p:pic>
        <p:nvPicPr>
          <p:cNvPr id="106500" name="图片 5">
            <a:extLst>
              <a:ext uri="{FF2B5EF4-FFF2-40B4-BE49-F238E27FC236}">
                <a16:creationId xmlns:a16="http://schemas.microsoft.com/office/drawing/2014/main" id="{626F940E-EDF5-4438-BFCC-40FF31E7B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087" r="24156"/>
          <a:stretch>
            <a:fillRect/>
          </a:stretch>
        </p:blipFill>
        <p:spPr bwMode="auto">
          <a:xfrm>
            <a:off x="1116013" y="3492500"/>
            <a:ext cx="1871662"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1" name="图片 6">
            <a:extLst>
              <a:ext uri="{FF2B5EF4-FFF2-40B4-BE49-F238E27FC236}">
                <a16:creationId xmlns:a16="http://schemas.microsoft.com/office/drawing/2014/main" id="{2B3992B8-C59E-4121-8686-EE34E9950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952500"/>
            <a:ext cx="2879725" cy="572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a:extLst>
              <a:ext uri="{FF2B5EF4-FFF2-40B4-BE49-F238E27FC236}">
                <a16:creationId xmlns:a16="http://schemas.microsoft.com/office/drawing/2014/main" id="{C26803D7-2E23-4BA0-9E55-3A268DED3BBC}"/>
              </a:ext>
            </a:extLst>
          </p:cNvPr>
          <p:cNvSpPr>
            <a:spLocks noGrp="1" noChangeArrowheads="1"/>
          </p:cNvSpPr>
          <p:nvPr>
            <p:ph type="title"/>
          </p:nvPr>
        </p:nvSpPr>
        <p:spPr/>
        <p:txBody>
          <a:bodyPr/>
          <a:lstStyle/>
          <a:p>
            <a:r>
              <a:rPr lang="zh-CN" altLang="en-US"/>
              <a:t>最短路问题</a:t>
            </a:r>
          </a:p>
        </p:txBody>
      </p:sp>
      <p:pic>
        <p:nvPicPr>
          <p:cNvPr id="107523" name="图片 3">
            <a:extLst>
              <a:ext uri="{FF2B5EF4-FFF2-40B4-BE49-F238E27FC236}">
                <a16:creationId xmlns:a16="http://schemas.microsoft.com/office/drawing/2014/main" id="{E7269948-D541-4FA3-823E-91D72364C2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557338"/>
            <a:ext cx="7308850" cy="351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2F893B4A-2D56-4A97-9BD5-A37BCEDD7615}"/>
              </a:ext>
            </a:extLst>
          </p:cNvPr>
          <p:cNvSpPr>
            <a:spLocks noGrp="1" noChangeArrowheads="1"/>
          </p:cNvSpPr>
          <p:nvPr>
            <p:ph type="title"/>
          </p:nvPr>
        </p:nvSpPr>
        <p:spPr/>
        <p:txBody>
          <a:bodyPr/>
          <a:lstStyle/>
          <a:p>
            <a:r>
              <a:rPr lang="zh-CN" altLang="en-US"/>
              <a:t>最短路问题</a:t>
            </a:r>
          </a:p>
        </p:txBody>
      </p:sp>
      <p:sp>
        <p:nvSpPr>
          <p:cNvPr id="108547" name="矩形 1">
            <a:extLst>
              <a:ext uri="{FF2B5EF4-FFF2-40B4-BE49-F238E27FC236}">
                <a16:creationId xmlns:a16="http://schemas.microsoft.com/office/drawing/2014/main" id="{B351CE58-5BDB-4D30-82FB-B1696F31855F}"/>
              </a:ext>
            </a:extLst>
          </p:cNvPr>
          <p:cNvSpPr>
            <a:spLocks noChangeArrowheads="1"/>
          </p:cNvSpPr>
          <p:nvPr/>
        </p:nvSpPr>
        <p:spPr bwMode="auto">
          <a:xfrm>
            <a:off x="179388" y="692150"/>
            <a:ext cx="6823075"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solidFill>
                  <a:srgbClr val="0000FF"/>
                </a:solidFill>
                <a:latin typeface="Courier New" panose="02070309020205020404" pitchFamily="49" charset="0"/>
              </a:rPr>
              <a:t>model</a:t>
            </a:r>
            <a:r>
              <a:rPr lang="en-US" altLang="zh-CN" sz="1400">
                <a:solidFill>
                  <a:srgbClr val="000000"/>
                </a:solidFill>
                <a:latin typeface="Courier New" panose="02070309020205020404" pitchFamily="49" charset="0"/>
              </a:rPr>
              <a:t>: </a:t>
            </a:r>
            <a:endParaRPr lang="zh-CN" altLang="en-US" sz="1400">
              <a:solidFill>
                <a:srgbClr val="000000"/>
              </a:solidFill>
              <a:latin typeface="Courier New" panose="02070309020205020404" pitchFamily="49" charset="0"/>
            </a:endParaRPr>
          </a:p>
          <a:p>
            <a:r>
              <a:rPr lang="en-US" altLang="zh-CN" sz="1400">
                <a:solidFill>
                  <a:srgbClr val="0000FF"/>
                </a:solidFill>
                <a:latin typeface="Courier New" panose="02070309020205020404" pitchFamily="49" charset="0"/>
              </a:rPr>
              <a:t>sets</a:t>
            </a:r>
            <a:r>
              <a:rPr lang="en-US" altLang="zh-CN" sz="1400">
                <a:solidFill>
                  <a:srgbClr val="000000"/>
                </a:solidFill>
                <a:latin typeface="Courier New" panose="02070309020205020404" pitchFamily="49" charset="0"/>
              </a:rPr>
              <a:t>:  cities/A,B1,B2,B3,C1,C2,C3,D1,D2,E/:F;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roads(cities,cities)/  </a:t>
            </a:r>
            <a:endParaRPr lang="zh-CN" altLang="en-US" sz="1400">
              <a:solidFill>
                <a:srgbClr val="000000"/>
              </a:solidFill>
              <a:latin typeface="Courier New" panose="02070309020205020404" pitchFamily="49" charset="0"/>
            </a:endParaRPr>
          </a:p>
          <a:p>
            <a:r>
              <a:rPr lang="pt-BR" altLang="zh-CN" sz="1400">
                <a:solidFill>
                  <a:srgbClr val="000000"/>
                </a:solidFill>
                <a:latin typeface="Courier New" panose="02070309020205020404" pitchFamily="49" charset="0"/>
              </a:rPr>
              <a:t>A,B1 A,B2 A,B3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B1,C1 B1,C2 B1,C3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B2,C1 B2,C2 B2,C3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B3,C1 B3,C2 B3,C3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C1,D1 C1,D2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C2,D1 C2,D2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C3,D1 C3,D2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D1,E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D2,E/:D, P; </a:t>
            </a:r>
            <a:endParaRPr lang="zh-CN" altLang="en-US" sz="1400">
              <a:solidFill>
                <a:srgbClr val="000000"/>
              </a:solidFill>
              <a:latin typeface="Courier New" panose="02070309020205020404" pitchFamily="49" charset="0"/>
            </a:endParaRPr>
          </a:p>
          <a:p>
            <a:r>
              <a:rPr lang="en-US" altLang="zh-CN" sz="1400">
                <a:solidFill>
                  <a:srgbClr val="0000FF"/>
                </a:solidFill>
                <a:latin typeface="Courier New" panose="02070309020205020404" pitchFamily="49" charset="0"/>
              </a:rPr>
              <a:t>endsets</a:t>
            </a:r>
            <a:r>
              <a:rPr lang="zh-CN" altLang="en-US" sz="1400">
                <a:solidFill>
                  <a:srgbClr val="000000"/>
                </a:solidFill>
                <a:latin typeface="Courier New" panose="02070309020205020404" pitchFamily="49" charset="0"/>
              </a:rPr>
              <a:t> </a:t>
            </a:r>
          </a:p>
          <a:p>
            <a:r>
              <a:rPr lang="en-US" altLang="zh-CN" sz="1400">
                <a:solidFill>
                  <a:srgbClr val="0000FF"/>
                </a:solidFill>
                <a:latin typeface="Courier New" panose="02070309020205020404" pitchFamily="49" charset="0"/>
              </a:rPr>
              <a:t>data</a:t>
            </a:r>
            <a:r>
              <a:rPr lang="en-US" altLang="zh-CN" sz="1400">
                <a:solidFill>
                  <a:srgbClr val="000000"/>
                </a:solidFill>
                <a:latin typeface="Courier New" panose="02070309020205020404" pitchFamily="49" charset="0"/>
              </a:rPr>
              <a:t>:  D=20,60,30,</a:t>
            </a:r>
            <a:endParaRPr lang="zh-CN" altLang="en-US" sz="1400">
              <a:solidFill>
                <a:srgbClr val="000000"/>
              </a:solidFill>
              <a:latin typeface="Courier New" panose="02070309020205020404" pitchFamily="49" charset="0"/>
            </a:endParaRPr>
          </a:p>
          <a:p>
            <a:r>
              <a:rPr lang="zh-CN" altLang="en-US" sz="1400">
                <a:solidFill>
                  <a:srgbClr val="000000"/>
                </a:solidFill>
                <a:latin typeface="Courier New" panose="02070309020205020404" pitchFamily="49" charset="0"/>
              </a:rPr>
              <a:t>         </a:t>
            </a:r>
            <a:r>
              <a:rPr lang="en-US" altLang="zh-CN" sz="1400">
                <a:solidFill>
                  <a:srgbClr val="000000"/>
                </a:solidFill>
                <a:latin typeface="Courier New" panose="02070309020205020404" pitchFamily="49" charset="0"/>
              </a:rPr>
              <a:t>70,40,60,</a:t>
            </a:r>
            <a:endParaRPr lang="zh-CN" altLang="en-US" sz="1400">
              <a:solidFill>
                <a:srgbClr val="000000"/>
              </a:solidFill>
              <a:latin typeface="Courier New" panose="02070309020205020404" pitchFamily="49" charset="0"/>
            </a:endParaRPr>
          </a:p>
          <a:p>
            <a:r>
              <a:rPr lang="zh-CN" altLang="en-US" sz="1400">
                <a:solidFill>
                  <a:srgbClr val="000000"/>
                </a:solidFill>
                <a:latin typeface="Courier New" panose="02070309020205020404" pitchFamily="49" charset="0"/>
              </a:rPr>
              <a:t>         </a:t>
            </a:r>
            <a:r>
              <a:rPr lang="en-US" altLang="zh-CN" sz="1400">
                <a:solidFill>
                  <a:srgbClr val="000000"/>
                </a:solidFill>
                <a:latin typeface="Courier New" panose="02070309020205020404" pitchFamily="49" charset="0"/>
              </a:rPr>
              <a:t>30,20,10,</a:t>
            </a:r>
            <a:endParaRPr lang="zh-CN" altLang="en-US" sz="1400">
              <a:solidFill>
                <a:srgbClr val="000000"/>
              </a:solidFill>
              <a:latin typeface="Courier New" panose="02070309020205020404" pitchFamily="49" charset="0"/>
            </a:endParaRPr>
          </a:p>
          <a:p>
            <a:r>
              <a:rPr lang="zh-CN" altLang="en-US" sz="1400">
                <a:solidFill>
                  <a:srgbClr val="000000"/>
                </a:solidFill>
                <a:latin typeface="Courier New" panose="02070309020205020404" pitchFamily="49" charset="0"/>
              </a:rPr>
              <a:t>         </a:t>
            </a:r>
            <a:r>
              <a:rPr lang="en-US" altLang="zh-CN" sz="1400">
                <a:solidFill>
                  <a:srgbClr val="000000"/>
                </a:solidFill>
                <a:latin typeface="Courier New" panose="02070309020205020404" pitchFamily="49" charset="0"/>
              </a:rPr>
              <a:t>40,20,50,</a:t>
            </a:r>
            <a:endParaRPr lang="zh-CN" altLang="en-US" sz="1400">
              <a:solidFill>
                <a:srgbClr val="000000"/>
              </a:solidFill>
              <a:latin typeface="Courier New" panose="02070309020205020404" pitchFamily="49" charset="0"/>
            </a:endParaRPr>
          </a:p>
          <a:p>
            <a:r>
              <a:rPr lang="zh-CN" altLang="en-US" sz="1400">
                <a:solidFill>
                  <a:srgbClr val="000000"/>
                </a:solidFill>
                <a:latin typeface="Courier New" panose="02070309020205020404" pitchFamily="49" charset="0"/>
              </a:rPr>
              <a:t>         </a:t>
            </a:r>
            <a:r>
              <a:rPr lang="en-US" altLang="zh-CN" sz="1400">
                <a:solidFill>
                  <a:srgbClr val="000000"/>
                </a:solidFill>
                <a:latin typeface="Courier New" panose="02070309020205020404" pitchFamily="49" charset="0"/>
              </a:rPr>
              <a:t>10,40,</a:t>
            </a:r>
            <a:endParaRPr lang="zh-CN" altLang="en-US" sz="1400">
              <a:solidFill>
                <a:srgbClr val="000000"/>
              </a:solidFill>
              <a:latin typeface="Courier New" panose="02070309020205020404" pitchFamily="49" charset="0"/>
            </a:endParaRPr>
          </a:p>
          <a:p>
            <a:r>
              <a:rPr lang="zh-CN" altLang="en-US" sz="1400">
                <a:solidFill>
                  <a:srgbClr val="000000"/>
                </a:solidFill>
                <a:latin typeface="Courier New" panose="02070309020205020404" pitchFamily="49" charset="0"/>
              </a:rPr>
              <a:t>         </a:t>
            </a:r>
            <a:r>
              <a:rPr lang="en-US" altLang="zh-CN" sz="1400">
                <a:solidFill>
                  <a:srgbClr val="000000"/>
                </a:solidFill>
                <a:latin typeface="Courier New" panose="02070309020205020404" pitchFamily="49" charset="0"/>
              </a:rPr>
              <a:t>60,30,</a:t>
            </a:r>
            <a:endParaRPr lang="zh-CN" altLang="en-US" sz="1400">
              <a:solidFill>
                <a:srgbClr val="000000"/>
              </a:solidFill>
              <a:latin typeface="Courier New" panose="02070309020205020404" pitchFamily="49" charset="0"/>
            </a:endParaRPr>
          </a:p>
          <a:p>
            <a:r>
              <a:rPr lang="zh-CN" altLang="en-US" sz="1400">
                <a:solidFill>
                  <a:srgbClr val="000000"/>
                </a:solidFill>
                <a:latin typeface="Courier New" panose="02070309020205020404" pitchFamily="49" charset="0"/>
              </a:rPr>
              <a:t>         </a:t>
            </a:r>
            <a:r>
              <a:rPr lang="en-US" altLang="zh-CN" sz="1400">
                <a:solidFill>
                  <a:srgbClr val="000000"/>
                </a:solidFill>
                <a:latin typeface="Courier New" panose="02070309020205020404" pitchFamily="49" charset="0"/>
              </a:rPr>
              <a:t>30,30,</a:t>
            </a:r>
            <a:endParaRPr lang="zh-CN" altLang="en-US" sz="1400">
              <a:solidFill>
                <a:srgbClr val="000000"/>
              </a:solidFill>
              <a:latin typeface="Courier New" panose="02070309020205020404" pitchFamily="49" charset="0"/>
            </a:endParaRPr>
          </a:p>
          <a:p>
            <a:r>
              <a:rPr lang="zh-CN" altLang="en-US" sz="1400">
                <a:solidFill>
                  <a:srgbClr val="000000"/>
                </a:solidFill>
                <a:latin typeface="Courier New" panose="02070309020205020404" pitchFamily="49" charset="0"/>
              </a:rPr>
              <a:t>         </a:t>
            </a:r>
            <a:r>
              <a:rPr lang="en-US" altLang="zh-CN" sz="1400">
                <a:solidFill>
                  <a:srgbClr val="000000"/>
                </a:solidFill>
                <a:latin typeface="Courier New" panose="02070309020205020404" pitchFamily="49" charset="0"/>
              </a:rPr>
              <a:t>30,</a:t>
            </a:r>
            <a:endParaRPr lang="zh-CN" altLang="en-US" sz="1400">
              <a:solidFill>
                <a:srgbClr val="000000"/>
              </a:solidFill>
              <a:latin typeface="Courier New" panose="02070309020205020404" pitchFamily="49" charset="0"/>
            </a:endParaRPr>
          </a:p>
          <a:p>
            <a:r>
              <a:rPr lang="zh-CN" altLang="en-US" sz="1400">
                <a:solidFill>
                  <a:srgbClr val="000000"/>
                </a:solidFill>
                <a:latin typeface="Courier New" panose="02070309020205020404" pitchFamily="49" charset="0"/>
              </a:rPr>
              <a:t>         </a:t>
            </a:r>
            <a:r>
              <a:rPr lang="en-US" altLang="zh-CN" sz="1400">
                <a:solidFill>
                  <a:srgbClr val="000000"/>
                </a:solidFill>
                <a:latin typeface="Courier New" panose="02070309020205020404" pitchFamily="49" charset="0"/>
              </a:rPr>
              <a:t>40; </a:t>
            </a:r>
            <a:endParaRPr lang="zh-CN" altLang="en-US" sz="1400">
              <a:solidFill>
                <a:srgbClr val="000000"/>
              </a:solidFill>
              <a:latin typeface="Courier New" panose="02070309020205020404" pitchFamily="49" charset="0"/>
            </a:endParaRPr>
          </a:p>
          <a:p>
            <a:r>
              <a:rPr lang="en-US" altLang="zh-CN" sz="1400">
                <a:solidFill>
                  <a:srgbClr val="0000FF"/>
                </a:solidFill>
                <a:latin typeface="Courier New" panose="02070309020205020404" pitchFamily="49" charset="0"/>
              </a:rPr>
              <a:t>enddata</a:t>
            </a:r>
            <a:r>
              <a:rPr lang="zh-CN" altLang="en-US" sz="1400">
                <a:solidFill>
                  <a:srgbClr val="000000"/>
                </a:solidFill>
                <a:latin typeface="Courier New" panose="02070309020205020404" pitchFamily="49" charset="0"/>
              </a:rPr>
              <a:t> </a:t>
            </a:r>
          </a:p>
          <a:p>
            <a:r>
              <a:rPr lang="en-US" altLang="zh-CN" sz="1400">
                <a:solidFill>
                  <a:srgbClr val="000000"/>
                </a:solidFill>
                <a:latin typeface="Courier New" panose="02070309020205020404" pitchFamily="49" charset="0"/>
              </a:rPr>
              <a:t>n=</a:t>
            </a:r>
            <a:r>
              <a:rPr lang="en-US" altLang="zh-CN" sz="1400">
                <a:solidFill>
                  <a:srgbClr val="0000FF"/>
                </a:solidFill>
                <a:latin typeface="Courier New" panose="02070309020205020404" pitchFamily="49" charset="0"/>
              </a:rPr>
              <a:t>@size</a:t>
            </a:r>
            <a:r>
              <a:rPr lang="en-US" altLang="zh-CN" sz="1400">
                <a:solidFill>
                  <a:srgbClr val="000000"/>
                </a:solidFill>
                <a:latin typeface="Courier New" panose="02070309020205020404" pitchFamily="49" charset="0"/>
              </a:rPr>
              <a:t>(cities); </a:t>
            </a:r>
            <a:endParaRPr lang="zh-CN" altLang="en-US" sz="1400">
              <a:solidFill>
                <a:srgbClr val="000000"/>
              </a:solidFill>
              <a:latin typeface="Courier New" panose="02070309020205020404" pitchFamily="49" charset="0"/>
            </a:endParaRPr>
          </a:p>
          <a:p>
            <a:r>
              <a:rPr lang="en-US" altLang="zh-CN" sz="1400">
                <a:solidFill>
                  <a:srgbClr val="000000"/>
                </a:solidFill>
                <a:latin typeface="Courier New" panose="02070309020205020404" pitchFamily="49" charset="0"/>
              </a:rPr>
              <a:t>F(n)=0;  </a:t>
            </a:r>
            <a:endParaRPr lang="zh-CN" altLang="en-US" sz="1400">
              <a:solidFill>
                <a:srgbClr val="000000"/>
              </a:solidFill>
              <a:latin typeface="Courier New" panose="02070309020205020404" pitchFamily="49" charset="0"/>
            </a:endParaRPr>
          </a:p>
          <a:p>
            <a:r>
              <a:rPr lang="nn-NO" altLang="zh-CN" sz="1400">
                <a:solidFill>
                  <a:srgbClr val="0000FF"/>
                </a:solidFill>
                <a:latin typeface="Courier New" panose="02070309020205020404" pitchFamily="49" charset="0"/>
              </a:rPr>
              <a:t>@for</a:t>
            </a:r>
            <a:r>
              <a:rPr lang="nn-NO" altLang="zh-CN" sz="1400">
                <a:solidFill>
                  <a:srgbClr val="000000"/>
                </a:solidFill>
                <a:latin typeface="Courier New" panose="02070309020205020404" pitchFamily="49" charset="0"/>
              </a:rPr>
              <a:t>(cities(i) | i#lt# n:F(i)=</a:t>
            </a:r>
            <a:r>
              <a:rPr lang="nn-NO" altLang="zh-CN" sz="1400">
                <a:solidFill>
                  <a:srgbClr val="0000FF"/>
                </a:solidFill>
                <a:latin typeface="Courier New" panose="02070309020205020404" pitchFamily="49" charset="0"/>
              </a:rPr>
              <a:t>@min</a:t>
            </a:r>
            <a:r>
              <a:rPr lang="nn-NO" altLang="zh-CN" sz="1400">
                <a:solidFill>
                  <a:srgbClr val="000000"/>
                </a:solidFill>
                <a:latin typeface="Courier New" panose="02070309020205020404" pitchFamily="49" charset="0"/>
              </a:rPr>
              <a:t>(roads(i,j): D(i,j)+F(j));); </a:t>
            </a:r>
            <a:endParaRPr lang="zh-CN" altLang="en-US" sz="1400">
              <a:solidFill>
                <a:srgbClr val="000000"/>
              </a:solidFill>
              <a:latin typeface="Courier New" panose="02070309020205020404" pitchFamily="49" charset="0"/>
            </a:endParaRPr>
          </a:p>
          <a:p>
            <a:r>
              <a:rPr lang="pl-PL" altLang="zh-CN" sz="1400">
                <a:solidFill>
                  <a:srgbClr val="0000FF"/>
                </a:solidFill>
                <a:latin typeface="Courier New" panose="02070309020205020404" pitchFamily="49" charset="0"/>
              </a:rPr>
              <a:t>@for</a:t>
            </a:r>
            <a:r>
              <a:rPr lang="pl-PL" altLang="zh-CN" sz="1400">
                <a:solidFill>
                  <a:srgbClr val="000000"/>
                </a:solidFill>
                <a:latin typeface="Courier New" panose="02070309020205020404" pitchFamily="49" charset="0"/>
              </a:rPr>
              <a:t>(roads(i,j):P(i,j)=</a:t>
            </a:r>
            <a:r>
              <a:rPr lang="pl-PL" altLang="zh-CN" sz="1400">
                <a:solidFill>
                  <a:srgbClr val="0000FF"/>
                </a:solidFill>
                <a:latin typeface="Courier New" panose="02070309020205020404" pitchFamily="49" charset="0"/>
              </a:rPr>
              <a:t>@if</a:t>
            </a:r>
            <a:r>
              <a:rPr lang="pl-PL" altLang="zh-CN" sz="1400">
                <a:solidFill>
                  <a:srgbClr val="000000"/>
                </a:solidFill>
                <a:latin typeface="Courier New" panose="02070309020205020404" pitchFamily="49" charset="0"/>
              </a:rPr>
              <a:t>(F(i) #eq# D(i,j)+F(j),1,0)); </a:t>
            </a:r>
            <a:endParaRPr lang="zh-CN" altLang="en-US" sz="1400">
              <a:solidFill>
                <a:srgbClr val="000000"/>
              </a:solidFill>
              <a:latin typeface="Courier New" panose="02070309020205020404" pitchFamily="49" charset="0"/>
            </a:endParaRPr>
          </a:p>
          <a:p>
            <a:r>
              <a:rPr lang="en-US" altLang="zh-CN" sz="1400">
                <a:solidFill>
                  <a:srgbClr val="0000FF"/>
                </a:solidFill>
                <a:latin typeface="Courier New" panose="02070309020205020404" pitchFamily="49" charset="0"/>
              </a:rPr>
              <a:t>end</a:t>
            </a:r>
            <a:r>
              <a:rPr lang="zh-CN" altLang="en-US" sz="1400">
                <a:solidFill>
                  <a:srgbClr val="000000"/>
                </a:solidFill>
                <a:latin typeface="Courier New" panose="02070309020205020404" pitchFamily="49" charset="0"/>
              </a:rPr>
              <a:t> </a:t>
            </a:r>
          </a:p>
        </p:txBody>
      </p:sp>
      <p:sp>
        <p:nvSpPr>
          <p:cNvPr id="108548" name="矩形 2">
            <a:extLst>
              <a:ext uri="{FF2B5EF4-FFF2-40B4-BE49-F238E27FC236}">
                <a16:creationId xmlns:a16="http://schemas.microsoft.com/office/drawing/2014/main" id="{7845D92B-8C48-4B15-A79F-1C9C36416835}"/>
              </a:ext>
            </a:extLst>
          </p:cNvPr>
          <p:cNvSpPr>
            <a:spLocks noChangeArrowheads="1"/>
          </p:cNvSpPr>
          <p:nvPr/>
        </p:nvSpPr>
        <p:spPr bwMode="auto">
          <a:xfrm>
            <a:off x="5435600" y="325438"/>
            <a:ext cx="2070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最短路径问题</a:t>
            </a:r>
            <a:r>
              <a:rPr lang="en-US" altLang="zh-CN"/>
              <a:t>2.lg4</a:t>
            </a:r>
            <a:endParaRPr lang="zh-CN" altLang="en-US"/>
          </a:p>
        </p:txBody>
      </p:sp>
      <p:pic>
        <p:nvPicPr>
          <p:cNvPr id="108549" name="图片 7">
            <a:extLst>
              <a:ext uri="{FF2B5EF4-FFF2-40B4-BE49-F238E27FC236}">
                <a16:creationId xmlns:a16="http://schemas.microsoft.com/office/drawing/2014/main" id="{76545BDF-AB5B-430F-A3D2-25110E307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8505"/>
          <a:stretch>
            <a:fillRect/>
          </a:stretch>
        </p:blipFill>
        <p:spPr bwMode="auto">
          <a:xfrm>
            <a:off x="3276600" y="1206500"/>
            <a:ext cx="5267325"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50" name="图片 8">
            <a:extLst>
              <a:ext uri="{FF2B5EF4-FFF2-40B4-BE49-F238E27FC236}">
                <a16:creationId xmlns:a16="http://schemas.microsoft.com/office/drawing/2014/main" id="{77D2DF1A-17EB-48D6-976F-899B339E75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7671"/>
          <a:stretch>
            <a:fillRect/>
          </a:stretch>
        </p:blipFill>
        <p:spPr bwMode="auto">
          <a:xfrm>
            <a:off x="3276600" y="3446463"/>
            <a:ext cx="5275263"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1F9DCE8E-E176-4621-A30E-94038FA17DC3}"/>
              </a:ext>
            </a:extLst>
          </p:cNvPr>
          <p:cNvSpPr>
            <a:spLocks noGrp="1" noChangeArrowheads="1"/>
          </p:cNvSpPr>
          <p:nvPr>
            <p:ph type="title"/>
          </p:nvPr>
        </p:nvSpPr>
        <p:spPr/>
        <p:txBody>
          <a:bodyPr/>
          <a:lstStyle/>
          <a:p>
            <a:r>
              <a:rPr lang="zh-CN" altLang="en-US"/>
              <a:t>回收率问题</a:t>
            </a:r>
          </a:p>
        </p:txBody>
      </p:sp>
      <p:sp>
        <p:nvSpPr>
          <p:cNvPr id="2" name="矩形 1">
            <a:extLst>
              <a:ext uri="{FF2B5EF4-FFF2-40B4-BE49-F238E27FC236}">
                <a16:creationId xmlns:a16="http://schemas.microsoft.com/office/drawing/2014/main" id="{66DF49EF-D200-46B1-A6A9-611830ED0A46}"/>
              </a:ext>
            </a:extLst>
          </p:cNvPr>
          <p:cNvSpPr/>
          <p:nvPr/>
        </p:nvSpPr>
        <p:spPr>
          <a:xfrm>
            <a:off x="428625" y="981075"/>
            <a:ext cx="7672388" cy="415925"/>
          </a:xfrm>
          <a:prstGeom prst="rect">
            <a:avLst/>
          </a:prstGeom>
        </p:spPr>
        <p:txBody>
          <a:bodyPr>
            <a:spAutoFit/>
          </a:bodyPr>
          <a:lstStyle/>
          <a:p>
            <a:pPr>
              <a:defRPr/>
            </a:pPr>
            <a:r>
              <a:rPr lang="zh-CN" altLang="zh-CN" sz="1050" dirty="0">
                <a:latin typeface="Calibri" panose="020F0502020204030204" pitchFamily="34" charset="0"/>
                <a:cs typeface="Times New Roman" panose="02020603050405020304" pitchFamily="18" charset="0"/>
              </a:rPr>
              <a:t>某种材料用于两种生产方式，每一阶段会产生效益并且能够回收一部分，现有材料</a:t>
            </a:r>
            <a:r>
              <a:rPr lang="en-US" altLang="zh-CN" sz="1050" dirty="0">
                <a:latin typeface="Calibri" panose="020F0502020204030204" pitchFamily="34" charset="0"/>
                <a:cs typeface="Times New Roman" panose="02020603050405020304" pitchFamily="18" charset="0"/>
              </a:rPr>
              <a:t>b=100</a:t>
            </a:r>
            <a:r>
              <a:rPr lang="zh-CN" altLang="zh-CN" sz="1050" dirty="0">
                <a:latin typeface="Calibri" panose="020F0502020204030204" pitchFamily="34" charset="0"/>
                <a:cs typeface="Times New Roman" panose="02020603050405020304" pitchFamily="18" charset="0"/>
              </a:rPr>
              <a:t>，计划分三个阶段进行生产，方式一效益函数</a:t>
            </a:r>
            <a:r>
              <a:rPr lang="en-US" altLang="zh-CN" sz="1050" dirty="0">
                <a:latin typeface="Calibri" panose="020F0502020204030204" pitchFamily="34" charset="0"/>
                <a:cs typeface="Times New Roman" panose="02020603050405020304" pitchFamily="18" charset="0"/>
              </a:rPr>
              <a:t>g1(x)=0.6x,</a:t>
            </a:r>
            <a:r>
              <a:rPr lang="zh-CN" altLang="zh-CN" sz="1050" dirty="0">
                <a:latin typeface="Calibri" panose="020F0502020204030204" pitchFamily="34" charset="0"/>
                <a:cs typeface="Times New Roman" panose="02020603050405020304" pitchFamily="18" charset="0"/>
              </a:rPr>
              <a:t>回收率</a:t>
            </a:r>
            <a:r>
              <a:rPr lang="en-US" altLang="zh-CN" sz="1050" dirty="0">
                <a:latin typeface="Calibri" panose="020F0502020204030204" pitchFamily="34" charset="0"/>
                <a:cs typeface="Times New Roman" panose="02020603050405020304" pitchFamily="18" charset="0"/>
              </a:rPr>
              <a:t>a1=0.1</a:t>
            </a:r>
            <a:r>
              <a:rPr lang="zh-CN" altLang="zh-CN" sz="1050" dirty="0">
                <a:latin typeface="Calibri" panose="020F0502020204030204" pitchFamily="34" charset="0"/>
                <a:cs typeface="Times New Roman" panose="02020603050405020304" pitchFamily="18" charset="0"/>
              </a:rPr>
              <a:t>，方式二效益函数</a:t>
            </a:r>
            <a:r>
              <a:rPr lang="en-US" altLang="zh-CN" sz="1050" dirty="0">
                <a:latin typeface="Calibri" panose="020F0502020204030204" pitchFamily="34" charset="0"/>
                <a:cs typeface="Times New Roman" panose="02020603050405020304" pitchFamily="18" charset="0"/>
              </a:rPr>
              <a:t>g2(x)=0.5x</a:t>
            </a:r>
            <a:r>
              <a:rPr lang="zh-CN" altLang="zh-CN" sz="1050" dirty="0">
                <a:latin typeface="Calibri" panose="020F0502020204030204" pitchFamily="34" charset="0"/>
                <a:cs typeface="Times New Roman" panose="02020603050405020304" pitchFamily="18" charset="0"/>
              </a:rPr>
              <a:t>，回收率</a:t>
            </a:r>
            <a:r>
              <a:rPr lang="en-US" altLang="zh-CN" sz="1050" dirty="0">
                <a:latin typeface="Calibri" panose="020F0502020204030204" pitchFamily="34" charset="0"/>
                <a:cs typeface="Times New Roman" panose="02020603050405020304" pitchFamily="18" charset="0"/>
              </a:rPr>
              <a:t>a2=0.4</a:t>
            </a:r>
            <a:r>
              <a:rPr lang="zh-CN" altLang="zh-CN" sz="1050" dirty="0">
                <a:latin typeface="Calibri" panose="020F0502020204030204" pitchFamily="34" charset="0"/>
                <a:cs typeface="Times New Roman" panose="02020603050405020304" pitchFamily="18" charset="0"/>
              </a:rPr>
              <a:t>，应如何安排生产方式使得收益最大？</a:t>
            </a:r>
            <a:endParaRPr lang="zh-CN" altLang="en-US" dirty="0"/>
          </a:p>
        </p:txBody>
      </p:sp>
      <p:sp>
        <p:nvSpPr>
          <p:cNvPr id="3" name="矩形 2">
            <a:extLst>
              <a:ext uri="{FF2B5EF4-FFF2-40B4-BE49-F238E27FC236}">
                <a16:creationId xmlns:a16="http://schemas.microsoft.com/office/drawing/2014/main" id="{27DDACA4-3C25-40C2-81A8-EE29ECA855CA}"/>
              </a:ext>
            </a:extLst>
          </p:cNvPr>
          <p:cNvSpPr>
            <a:spLocks noRot="1" noChangeAspect="1" noMove="1" noResize="1" noEditPoints="1" noAdjustHandles="1" noChangeArrowheads="1" noChangeShapeType="1" noTextEdit="1"/>
          </p:cNvSpPr>
          <p:nvPr/>
        </p:nvSpPr>
        <p:spPr>
          <a:xfrm>
            <a:off x="1475656" y="1700808"/>
            <a:ext cx="4572000" cy="1223412"/>
          </a:xfrm>
          <a:prstGeom prst="rect">
            <a:avLst/>
          </a:prstGeom>
          <a:blipFill>
            <a:blip r:embed="rId2"/>
            <a:stretch>
              <a:fillRect/>
            </a:stretch>
          </a:blipFill>
        </p:spPr>
        <p:txBody>
          <a:bodyPr/>
          <a:lstStyle/>
          <a:p>
            <a:pPr>
              <a:defRPr/>
            </a:pPr>
            <a:r>
              <a:rPr lang="zh-CN" altLang="en-US">
                <a:noFill/>
              </a:rPr>
              <a:t> </a:t>
            </a:r>
          </a:p>
        </p:txBody>
      </p:sp>
      <p:pic>
        <p:nvPicPr>
          <p:cNvPr id="109573" name="图片 8">
            <a:extLst>
              <a:ext uri="{FF2B5EF4-FFF2-40B4-BE49-F238E27FC236}">
                <a16:creationId xmlns:a16="http://schemas.microsoft.com/office/drawing/2014/main" id="{8E55E707-4678-489F-AD81-67D881B9A8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3573463"/>
            <a:ext cx="2943225"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4" name="图片 9">
            <a:extLst>
              <a:ext uri="{FF2B5EF4-FFF2-40B4-BE49-F238E27FC236}">
                <a16:creationId xmlns:a16="http://schemas.microsoft.com/office/drawing/2014/main" id="{E965B0C5-1FB2-47D8-8DA1-C40FCA2DD6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3888" y="3068638"/>
            <a:ext cx="3667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5" name="图片 10">
            <a:extLst>
              <a:ext uri="{FF2B5EF4-FFF2-40B4-BE49-F238E27FC236}">
                <a16:creationId xmlns:a16="http://schemas.microsoft.com/office/drawing/2014/main" id="{F73E6225-670A-4A5A-9D46-CE347A914C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0550" y="3592513"/>
            <a:ext cx="329565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ED026575-5EE1-41F4-82B9-8EE259CEACE3}"/>
              </a:ext>
            </a:extLst>
          </p:cNvPr>
          <p:cNvSpPr/>
          <p:nvPr/>
        </p:nvSpPr>
        <p:spPr>
          <a:xfrm>
            <a:off x="3851275" y="5700713"/>
            <a:ext cx="4572000" cy="1016000"/>
          </a:xfrm>
          <a:prstGeom prst="rect">
            <a:avLst/>
          </a:prstGeom>
        </p:spPr>
        <p:txBody>
          <a:bodyPr>
            <a:spAutoFit/>
          </a:bodyPr>
          <a:lstStyle/>
          <a:p>
            <a:pPr algn="just">
              <a:spcAft>
                <a:spcPts val="0"/>
              </a:spcAft>
              <a:defRPr/>
            </a:pPr>
            <a:r>
              <a:rPr lang="zh-CN" altLang="zh-CN" sz="1200" kern="100" dirty="0">
                <a:latin typeface="Calibri" panose="020F0502020204030204" pitchFamily="34" charset="0"/>
                <a:cs typeface="Times New Roman" panose="02020603050405020304" pitchFamily="18" charset="0"/>
              </a:rPr>
              <a:t>运算结果显示：</a:t>
            </a:r>
          </a:p>
          <a:p>
            <a:pPr algn="just">
              <a:spcAft>
                <a:spcPts val="0"/>
              </a:spcAft>
              <a:defRPr/>
            </a:pPr>
            <a:r>
              <a:rPr lang="zh-CN" altLang="zh-CN" sz="1200" kern="100" dirty="0">
                <a:latin typeface="Calibri" panose="020F0502020204030204" pitchFamily="34" charset="0"/>
                <a:cs typeface="Times New Roman" panose="02020603050405020304" pitchFamily="18" charset="0"/>
              </a:rPr>
              <a:t>最优的总效益：</a:t>
            </a:r>
            <a:r>
              <a:rPr lang="en-US" altLang="zh-CN" sz="1200" kern="100" dirty="0">
                <a:latin typeface="Calibri" panose="020F0502020204030204" pitchFamily="34" charset="0"/>
                <a:cs typeface="Times New Roman" panose="02020603050405020304" pitchFamily="18" charset="0"/>
              </a:rPr>
              <a:t>79.6</a:t>
            </a:r>
            <a:endParaRPr lang="zh-CN" altLang="zh-CN" sz="1200" kern="100" dirty="0">
              <a:latin typeface="Calibri" panose="020F0502020204030204" pitchFamily="34" charset="0"/>
              <a:cs typeface="Times New Roman" panose="02020603050405020304" pitchFamily="18" charset="0"/>
            </a:endParaRPr>
          </a:p>
          <a:p>
            <a:pPr algn="just">
              <a:spcAft>
                <a:spcPts val="0"/>
              </a:spcAft>
              <a:defRPr/>
            </a:pPr>
            <a:r>
              <a:rPr lang="zh-CN" altLang="zh-CN" sz="1200" kern="100" dirty="0">
                <a:latin typeface="Calibri" panose="020F0502020204030204" pitchFamily="34" charset="0"/>
                <a:cs typeface="Times New Roman" panose="02020603050405020304" pitchFamily="18" charset="0"/>
              </a:rPr>
              <a:t>生产方式：第一阶段</a:t>
            </a:r>
            <a:r>
              <a:rPr lang="en-US" altLang="zh-CN" sz="1200" kern="100" dirty="0">
                <a:latin typeface="Calibri" panose="020F0502020204030204" pitchFamily="34" charset="0"/>
                <a:cs typeface="Times New Roman" panose="02020603050405020304" pitchFamily="18" charset="0"/>
              </a:rPr>
              <a:t>100</a:t>
            </a:r>
            <a:r>
              <a:rPr lang="zh-CN" altLang="zh-CN" sz="1200" kern="100" dirty="0">
                <a:latin typeface="Calibri" panose="020F0502020204030204" pitchFamily="34" charset="0"/>
                <a:cs typeface="Times New Roman" panose="02020603050405020304" pitchFamily="18" charset="0"/>
              </a:rPr>
              <a:t>材料全部用于方式二生产</a:t>
            </a:r>
          </a:p>
          <a:p>
            <a:pPr algn="just">
              <a:spcAft>
                <a:spcPts val="0"/>
              </a:spcAft>
              <a:defRPr/>
            </a:pPr>
            <a:r>
              <a:rPr lang="en-US" altLang="zh-CN" sz="1200" kern="100" dirty="0">
                <a:latin typeface="Calibri" panose="020F0502020204030204" pitchFamily="34" charset="0"/>
                <a:cs typeface="Times New Roman" panose="02020603050405020304" pitchFamily="18" charset="0"/>
              </a:rPr>
              <a:t>		  </a:t>
            </a:r>
            <a:r>
              <a:rPr lang="zh-CN" altLang="zh-CN" sz="1200" kern="100" dirty="0">
                <a:latin typeface="Calibri" panose="020F0502020204030204" pitchFamily="34" charset="0"/>
                <a:cs typeface="Times New Roman" panose="02020603050405020304" pitchFamily="18" charset="0"/>
              </a:rPr>
              <a:t>第二阶段</a:t>
            </a:r>
            <a:r>
              <a:rPr lang="en-US" altLang="zh-CN" sz="1200" kern="100" dirty="0">
                <a:latin typeface="Calibri" panose="020F0502020204030204" pitchFamily="34" charset="0"/>
                <a:cs typeface="Times New Roman" panose="02020603050405020304" pitchFamily="18" charset="0"/>
              </a:rPr>
              <a:t>40</a:t>
            </a:r>
            <a:r>
              <a:rPr lang="zh-CN" altLang="zh-CN" sz="1200" kern="100" dirty="0">
                <a:latin typeface="Calibri" panose="020F0502020204030204" pitchFamily="34" charset="0"/>
                <a:cs typeface="Times New Roman" panose="02020603050405020304" pitchFamily="18" charset="0"/>
              </a:rPr>
              <a:t>材料全部用于方式二生产</a:t>
            </a:r>
          </a:p>
          <a:p>
            <a:pPr algn="just">
              <a:spcAft>
                <a:spcPts val="0"/>
              </a:spcAft>
              <a:defRPr/>
            </a:pPr>
            <a:r>
              <a:rPr lang="en-US" altLang="zh-CN" sz="1200" kern="100" dirty="0">
                <a:latin typeface="Calibri" panose="020F0502020204030204" pitchFamily="34" charset="0"/>
                <a:cs typeface="Times New Roman" panose="02020603050405020304" pitchFamily="18" charset="0"/>
              </a:rPr>
              <a:t>		  </a:t>
            </a:r>
            <a:r>
              <a:rPr lang="zh-CN" altLang="zh-CN" sz="1200" kern="100" dirty="0">
                <a:latin typeface="Calibri" panose="020F0502020204030204" pitchFamily="34" charset="0"/>
                <a:cs typeface="Times New Roman" panose="02020603050405020304" pitchFamily="18" charset="0"/>
              </a:rPr>
              <a:t>第三阶段</a:t>
            </a:r>
            <a:r>
              <a:rPr lang="en-US" altLang="zh-CN" sz="1200" kern="100" dirty="0">
                <a:latin typeface="Calibri" panose="020F0502020204030204" pitchFamily="34" charset="0"/>
                <a:cs typeface="Times New Roman" panose="02020603050405020304" pitchFamily="18" charset="0"/>
              </a:rPr>
              <a:t>16</a:t>
            </a:r>
            <a:r>
              <a:rPr lang="zh-CN" altLang="zh-CN" sz="1200" kern="100" dirty="0">
                <a:latin typeface="Calibri" panose="020F0502020204030204" pitchFamily="34" charset="0"/>
                <a:cs typeface="Times New Roman" panose="02020603050405020304" pitchFamily="18" charset="0"/>
              </a:rPr>
              <a:t>材料全部用于方式一生产</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a:extLst>
              <a:ext uri="{FF2B5EF4-FFF2-40B4-BE49-F238E27FC236}">
                <a16:creationId xmlns:a16="http://schemas.microsoft.com/office/drawing/2014/main" id="{D2A90B1D-6BE2-4161-8510-497549090AD1}"/>
              </a:ext>
            </a:extLst>
          </p:cNvPr>
          <p:cNvSpPr>
            <a:spLocks noGrp="1" noChangeArrowheads="1"/>
          </p:cNvSpPr>
          <p:nvPr>
            <p:ph type="title"/>
          </p:nvPr>
        </p:nvSpPr>
        <p:spPr/>
        <p:txBody>
          <a:bodyPr/>
          <a:lstStyle/>
          <a:p>
            <a:r>
              <a:rPr lang="zh-CN" altLang="en-US"/>
              <a:t>资源分配问题</a:t>
            </a:r>
          </a:p>
        </p:txBody>
      </p:sp>
      <p:pic>
        <p:nvPicPr>
          <p:cNvPr id="110595" name="图片 5">
            <a:extLst>
              <a:ext uri="{FF2B5EF4-FFF2-40B4-BE49-F238E27FC236}">
                <a16:creationId xmlns:a16="http://schemas.microsoft.com/office/drawing/2014/main" id="{7BE08F48-58D8-417F-BB47-FDEAA72A6E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8" y="1484313"/>
            <a:ext cx="7705725"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a:extLst>
              <a:ext uri="{FF2B5EF4-FFF2-40B4-BE49-F238E27FC236}">
                <a16:creationId xmlns:a16="http://schemas.microsoft.com/office/drawing/2014/main" id="{58CA18D9-8C91-4371-97E5-79E795972741}"/>
              </a:ext>
            </a:extLst>
          </p:cNvPr>
          <p:cNvSpPr>
            <a:spLocks noGrp="1" noChangeArrowheads="1"/>
          </p:cNvSpPr>
          <p:nvPr>
            <p:ph type="title"/>
          </p:nvPr>
        </p:nvSpPr>
        <p:spPr/>
        <p:txBody>
          <a:bodyPr/>
          <a:lstStyle/>
          <a:p>
            <a:r>
              <a:rPr lang="zh-CN" altLang="en-US"/>
              <a:t>资源分配问题</a:t>
            </a:r>
          </a:p>
        </p:txBody>
      </p:sp>
      <p:sp>
        <p:nvSpPr>
          <p:cNvPr id="2" name="矩形 1">
            <a:extLst>
              <a:ext uri="{FF2B5EF4-FFF2-40B4-BE49-F238E27FC236}">
                <a16:creationId xmlns:a16="http://schemas.microsoft.com/office/drawing/2014/main" id="{F2BCE7D8-A897-4AEA-BBFC-E61529DCF885}"/>
              </a:ext>
            </a:extLst>
          </p:cNvPr>
          <p:cNvSpPr/>
          <p:nvPr/>
        </p:nvSpPr>
        <p:spPr>
          <a:xfrm>
            <a:off x="179388" y="804863"/>
            <a:ext cx="4572000" cy="5632450"/>
          </a:xfrm>
          <a:prstGeom prst="rect">
            <a:avLst/>
          </a:prstGeom>
        </p:spPr>
        <p:txBody>
          <a:bodyPr>
            <a:spAutoFit/>
          </a:bodyPr>
          <a:lstStyle/>
          <a:p>
            <a:pPr>
              <a:defRPr/>
            </a:pPr>
            <a:r>
              <a:rPr lang="en-US" altLang="zh-CN" dirty="0">
                <a:solidFill>
                  <a:srgbClr val="0000FF"/>
                </a:solidFill>
                <a:latin typeface="+mn-lt"/>
              </a:rPr>
              <a:t>model</a:t>
            </a:r>
            <a:r>
              <a:rPr lang="en-US" altLang="zh-CN" dirty="0">
                <a:solidFill>
                  <a:srgbClr val="000000"/>
                </a:solidFill>
                <a:latin typeface="+mn-lt"/>
              </a:rPr>
              <a:t>:</a:t>
            </a:r>
            <a:endParaRPr lang="zh-CN" altLang="en-US" dirty="0">
              <a:solidFill>
                <a:srgbClr val="000000"/>
              </a:solidFill>
              <a:latin typeface="+mn-lt"/>
            </a:endParaRPr>
          </a:p>
          <a:p>
            <a:pPr>
              <a:defRPr/>
            </a:pPr>
            <a:r>
              <a:rPr lang="en-US" altLang="zh-CN" dirty="0">
                <a:solidFill>
                  <a:srgbClr val="0000FF"/>
                </a:solidFill>
                <a:latin typeface="+mn-lt"/>
              </a:rPr>
              <a:t>sets</a:t>
            </a:r>
            <a:r>
              <a:rPr lang="en-US" altLang="zh-CN" dirty="0">
                <a:solidFill>
                  <a:srgbClr val="000000"/>
                </a:solidFill>
                <a:latin typeface="+mn-lt"/>
              </a:rPr>
              <a:t>:</a:t>
            </a:r>
            <a:endParaRPr lang="zh-CN" altLang="en-US" dirty="0">
              <a:solidFill>
                <a:srgbClr val="000000"/>
              </a:solidFill>
              <a:latin typeface="+mn-lt"/>
            </a:endParaRPr>
          </a:p>
          <a:p>
            <a:pPr>
              <a:defRPr/>
            </a:pPr>
            <a:r>
              <a:rPr lang="en-US" altLang="zh-CN" dirty="0">
                <a:solidFill>
                  <a:srgbClr val="000000"/>
                </a:solidFill>
                <a:latin typeface="+mn-lt"/>
              </a:rPr>
              <a:t>R/1..6/:z;</a:t>
            </a:r>
            <a:endParaRPr lang="zh-CN" altLang="en-US" dirty="0">
              <a:solidFill>
                <a:srgbClr val="000000"/>
              </a:solidFill>
              <a:latin typeface="+mn-lt"/>
            </a:endParaRPr>
          </a:p>
          <a:p>
            <a:pPr>
              <a:defRPr/>
            </a:pPr>
            <a:r>
              <a:rPr lang="en-US" altLang="zh-CN" dirty="0">
                <a:solidFill>
                  <a:srgbClr val="000000"/>
                </a:solidFill>
                <a:latin typeface="+mn-lt"/>
              </a:rPr>
              <a:t>L/1..3/;</a:t>
            </a:r>
            <a:endParaRPr lang="zh-CN" altLang="en-US" dirty="0">
              <a:solidFill>
                <a:srgbClr val="000000"/>
              </a:solidFill>
              <a:latin typeface="+mn-lt"/>
            </a:endParaRPr>
          </a:p>
          <a:p>
            <a:pPr>
              <a:defRPr/>
            </a:pPr>
            <a:r>
              <a:rPr lang="es-ES" altLang="zh-CN" dirty="0">
                <a:solidFill>
                  <a:srgbClr val="000000"/>
                </a:solidFill>
                <a:latin typeface="+mn-lt"/>
              </a:rPr>
              <a:t>c(R,L):x,y;</a:t>
            </a:r>
            <a:endParaRPr lang="zh-CN" altLang="en-US" dirty="0">
              <a:solidFill>
                <a:srgbClr val="000000"/>
              </a:solidFill>
              <a:latin typeface="+mn-lt"/>
            </a:endParaRPr>
          </a:p>
          <a:p>
            <a:pPr>
              <a:defRPr/>
            </a:pPr>
            <a:r>
              <a:rPr lang="en-US" altLang="zh-CN" dirty="0" err="1">
                <a:solidFill>
                  <a:srgbClr val="0000FF"/>
                </a:solidFill>
                <a:latin typeface="+mn-lt"/>
              </a:rPr>
              <a:t>endsets</a:t>
            </a:r>
            <a:endParaRPr lang="zh-CN" altLang="en-US" dirty="0">
              <a:solidFill>
                <a:srgbClr val="000000"/>
              </a:solidFill>
              <a:latin typeface="+mn-lt"/>
            </a:endParaRPr>
          </a:p>
          <a:p>
            <a:pPr>
              <a:defRPr/>
            </a:pPr>
            <a:r>
              <a:rPr lang="en-US" altLang="zh-CN" dirty="0">
                <a:solidFill>
                  <a:srgbClr val="0000FF"/>
                </a:solidFill>
                <a:latin typeface="+mn-lt"/>
              </a:rPr>
              <a:t>data</a:t>
            </a:r>
            <a:r>
              <a:rPr lang="en-US" altLang="zh-CN" dirty="0">
                <a:solidFill>
                  <a:srgbClr val="000000"/>
                </a:solidFill>
                <a:latin typeface="+mn-lt"/>
              </a:rPr>
              <a:t>:</a:t>
            </a:r>
            <a:endParaRPr lang="zh-CN" altLang="en-US" dirty="0">
              <a:solidFill>
                <a:srgbClr val="000000"/>
              </a:solidFill>
              <a:latin typeface="+mn-lt"/>
            </a:endParaRPr>
          </a:p>
          <a:p>
            <a:pPr>
              <a:defRPr/>
            </a:pPr>
            <a:r>
              <a:rPr lang="en-US" altLang="zh-CN" dirty="0">
                <a:solidFill>
                  <a:srgbClr val="000000"/>
                </a:solidFill>
                <a:latin typeface="+mn-lt"/>
              </a:rPr>
              <a:t>x=0 0 0</a:t>
            </a:r>
            <a:endParaRPr lang="zh-CN" altLang="en-US" dirty="0">
              <a:solidFill>
                <a:srgbClr val="000000"/>
              </a:solidFill>
              <a:latin typeface="+mn-lt"/>
            </a:endParaRPr>
          </a:p>
          <a:p>
            <a:pPr>
              <a:defRPr/>
            </a:pPr>
            <a:r>
              <a:rPr lang="en-US" altLang="zh-CN" dirty="0">
                <a:solidFill>
                  <a:srgbClr val="000000"/>
                </a:solidFill>
                <a:latin typeface="+mn-lt"/>
              </a:rPr>
              <a:t>5 5 4</a:t>
            </a:r>
            <a:endParaRPr lang="zh-CN" altLang="en-US" dirty="0">
              <a:solidFill>
                <a:srgbClr val="000000"/>
              </a:solidFill>
              <a:latin typeface="+mn-lt"/>
            </a:endParaRPr>
          </a:p>
          <a:p>
            <a:pPr>
              <a:defRPr/>
            </a:pPr>
            <a:r>
              <a:rPr lang="en-US" altLang="zh-CN" dirty="0">
                <a:solidFill>
                  <a:srgbClr val="000000"/>
                </a:solidFill>
                <a:latin typeface="+mn-lt"/>
              </a:rPr>
              <a:t>15 15 26</a:t>
            </a:r>
            <a:endParaRPr lang="zh-CN" altLang="en-US" dirty="0">
              <a:solidFill>
                <a:srgbClr val="000000"/>
              </a:solidFill>
              <a:latin typeface="+mn-lt"/>
            </a:endParaRPr>
          </a:p>
          <a:p>
            <a:pPr>
              <a:defRPr/>
            </a:pPr>
            <a:r>
              <a:rPr lang="en-US" altLang="zh-CN" dirty="0">
                <a:solidFill>
                  <a:srgbClr val="000000"/>
                </a:solidFill>
                <a:latin typeface="+mn-lt"/>
              </a:rPr>
              <a:t>40 40 40</a:t>
            </a:r>
            <a:endParaRPr lang="zh-CN" altLang="en-US" dirty="0">
              <a:solidFill>
                <a:srgbClr val="000000"/>
              </a:solidFill>
              <a:latin typeface="+mn-lt"/>
            </a:endParaRPr>
          </a:p>
          <a:p>
            <a:pPr>
              <a:defRPr/>
            </a:pPr>
            <a:r>
              <a:rPr lang="en-US" altLang="zh-CN" dirty="0">
                <a:solidFill>
                  <a:srgbClr val="000000"/>
                </a:solidFill>
                <a:latin typeface="+mn-lt"/>
              </a:rPr>
              <a:t>80 60 45</a:t>
            </a:r>
            <a:endParaRPr lang="zh-CN" altLang="en-US" dirty="0">
              <a:solidFill>
                <a:srgbClr val="000000"/>
              </a:solidFill>
              <a:latin typeface="+mn-lt"/>
            </a:endParaRPr>
          </a:p>
          <a:p>
            <a:pPr>
              <a:defRPr/>
            </a:pPr>
            <a:r>
              <a:rPr lang="en-US" altLang="zh-CN" dirty="0">
                <a:solidFill>
                  <a:srgbClr val="000000"/>
                </a:solidFill>
                <a:latin typeface="+mn-lt"/>
              </a:rPr>
              <a:t>90 70 50;</a:t>
            </a:r>
            <a:endParaRPr lang="zh-CN" altLang="en-US" dirty="0">
              <a:solidFill>
                <a:srgbClr val="000000"/>
              </a:solidFill>
              <a:latin typeface="+mn-lt"/>
            </a:endParaRPr>
          </a:p>
          <a:p>
            <a:pPr>
              <a:defRPr/>
            </a:pPr>
            <a:r>
              <a:rPr lang="pl-PL" altLang="zh-CN" dirty="0">
                <a:solidFill>
                  <a:srgbClr val="000000"/>
                </a:solidFill>
                <a:latin typeface="+mn-lt"/>
              </a:rPr>
              <a:t>z=0 1 2 3 4 5;</a:t>
            </a:r>
            <a:endParaRPr lang="zh-CN" altLang="en-US" dirty="0">
              <a:solidFill>
                <a:srgbClr val="000000"/>
              </a:solidFill>
              <a:latin typeface="+mn-lt"/>
            </a:endParaRPr>
          </a:p>
          <a:p>
            <a:pPr>
              <a:defRPr/>
            </a:pPr>
            <a:r>
              <a:rPr lang="en-US" altLang="zh-CN" dirty="0" err="1">
                <a:solidFill>
                  <a:srgbClr val="0000FF"/>
                </a:solidFill>
                <a:latin typeface="+mn-lt"/>
              </a:rPr>
              <a:t>enddata</a:t>
            </a:r>
            <a:endParaRPr lang="zh-CN" altLang="en-US" dirty="0">
              <a:solidFill>
                <a:srgbClr val="000000"/>
              </a:solidFill>
              <a:latin typeface="+mn-lt"/>
            </a:endParaRPr>
          </a:p>
          <a:p>
            <a:pPr>
              <a:defRPr/>
            </a:pPr>
            <a:r>
              <a:rPr lang="en-US" altLang="zh-CN" dirty="0">
                <a:solidFill>
                  <a:srgbClr val="0000FF"/>
                </a:solidFill>
                <a:latin typeface="+mn-lt"/>
              </a:rPr>
              <a:t>max</a:t>
            </a:r>
            <a:r>
              <a:rPr lang="en-US" altLang="zh-CN" dirty="0">
                <a:solidFill>
                  <a:srgbClr val="000000"/>
                </a:solidFill>
                <a:latin typeface="+mn-lt"/>
              </a:rPr>
              <a:t>=</a:t>
            </a:r>
            <a:r>
              <a:rPr lang="en-US" altLang="zh-CN" dirty="0">
                <a:solidFill>
                  <a:srgbClr val="0000FF"/>
                </a:solidFill>
                <a:latin typeface="+mn-lt"/>
              </a:rPr>
              <a:t>@sum</a:t>
            </a:r>
            <a:r>
              <a:rPr lang="en-US" altLang="zh-CN" dirty="0">
                <a:solidFill>
                  <a:srgbClr val="000000"/>
                </a:solidFill>
                <a:latin typeface="+mn-lt"/>
              </a:rPr>
              <a:t>(c(</a:t>
            </a:r>
            <a:r>
              <a:rPr lang="en-US" altLang="zh-CN" dirty="0" err="1">
                <a:solidFill>
                  <a:srgbClr val="000000"/>
                </a:solidFill>
                <a:latin typeface="+mn-lt"/>
              </a:rPr>
              <a:t>i,j</a:t>
            </a:r>
            <a:r>
              <a:rPr lang="en-US" altLang="zh-CN" dirty="0">
                <a:solidFill>
                  <a:srgbClr val="000000"/>
                </a:solidFill>
                <a:latin typeface="+mn-lt"/>
              </a:rPr>
              <a:t>):x(</a:t>
            </a:r>
            <a:r>
              <a:rPr lang="en-US" altLang="zh-CN" dirty="0" err="1">
                <a:solidFill>
                  <a:srgbClr val="000000"/>
                </a:solidFill>
                <a:latin typeface="+mn-lt"/>
              </a:rPr>
              <a:t>i,j</a:t>
            </a:r>
            <a:r>
              <a:rPr lang="en-US" altLang="zh-CN" dirty="0">
                <a:solidFill>
                  <a:srgbClr val="000000"/>
                </a:solidFill>
                <a:latin typeface="+mn-lt"/>
              </a:rPr>
              <a:t>)*y(</a:t>
            </a:r>
            <a:r>
              <a:rPr lang="en-US" altLang="zh-CN" dirty="0" err="1">
                <a:solidFill>
                  <a:srgbClr val="000000"/>
                </a:solidFill>
                <a:latin typeface="+mn-lt"/>
              </a:rPr>
              <a:t>i,j</a:t>
            </a:r>
            <a:r>
              <a:rPr lang="en-US" altLang="zh-CN" dirty="0">
                <a:solidFill>
                  <a:srgbClr val="000000"/>
                </a:solidFill>
                <a:latin typeface="+mn-lt"/>
              </a:rPr>
              <a:t>));</a:t>
            </a:r>
            <a:endParaRPr lang="zh-CN" altLang="en-US" dirty="0">
              <a:solidFill>
                <a:srgbClr val="000000"/>
              </a:solidFill>
              <a:latin typeface="+mn-lt"/>
            </a:endParaRPr>
          </a:p>
          <a:p>
            <a:pPr>
              <a:defRPr/>
            </a:pPr>
            <a:r>
              <a:rPr lang="en-US" altLang="zh-CN" dirty="0">
                <a:solidFill>
                  <a:srgbClr val="0000FF"/>
                </a:solidFill>
                <a:latin typeface="+mn-lt"/>
              </a:rPr>
              <a:t>@for</a:t>
            </a:r>
            <a:r>
              <a:rPr lang="en-US" altLang="zh-CN" dirty="0">
                <a:solidFill>
                  <a:srgbClr val="000000"/>
                </a:solidFill>
                <a:latin typeface="+mn-lt"/>
              </a:rPr>
              <a:t>(L(</a:t>
            </a:r>
            <a:r>
              <a:rPr lang="en-US" altLang="zh-CN" dirty="0" err="1">
                <a:solidFill>
                  <a:srgbClr val="000000"/>
                </a:solidFill>
                <a:latin typeface="+mn-lt"/>
              </a:rPr>
              <a:t>i</a:t>
            </a:r>
            <a:r>
              <a:rPr lang="en-US" altLang="zh-CN" dirty="0">
                <a:solidFill>
                  <a:srgbClr val="000000"/>
                </a:solidFill>
                <a:latin typeface="+mn-lt"/>
              </a:rPr>
              <a:t>):</a:t>
            </a:r>
            <a:r>
              <a:rPr lang="en-US" altLang="zh-CN" dirty="0">
                <a:solidFill>
                  <a:srgbClr val="0000FF"/>
                </a:solidFill>
                <a:latin typeface="+mn-lt"/>
              </a:rPr>
              <a:t>@sum</a:t>
            </a:r>
            <a:r>
              <a:rPr lang="en-US" altLang="zh-CN" dirty="0">
                <a:solidFill>
                  <a:srgbClr val="000000"/>
                </a:solidFill>
                <a:latin typeface="+mn-lt"/>
              </a:rPr>
              <a:t>(c(</a:t>
            </a:r>
            <a:r>
              <a:rPr lang="en-US" altLang="zh-CN" dirty="0" err="1">
                <a:solidFill>
                  <a:srgbClr val="000000"/>
                </a:solidFill>
                <a:latin typeface="+mn-lt"/>
              </a:rPr>
              <a:t>j,k</a:t>
            </a:r>
            <a:r>
              <a:rPr lang="en-US" altLang="zh-CN" dirty="0">
                <a:solidFill>
                  <a:srgbClr val="000000"/>
                </a:solidFill>
                <a:latin typeface="+mn-lt"/>
              </a:rPr>
              <a:t>)|k#eq#1:y(</a:t>
            </a:r>
            <a:r>
              <a:rPr lang="en-US" altLang="zh-CN" dirty="0" err="1">
                <a:solidFill>
                  <a:srgbClr val="000000"/>
                </a:solidFill>
                <a:latin typeface="+mn-lt"/>
              </a:rPr>
              <a:t>j,k</a:t>
            </a:r>
            <a:r>
              <a:rPr lang="en-US" altLang="zh-CN" dirty="0">
                <a:solidFill>
                  <a:srgbClr val="000000"/>
                </a:solidFill>
                <a:latin typeface="+mn-lt"/>
              </a:rPr>
              <a:t>))=1);</a:t>
            </a:r>
            <a:endParaRPr lang="zh-CN" altLang="en-US" dirty="0">
              <a:solidFill>
                <a:srgbClr val="000000"/>
              </a:solidFill>
              <a:latin typeface="+mn-lt"/>
            </a:endParaRPr>
          </a:p>
          <a:p>
            <a:pPr>
              <a:defRPr/>
            </a:pPr>
            <a:r>
              <a:rPr lang="en-US" altLang="zh-CN" dirty="0">
                <a:solidFill>
                  <a:srgbClr val="0000FF"/>
                </a:solidFill>
                <a:latin typeface="+mn-lt"/>
              </a:rPr>
              <a:t>@sum</a:t>
            </a:r>
            <a:r>
              <a:rPr lang="en-US" altLang="zh-CN" dirty="0">
                <a:solidFill>
                  <a:srgbClr val="000000"/>
                </a:solidFill>
                <a:latin typeface="+mn-lt"/>
              </a:rPr>
              <a:t>(c(</a:t>
            </a:r>
            <a:r>
              <a:rPr lang="en-US" altLang="zh-CN" dirty="0" err="1">
                <a:solidFill>
                  <a:srgbClr val="000000"/>
                </a:solidFill>
                <a:latin typeface="+mn-lt"/>
              </a:rPr>
              <a:t>i,j</a:t>
            </a:r>
            <a:r>
              <a:rPr lang="en-US" altLang="zh-CN" dirty="0">
                <a:solidFill>
                  <a:srgbClr val="000000"/>
                </a:solidFill>
                <a:latin typeface="+mn-lt"/>
              </a:rPr>
              <a:t>):y(</a:t>
            </a:r>
            <a:r>
              <a:rPr lang="en-US" altLang="zh-CN" dirty="0" err="1">
                <a:solidFill>
                  <a:srgbClr val="000000"/>
                </a:solidFill>
                <a:latin typeface="+mn-lt"/>
              </a:rPr>
              <a:t>i,j</a:t>
            </a:r>
            <a:r>
              <a:rPr lang="en-US" altLang="zh-CN" dirty="0">
                <a:solidFill>
                  <a:srgbClr val="000000"/>
                </a:solidFill>
                <a:latin typeface="+mn-lt"/>
              </a:rPr>
              <a:t>)*z(</a:t>
            </a:r>
            <a:r>
              <a:rPr lang="en-US" altLang="zh-CN" dirty="0" err="1">
                <a:solidFill>
                  <a:srgbClr val="000000"/>
                </a:solidFill>
                <a:latin typeface="+mn-lt"/>
              </a:rPr>
              <a:t>i</a:t>
            </a:r>
            <a:r>
              <a:rPr lang="en-US" altLang="zh-CN" dirty="0">
                <a:solidFill>
                  <a:srgbClr val="000000"/>
                </a:solidFill>
                <a:latin typeface="+mn-lt"/>
              </a:rPr>
              <a:t>))=5;  </a:t>
            </a:r>
            <a:endParaRPr lang="zh-CN" altLang="en-US" dirty="0">
              <a:solidFill>
                <a:srgbClr val="000000"/>
              </a:solidFill>
              <a:latin typeface="+mn-lt"/>
            </a:endParaRPr>
          </a:p>
          <a:p>
            <a:pPr>
              <a:defRPr/>
            </a:pPr>
            <a:r>
              <a:rPr lang="en-US" altLang="zh-CN" dirty="0">
                <a:solidFill>
                  <a:srgbClr val="0000FF"/>
                </a:solidFill>
                <a:latin typeface="+mn-lt"/>
              </a:rPr>
              <a:t>@for</a:t>
            </a:r>
            <a:r>
              <a:rPr lang="en-US" altLang="zh-CN" dirty="0">
                <a:solidFill>
                  <a:srgbClr val="000000"/>
                </a:solidFill>
                <a:latin typeface="+mn-lt"/>
              </a:rPr>
              <a:t>(c(</a:t>
            </a:r>
            <a:r>
              <a:rPr lang="en-US" altLang="zh-CN" dirty="0" err="1">
                <a:solidFill>
                  <a:srgbClr val="000000"/>
                </a:solidFill>
                <a:latin typeface="+mn-lt"/>
              </a:rPr>
              <a:t>i,j</a:t>
            </a:r>
            <a:r>
              <a:rPr lang="en-US" altLang="zh-CN" dirty="0">
                <a:solidFill>
                  <a:srgbClr val="000000"/>
                </a:solidFill>
                <a:latin typeface="+mn-lt"/>
              </a:rPr>
              <a:t>):</a:t>
            </a:r>
            <a:r>
              <a:rPr lang="en-US" altLang="zh-CN" dirty="0">
                <a:solidFill>
                  <a:srgbClr val="0000FF"/>
                </a:solidFill>
                <a:latin typeface="+mn-lt"/>
              </a:rPr>
              <a:t>@BIN</a:t>
            </a:r>
            <a:r>
              <a:rPr lang="zh-CN" altLang="en-US" dirty="0">
                <a:solidFill>
                  <a:srgbClr val="000000"/>
                </a:solidFill>
                <a:latin typeface="+mn-lt"/>
              </a:rPr>
              <a:t> </a:t>
            </a:r>
            <a:r>
              <a:rPr lang="en-US" altLang="zh-CN" dirty="0">
                <a:solidFill>
                  <a:srgbClr val="000000"/>
                </a:solidFill>
                <a:latin typeface="+mn-lt"/>
              </a:rPr>
              <a:t>(y(</a:t>
            </a:r>
            <a:r>
              <a:rPr lang="en-US" altLang="zh-CN" dirty="0" err="1">
                <a:solidFill>
                  <a:srgbClr val="000000"/>
                </a:solidFill>
                <a:latin typeface="+mn-lt"/>
              </a:rPr>
              <a:t>i,j</a:t>
            </a:r>
            <a:r>
              <a:rPr lang="en-US" altLang="zh-CN" dirty="0">
                <a:solidFill>
                  <a:srgbClr val="000000"/>
                </a:solidFill>
                <a:latin typeface="+mn-lt"/>
              </a:rPr>
              <a:t>)));</a:t>
            </a:r>
            <a:endParaRPr lang="zh-CN" altLang="en-US" dirty="0">
              <a:solidFill>
                <a:srgbClr val="000000"/>
              </a:solidFill>
              <a:latin typeface="+mn-lt"/>
            </a:endParaRPr>
          </a:p>
          <a:p>
            <a:pPr>
              <a:defRPr/>
            </a:pPr>
            <a:r>
              <a:rPr lang="en-US" altLang="zh-CN" dirty="0">
                <a:solidFill>
                  <a:srgbClr val="0000FF"/>
                </a:solidFill>
                <a:latin typeface="+mn-lt"/>
              </a:rPr>
              <a:t>end</a:t>
            </a:r>
            <a:endParaRPr lang="zh-CN" altLang="en-US" dirty="0">
              <a:solidFill>
                <a:srgbClr val="000000"/>
              </a:solidFill>
              <a:latin typeface="+mn-lt"/>
            </a:endParaRPr>
          </a:p>
        </p:txBody>
      </p:sp>
      <p:pic>
        <p:nvPicPr>
          <p:cNvPr id="111620" name="图片 3">
            <a:extLst>
              <a:ext uri="{FF2B5EF4-FFF2-40B4-BE49-F238E27FC236}">
                <a16:creationId xmlns:a16="http://schemas.microsoft.com/office/drawing/2014/main" id="{57025FDE-A199-4B84-88DB-D5AFC9A0F9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050" y="1058863"/>
            <a:ext cx="425767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1" name="图片 6">
            <a:extLst>
              <a:ext uri="{FF2B5EF4-FFF2-40B4-BE49-F238E27FC236}">
                <a16:creationId xmlns:a16="http://schemas.microsoft.com/office/drawing/2014/main" id="{332BA9D8-374F-4100-9826-E236107666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8338" y="2420938"/>
            <a:ext cx="35052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06F5F78B-1CF3-465E-9CD3-47EB0D829396}"/>
              </a:ext>
            </a:extLst>
          </p:cNvPr>
          <p:cNvSpPr/>
          <p:nvPr/>
        </p:nvSpPr>
        <p:spPr>
          <a:xfrm>
            <a:off x="4392613" y="5661025"/>
            <a:ext cx="4572000" cy="646113"/>
          </a:xfrm>
          <a:prstGeom prst="rect">
            <a:avLst/>
          </a:prstGeom>
        </p:spPr>
        <p:txBody>
          <a:bodyPr>
            <a:spAutoFit/>
          </a:bodyPr>
          <a:lstStyle/>
          <a:p>
            <a:pPr>
              <a:defRPr/>
            </a:pPr>
            <a:r>
              <a:rPr lang="en-US" altLang="zh-CN" dirty="0">
                <a:latin typeface="+mn-lt"/>
                <a:cs typeface="Times New Roman" panose="02020603050405020304" pitchFamily="18" charset="0"/>
              </a:rPr>
              <a:t>Y</a:t>
            </a:r>
            <a:r>
              <a:rPr lang="zh-CN" altLang="zh-CN" dirty="0">
                <a:latin typeface="+mn-lt"/>
                <a:cs typeface="Times New Roman" panose="02020603050405020304" pitchFamily="18" charset="0"/>
              </a:rPr>
              <a:t>（</a:t>
            </a:r>
            <a:r>
              <a:rPr lang="en-US" altLang="zh-CN" dirty="0">
                <a:latin typeface="+mn-lt"/>
                <a:cs typeface="Times New Roman" panose="02020603050405020304" pitchFamily="18" charset="0"/>
              </a:rPr>
              <a:t>6</a:t>
            </a:r>
            <a:r>
              <a:rPr lang="zh-CN" altLang="zh-CN" dirty="0">
                <a:latin typeface="+mn-lt"/>
                <a:cs typeface="Times New Roman" panose="02020603050405020304" pitchFamily="18" charset="0"/>
              </a:rPr>
              <a:t>，</a:t>
            </a:r>
            <a:r>
              <a:rPr lang="en-US" altLang="zh-CN" dirty="0">
                <a:latin typeface="+mn-lt"/>
                <a:cs typeface="Times New Roman" panose="02020603050405020304" pitchFamily="18" charset="0"/>
              </a:rPr>
              <a:t>1</a:t>
            </a:r>
            <a:r>
              <a:rPr lang="zh-CN" altLang="zh-CN" dirty="0">
                <a:latin typeface="+mn-lt"/>
                <a:cs typeface="Times New Roman" panose="02020603050405020304" pitchFamily="18" charset="0"/>
              </a:rPr>
              <a:t>）值为</a:t>
            </a:r>
            <a:r>
              <a:rPr lang="en-US" altLang="zh-CN" dirty="0">
                <a:latin typeface="+mn-lt"/>
                <a:cs typeface="Times New Roman" panose="02020603050405020304" pitchFamily="18" charset="0"/>
              </a:rPr>
              <a:t>1</a:t>
            </a:r>
            <a:r>
              <a:rPr lang="zh-CN" altLang="zh-CN" dirty="0">
                <a:latin typeface="+mn-lt"/>
                <a:cs typeface="Times New Roman" panose="02020603050405020304" pitchFamily="18" charset="0"/>
              </a:rPr>
              <a:t>表明给用户</a:t>
            </a:r>
            <a:r>
              <a:rPr lang="en-US" altLang="zh-CN" dirty="0">
                <a:latin typeface="+mn-lt"/>
                <a:cs typeface="Times New Roman" panose="02020603050405020304" pitchFamily="18" charset="0"/>
              </a:rPr>
              <a:t>1</a:t>
            </a:r>
            <a:r>
              <a:rPr lang="zh-CN" altLang="zh-CN" dirty="0">
                <a:latin typeface="+mn-lt"/>
                <a:cs typeface="Times New Roman" panose="02020603050405020304" pitchFamily="18" charset="0"/>
              </a:rPr>
              <a:t>分配</a:t>
            </a:r>
            <a:r>
              <a:rPr lang="en-US" altLang="zh-CN" dirty="0">
                <a:latin typeface="+mn-lt"/>
                <a:cs typeface="Times New Roman" panose="02020603050405020304" pitchFamily="18" charset="0"/>
              </a:rPr>
              <a:t>5</a:t>
            </a:r>
            <a:r>
              <a:rPr lang="zh-CN" altLang="zh-CN" dirty="0">
                <a:latin typeface="+mn-lt"/>
                <a:cs typeface="Times New Roman" panose="02020603050405020304" pitchFamily="18" charset="0"/>
              </a:rPr>
              <a:t>台，获得最大利益为</a:t>
            </a:r>
            <a:r>
              <a:rPr lang="en-US" altLang="zh-CN" dirty="0">
                <a:latin typeface="+mn-lt"/>
                <a:cs typeface="Times New Roman" panose="02020603050405020304" pitchFamily="18" charset="0"/>
              </a:rPr>
              <a:t>90</a:t>
            </a:r>
            <a:endParaRPr lang="zh-CN" altLang="en-US" dirty="0">
              <a:latin typeface="+mn-lt"/>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a:extLst>
              <a:ext uri="{FF2B5EF4-FFF2-40B4-BE49-F238E27FC236}">
                <a16:creationId xmlns:a16="http://schemas.microsoft.com/office/drawing/2014/main" id="{E449981A-F88B-4490-A06E-DAFD94B3766F}"/>
              </a:ext>
            </a:extLst>
          </p:cNvPr>
          <p:cNvSpPr>
            <a:spLocks noGrp="1" noChangeArrowheads="1"/>
          </p:cNvSpPr>
          <p:nvPr>
            <p:ph type="title"/>
          </p:nvPr>
        </p:nvSpPr>
        <p:spPr/>
        <p:txBody>
          <a:bodyPr/>
          <a:lstStyle/>
          <a:p>
            <a:r>
              <a:rPr lang="en-US" altLang="zh-CN"/>
              <a:t>Lingo</a:t>
            </a:r>
            <a:r>
              <a:rPr lang="zh-CN" altLang="en-US"/>
              <a:t>程序说明</a:t>
            </a:r>
          </a:p>
        </p:txBody>
      </p:sp>
      <p:sp>
        <p:nvSpPr>
          <p:cNvPr id="8" name="矩形 7">
            <a:extLst>
              <a:ext uri="{FF2B5EF4-FFF2-40B4-BE49-F238E27FC236}">
                <a16:creationId xmlns:a16="http://schemas.microsoft.com/office/drawing/2014/main" id="{9EF953A7-D0A7-4D91-92AC-533F2E369FDC}"/>
              </a:ext>
            </a:extLst>
          </p:cNvPr>
          <p:cNvSpPr/>
          <p:nvPr/>
        </p:nvSpPr>
        <p:spPr>
          <a:xfrm>
            <a:off x="323850" y="1268413"/>
            <a:ext cx="7561263" cy="3416300"/>
          </a:xfrm>
          <a:prstGeom prst="rect">
            <a:avLst/>
          </a:prstGeom>
        </p:spPr>
        <p:txBody>
          <a:bodyPr>
            <a:spAutoFit/>
          </a:bodyPr>
          <a:lstStyle/>
          <a:p>
            <a:pPr indent="177800" algn="just">
              <a:spcAft>
                <a:spcPts val="0"/>
              </a:spcAft>
              <a:defRPr/>
            </a:pPr>
            <a:r>
              <a:rPr lang="en-US" altLang="zh-CN" kern="100" dirty="0">
                <a:latin typeface="宋体" panose="02010600030101010101" pitchFamily="2" charset="-122"/>
                <a:cs typeface="Times New Roman" panose="02020603050405020304" pitchFamily="18" charset="0"/>
              </a:rPr>
              <a:t>1</a:t>
            </a:r>
            <a:r>
              <a:rPr lang="zh-CN" altLang="zh-CN" kern="100" dirty="0">
                <a:latin typeface="Calibri" panose="020F0502020204030204" pitchFamily="34" charset="0"/>
                <a:cs typeface="Times New Roman" panose="02020603050405020304" pitchFamily="18" charset="0"/>
              </a:rPr>
              <a:t>）程序语言说明：</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zh-CN" altLang="zh-CN" kern="100" dirty="0">
                <a:latin typeface="Calibri" panose="020F0502020204030204" pitchFamily="34" charset="0"/>
                <a:cs typeface="Times New Roman" panose="02020603050405020304" pitchFamily="18" charset="0"/>
              </a:rPr>
              <a:t>①</a:t>
            </a:r>
            <a:r>
              <a:rPr lang="en-US" altLang="zh-CN" kern="100" dirty="0">
                <a:latin typeface="Calibri" panose="020F0502020204030204" pitchFamily="34" charset="0"/>
                <a:cs typeface="Times New Roman" panose="02020603050405020304" pitchFamily="18" charset="0"/>
              </a:rPr>
              <a:t> LINGO</a:t>
            </a:r>
            <a:r>
              <a:rPr lang="zh-CN" altLang="zh-CN" kern="100" dirty="0">
                <a:latin typeface="Calibri" panose="020F0502020204030204" pitchFamily="34" charset="0"/>
                <a:cs typeface="Times New Roman" panose="02020603050405020304" pitchFamily="18" charset="0"/>
              </a:rPr>
              <a:t>程序以“</a:t>
            </a:r>
            <a:r>
              <a:rPr lang="en-US" altLang="zh-CN" kern="100" dirty="0">
                <a:latin typeface="Calibri" panose="020F0502020204030204" pitchFamily="34" charset="0"/>
                <a:cs typeface="Times New Roman" panose="02020603050405020304" pitchFamily="18" charset="0"/>
              </a:rPr>
              <a:t>MODEL</a:t>
            </a:r>
            <a:r>
              <a:rPr lang="zh-CN" altLang="zh-CN" kern="100" dirty="0">
                <a:latin typeface="Calibri" panose="020F0502020204030204" pitchFamily="34" charset="0"/>
                <a:cs typeface="Times New Roman" panose="02020603050405020304" pitchFamily="18" charset="0"/>
              </a:rPr>
              <a:t>”开始，以“</a:t>
            </a:r>
            <a:r>
              <a:rPr lang="en-US" altLang="zh-CN" kern="100" dirty="0">
                <a:latin typeface="Calibri" panose="020F0502020204030204" pitchFamily="34" charset="0"/>
                <a:cs typeface="Times New Roman" panose="02020603050405020304" pitchFamily="18" charset="0"/>
              </a:rPr>
              <a:t>END</a:t>
            </a:r>
            <a:r>
              <a:rPr lang="zh-CN" altLang="zh-CN" kern="100" dirty="0">
                <a:latin typeface="Calibri" panose="020F0502020204030204" pitchFamily="34" charset="0"/>
                <a:cs typeface="Times New Roman" panose="02020603050405020304" pitchFamily="18" charset="0"/>
              </a:rPr>
              <a:t>”结束，它们之间由语句组成，并且每个语句都是以分号“；”结尾。</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zh-CN" altLang="zh-CN" kern="100" dirty="0">
                <a:latin typeface="Calibri" panose="020F0502020204030204" pitchFamily="34" charset="0"/>
                <a:cs typeface="Times New Roman" panose="02020603050405020304" pitchFamily="18" charset="0"/>
              </a:rPr>
              <a:t>②</a:t>
            </a: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在</a:t>
            </a:r>
            <a:r>
              <a:rPr lang="en-US" altLang="zh-CN" kern="100" dirty="0">
                <a:latin typeface="Calibri" panose="020F0502020204030204" pitchFamily="34" charset="0"/>
                <a:cs typeface="Times New Roman" panose="02020603050405020304" pitchFamily="18" charset="0"/>
              </a:rPr>
              <a:t>LINGO</a:t>
            </a:r>
            <a:r>
              <a:rPr lang="zh-CN" altLang="zh-CN" kern="100" dirty="0">
                <a:latin typeface="Calibri" panose="020F0502020204030204" pitchFamily="34" charset="0"/>
                <a:cs typeface="Times New Roman" panose="02020603050405020304" pitchFamily="18" charset="0"/>
              </a:rPr>
              <a:t>中语句顺序不重要，程序中不区分大小写，变量必须以字母开头，以</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开头的都是函数的调用。</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zh-CN" altLang="zh-CN" kern="100" dirty="0">
                <a:latin typeface="Calibri" panose="020F0502020204030204" pitchFamily="34" charset="0"/>
                <a:cs typeface="Times New Roman" panose="02020603050405020304" pitchFamily="18" charset="0"/>
              </a:rPr>
              <a:t>③</a:t>
            </a:r>
            <a:r>
              <a:rPr lang="en-US" altLang="zh-CN" kern="100" dirty="0">
                <a:latin typeface="Calibri" panose="020F0502020204030204" pitchFamily="34" charset="0"/>
                <a:cs typeface="Times New Roman" panose="02020603050405020304" pitchFamily="18" charset="0"/>
              </a:rPr>
              <a:t> LINGO</a:t>
            </a:r>
            <a:r>
              <a:rPr lang="zh-CN" altLang="zh-CN" kern="100" dirty="0">
                <a:latin typeface="Calibri" panose="020F0502020204030204" pitchFamily="34" charset="0"/>
                <a:cs typeface="Times New Roman" panose="02020603050405020304" pitchFamily="18" charset="0"/>
              </a:rPr>
              <a:t>已假定所有变量非负，可用限定变量取值范围的函数</a:t>
            </a:r>
            <a:r>
              <a:rPr lang="en-US" altLang="zh-CN" kern="100" dirty="0">
                <a:latin typeface="Calibri" panose="020F0502020204030204" pitchFamily="34" charset="0"/>
                <a:cs typeface="Times New Roman" panose="02020603050405020304" pitchFamily="18" charset="0"/>
              </a:rPr>
              <a:t>@BIN</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X</a:t>
            </a:r>
            <a:r>
              <a:rPr lang="zh-CN" altLang="zh-CN" kern="100" dirty="0">
                <a:latin typeface="Calibri" panose="020F0502020204030204" pitchFamily="34" charset="0"/>
                <a:cs typeface="Times New Roman" panose="02020603050405020304" pitchFamily="18" charset="0"/>
              </a:rPr>
              <a:t>）（限定</a:t>
            </a:r>
            <a:r>
              <a:rPr lang="en-US" altLang="zh-CN" kern="100" dirty="0">
                <a:latin typeface="Calibri" panose="020F0502020204030204" pitchFamily="34" charset="0"/>
                <a:cs typeface="Times New Roman" panose="02020603050405020304" pitchFamily="18" charset="0"/>
              </a:rPr>
              <a:t>X</a:t>
            </a:r>
            <a:r>
              <a:rPr lang="zh-CN" altLang="zh-CN" kern="100" dirty="0">
                <a:latin typeface="Calibri" panose="020F0502020204030204" pitchFamily="34" charset="0"/>
                <a:cs typeface="Times New Roman" panose="02020603050405020304" pitchFamily="18" charset="0"/>
              </a:rPr>
              <a:t>为</a:t>
            </a:r>
            <a:r>
              <a:rPr lang="en-US" altLang="zh-CN" kern="100" dirty="0">
                <a:latin typeface="Calibri" panose="020F0502020204030204" pitchFamily="34" charset="0"/>
                <a:cs typeface="Times New Roman" panose="02020603050405020304" pitchFamily="18" charset="0"/>
              </a:rPr>
              <a:t>0</a:t>
            </a:r>
            <a:r>
              <a:rPr lang="zh-CN" altLang="zh-CN" kern="100" dirty="0">
                <a:latin typeface="Calibri" panose="020F0502020204030204" pitchFamily="34" charset="0"/>
                <a:cs typeface="Times New Roman" panose="02020603050405020304" pitchFamily="18" charset="0"/>
              </a:rPr>
              <a:t>或</a:t>
            </a:r>
            <a:r>
              <a:rPr lang="en-US" altLang="zh-CN" kern="100" dirty="0">
                <a:latin typeface="Calibri" panose="020F0502020204030204" pitchFamily="34" charset="0"/>
                <a:cs typeface="Times New Roman" panose="02020603050405020304" pitchFamily="18" charset="0"/>
              </a:rPr>
              <a:t>1</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@GIN</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X</a:t>
            </a:r>
            <a:r>
              <a:rPr lang="zh-CN" altLang="zh-CN" kern="100" dirty="0">
                <a:latin typeface="Calibri" panose="020F0502020204030204" pitchFamily="34" charset="0"/>
                <a:cs typeface="Times New Roman" panose="02020603050405020304" pitchFamily="18" charset="0"/>
              </a:rPr>
              <a:t>）（限定</a:t>
            </a:r>
            <a:r>
              <a:rPr lang="en-US" altLang="zh-CN" kern="100" dirty="0">
                <a:latin typeface="Calibri" panose="020F0502020204030204" pitchFamily="34" charset="0"/>
                <a:cs typeface="Times New Roman" panose="02020603050405020304" pitchFamily="18" charset="0"/>
              </a:rPr>
              <a:t>X</a:t>
            </a:r>
            <a:r>
              <a:rPr lang="zh-CN" altLang="zh-CN" kern="100" dirty="0">
                <a:latin typeface="Calibri" panose="020F0502020204030204" pitchFamily="34" charset="0"/>
                <a:cs typeface="Times New Roman" panose="02020603050405020304" pitchFamily="18" charset="0"/>
              </a:rPr>
              <a:t>为整数）、</a:t>
            </a:r>
            <a:r>
              <a:rPr lang="en-US" altLang="zh-CN" kern="100" dirty="0">
                <a:latin typeface="Calibri" panose="020F0502020204030204" pitchFamily="34" charset="0"/>
                <a:cs typeface="Times New Roman" panose="02020603050405020304" pitchFamily="18" charset="0"/>
              </a:rPr>
              <a:t>@FREE</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X</a:t>
            </a:r>
            <a:r>
              <a:rPr lang="zh-CN" altLang="zh-CN" kern="100" dirty="0">
                <a:latin typeface="Calibri" panose="020F0502020204030204" pitchFamily="34" charset="0"/>
                <a:cs typeface="Times New Roman" panose="02020603050405020304" pitchFamily="18" charset="0"/>
              </a:rPr>
              <a:t>）（取消对</a:t>
            </a:r>
            <a:r>
              <a:rPr lang="en-US" altLang="zh-CN" kern="100" dirty="0">
                <a:latin typeface="Calibri" panose="020F0502020204030204" pitchFamily="34" charset="0"/>
                <a:cs typeface="Times New Roman" panose="02020603050405020304" pitchFamily="18" charset="0"/>
              </a:rPr>
              <a:t>X</a:t>
            </a:r>
            <a:r>
              <a:rPr lang="zh-CN" altLang="zh-CN" kern="100" dirty="0">
                <a:latin typeface="Calibri" panose="020F0502020204030204" pitchFamily="34" charset="0"/>
                <a:cs typeface="Times New Roman" panose="02020603050405020304" pitchFamily="18" charset="0"/>
              </a:rPr>
              <a:t>的符号限制）、</a:t>
            </a:r>
            <a:r>
              <a:rPr lang="en-US" altLang="zh-CN" kern="100" dirty="0">
                <a:latin typeface="Calibri" panose="020F0502020204030204" pitchFamily="34" charset="0"/>
                <a:cs typeface="Times New Roman" panose="02020603050405020304" pitchFamily="18" charset="0"/>
              </a:rPr>
              <a:t>@BND</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L</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X</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U</a:t>
            </a:r>
            <a:r>
              <a:rPr lang="zh-CN" altLang="zh-CN" kern="100" dirty="0">
                <a:latin typeface="Calibri" panose="020F0502020204030204" pitchFamily="34" charset="0"/>
                <a:cs typeface="Times New Roman" panose="02020603050405020304" pitchFamily="18" charset="0"/>
              </a:rPr>
              <a:t>）（限制</a:t>
            </a:r>
            <a:r>
              <a:rPr lang="en-US" altLang="zh-CN" kern="100" dirty="0">
                <a:latin typeface="Calibri" panose="020F0502020204030204" pitchFamily="34" charset="0"/>
                <a:cs typeface="Times New Roman" panose="02020603050405020304" pitchFamily="18" charset="0"/>
              </a:rPr>
              <a:t>LXU</a:t>
            </a:r>
            <a:r>
              <a:rPr lang="zh-CN" altLang="zh-CN" kern="100" dirty="0">
                <a:latin typeface="Calibri" panose="020F0502020204030204" pitchFamily="34" charset="0"/>
                <a:cs typeface="Times New Roman" panose="02020603050405020304" pitchFamily="18" charset="0"/>
              </a:rPr>
              <a:t>）改变变量的非负假定。</a:t>
            </a:r>
          </a:p>
          <a:p>
            <a:pPr algn="just">
              <a:spcAft>
                <a:spcPts val="0"/>
              </a:spcAft>
              <a:defRPr/>
            </a:pPr>
            <a:r>
              <a:rPr lang="en-US" altLang="zh-CN" kern="100" dirty="0">
                <a:latin typeface="宋体" panose="02010600030101010101" pitchFamily="2" charset="-122"/>
                <a:cs typeface="Times New Roman" panose="02020603050405020304" pitchFamily="18" charset="0"/>
              </a:rPr>
              <a:t> 2</a:t>
            </a:r>
            <a:r>
              <a:rPr lang="zh-CN" altLang="zh-CN" kern="100" dirty="0">
                <a:latin typeface="Calibri" panose="020F0502020204030204" pitchFamily="34" charset="0"/>
                <a:cs typeface="Times New Roman" panose="02020603050405020304" pitchFamily="18" charset="0"/>
              </a:rPr>
              <a:t>）逻辑运算符：</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#AND#</a:t>
            </a:r>
            <a:r>
              <a:rPr lang="zh-CN" altLang="zh-CN" kern="100" dirty="0">
                <a:latin typeface="Calibri" panose="020F0502020204030204" pitchFamily="34" charset="0"/>
                <a:cs typeface="Times New Roman" panose="02020603050405020304" pitchFamily="18" charset="0"/>
              </a:rPr>
              <a:t>（与），</a:t>
            </a:r>
            <a:r>
              <a:rPr lang="en-US" altLang="zh-CN" kern="100" dirty="0">
                <a:latin typeface="Calibri" panose="020F0502020204030204" pitchFamily="34" charset="0"/>
                <a:cs typeface="Times New Roman" panose="02020603050405020304" pitchFamily="18" charset="0"/>
              </a:rPr>
              <a:t>#OR#</a:t>
            </a:r>
            <a:r>
              <a:rPr lang="zh-CN" altLang="zh-CN" kern="100" dirty="0">
                <a:latin typeface="Calibri" panose="020F0502020204030204" pitchFamily="34" charset="0"/>
                <a:cs typeface="Times New Roman" panose="02020603050405020304" pitchFamily="18" charset="0"/>
              </a:rPr>
              <a:t>（或），</a:t>
            </a:r>
            <a:r>
              <a:rPr lang="en-US" altLang="zh-CN" kern="100" dirty="0">
                <a:latin typeface="Calibri" panose="020F0502020204030204" pitchFamily="34" charset="0"/>
                <a:cs typeface="Times New Roman" panose="02020603050405020304" pitchFamily="18" charset="0"/>
              </a:rPr>
              <a:t>#NOT#</a:t>
            </a:r>
            <a:r>
              <a:rPr lang="zh-CN" altLang="zh-CN" kern="100" dirty="0">
                <a:latin typeface="Calibri" panose="020F0502020204030204" pitchFamily="34" charset="0"/>
                <a:cs typeface="Times New Roman" panose="02020603050405020304" pitchFamily="18" charset="0"/>
              </a:rPr>
              <a:t>（非），</a:t>
            </a:r>
            <a:r>
              <a:rPr lang="en-US" altLang="zh-CN" kern="100" dirty="0">
                <a:latin typeface="Calibri" panose="020F0502020204030204" pitchFamily="34" charset="0"/>
                <a:cs typeface="Times New Roman" panose="02020603050405020304" pitchFamily="18" charset="0"/>
              </a:rPr>
              <a:t>#EQ#(</a:t>
            </a:r>
            <a:r>
              <a:rPr lang="zh-CN" altLang="zh-CN" kern="100" dirty="0">
                <a:latin typeface="Calibri" panose="020F0502020204030204" pitchFamily="34" charset="0"/>
                <a:cs typeface="Times New Roman" panose="02020603050405020304" pitchFamily="18" charset="0"/>
              </a:rPr>
              <a:t>等于</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#NE#(</a:t>
            </a:r>
            <a:r>
              <a:rPr lang="zh-CN" altLang="zh-CN" kern="100" dirty="0">
                <a:latin typeface="Calibri" panose="020F0502020204030204" pitchFamily="34" charset="0"/>
                <a:cs typeface="Times New Roman" panose="02020603050405020304" pitchFamily="18" charset="0"/>
              </a:rPr>
              <a:t>不等于</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#GT#(</a:t>
            </a:r>
            <a:r>
              <a:rPr lang="zh-CN" altLang="zh-CN" kern="100" dirty="0">
                <a:latin typeface="Calibri" panose="020F0502020204030204" pitchFamily="34" charset="0"/>
                <a:cs typeface="Times New Roman" panose="02020603050405020304" pitchFamily="18" charset="0"/>
              </a:rPr>
              <a:t>大于</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#GE#(</a:t>
            </a:r>
            <a:r>
              <a:rPr lang="zh-CN" altLang="zh-CN" kern="100" dirty="0">
                <a:latin typeface="Calibri" panose="020F0502020204030204" pitchFamily="34" charset="0"/>
                <a:cs typeface="Times New Roman" panose="02020603050405020304" pitchFamily="18" charset="0"/>
              </a:rPr>
              <a:t>大于等于</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#LT#(</a:t>
            </a:r>
            <a:r>
              <a:rPr lang="zh-CN" altLang="zh-CN" kern="100" dirty="0">
                <a:latin typeface="Calibri" panose="020F0502020204030204" pitchFamily="34" charset="0"/>
                <a:cs typeface="Times New Roman" panose="02020603050405020304" pitchFamily="18" charset="0"/>
              </a:rPr>
              <a:t>小于</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#LE#(</a:t>
            </a:r>
            <a:r>
              <a:rPr lang="zh-CN" altLang="zh-CN" kern="100" dirty="0">
                <a:latin typeface="Calibri" panose="020F0502020204030204" pitchFamily="34" charset="0"/>
                <a:cs typeface="Times New Roman" panose="02020603050405020304" pitchFamily="18" charset="0"/>
              </a:rPr>
              <a:t>小于等于</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a:extLst>
              <a:ext uri="{FF2B5EF4-FFF2-40B4-BE49-F238E27FC236}">
                <a16:creationId xmlns:a16="http://schemas.microsoft.com/office/drawing/2014/main" id="{30CDD01E-2F7A-43A1-BFBB-07B1926AAA91}"/>
              </a:ext>
            </a:extLst>
          </p:cNvPr>
          <p:cNvSpPr>
            <a:spLocks noGrp="1" noChangeArrowheads="1"/>
          </p:cNvSpPr>
          <p:nvPr>
            <p:ph type="title"/>
          </p:nvPr>
        </p:nvSpPr>
        <p:spPr/>
        <p:txBody>
          <a:bodyPr/>
          <a:lstStyle/>
          <a:p>
            <a:r>
              <a:rPr lang="en-US" altLang="zh-CN"/>
              <a:t>Lingo</a:t>
            </a:r>
            <a:r>
              <a:rPr lang="zh-CN" altLang="en-US"/>
              <a:t>程序说明</a:t>
            </a:r>
          </a:p>
        </p:txBody>
      </p:sp>
      <p:sp>
        <p:nvSpPr>
          <p:cNvPr id="3" name="矩形 2">
            <a:extLst>
              <a:ext uri="{FF2B5EF4-FFF2-40B4-BE49-F238E27FC236}">
                <a16:creationId xmlns:a16="http://schemas.microsoft.com/office/drawing/2014/main" id="{B66A4C52-53C0-4CDB-A7BC-2F88808009AF}"/>
              </a:ext>
            </a:extLst>
          </p:cNvPr>
          <p:cNvSpPr/>
          <p:nvPr/>
        </p:nvSpPr>
        <p:spPr>
          <a:xfrm>
            <a:off x="323850" y="1049338"/>
            <a:ext cx="8064500" cy="5354637"/>
          </a:xfrm>
          <a:prstGeom prst="rect">
            <a:avLst/>
          </a:prstGeom>
        </p:spPr>
        <p:txBody>
          <a:bodyPr>
            <a:spAutoFit/>
          </a:bodyPr>
          <a:lstStyle/>
          <a:p>
            <a:pPr algn="just">
              <a:spcAft>
                <a:spcPts val="0"/>
              </a:spcAft>
              <a:defRPr/>
            </a:pPr>
            <a:r>
              <a:rPr lang="en-US" altLang="zh-CN" kern="100" dirty="0">
                <a:latin typeface="宋体" panose="02010600030101010101" pitchFamily="2" charset="-122"/>
                <a:cs typeface="Times New Roman" panose="02020603050405020304" pitchFamily="18" charset="0"/>
              </a:rPr>
              <a:t>3</a:t>
            </a:r>
            <a:r>
              <a:rPr lang="zh-CN" altLang="zh-CN" kern="100" dirty="0">
                <a:latin typeface="Calibri" panose="020F0502020204030204" pitchFamily="34" charset="0"/>
                <a:cs typeface="Times New Roman" panose="02020603050405020304" pitchFamily="18" charset="0"/>
              </a:rPr>
              <a:t>）利用</a:t>
            </a:r>
            <a:r>
              <a:rPr lang="en-US" altLang="zh-CN" kern="100" dirty="0">
                <a:latin typeface="Calibri" panose="020F0502020204030204" pitchFamily="34" charset="0"/>
                <a:cs typeface="Times New Roman" panose="02020603050405020304" pitchFamily="18" charset="0"/>
              </a:rPr>
              <a:t> LINGO </a:t>
            </a:r>
            <a:r>
              <a:rPr lang="zh-CN" altLang="zh-CN" kern="100" dirty="0">
                <a:latin typeface="Calibri" panose="020F0502020204030204" pitchFamily="34" charset="0"/>
                <a:cs typeface="Times New Roman" panose="02020603050405020304" pitchFamily="18" charset="0"/>
              </a:rPr>
              <a:t>对资源分配问题进行编程求解，其部分程序语句如下</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省略号处表示有部分程序语句省略</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zh-CN" altLang="zh-CN" kern="100" dirty="0">
                <a:latin typeface="Calibri" panose="020F0502020204030204" pitchFamily="34" charset="0"/>
                <a:cs typeface="Times New Roman" panose="02020603050405020304" pitchFamily="18" charset="0"/>
              </a:rPr>
              <a:t>①</a:t>
            </a: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模型的设置部分，定义模型中所定义的数据结构。</a:t>
            </a:r>
          </a:p>
          <a:p>
            <a:pPr algn="just">
              <a:spcAft>
                <a:spcPts val="0"/>
              </a:spcAft>
              <a:defRPr/>
            </a:pPr>
            <a:r>
              <a:rPr lang="en-US" altLang="zh-CN" kern="100" dirty="0">
                <a:latin typeface="宋体" panose="02010600030101010101" pitchFamily="2" charset="-122"/>
                <a:cs typeface="Times New Roman" panose="02020603050405020304" pitchFamily="18" charset="0"/>
              </a:rPr>
              <a:t>sets</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row/1..m/:z;</a:t>
            </a:r>
            <a:r>
              <a:rPr lang="zh-CN" altLang="zh-CN" kern="100" dirty="0">
                <a:latin typeface="Calibri" panose="020F0502020204030204" pitchFamily="34" charset="0"/>
                <a:cs typeface="Times New Roman" panose="02020603050405020304" pitchFamily="18" charset="0"/>
              </a:rPr>
              <a:t>建立行号集合</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arrange/1..n/;</a:t>
            </a:r>
            <a:r>
              <a:rPr lang="zh-CN" altLang="zh-CN" kern="100" dirty="0">
                <a:latin typeface="Calibri" panose="020F0502020204030204" pitchFamily="34" charset="0"/>
                <a:cs typeface="Times New Roman" panose="02020603050405020304" pitchFamily="18" charset="0"/>
              </a:rPr>
              <a:t>建立列号集合</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link(row, arrange):</a:t>
            </a:r>
            <a:r>
              <a:rPr lang="en-US" altLang="zh-CN" kern="100" dirty="0" err="1">
                <a:latin typeface="宋体" panose="02010600030101010101" pitchFamily="2" charset="-122"/>
                <a:cs typeface="Times New Roman" panose="02020603050405020304" pitchFamily="18" charset="0"/>
              </a:rPr>
              <a:t>x,y</a:t>
            </a:r>
            <a:r>
              <a:rPr lang="en-US" altLang="zh-CN" kern="100" dirty="0">
                <a:latin typeface="宋体" panose="02010600030101010101" pitchFamily="2" charset="-122"/>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建立双下标集合（</a:t>
            </a:r>
            <a:r>
              <a:rPr lang="en-US" altLang="zh-CN" kern="100" dirty="0" err="1">
                <a:latin typeface="Calibri" panose="020F0502020204030204" pitchFamily="34" charset="0"/>
                <a:cs typeface="Times New Roman" panose="02020603050405020304" pitchFamily="18" charset="0"/>
              </a:rPr>
              <a:t>i,j</a:t>
            </a:r>
            <a:r>
              <a:rPr lang="zh-CN" altLang="zh-CN" kern="100" dirty="0">
                <a:latin typeface="Calibri" panose="020F0502020204030204" pitchFamily="34" charset="0"/>
                <a:cs typeface="Times New Roman" panose="02020603050405020304" pitchFamily="18" charset="0"/>
              </a:rPr>
              <a:t>）派生出效益集合</a:t>
            </a:r>
            <a:r>
              <a:rPr lang="en-US" altLang="zh-CN" kern="100" dirty="0">
                <a:latin typeface="Calibri" panose="020F0502020204030204" pitchFamily="34" charset="0"/>
                <a:cs typeface="Times New Roman" panose="02020603050405020304" pitchFamily="18" charset="0"/>
              </a:rPr>
              <a:t>X</a:t>
            </a:r>
            <a:r>
              <a:rPr lang="zh-CN" altLang="zh-CN" kern="100" dirty="0">
                <a:latin typeface="Calibri" panose="020F0502020204030204" pitchFamily="34" charset="0"/>
                <a:cs typeface="Times New Roman" panose="02020603050405020304" pitchFamily="18" charset="0"/>
              </a:rPr>
              <a:t>以及</a:t>
            </a:r>
            <a:r>
              <a:rPr lang="en-US" altLang="zh-CN" kern="100" dirty="0">
                <a:latin typeface="Calibri" panose="020F0502020204030204" pitchFamily="34" charset="0"/>
                <a:cs typeface="Times New Roman" panose="02020603050405020304" pitchFamily="18" charset="0"/>
              </a:rPr>
              <a:t>0-1</a:t>
            </a:r>
            <a:r>
              <a:rPr lang="zh-CN" altLang="zh-CN" kern="100" dirty="0">
                <a:latin typeface="Calibri" panose="020F0502020204030204" pitchFamily="34" charset="0"/>
                <a:cs typeface="Times New Roman" panose="02020603050405020304" pitchFamily="18" charset="0"/>
              </a:rPr>
              <a:t>变量集合</a:t>
            </a:r>
            <a:r>
              <a:rPr lang="en-US" altLang="zh-CN" kern="100" dirty="0">
                <a:latin typeface="Calibri" panose="020F0502020204030204" pitchFamily="34" charset="0"/>
                <a:cs typeface="Times New Roman" panose="02020603050405020304" pitchFamily="18" charset="0"/>
              </a:rPr>
              <a:t>Y;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zh-CN" altLang="zh-CN" kern="100" dirty="0">
                <a:latin typeface="Calibri" panose="020F0502020204030204" pitchFamily="34" charset="0"/>
                <a:cs typeface="Times New Roman" panose="02020603050405020304" pitchFamily="18" charset="0"/>
              </a:rPr>
              <a:t>②</a:t>
            </a: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模型的主体部分。</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max=@sum(link(</a:t>
            </a:r>
            <a:r>
              <a:rPr lang="en-US" altLang="zh-CN" kern="100" dirty="0" err="1">
                <a:latin typeface="宋体" panose="02010600030101010101" pitchFamily="2" charset="-122"/>
                <a:cs typeface="Times New Roman" panose="02020603050405020304" pitchFamily="18" charset="0"/>
              </a:rPr>
              <a:t>i,j</a:t>
            </a:r>
            <a:r>
              <a:rPr lang="en-US" altLang="zh-CN" kern="100" dirty="0">
                <a:latin typeface="宋体" panose="02010600030101010101" pitchFamily="2" charset="-122"/>
                <a:cs typeface="Times New Roman" panose="02020603050405020304" pitchFamily="18" charset="0"/>
              </a:rPr>
              <a:t>):X(</a:t>
            </a:r>
            <a:r>
              <a:rPr lang="en-US" altLang="zh-CN" kern="100" dirty="0" err="1">
                <a:latin typeface="宋体" panose="02010600030101010101" pitchFamily="2" charset="-122"/>
                <a:cs typeface="Times New Roman" panose="02020603050405020304" pitchFamily="18" charset="0"/>
              </a:rPr>
              <a:t>i,j</a:t>
            </a:r>
            <a:r>
              <a:rPr lang="en-US" altLang="zh-CN" kern="100" dirty="0">
                <a:latin typeface="宋体" panose="02010600030101010101" pitchFamily="2" charset="-122"/>
                <a:cs typeface="Times New Roman" panose="02020603050405020304" pitchFamily="18" charset="0"/>
              </a:rPr>
              <a:t>)*y(</a:t>
            </a:r>
            <a:r>
              <a:rPr lang="en-US" altLang="zh-CN" kern="100" dirty="0" err="1">
                <a:latin typeface="宋体" panose="02010600030101010101" pitchFamily="2" charset="-122"/>
                <a:cs typeface="Times New Roman" panose="02020603050405020304" pitchFamily="18" charset="0"/>
              </a:rPr>
              <a:t>i,j</a:t>
            </a:r>
            <a:r>
              <a:rPr lang="en-US" altLang="zh-CN" kern="100" dirty="0">
                <a:latin typeface="宋体" panose="02010600030101010101" pitchFamily="2" charset="-122"/>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目标函数</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@for(arrange(</a:t>
            </a:r>
            <a:r>
              <a:rPr lang="en-US" altLang="zh-CN" kern="100" dirty="0" err="1">
                <a:latin typeface="宋体" panose="02010600030101010101" pitchFamily="2" charset="-122"/>
                <a:cs typeface="Times New Roman" panose="02020603050405020304" pitchFamily="18" charset="0"/>
              </a:rPr>
              <a:t>i</a:t>
            </a:r>
            <a:r>
              <a:rPr lang="en-US" altLang="zh-CN" kern="100" dirty="0">
                <a:latin typeface="宋体" panose="02010600030101010101" pitchFamily="2" charset="-122"/>
                <a:cs typeface="Times New Roman" panose="02020603050405020304" pitchFamily="18" charset="0"/>
              </a:rPr>
              <a:t>):@sum(link(</a:t>
            </a:r>
            <a:r>
              <a:rPr lang="en-US" altLang="zh-CN" kern="100" dirty="0" err="1">
                <a:latin typeface="宋体" panose="02010600030101010101" pitchFamily="2" charset="-122"/>
                <a:cs typeface="Times New Roman" panose="02020603050405020304" pitchFamily="18" charset="0"/>
              </a:rPr>
              <a:t>j,k</a:t>
            </a:r>
            <a:r>
              <a:rPr lang="en-US" altLang="zh-CN" kern="100" dirty="0">
                <a:latin typeface="宋体" panose="02010600030101010101" pitchFamily="2" charset="-122"/>
                <a:cs typeface="Times New Roman" panose="02020603050405020304" pitchFamily="18" charset="0"/>
              </a:rPr>
              <a:t>)|k #</a:t>
            </a:r>
            <a:r>
              <a:rPr lang="en-US" altLang="zh-CN" kern="100" dirty="0" err="1">
                <a:latin typeface="宋体" panose="02010600030101010101" pitchFamily="2" charset="-122"/>
                <a:cs typeface="Times New Roman" panose="02020603050405020304" pitchFamily="18" charset="0"/>
              </a:rPr>
              <a:t>eq</a:t>
            </a:r>
            <a:r>
              <a:rPr lang="en-US" altLang="zh-CN" kern="100" dirty="0">
                <a:latin typeface="宋体" panose="02010600030101010101" pitchFamily="2" charset="-122"/>
                <a:cs typeface="Times New Roman" panose="02020603050405020304" pitchFamily="18" charset="0"/>
              </a:rPr>
              <a:t># 1:y(</a:t>
            </a:r>
            <a:r>
              <a:rPr lang="en-US" altLang="zh-CN" kern="100" dirty="0" err="1">
                <a:latin typeface="宋体" panose="02010600030101010101" pitchFamily="2" charset="-122"/>
                <a:cs typeface="Times New Roman" panose="02020603050405020304" pitchFamily="18" charset="0"/>
              </a:rPr>
              <a:t>j,k</a:t>
            </a:r>
            <a:r>
              <a:rPr lang="en-US" altLang="zh-CN" kern="100" dirty="0">
                <a:latin typeface="宋体" panose="02010600030101010101" pitchFamily="2" charset="-122"/>
                <a:cs typeface="Times New Roman" panose="02020603050405020304" pitchFamily="18" charset="0"/>
              </a:rPr>
              <a:t>))=1); </a:t>
            </a:r>
            <a:r>
              <a:rPr lang="zh-CN" altLang="zh-CN" kern="100" dirty="0">
                <a:latin typeface="Calibri" panose="020F0502020204030204" pitchFamily="34" charset="0"/>
                <a:cs typeface="Times New Roman" panose="02020603050405020304" pitchFamily="18" charset="0"/>
              </a:rPr>
              <a:t>每个部门只取一个效益值</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@for(link(</a:t>
            </a:r>
            <a:r>
              <a:rPr lang="en-US" altLang="zh-CN" kern="100" dirty="0" err="1">
                <a:latin typeface="宋体" panose="02010600030101010101" pitchFamily="2" charset="-122"/>
                <a:cs typeface="Times New Roman" panose="02020603050405020304" pitchFamily="18" charset="0"/>
              </a:rPr>
              <a:t>i,j</a:t>
            </a:r>
            <a:r>
              <a:rPr lang="en-US" altLang="zh-CN" kern="100" dirty="0">
                <a:latin typeface="宋体" panose="02010600030101010101" pitchFamily="2" charset="-122"/>
                <a:cs typeface="Times New Roman" panose="02020603050405020304" pitchFamily="18" charset="0"/>
              </a:rPr>
              <a:t>):y(</a:t>
            </a:r>
            <a:r>
              <a:rPr lang="en-US" altLang="zh-CN" kern="100" dirty="0" err="1">
                <a:latin typeface="宋体" panose="02010600030101010101" pitchFamily="2" charset="-122"/>
                <a:cs typeface="Times New Roman" panose="02020603050405020304" pitchFamily="18" charset="0"/>
              </a:rPr>
              <a:t>i,j</a:t>
            </a:r>
            <a:r>
              <a:rPr lang="en-US" altLang="zh-CN" kern="100" dirty="0">
                <a:latin typeface="宋体" panose="02010600030101010101" pitchFamily="2" charset="-122"/>
                <a:cs typeface="Times New Roman" panose="02020603050405020304" pitchFamily="18" charset="0"/>
              </a:rPr>
              <a:t>)*z(</a:t>
            </a:r>
            <a:r>
              <a:rPr lang="en-US" altLang="zh-CN" kern="100" dirty="0" err="1">
                <a:latin typeface="宋体" panose="02010600030101010101" pitchFamily="2" charset="-122"/>
                <a:cs typeface="Times New Roman" panose="02020603050405020304" pitchFamily="18" charset="0"/>
              </a:rPr>
              <a:t>i</a:t>
            </a:r>
            <a:r>
              <a:rPr lang="en-US" altLang="zh-CN" kern="100" dirty="0">
                <a:latin typeface="宋体" panose="02010600030101010101" pitchFamily="2" charset="-122"/>
                <a:cs typeface="Times New Roman" panose="02020603050405020304" pitchFamily="18" charset="0"/>
              </a:rPr>
              <a:t>)=M;);</a:t>
            </a:r>
            <a:r>
              <a:rPr lang="zh-CN" altLang="zh-CN" kern="100" dirty="0">
                <a:latin typeface="Calibri" panose="020F0502020204030204" pitchFamily="34" charset="0"/>
                <a:cs typeface="Times New Roman" panose="02020603050405020304" pitchFamily="18" charset="0"/>
              </a:rPr>
              <a:t>限制条件</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资源总数为</a:t>
            </a:r>
            <a:r>
              <a:rPr lang="en-US" altLang="zh-CN" kern="100" dirty="0">
                <a:latin typeface="Calibri" panose="020F0502020204030204" pitchFamily="34" charset="0"/>
                <a:cs typeface="Times New Roman" panose="02020603050405020304" pitchFamily="18" charset="0"/>
              </a:rPr>
              <a:t>M;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@for(link(</a:t>
            </a:r>
            <a:r>
              <a:rPr lang="en-US" altLang="zh-CN" kern="100" dirty="0" err="1">
                <a:latin typeface="宋体" panose="02010600030101010101" pitchFamily="2" charset="-122"/>
                <a:cs typeface="Times New Roman" panose="02020603050405020304" pitchFamily="18" charset="0"/>
              </a:rPr>
              <a:t>i,j</a:t>
            </a:r>
            <a:r>
              <a:rPr lang="en-US" altLang="zh-CN" kern="100" dirty="0">
                <a:latin typeface="宋体" panose="02010600030101010101" pitchFamily="2" charset="-122"/>
                <a:cs typeface="Times New Roman" panose="02020603050405020304" pitchFamily="18" charset="0"/>
              </a:rPr>
              <a:t>):@BIN(y(</a:t>
            </a:r>
            <a:r>
              <a:rPr lang="en-US" altLang="zh-CN" kern="100" dirty="0" err="1">
                <a:latin typeface="宋体" panose="02010600030101010101" pitchFamily="2" charset="-122"/>
                <a:cs typeface="Times New Roman" panose="02020603050405020304" pitchFamily="18" charset="0"/>
              </a:rPr>
              <a:t>i,j</a:t>
            </a:r>
            <a:r>
              <a:rPr lang="en-US" altLang="zh-CN" kern="100" dirty="0">
                <a:latin typeface="宋体" panose="02010600030101010101" pitchFamily="2" charset="-122"/>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定义</a:t>
            </a:r>
            <a:r>
              <a:rPr lang="en-US" altLang="zh-CN" kern="100" dirty="0">
                <a:latin typeface="Calibri" panose="020F0502020204030204" pitchFamily="34" charset="0"/>
                <a:cs typeface="Times New Roman" panose="02020603050405020304" pitchFamily="18" charset="0"/>
              </a:rPr>
              <a:t>Y</a:t>
            </a:r>
            <a:r>
              <a:rPr lang="zh-CN" altLang="zh-CN" kern="100" dirty="0">
                <a:latin typeface="Calibri" panose="020F0502020204030204" pitchFamily="34" charset="0"/>
                <a:cs typeface="Times New Roman" panose="02020603050405020304" pitchFamily="18" charset="0"/>
              </a:rPr>
              <a:t>为</a:t>
            </a:r>
            <a:r>
              <a:rPr lang="en-US" altLang="zh-CN" kern="100" dirty="0">
                <a:latin typeface="Calibri" panose="020F0502020204030204" pitchFamily="34" charset="0"/>
                <a:cs typeface="Times New Roman" panose="02020603050405020304" pitchFamily="18" charset="0"/>
              </a:rPr>
              <a:t>0-1</a:t>
            </a:r>
            <a:r>
              <a:rPr lang="zh-CN" altLang="zh-CN" kern="100" dirty="0">
                <a:latin typeface="Calibri" panose="020F0502020204030204" pitchFamily="34" charset="0"/>
                <a:cs typeface="Times New Roman" panose="02020603050405020304" pitchFamily="18" charset="0"/>
              </a:rPr>
              <a:t>变量</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zh-CN" altLang="zh-CN" kern="100" dirty="0">
                <a:latin typeface="Calibri" panose="020F0502020204030204" pitchFamily="34" charset="0"/>
                <a:cs typeface="Times New Roman" panose="02020603050405020304" pitchFamily="18" charset="0"/>
              </a:rPr>
              <a:t>③</a:t>
            </a: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模型的数据部分。</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data: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X=x(</a:t>
            </a:r>
            <a:r>
              <a:rPr lang="en-US" altLang="zh-CN" kern="100" dirty="0" err="1">
                <a:latin typeface="宋体" panose="02010600030101010101" pitchFamily="2" charset="-122"/>
                <a:cs typeface="Times New Roman" panose="02020603050405020304" pitchFamily="18" charset="0"/>
              </a:rPr>
              <a:t>i,j</a:t>
            </a:r>
            <a:r>
              <a:rPr lang="en-US" altLang="zh-CN" kern="100" dirty="0">
                <a:latin typeface="宋体" panose="02010600030101010101" pitchFamily="2" charset="-122"/>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a:latin typeface="宋体" panose="02010600030101010101" pitchFamily="2" charset="-122"/>
                <a:cs typeface="Times New Roman" panose="02020603050405020304" pitchFamily="18" charset="0"/>
              </a:rPr>
              <a:t>Z=z(</a:t>
            </a:r>
            <a:r>
              <a:rPr lang="en-US" altLang="zh-CN" kern="100" dirty="0" err="1">
                <a:latin typeface="宋体" panose="02010600030101010101" pitchFamily="2" charset="-122"/>
                <a:cs typeface="Times New Roman" panose="02020603050405020304" pitchFamily="18" charset="0"/>
              </a:rPr>
              <a:t>i</a:t>
            </a:r>
            <a:r>
              <a:rPr lang="en-US" altLang="zh-CN" kern="100" dirty="0">
                <a:latin typeface="宋体" panose="02010600030101010101" pitchFamily="2" charset="-122"/>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defRPr/>
            </a:pPr>
            <a:r>
              <a:rPr lang="en-US" altLang="zh-CN" kern="100" dirty="0" err="1">
                <a:latin typeface="宋体" panose="02010600030101010101" pitchFamily="2" charset="-122"/>
                <a:cs typeface="Times New Roman" panose="02020603050405020304" pitchFamily="18" charset="0"/>
              </a:rPr>
              <a:t>Enddata</a:t>
            </a:r>
            <a:endParaRPr lang="zh-CN" altLang="zh-CN" kern="100" dirty="0">
              <a:latin typeface="Calibri" panose="020F0502020204030204" pitchFamily="34"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绪论">
  <a:themeElements>
    <a:clrScheme name="绪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绪论">
      <a:majorFont>
        <a:latin typeface="Garamond"/>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绪论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绪论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绪论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绪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绪论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绪论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
  <Words>11279</Words>
  <Application>Microsoft Office PowerPoint</Application>
  <PresentationFormat>全屏显示(4:3)</PresentationFormat>
  <Paragraphs>2331</Paragraphs>
  <Slides>110</Slides>
  <Notes>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110</vt:i4>
      </vt:variant>
    </vt:vector>
  </HeadingPairs>
  <TitlesOfParts>
    <vt:vector size="127" baseType="lpstr">
      <vt:lpstr>等线</vt:lpstr>
      <vt:lpstr>华文细黑</vt:lpstr>
      <vt:lpstr>华文行楷</vt:lpstr>
      <vt:lpstr>楷体_GB2312</vt:lpstr>
      <vt:lpstr>宋体</vt:lpstr>
      <vt:lpstr>Arial</vt:lpstr>
      <vt:lpstr>Arial Narrow</vt:lpstr>
      <vt:lpstr>Calibri</vt:lpstr>
      <vt:lpstr>Cambria Math</vt:lpstr>
      <vt:lpstr>Courier New</vt:lpstr>
      <vt:lpstr>Garamond</vt:lpstr>
      <vt:lpstr>Times New Roman</vt:lpstr>
      <vt:lpstr>Wingdings</vt:lpstr>
      <vt:lpstr>绪论</vt:lpstr>
      <vt:lpstr>Equation</vt:lpstr>
      <vt:lpstr>公式</vt:lpstr>
      <vt:lpstr>Worksheet</vt:lpstr>
      <vt:lpstr> 运 筹 学</vt:lpstr>
      <vt:lpstr>第九章</vt:lpstr>
      <vt:lpstr>本章基本要求</vt:lpstr>
      <vt:lpstr>第九章之第一节</vt:lpstr>
      <vt:lpstr>最短路线问题</vt:lpstr>
      <vt:lpstr>最短路线问题-穷举法</vt:lpstr>
      <vt:lpstr>最短路线问题-多阶段决策</vt:lpstr>
      <vt:lpstr>最短路线问题-多阶段决策</vt:lpstr>
      <vt:lpstr>最短路线问题-多阶段决策</vt:lpstr>
      <vt:lpstr>最短路线问题-多阶段决策</vt:lpstr>
      <vt:lpstr>Lingo求解</vt:lpstr>
      <vt:lpstr>多阶段决策过程</vt:lpstr>
      <vt:lpstr>递归神经网络</vt:lpstr>
      <vt:lpstr>第九章之第二节</vt:lpstr>
      <vt:lpstr>基本概念</vt:lpstr>
      <vt:lpstr>基本概念</vt:lpstr>
      <vt:lpstr>基本概念</vt:lpstr>
      <vt:lpstr>基本概念</vt:lpstr>
      <vt:lpstr>基本概念</vt:lpstr>
      <vt:lpstr>基本概念</vt:lpstr>
      <vt:lpstr>基本概念</vt:lpstr>
      <vt:lpstr>基本方程(逆序解法)</vt:lpstr>
      <vt:lpstr>基本方程(逆序解法)</vt:lpstr>
      <vt:lpstr>基本方程(逆序解法)</vt:lpstr>
      <vt:lpstr>基本方程(逆序解法)</vt:lpstr>
      <vt:lpstr>基本方程(逆序解法)</vt:lpstr>
      <vt:lpstr>基本方程(顺序解法)</vt:lpstr>
      <vt:lpstr>基本方程(顺序解法)</vt:lpstr>
      <vt:lpstr>基本思想</vt:lpstr>
      <vt:lpstr>正确建立动态规划模型</vt:lpstr>
      <vt:lpstr>第九章之第三节</vt:lpstr>
      <vt:lpstr>最优性原理</vt:lpstr>
      <vt:lpstr>最优性定理-动态规划理论基础</vt:lpstr>
      <vt:lpstr>最优性定理-动态规划理论基础</vt:lpstr>
      <vt:lpstr>最优性定理-动态规划理论基础</vt:lpstr>
      <vt:lpstr>最优性定理的含义</vt:lpstr>
      <vt:lpstr>第九章之第四节</vt:lpstr>
      <vt:lpstr>n阶段决策过程</vt:lpstr>
      <vt:lpstr>逆推解法</vt:lpstr>
      <vt:lpstr>逆推解法</vt:lpstr>
      <vt:lpstr>逆推解法</vt:lpstr>
      <vt:lpstr>逆推解法</vt:lpstr>
      <vt:lpstr>n阶段决策过程</vt:lpstr>
      <vt:lpstr>顺推解法</vt:lpstr>
      <vt:lpstr>顺推解法</vt:lpstr>
      <vt:lpstr>顺推解法</vt:lpstr>
      <vt:lpstr>第九章之第五节</vt:lpstr>
      <vt:lpstr>优缺点（P245，注记）</vt:lpstr>
      <vt:lpstr>一维资源分配问题(P249, 10.1.1)</vt:lpstr>
      <vt:lpstr>PowerPoint 演示文稿</vt:lpstr>
      <vt:lpstr>PowerPoint 演示文稿</vt:lpstr>
      <vt:lpstr>PowerPoint 演示文稿</vt:lpstr>
      <vt:lpstr>第三阶段：设将s3台设备（s3＝0,1,2,3,4,5）全部分配给丙厂时，最大盈利值为： f3(s3)＝max[P3(x3)]  其中x3＝s3＝0,1,2,3,4,5,    x3*表示使得f3(s3)为最大值时的最优决策。</vt:lpstr>
      <vt:lpstr>第二阶段：设将s2台设备（s2＝0,1,2,3,4,5）分配给乙厂和丙厂时，对每一个s2值，都有一种最优分配方案，使得最大盈利值为：f2(s2)＝max[ P2(x2)+ f3(s2－x2) ] ，x2＝0,1,2,3,4,5</vt:lpstr>
      <vt:lpstr>PowerPoint 演示文稿</vt:lpstr>
      <vt:lpstr>第一阶段：设将s1台设备（s1＝5）分配给甲厂、乙厂和丙厂时，则最大盈利值为：f1(s1)＝max[ P1(x1)+ f2(5－x1) ] 其中，x1＝0,1,2,3,4,5</vt:lpstr>
      <vt:lpstr>Matlab求解</vt:lpstr>
      <vt:lpstr>Matlab求解</vt:lpstr>
      <vt:lpstr>生产与存储问题(P261, 10.2)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Matlab求解</vt:lpstr>
      <vt:lpstr>Matlab求解</vt:lpstr>
      <vt:lpstr>背包问题 ( P271, 10.3)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课后练习题（运筹学第4版）</vt:lpstr>
      <vt:lpstr>课后练习题  10.4</vt:lpstr>
      <vt:lpstr>参考文献</vt:lpstr>
      <vt:lpstr>PowerPoint 演示文稿</vt:lpstr>
      <vt:lpstr>货车卸货问题</vt:lpstr>
      <vt:lpstr>用MATLAB解决动态规划问题</vt:lpstr>
      <vt:lpstr>用MATLAB解决动态规划问题</vt:lpstr>
      <vt:lpstr>用MATLAB解决动态规划问题</vt:lpstr>
      <vt:lpstr>用MATLAB解决动态规划问题</vt:lpstr>
      <vt:lpstr>用MATLAB解决动态规划问题</vt:lpstr>
      <vt:lpstr>用MATLAB解决动态规划问题</vt:lpstr>
      <vt:lpstr>用MATLAB解决动态规划问题</vt:lpstr>
      <vt:lpstr>动态规划举例-Matlab</vt:lpstr>
      <vt:lpstr>用MATLAB解决动态规划问题</vt:lpstr>
      <vt:lpstr>用Lingo解决动态规划问题</vt:lpstr>
      <vt:lpstr>投资问题</vt:lpstr>
      <vt:lpstr>投资问题</vt:lpstr>
      <vt:lpstr>资源分配问题</vt:lpstr>
      <vt:lpstr>资源分配问题</vt:lpstr>
      <vt:lpstr>资源分配问题</vt:lpstr>
      <vt:lpstr>资源分配问题</vt:lpstr>
      <vt:lpstr>最短路问题</vt:lpstr>
      <vt:lpstr>最短路问题</vt:lpstr>
      <vt:lpstr>最短路问题</vt:lpstr>
      <vt:lpstr>最短路问题</vt:lpstr>
      <vt:lpstr>回收率问题</vt:lpstr>
      <vt:lpstr>资源分配问题</vt:lpstr>
      <vt:lpstr>资源分配问题</vt:lpstr>
      <vt:lpstr>Lingo程序说明</vt:lpstr>
      <vt:lpstr>Lingo程序说明</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dc:title>第六章</dc:title>
  <cp:revision>479</cp:revision>
</cp:coreProperties>
</file>