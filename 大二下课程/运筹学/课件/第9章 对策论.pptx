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5"/>
  </p:notesMasterIdLst>
  <p:sldIdLst>
    <p:sldId id="256" r:id="rId2"/>
    <p:sldId id="349" r:id="rId3"/>
    <p:sldId id="350" r:id="rId4"/>
    <p:sldId id="347" r:id="rId5"/>
    <p:sldId id="363" r:id="rId6"/>
    <p:sldId id="348" r:id="rId7"/>
    <p:sldId id="367" r:id="rId8"/>
    <p:sldId id="368" r:id="rId9"/>
    <p:sldId id="369" r:id="rId10"/>
    <p:sldId id="370" r:id="rId11"/>
    <p:sldId id="371" r:id="rId12"/>
    <p:sldId id="372" r:id="rId13"/>
    <p:sldId id="352" r:id="rId14"/>
    <p:sldId id="373" r:id="rId15"/>
    <p:sldId id="362" r:id="rId16"/>
    <p:sldId id="353" r:id="rId17"/>
    <p:sldId id="354" r:id="rId18"/>
    <p:sldId id="355" r:id="rId19"/>
    <p:sldId id="356" r:id="rId20"/>
    <p:sldId id="377" r:id="rId21"/>
    <p:sldId id="364" r:id="rId22"/>
    <p:sldId id="357" r:id="rId23"/>
    <p:sldId id="374" r:id="rId24"/>
    <p:sldId id="375" r:id="rId25"/>
    <p:sldId id="376" r:id="rId26"/>
    <p:sldId id="381" r:id="rId27"/>
    <p:sldId id="382" r:id="rId28"/>
    <p:sldId id="365" r:id="rId29"/>
    <p:sldId id="360" r:id="rId30"/>
    <p:sldId id="380" r:id="rId31"/>
    <p:sldId id="378" r:id="rId32"/>
    <p:sldId id="361" r:id="rId33"/>
    <p:sldId id="379" r:id="rId3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6699FF"/>
    <a:srgbClr val="6C04AC"/>
    <a:srgbClr val="FF3300"/>
    <a:srgbClr val="FFFF00"/>
    <a:srgbClr val="FF99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2872" autoAdjust="0"/>
  </p:normalViewPr>
  <p:slideViewPr>
    <p:cSldViewPr>
      <p:cViewPr varScale="1">
        <p:scale>
          <a:sx n="113" d="100"/>
          <a:sy n="113" d="100"/>
        </p:scale>
        <p:origin x="313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99B45-FAB5-4B3A-B50A-1F4ED5451428}" type="datetimeFigureOut">
              <a:rPr lang="zh-CN" altLang="en-US" smtClean="0"/>
              <a:t>2023/6/6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40745-42ED-44D7-B076-D9F28FBA0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249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给定一个</a:t>
            </a:r>
            <a:r>
              <a:rPr lang="en-US" altLang="zh-CN" dirty="0"/>
              <a:t>I</a:t>
            </a:r>
            <a:r>
              <a:rPr lang="zh-CN" altLang="en-US" dirty="0"/>
              <a:t>的混合策略</a:t>
            </a:r>
            <a:r>
              <a:rPr lang="en-US" altLang="zh-CN" dirty="0" err="1"/>
              <a:t>vec</a:t>
            </a:r>
            <a:r>
              <a:rPr lang="zh-CN" altLang="en-US" dirty="0"/>
              <a:t>（</a:t>
            </a:r>
            <a:r>
              <a:rPr lang="en-US" altLang="zh-CN" dirty="0"/>
              <a:t>x</a:t>
            </a:r>
            <a:r>
              <a:rPr lang="zh-CN" altLang="en-US" dirty="0"/>
              <a:t>），找到对应</a:t>
            </a:r>
            <a:r>
              <a:rPr lang="en-US" altLang="zh-CN" dirty="0"/>
              <a:t>II</a:t>
            </a:r>
            <a:r>
              <a:rPr lang="zh-CN" altLang="en-US" dirty="0"/>
              <a:t>的混合策略</a:t>
            </a:r>
            <a:r>
              <a:rPr lang="en-US" altLang="zh-CN" dirty="0" err="1"/>
              <a:t>vec</a:t>
            </a:r>
            <a:r>
              <a:rPr lang="zh-CN" altLang="en-US" dirty="0"/>
              <a:t>（</a:t>
            </a:r>
            <a:r>
              <a:rPr lang="en-US" altLang="zh-CN" dirty="0"/>
              <a:t>y</a:t>
            </a:r>
            <a:r>
              <a:rPr lang="zh-CN" altLang="en-US" dirty="0"/>
              <a:t>）使得</a:t>
            </a:r>
            <a:r>
              <a:rPr lang="en-US" altLang="zh-CN" dirty="0"/>
              <a:t>I</a:t>
            </a:r>
            <a:r>
              <a:rPr lang="zh-CN" altLang="en-US" dirty="0"/>
              <a:t>的收益最小。然后找这个最小收益的最大值。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40745-42ED-44D7-B076-D9F28FBA0DE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265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Y</a:t>
            </a:r>
            <a:r>
              <a:rPr lang="zh-CN" altLang="en-US" dirty="0"/>
              <a:t>的策略改变，会使得损失增大；</a:t>
            </a:r>
            <a:r>
              <a:rPr lang="en-US" altLang="zh-CN" dirty="0"/>
              <a:t>X</a:t>
            </a:r>
            <a:r>
              <a:rPr lang="zh-CN" altLang="en-US" dirty="0"/>
              <a:t>的策略改变，会使得收益减小。两者取得平衡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40745-42ED-44D7-B076-D9F28FBA0DE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275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40745-42ED-44D7-B076-D9F28FBA0DE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316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40745-42ED-44D7-B076-D9F28FBA0DE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244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0C424026-4B14-4D7E-AD48-FBECAFF23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B462C2D8-7EEC-4805-A412-356D531B4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" name="Picture 9" descr="校徽">
            <a:extLst>
              <a:ext uri="{FF2B5EF4-FFF2-40B4-BE49-F238E27FC236}">
                <a16:creationId xmlns:a16="http://schemas.microsoft.com/office/drawing/2014/main" id="{296A0B75-15A8-48A3-BC53-11A6EE7D5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52400"/>
            <a:ext cx="990600" cy="96678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7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2997200"/>
            <a:ext cx="65532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60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56E18C2-2619-4A31-AAEB-FCDA56319B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3105093-0558-4A53-812B-979329FCF5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F66F7B0-2127-4A49-ABA5-44B1012EA2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8C2C1F-9BF4-4929-93F8-F7E47CC75B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254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D4D520D-6DD1-4200-B8FD-90AA0DDB51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B2491F-2CF6-4DEA-98E8-667BC3E791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3FA6D2-9EB9-4093-BFBC-CD6C84851E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18FB03-0954-4A44-B3C8-50B4BED2FA1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8419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1F8E18-07DA-4E10-8CBE-EB7E29B557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6DC500-E70C-43C1-9919-8704883FA9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89BCF7-21DB-41DC-A67E-4B2A14B2C7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7E72E2-8515-4761-98AE-DE91C5AAB4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446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D75E53-0DD7-45C5-983C-5920FC6101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713993-125E-49BB-A1E5-94A90107AF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B39243-BBCC-429E-A2C6-689580CE8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401EF7-3B73-441F-BBE7-B4D8063236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670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2197F99-423A-40CC-9BE8-D64FF44F0C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2EE44F0-06E0-42C6-9316-73E0C1A31D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40AB607-5A3C-4F6F-8F7D-7669EA360A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842904-E5C1-42F2-BC38-65C787EE569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3167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CFA0774-B927-4ED9-9ABB-4EF40BBCAC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CD6C2B-03CA-497D-A22F-338ED5F3B1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22B7A63-189F-47D2-8C49-42DAE9AD74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531C30-5CBD-4E04-8785-405848A9FF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4421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A358EA4-9A35-4701-BF60-27BA562E1F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30C77CC-1A0F-485D-AC95-63BF6BFC76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3A69BF-E693-4FB5-B42E-E632623E69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6B1C5A-3F2A-4161-A75B-E16C375C94A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94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9BE30D-C472-49BA-8BA3-259B6BCBB4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9E19B6-D732-46C0-8C4C-2133C2B22A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BAE459-ACE2-4AFE-9D49-40B6CEA733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5E0F97-7507-4270-B9C6-0014E4B4A7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0861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708121-F48C-431F-B940-6D1A6EC2B1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463F2E-0D67-4BC5-B1D5-B3BBD63E3D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A36E96-DCB6-42C9-B349-2BE921463D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47EB60-24A3-43E4-856E-1B53180B46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228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0327C9-9DB1-4E0C-A53E-54E0376D45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5EA826-BAA1-45AA-9762-10B2480631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1A1EBF-2918-4688-8040-D7071262DB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40283D-451B-4DBB-825D-549D45D741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694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5575"/>
            <a:ext cx="2057400" cy="59753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5575"/>
            <a:ext cx="6019800" cy="59753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28ED87-A3E0-4639-B86C-BEA617F290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F37C13-2CCF-4131-A078-3E065C8556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8F4B0F-0737-4088-82B4-536E835F25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A4AA13-7C18-4619-A78E-78F3FB8AF9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9289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9112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43000"/>
            <a:ext cx="4038600" cy="4987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4987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13E2B-4A4D-4B84-B111-15E27C5412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9F3F09-6EDB-49CA-A951-0A99DDEDF6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4D37E9-15FF-4A75-9093-5A4FCF48E7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CE1D52-9084-4499-882D-730D8D603C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04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9112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43000"/>
            <a:ext cx="4038600" cy="4987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038600" cy="2417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13163"/>
            <a:ext cx="4038600" cy="2417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45CCD37-71B6-4900-88FD-29D98B17B4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B0C0AC1-6818-402E-8FE9-11FDAF3326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BE2FF18-8607-437D-9796-658D3FA94D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5744DA-8AEF-444F-9DB9-7251E48968B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1559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95A2A34-712D-454D-9344-C84BFF82E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5575"/>
            <a:ext cx="82296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AC9AB50-4D89-4358-B054-CF756148D0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229600" cy="498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6132" name="Rectangle 4">
            <a:extLst>
              <a:ext uri="{FF2B5EF4-FFF2-40B4-BE49-F238E27FC236}">
                <a16:creationId xmlns:a16="http://schemas.microsoft.com/office/drawing/2014/main" id="{83F45A46-4932-419E-8A70-ECC28833A70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2E77A983-49D8-41A6-ADB1-45F53F702F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6134" name="Rectangle 6">
            <a:extLst>
              <a:ext uri="{FF2B5EF4-FFF2-40B4-BE49-F238E27FC236}">
                <a16:creationId xmlns:a16="http://schemas.microsoft.com/office/drawing/2014/main" id="{2794203C-9B8C-4F75-A40B-DD31F74B1EA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Garamond" panose="02020404030301010803" pitchFamily="18" charset="0"/>
              </a:defRPr>
            </a:lvl1pPr>
          </a:lstStyle>
          <a:p>
            <a:fld id="{476332D9-57BB-48F0-8979-B4B20C409F8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1" name="Freeform 7">
            <a:extLst>
              <a:ext uri="{FF2B5EF4-FFF2-40B4-BE49-F238E27FC236}">
                <a16:creationId xmlns:a16="http://schemas.microsoft.com/office/drawing/2014/main" id="{51F30ECE-2E93-4B0C-953E-DFE49D1AC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878B5E4A-71B9-452D-BCD5-C2E9D29BC4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33" name="Picture 9" descr="校徽">
            <a:extLst>
              <a:ext uri="{FF2B5EF4-FFF2-40B4-BE49-F238E27FC236}">
                <a16:creationId xmlns:a16="http://schemas.microsoft.com/office/drawing/2014/main" id="{BF37A353-5FAA-41BD-8A9D-993B57C8A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225425"/>
            <a:ext cx="785813" cy="76517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800" b="1">
          <a:solidFill>
            <a:schemeClr val="tx1"/>
          </a:solidFill>
          <a:latin typeface="+mn-lt"/>
          <a:ea typeface="+mn-ea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+mn-ea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oleObject" Target="../embeddings/oleObject7.bin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8.png"/><Relationship Id="rId4" Type="http://schemas.openxmlformats.org/officeDocument/2006/relationships/image" Target="../media/image6.wmf"/><Relationship Id="rId9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9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2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0.png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70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56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58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14BA0FD-B2E5-4493-A2C3-FA5AB564871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第八章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D9A9D54-DCC2-44EF-8274-0F70186E22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676400" y="2997200"/>
            <a:ext cx="6858000" cy="1752600"/>
          </a:xfrm>
        </p:spPr>
        <p:txBody>
          <a:bodyPr/>
          <a:lstStyle/>
          <a:p>
            <a:pPr eaLnBrk="1" hangingPunct="1"/>
            <a:r>
              <a:rPr lang="zh-CN" altLang="en-US"/>
              <a:t>对策论 </a:t>
            </a:r>
            <a:r>
              <a:rPr lang="en-US" altLang="zh-CN" sz="4800"/>
              <a:t>(Game Theory)</a:t>
            </a:r>
            <a:endParaRPr lang="zh-CN" altLang="en-US"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490645C-3657-40BF-B962-C9F5FDF3D8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研究对象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7DCF185-897A-4004-8310-88651C8C5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竞争或对抗性质的行为</a:t>
            </a:r>
            <a:endParaRPr lang="en-US" altLang="zh-CN"/>
          </a:p>
          <a:p>
            <a:pPr lvl="1" eaLnBrk="1" hangingPunct="1"/>
            <a:r>
              <a:rPr lang="zh-CN" altLang="en-US"/>
              <a:t>战争</a:t>
            </a:r>
            <a:endParaRPr lang="en-US" altLang="zh-CN"/>
          </a:p>
          <a:p>
            <a:pPr lvl="1" eaLnBrk="1" hangingPunct="1"/>
            <a:r>
              <a:rPr lang="zh-CN" altLang="en-US"/>
              <a:t>体育比赛</a:t>
            </a:r>
          </a:p>
          <a:p>
            <a:pPr lvl="1" eaLnBrk="1" hangingPunct="1"/>
            <a:r>
              <a:rPr lang="zh-CN" altLang="en-US"/>
              <a:t>商业竞争</a:t>
            </a:r>
            <a:endParaRPr lang="en-US" altLang="zh-CN"/>
          </a:p>
          <a:p>
            <a:pPr lvl="1" eaLnBrk="1" hangingPunct="1"/>
            <a:r>
              <a:rPr lang="en-US" altLang="zh-CN"/>
              <a:t>…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力图选择对己最有利的方案</a:t>
            </a:r>
            <a:endParaRPr lang="en-US" altLang="zh-CN"/>
          </a:p>
          <a:p>
            <a:pPr lvl="1" eaLnBrk="1" hangingPunct="1"/>
            <a:r>
              <a:rPr lang="zh-CN" altLang="en-US"/>
              <a:t>是否存在？</a:t>
            </a:r>
            <a:endParaRPr lang="en-US" altLang="zh-CN"/>
          </a:p>
          <a:p>
            <a:pPr lvl="1" eaLnBrk="1" hangingPunct="1"/>
            <a:r>
              <a:rPr lang="zh-CN" altLang="en-US"/>
              <a:t>如何找到？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3590D4E-775D-4B88-95CD-7A1B9AAACE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对策论</a:t>
            </a:r>
            <a:endParaRPr lang="en-US" altLang="zh-CN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D245D51-C584-466E-B510-559FD06BF7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715000"/>
          </a:xfrm>
        </p:spPr>
        <p:txBody>
          <a:bodyPr/>
          <a:lstStyle/>
          <a:p>
            <a:pPr eaLnBrk="1" hangingPunct="1"/>
            <a:r>
              <a:rPr lang="zh-CN" altLang="en-US"/>
              <a:t>现代博弈理论形成的标志：</a:t>
            </a:r>
            <a:r>
              <a:rPr lang="en-US" altLang="zh-CN"/>
              <a:t>von Neumann &amp;</a:t>
            </a:r>
            <a:r>
              <a:rPr lang="zh-CN" altLang="en-US"/>
              <a:t> </a:t>
            </a:r>
            <a:r>
              <a:rPr lang="en-US" altLang="zh-CN"/>
              <a:t>O. Morgenstern 《</a:t>
            </a:r>
            <a:r>
              <a:rPr lang="zh-CN" altLang="en-US"/>
              <a:t>博弈论和经济行为</a:t>
            </a:r>
            <a:r>
              <a:rPr lang="en-US" altLang="zh-CN"/>
              <a:t>》</a:t>
            </a:r>
            <a:r>
              <a:rPr lang="zh-CN" altLang="en-US"/>
              <a:t>（</a:t>
            </a:r>
            <a:r>
              <a:rPr lang="en-US" altLang="zh-CN"/>
              <a:t>1944</a:t>
            </a:r>
            <a:r>
              <a:rPr lang="zh-CN" altLang="en-US"/>
              <a:t>）</a:t>
            </a:r>
          </a:p>
          <a:p>
            <a:pPr eaLnBrk="1" hangingPunct="1"/>
            <a:endParaRPr lang="zh-CN" altLang="en-US"/>
          </a:p>
          <a:p>
            <a:pPr eaLnBrk="1" hangingPunct="1"/>
            <a:r>
              <a:rPr lang="en-US" altLang="zh-CN"/>
              <a:t>50</a:t>
            </a:r>
            <a:r>
              <a:rPr lang="zh-CN" altLang="en-US"/>
              <a:t>年代是对策论发展的鼎盛时期，</a:t>
            </a:r>
            <a:r>
              <a:rPr lang="en-US" altLang="zh-CN"/>
              <a:t>Nash </a:t>
            </a:r>
            <a:r>
              <a:rPr lang="zh-CN" altLang="en-US"/>
              <a:t>建立了非合作博弈理论</a:t>
            </a:r>
          </a:p>
          <a:p>
            <a:pPr eaLnBrk="1" hangingPunct="1"/>
            <a:endParaRPr lang="zh-CN" altLang="en-US"/>
          </a:p>
          <a:p>
            <a:pPr eaLnBrk="1" hangingPunct="1"/>
            <a:r>
              <a:rPr lang="en-US" altLang="zh-CN"/>
              <a:t>Reinhard Selten (1965)</a:t>
            </a:r>
            <a:r>
              <a:rPr lang="zh-CN" altLang="en-US"/>
              <a:t>引入动态分析，提出“精练纳什均衡”概念。</a:t>
            </a:r>
            <a:r>
              <a:rPr lang="en-US" altLang="zh-CN"/>
              <a:t>John C.Harsanyi, </a:t>
            </a:r>
            <a:r>
              <a:rPr lang="zh-CN" altLang="en-US"/>
              <a:t>（</a:t>
            </a:r>
            <a:r>
              <a:rPr lang="en-US" altLang="zh-CN"/>
              <a:t>1967-1968</a:t>
            </a:r>
            <a:r>
              <a:rPr lang="zh-CN" altLang="en-US"/>
              <a:t>）研究了不完全信息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67E2AE5-3DBC-4922-976B-4005A6595A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对策行为</a:t>
            </a:r>
          </a:p>
        </p:txBody>
      </p:sp>
      <p:sp>
        <p:nvSpPr>
          <p:cNvPr id="18435" name="Rectangle 43">
            <a:extLst>
              <a:ext uri="{FF2B5EF4-FFF2-40B4-BE49-F238E27FC236}">
                <a16:creationId xmlns:a16="http://schemas.microsoft.com/office/drawing/2014/main" id="{779C015D-32F9-45CA-8FCB-4BC6CC1658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局中人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有决策权的参与者</a:t>
            </a:r>
          </a:p>
          <a:p>
            <a:pPr eaLnBrk="1" hangingPunct="1">
              <a:lnSpc>
                <a:spcPct val="90000"/>
              </a:lnSpc>
            </a:pPr>
            <a:endParaRPr lang="zh-CN" altLang="en-US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策略集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一局对策中，局中人的一个可行方案成为</a:t>
            </a:r>
            <a:r>
              <a:rPr lang="zh-CN" altLang="en-US">
                <a:solidFill>
                  <a:srgbClr val="FF3300"/>
                </a:solidFill>
              </a:rPr>
              <a:t>策略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局中人的策略全体称为策略集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每个局中人选定策略形成的策略组为</a:t>
            </a:r>
            <a:r>
              <a:rPr lang="zh-CN" altLang="en-US">
                <a:solidFill>
                  <a:srgbClr val="FF3300"/>
                </a:solidFill>
              </a:rPr>
              <a:t>局势</a:t>
            </a:r>
            <a:endParaRPr lang="zh-CN" altLang="en-US"/>
          </a:p>
          <a:p>
            <a:pPr eaLnBrk="1" hangingPunct="1">
              <a:lnSpc>
                <a:spcPct val="90000"/>
              </a:lnSpc>
            </a:pPr>
            <a:endParaRPr lang="zh-CN" altLang="en-US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赢得（支付）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任一局势，局中人都有一个赢得值</a:t>
            </a:r>
            <a:endParaRPr lang="zh-CN" altLang="en-US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98E4B34-A6BA-4747-AA15-873DD1A0D0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对策分类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5FB7827-E3CD-4C45-9C52-44C33FDFC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86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/>
              <a:t>按局中人个数分</a:t>
            </a:r>
          </a:p>
          <a:p>
            <a:pPr lvl="1">
              <a:lnSpc>
                <a:spcPct val="110000"/>
              </a:lnSpc>
            </a:pPr>
            <a:r>
              <a:rPr lang="zh-CN" altLang="en-US"/>
              <a:t>二人对策、多人对策</a:t>
            </a:r>
          </a:p>
          <a:p>
            <a:pPr>
              <a:lnSpc>
                <a:spcPct val="110000"/>
              </a:lnSpc>
            </a:pPr>
            <a:r>
              <a:rPr lang="zh-CN" altLang="en-US"/>
              <a:t>按各局中人赢得函数之和是否为零</a:t>
            </a:r>
          </a:p>
          <a:p>
            <a:pPr lvl="1">
              <a:lnSpc>
                <a:spcPct val="110000"/>
              </a:lnSpc>
            </a:pPr>
            <a:r>
              <a:rPr lang="zh-CN" altLang="en-US"/>
              <a:t>零和对策、非零和对策</a:t>
            </a:r>
          </a:p>
          <a:p>
            <a:pPr>
              <a:lnSpc>
                <a:spcPct val="110000"/>
              </a:lnSpc>
            </a:pPr>
            <a:r>
              <a:rPr lang="zh-CN" altLang="en-US"/>
              <a:t>按是否合作</a:t>
            </a:r>
          </a:p>
          <a:p>
            <a:pPr lvl="1">
              <a:lnSpc>
                <a:spcPct val="110000"/>
              </a:lnSpc>
            </a:pPr>
            <a:r>
              <a:rPr lang="zh-CN" altLang="en-US"/>
              <a:t>合作对策、非合作对策</a:t>
            </a:r>
          </a:p>
          <a:p>
            <a:pPr>
              <a:lnSpc>
                <a:spcPct val="110000"/>
              </a:lnSpc>
            </a:pPr>
            <a:r>
              <a:rPr lang="zh-CN" altLang="en-US"/>
              <a:t>按策略个数</a:t>
            </a:r>
          </a:p>
          <a:p>
            <a:pPr lvl="1">
              <a:lnSpc>
                <a:spcPct val="110000"/>
              </a:lnSpc>
            </a:pPr>
            <a:r>
              <a:rPr lang="zh-CN" altLang="en-US"/>
              <a:t>有限对策、无限对策</a:t>
            </a:r>
          </a:p>
          <a:p>
            <a:pPr>
              <a:lnSpc>
                <a:spcPct val="110000"/>
              </a:lnSpc>
            </a:pPr>
            <a:r>
              <a:rPr lang="en-US" altLang="zh-CN"/>
              <a:t>…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7150C258-0D2D-4BD8-9156-A4C1C2FAC1AD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676400"/>
            <a:ext cx="5410200" cy="4343400"/>
            <a:chOff x="720" y="1056"/>
            <a:chExt cx="3408" cy="2736"/>
          </a:xfrm>
        </p:grpSpPr>
        <p:sp>
          <p:nvSpPr>
            <p:cNvPr id="7176" name="Oval 4">
              <a:extLst>
                <a:ext uri="{FF2B5EF4-FFF2-40B4-BE49-F238E27FC236}">
                  <a16:creationId xmlns:a16="http://schemas.microsoft.com/office/drawing/2014/main" id="{3D3EAAF3-CC30-4FAA-82E1-A8455465C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056"/>
              <a:ext cx="1056" cy="432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7177" name="Oval 6">
              <a:extLst>
                <a:ext uri="{FF2B5EF4-FFF2-40B4-BE49-F238E27FC236}">
                  <a16:creationId xmlns:a16="http://schemas.microsoft.com/office/drawing/2014/main" id="{2B1E004D-DBC2-4A52-BB0C-3854F2A17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872"/>
              <a:ext cx="1056" cy="432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7178" name="Oval 7">
              <a:extLst>
                <a:ext uri="{FF2B5EF4-FFF2-40B4-BE49-F238E27FC236}">
                  <a16:creationId xmlns:a16="http://schemas.microsoft.com/office/drawing/2014/main" id="{E514838A-F1F6-48CE-AA80-62AC29D16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360"/>
              <a:ext cx="1056" cy="432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7179" name="Line 8">
              <a:extLst>
                <a:ext uri="{FF2B5EF4-FFF2-40B4-BE49-F238E27FC236}">
                  <a16:creationId xmlns:a16="http://schemas.microsoft.com/office/drawing/2014/main" id="{8097A30A-CE6A-4A29-B0FB-A6AFB5AEA1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296"/>
              <a:ext cx="2352" cy="13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42BDA986-67FC-4836-B6A8-09E5B6300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112"/>
              <a:ext cx="2304" cy="72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37EDF7DF-3D4F-47E3-A290-C0ADFCE79D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2976"/>
              <a:ext cx="2304" cy="57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4">
            <a:extLst>
              <a:ext uri="{FF2B5EF4-FFF2-40B4-BE49-F238E27FC236}">
                <a16:creationId xmlns:a16="http://schemas.microsoft.com/office/drawing/2014/main" id="{BD7F1D2E-FF27-4D67-9707-E26383145C05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4114800"/>
            <a:ext cx="1981200" cy="1219200"/>
            <a:chOff x="4176" y="2592"/>
            <a:chExt cx="1248" cy="768"/>
          </a:xfrm>
        </p:grpSpPr>
        <p:sp>
          <p:nvSpPr>
            <p:cNvPr id="7174" name="Text Box 11">
              <a:extLst>
                <a:ext uri="{FF2B5EF4-FFF2-40B4-BE49-F238E27FC236}">
                  <a16:creationId xmlns:a16="http://schemas.microsoft.com/office/drawing/2014/main" id="{FBDE2B6A-6E1B-49E7-9FA2-3E4C177C1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793"/>
              <a:ext cx="11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/>
                <a:t>矩阵对策</a:t>
              </a:r>
            </a:p>
          </p:txBody>
        </p:sp>
        <p:sp>
          <p:nvSpPr>
            <p:cNvPr id="7175" name="Oval 12">
              <a:extLst>
                <a:ext uri="{FF2B5EF4-FFF2-40B4-BE49-F238E27FC236}">
                  <a16:creationId xmlns:a16="http://schemas.microsoft.com/office/drawing/2014/main" id="{DC929054-9233-48BB-A15C-56A0A6C37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592"/>
              <a:ext cx="1248" cy="768"/>
            </a:xfrm>
            <a:prstGeom prst="ellipse">
              <a:avLst/>
            </a:prstGeom>
            <a:noFill/>
            <a:ln w="28575" algn="ctr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4D1B24C-39F3-4F82-AD7C-70736DA4C1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矩阵对策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8D634D1-334E-4DDE-897A-BD384AA96F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715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记一个矩阵对策为：</a:t>
            </a:r>
            <a:r>
              <a:rPr lang="en-US" altLang="zh-CN" dirty="0"/>
              <a:t>G = { S</a:t>
            </a:r>
            <a:r>
              <a:rPr lang="en-US" altLang="zh-CN" baseline="-25000" dirty="0"/>
              <a:t>1</a:t>
            </a:r>
            <a:r>
              <a:rPr lang="en-US" altLang="zh-CN" dirty="0"/>
              <a:t>, S</a:t>
            </a:r>
            <a:r>
              <a:rPr lang="en-US" altLang="zh-CN" baseline="-25000" dirty="0"/>
              <a:t>2</a:t>
            </a:r>
            <a:r>
              <a:rPr lang="en-US" altLang="zh-CN" dirty="0"/>
              <a:t>; A }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dirty="0"/>
              <a:t>S</a:t>
            </a:r>
            <a:r>
              <a:rPr lang="en-US" altLang="zh-CN" baseline="-25000" dirty="0"/>
              <a:t>1 </a:t>
            </a:r>
            <a:r>
              <a:rPr lang="zh-CN" altLang="en-US" dirty="0"/>
              <a:t>为局中人</a:t>
            </a:r>
            <a:r>
              <a:rPr lang="en-US" altLang="zh-CN" dirty="0"/>
              <a:t>I</a:t>
            </a:r>
            <a:r>
              <a:rPr lang="zh-CN" altLang="en-US" dirty="0"/>
              <a:t>的策略集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zh-CN" dirty="0"/>
              <a:t>S</a:t>
            </a:r>
            <a:r>
              <a:rPr lang="en-US" altLang="zh-CN" baseline="-25000" dirty="0"/>
              <a:t>2 </a:t>
            </a:r>
            <a:r>
              <a:rPr lang="zh-CN" altLang="en-US" dirty="0"/>
              <a:t>为局中人</a:t>
            </a:r>
            <a:r>
              <a:rPr lang="en-US" altLang="zh-CN" dirty="0"/>
              <a:t>II</a:t>
            </a:r>
            <a:r>
              <a:rPr lang="zh-CN" altLang="en-US" dirty="0"/>
              <a:t>的策略集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zh-CN" dirty="0"/>
              <a:t>A </a:t>
            </a:r>
            <a:r>
              <a:rPr lang="zh-CN" altLang="en-US" dirty="0"/>
              <a:t>为局中人</a:t>
            </a:r>
            <a:r>
              <a:rPr lang="en-US" altLang="zh-CN" dirty="0"/>
              <a:t>I</a:t>
            </a:r>
            <a:r>
              <a:rPr lang="zh-CN" altLang="en-US" dirty="0"/>
              <a:t>的赢得矩阵</a:t>
            </a:r>
          </a:p>
          <a:p>
            <a:pPr eaLnBrk="1" hangingPunct="1">
              <a:lnSpc>
                <a:spcPct val="120000"/>
              </a:lnSpc>
            </a:pPr>
            <a:endParaRPr lang="zh-CN" altLang="en-US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纯策略与混合策略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纯策略：确定的选择某策略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混合策略：以某一概率分布选择各策略</a:t>
            </a:r>
          </a:p>
        </p:txBody>
      </p:sp>
      <p:graphicFrame>
        <p:nvGraphicFramePr>
          <p:cNvPr id="19461" name="Object 5">
            <a:extLst>
              <a:ext uri="{FF2B5EF4-FFF2-40B4-BE49-F238E27FC236}">
                <a16:creationId xmlns:a16="http://schemas.microsoft.com/office/drawing/2014/main" id="{238F4FA1-7EDF-4A39-B5FC-C57856F424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1828800"/>
          <a:ext cx="28194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" name="公式" r:id="rId3" imgW="939800" imgH="228600" progId="Equation.3">
                  <p:embed/>
                </p:oleObj>
              </mc:Choice>
              <mc:Fallback>
                <p:oleObj name="公式" r:id="rId3" imgW="9398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828800"/>
                        <a:ext cx="28194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>
            <a:extLst>
              <a:ext uri="{FF2B5EF4-FFF2-40B4-BE49-F238E27FC236}">
                <a16:creationId xmlns:a16="http://schemas.microsoft.com/office/drawing/2014/main" id="{CCCA7771-4883-4CD2-A875-C15E90F5C9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2500" y="2589213"/>
          <a:ext cx="2781300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" name="公式" r:id="rId5" imgW="927100" imgH="228600" progId="Equation.3">
                  <p:embed/>
                </p:oleObj>
              </mc:Choice>
              <mc:Fallback>
                <p:oleObj name="公式" r:id="rId5" imgW="9271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0" y="2589213"/>
                        <a:ext cx="2781300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>
            <a:extLst>
              <a:ext uri="{FF2B5EF4-FFF2-40B4-BE49-F238E27FC236}">
                <a16:creationId xmlns:a16="http://schemas.microsoft.com/office/drawing/2014/main" id="{DCF1917D-7F0F-4DB4-9C3F-F215B66BD1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3259138"/>
          <a:ext cx="1447800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" name="公式" r:id="rId7" imgW="469696" imgH="241195" progId="Equation.3">
                  <p:embed/>
                </p:oleObj>
              </mc:Choice>
              <mc:Fallback>
                <p:oleObj name="公式" r:id="rId7" imgW="469696" imgH="24119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259138"/>
                        <a:ext cx="1447800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30C97-07F8-4D17-9E84-B68F57726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矩阵对策举例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DA57FC6B-A05D-4AB4-9C83-EA5B2EE2DD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12053616"/>
                  </p:ext>
                </p:extLst>
              </p:nvPr>
            </p:nvGraphicFramePr>
            <p:xfrm>
              <a:off x="381000" y="1447800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DA57FC6B-A05D-4AB4-9C83-EA5B2EE2DD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12053616"/>
                  </p:ext>
                </p:extLst>
              </p:nvPr>
            </p:nvGraphicFramePr>
            <p:xfrm>
              <a:off x="381000" y="1447800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96" t="-613" r="-200888" b="-30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890" t="-613" r="-101484" b="-30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613" r="-1183" b="-304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100613" r="-300888" b="-20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201852" r="-300888" b="-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300000" r="-300888" b="-49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30082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30C97-07F8-4D17-9E84-B68F57726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矩阵对策举例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DA57FC6B-A05D-4AB4-9C83-EA5B2EE2DD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63543855"/>
                  </p:ext>
                </p:extLst>
              </p:nvPr>
            </p:nvGraphicFramePr>
            <p:xfrm>
              <a:off x="437804" y="1219200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DA57FC6B-A05D-4AB4-9C83-EA5B2EE2DD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63543855"/>
                  </p:ext>
                </p:extLst>
              </p:nvPr>
            </p:nvGraphicFramePr>
            <p:xfrm>
              <a:off x="437804" y="1219200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96" t="-1227" r="-200888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890" t="-1227" r="-101484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1227" r="-1183" b="-303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101852" r="-300888" b="-2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200613" r="-300888" b="-10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302469" r="-300888" b="-4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6432A2F-D4C5-4183-BBAE-ABAE94DB40C3}"/>
                  </a:ext>
                </a:extLst>
              </p:cNvPr>
              <p:cNvSpPr txBox="1"/>
              <p:nvPr/>
            </p:nvSpPr>
            <p:spPr>
              <a:xfrm>
                <a:off x="437804" y="5181600"/>
                <a:ext cx="85642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局中人</a:t>
                </a:r>
                <a:r>
                  <a:rPr lang="en-US" altLang="zh-CN" dirty="0"/>
                  <a:t>I</a:t>
                </a:r>
                <a:r>
                  <a:rPr lang="zh-CN" altLang="en-US" dirty="0"/>
                  <a:t>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，局中人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应该选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dirty="0"/>
                  <a:t>，使</a:t>
                </a:r>
                <a:r>
                  <a:rPr lang="en-US" altLang="zh-CN" dirty="0"/>
                  <a:t>I</a:t>
                </a:r>
                <a:r>
                  <a:rPr lang="zh-CN" altLang="en-US" dirty="0"/>
                  <a:t>收益最低（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）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6432A2F-D4C5-4183-BBAE-ABAE94DB4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04" y="5181600"/>
                <a:ext cx="8564204" cy="523220"/>
              </a:xfrm>
              <a:prstGeom prst="rect">
                <a:avLst/>
              </a:prstGeom>
              <a:blipFill>
                <a:blip r:embed="rId3"/>
                <a:stretch>
                  <a:fillRect l="-1495" t="-15116" r="-712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FD3D8E9-6064-4994-BAA9-A9E605FD8EF0}"/>
                  </a:ext>
                </a:extLst>
              </p:cNvPr>
              <p:cNvSpPr txBox="1"/>
              <p:nvPr/>
            </p:nvSpPr>
            <p:spPr>
              <a:xfrm>
                <a:off x="437804" y="5595610"/>
                <a:ext cx="857728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局中人</a:t>
                </a:r>
                <a:r>
                  <a:rPr lang="en-US" altLang="zh-CN" dirty="0"/>
                  <a:t>I</a:t>
                </a:r>
                <a:r>
                  <a:rPr lang="zh-CN" altLang="en-US" dirty="0"/>
                  <a:t>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dirty="0"/>
                  <a:t>，局中人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应该选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dirty="0"/>
                  <a:t>，使</a:t>
                </a:r>
                <a:r>
                  <a:rPr lang="en-US" altLang="zh-CN" dirty="0"/>
                  <a:t>I</a:t>
                </a:r>
                <a:r>
                  <a:rPr lang="zh-CN" altLang="en-US" dirty="0"/>
                  <a:t>收益最低（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）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FD3D8E9-6064-4994-BAA9-A9E605FD8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04" y="5595610"/>
                <a:ext cx="8577284" cy="523220"/>
              </a:xfrm>
              <a:prstGeom prst="rect">
                <a:avLst/>
              </a:prstGeom>
              <a:blipFill>
                <a:blip r:embed="rId4"/>
                <a:stretch>
                  <a:fillRect l="-1493" t="-16279" r="-711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椭圆 10">
            <a:extLst>
              <a:ext uri="{FF2B5EF4-FFF2-40B4-BE49-F238E27FC236}">
                <a16:creationId xmlns:a16="http://schemas.microsoft.com/office/drawing/2014/main" id="{333775D2-BDF2-47D8-A369-D675BC9CE32B}"/>
              </a:ext>
            </a:extLst>
          </p:cNvPr>
          <p:cNvSpPr/>
          <p:nvPr/>
        </p:nvSpPr>
        <p:spPr bwMode="auto">
          <a:xfrm>
            <a:off x="3048000" y="327660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44F052A-DFA1-4432-8BB1-5CE3BA051EBE}"/>
              </a:ext>
            </a:extLst>
          </p:cNvPr>
          <p:cNvSpPr/>
          <p:nvPr/>
        </p:nvSpPr>
        <p:spPr bwMode="auto">
          <a:xfrm>
            <a:off x="7239000" y="426720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3047783-3E18-467D-8E3E-2FB336D094B5}"/>
                  </a:ext>
                </a:extLst>
              </p:cNvPr>
              <p:cNvSpPr txBox="1"/>
              <p:nvPr/>
            </p:nvSpPr>
            <p:spPr>
              <a:xfrm>
                <a:off x="437804" y="5929823"/>
                <a:ext cx="857728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局中人</a:t>
                </a:r>
                <a:r>
                  <a:rPr lang="en-US" altLang="zh-CN" dirty="0"/>
                  <a:t>I</a:t>
                </a:r>
                <a:r>
                  <a:rPr lang="zh-CN" altLang="en-US" dirty="0"/>
                  <a:t>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dirty="0"/>
                  <a:t>，局中人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应该选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dirty="0"/>
                  <a:t>，使</a:t>
                </a:r>
                <a:r>
                  <a:rPr lang="en-US" altLang="zh-CN" dirty="0"/>
                  <a:t>I</a:t>
                </a:r>
                <a:r>
                  <a:rPr lang="zh-CN" altLang="en-US" dirty="0"/>
                  <a:t>收益最低（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3047783-3E18-467D-8E3E-2FB336D09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04" y="5929823"/>
                <a:ext cx="8577284" cy="523220"/>
              </a:xfrm>
              <a:prstGeom prst="rect">
                <a:avLst/>
              </a:prstGeom>
              <a:blipFill>
                <a:blip r:embed="rId5"/>
                <a:stretch>
                  <a:fillRect l="-1493" t="-16279" r="-711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1C279AC5-5101-4C2A-BF09-4CAB230E724E}"/>
              </a:ext>
            </a:extLst>
          </p:cNvPr>
          <p:cNvSpPr/>
          <p:nvPr/>
        </p:nvSpPr>
        <p:spPr bwMode="auto">
          <a:xfrm>
            <a:off x="2819400" y="2307595"/>
            <a:ext cx="5334000" cy="762000"/>
          </a:xfrm>
          <a:prstGeom prst="rect">
            <a:avLst/>
          </a:prstGeom>
          <a:solidFill>
            <a:srgbClr val="FFC000">
              <a:alpha val="28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D64D359-E6F4-4903-9219-EDB6C63A02FA}"/>
              </a:ext>
            </a:extLst>
          </p:cNvPr>
          <p:cNvSpPr/>
          <p:nvPr/>
        </p:nvSpPr>
        <p:spPr bwMode="auto">
          <a:xfrm>
            <a:off x="7162800" y="228600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242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2" grpId="0" animBg="1"/>
      <p:bldP spid="13" grpId="0"/>
      <p:bldP spid="10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30C97-07F8-4D17-9E84-B68F57726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矩阵对策举例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DA57FC6B-A05D-4AB4-9C83-EA5B2EE2DDA2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437804" y="1219200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DA57FC6B-A05D-4AB4-9C83-EA5B2EE2DDA2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437804" y="1219200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96" t="-1227" r="-200888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890" t="-1227" r="-101484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1227" r="-1183" b="-303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101852" r="-300888" b="-2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200613" r="-300888" b="-10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302469" r="-300888" b="-4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椭圆 6">
            <a:extLst>
              <a:ext uri="{FF2B5EF4-FFF2-40B4-BE49-F238E27FC236}">
                <a16:creationId xmlns:a16="http://schemas.microsoft.com/office/drawing/2014/main" id="{3D64D359-E6F4-4903-9219-EDB6C63A02FA}"/>
              </a:ext>
            </a:extLst>
          </p:cNvPr>
          <p:cNvSpPr/>
          <p:nvPr/>
        </p:nvSpPr>
        <p:spPr bwMode="auto">
          <a:xfrm>
            <a:off x="7162800" y="228600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33775D2-BDF2-47D8-A369-D675BC9CE32B}"/>
              </a:ext>
            </a:extLst>
          </p:cNvPr>
          <p:cNvSpPr/>
          <p:nvPr/>
        </p:nvSpPr>
        <p:spPr bwMode="auto">
          <a:xfrm>
            <a:off x="3048000" y="327660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44F052A-DFA1-4432-8BB1-5CE3BA051EBE}"/>
              </a:ext>
            </a:extLst>
          </p:cNvPr>
          <p:cNvSpPr/>
          <p:nvPr/>
        </p:nvSpPr>
        <p:spPr bwMode="auto">
          <a:xfrm>
            <a:off x="7239000" y="426720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A26E34C-1145-4FE8-B76A-389E6D1C8C23}"/>
                  </a:ext>
                </a:extLst>
              </p:cNvPr>
              <p:cNvSpPr txBox="1"/>
              <p:nvPr/>
            </p:nvSpPr>
            <p:spPr>
              <a:xfrm>
                <a:off x="694592" y="5257800"/>
                <a:ext cx="7895559" cy="1425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三者相比较，局中人</a:t>
                </a:r>
                <a:r>
                  <a:rPr lang="en-US" altLang="zh-CN" dirty="0"/>
                  <a:t>I</a:t>
                </a:r>
                <a:r>
                  <a:rPr lang="zh-CN" altLang="en-US" dirty="0"/>
                  <a:t>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最稳妥，获得收益为</a:t>
                </a:r>
                <a:r>
                  <a:rPr lang="en-US" altLang="zh-CN" dirty="0"/>
                  <a:t>5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5 =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𝐦𝐚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𝐦𝐢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(</a:t>
                </a:r>
                <a:r>
                  <a:rPr lang="zh-CN" altLang="en-US" dirty="0"/>
                  <a:t>每一行最小值的最大值</a:t>
                </a:r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A26E34C-1145-4FE8-B76A-389E6D1C8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92" y="5257800"/>
                <a:ext cx="7895559" cy="1425775"/>
              </a:xfrm>
              <a:prstGeom prst="rect">
                <a:avLst/>
              </a:prstGeom>
              <a:blipFill>
                <a:blip r:embed="rId3"/>
                <a:stretch>
                  <a:fillRect l="-1622" t="-6009" b="-85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9541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30C97-07F8-4D17-9E84-B68F57726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矩阵对策举例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DA57FC6B-A05D-4AB4-9C83-EA5B2EE2DDA2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437804" y="1219200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DA57FC6B-A05D-4AB4-9C83-EA5B2EE2DDA2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437804" y="1219200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96" t="-1227" r="-200888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890" t="-1227" r="-101484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1227" r="-1183" b="-303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101852" r="-300888" b="-2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200613" r="-300888" b="-10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302469" r="-300888" b="-4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6432A2F-D4C5-4183-BBAE-ABAE94DB40C3}"/>
                  </a:ext>
                </a:extLst>
              </p:cNvPr>
              <p:cNvSpPr txBox="1"/>
              <p:nvPr/>
            </p:nvSpPr>
            <p:spPr>
              <a:xfrm>
                <a:off x="437804" y="5181600"/>
                <a:ext cx="88286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局中人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，局中人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应该选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dirty="0"/>
                  <a:t>，使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损失最大（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）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6432A2F-D4C5-4183-BBAE-ABAE94DB4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04" y="5181600"/>
                <a:ext cx="8828699" cy="523220"/>
              </a:xfrm>
              <a:prstGeom prst="rect">
                <a:avLst/>
              </a:prstGeom>
              <a:blipFill>
                <a:blip r:embed="rId3"/>
                <a:stretch>
                  <a:fillRect l="-1450" t="-15116" r="-1036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椭圆 6">
            <a:extLst>
              <a:ext uri="{FF2B5EF4-FFF2-40B4-BE49-F238E27FC236}">
                <a16:creationId xmlns:a16="http://schemas.microsoft.com/office/drawing/2014/main" id="{3D64D359-E6F4-4903-9219-EDB6C63A02FA}"/>
              </a:ext>
            </a:extLst>
          </p:cNvPr>
          <p:cNvSpPr/>
          <p:nvPr/>
        </p:nvSpPr>
        <p:spPr bwMode="auto">
          <a:xfrm>
            <a:off x="5181600" y="331470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33775D2-BDF2-47D8-A369-D675BC9CE32B}"/>
              </a:ext>
            </a:extLst>
          </p:cNvPr>
          <p:cNvSpPr/>
          <p:nvPr/>
        </p:nvSpPr>
        <p:spPr bwMode="auto">
          <a:xfrm>
            <a:off x="3048000" y="228600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44F052A-DFA1-4432-8BB1-5CE3BA051EBE}"/>
              </a:ext>
            </a:extLst>
          </p:cNvPr>
          <p:cNvSpPr/>
          <p:nvPr/>
        </p:nvSpPr>
        <p:spPr bwMode="auto">
          <a:xfrm>
            <a:off x="7162800" y="331470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1149867-6A96-4ADA-84DF-1268C93BF1F4}"/>
                  </a:ext>
                </a:extLst>
              </p:cNvPr>
              <p:cNvSpPr txBox="1"/>
              <p:nvPr/>
            </p:nvSpPr>
            <p:spPr>
              <a:xfrm>
                <a:off x="437804" y="5606935"/>
                <a:ext cx="89652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局中人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dirty="0"/>
                  <a:t>，局中人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应该选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dirty="0"/>
                  <a:t>，使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损失最大（</a:t>
                </a:r>
                <a:r>
                  <a:rPr lang="en-US" altLang="zh-CN" dirty="0"/>
                  <a:t>8</a:t>
                </a:r>
                <a:r>
                  <a:rPr lang="zh-CN" altLang="en-US" dirty="0"/>
                  <a:t>）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1149867-6A96-4ADA-84DF-1268C93BF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04" y="5606935"/>
                <a:ext cx="8965211" cy="523220"/>
              </a:xfrm>
              <a:prstGeom prst="rect">
                <a:avLst/>
              </a:prstGeom>
              <a:blipFill>
                <a:blip r:embed="rId4"/>
                <a:stretch>
                  <a:fillRect l="-1429"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010D850-A898-4135-AA86-C3F818E8FD2C}"/>
                  </a:ext>
                </a:extLst>
              </p:cNvPr>
              <p:cNvSpPr txBox="1"/>
              <p:nvPr/>
            </p:nvSpPr>
            <p:spPr>
              <a:xfrm>
                <a:off x="437804" y="6032270"/>
                <a:ext cx="903414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局中人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dirty="0"/>
                  <a:t>，局中人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应该选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dirty="0"/>
                  <a:t>，使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损失最大（</a:t>
                </a:r>
                <a:r>
                  <a:rPr lang="en-US" altLang="zh-CN" dirty="0"/>
                  <a:t>7</a:t>
                </a:r>
                <a:r>
                  <a:rPr lang="zh-CN" altLang="en-US" dirty="0"/>
                  <a:t>）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010D850-A898-4135-AA86-C3F818E8F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04" y="6032270"/>
                <a:ext cx="9034140" cy="523220"/>
              </a:xfrm>
              <a:prstGeom prst="rect">
                <a:avLst/>
              </a:prstGeom>
              <a:blipFill>
                <a:blip r:embed="rId5"/>
                <a:stretch>
                  <a:fillRect l="-1417" t="-16471" b="-34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9100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30C97-07F8-4D17-9E84-B68F57726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矩阵对策举例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DA57FC6B-A05D-4AB4-9C83-EA5B2EE2DDA2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437804" y="1219200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DA57FC6B-A05D-4AB4-9C83-EA5B2EE2DDA2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437804" y="1219200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96" t="-1227" r="-200888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890" t="-1227" r="-101484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1227" r="-1183" b="-303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101852" r="-300888" b="-2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200613" r="-300888" b="-10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302469" r="-300888" b="-4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椭圆 6">
            <a:extLst>
              <a:ext uri="{FF2B5EF4-FFF2-40B4-BE49-F238E27FC236}">
                <a16:creationId xmlns:a16="http://schemas.microsoft.com/office/drawing/2014/main" id="{3D64D359-E6F4-4903-9219-EDB6C63A02FA}"/>
              </a:ext>
            </a:extLst>
          </p:cNvPr>
          <p:cNvSpPr/>
          <p:nvPr/>
        </p:nvSpPr>
        <p:spPr bwMode="auto">
          <a:xfrm>
            <a:off x="5181600" y="331470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33775D2-BDF2-47D8-A369-D675BC9CE32B}"/>
              </a:ext>
            </a:extLst>
          </p:cNvPr>
          <p:cNvSpPr/>
          <p:nvPr/>
        </p:nvSpPr>
        <p:spPr bwMode="auto">
          <a:xfrm>
            <a:off x="3048000" y="228600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44F052A-DFA1-4432-8BB1-5CE3BA051EBE}"/>
              </a:ext>
            </a:extLst>
          </p:cNvPr>
          <p:cNvSpPr/>
          <p:nvPr/>
        </p:nvSpPr>
        <p:spPr bwMode="auto">
          <a:xfrm>
            <a:off x="7162800" y="331470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992EA41-9FDE-488B-A77E-FFB6D1BF0FF9}"/>
                  </a:ext>
                </a:extLst>
              </p:cNvPr>
              <p:cNvSpPr txBox="1"/>
              <p:nvPr/>
            </p:nvSpPr>
            <p:spPr>
              <a:xfrm>
                <a:off x="694592" y="5257800"/>
                <a:ext cx="7911589" cy="1425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三者相比较，局中人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dirty="0"/>
                  <a:t>最稳妥，损失最小为</a:t>
                </a:r>
                <a:r>
                  <a:rPr lang="en-US" altLang="zh-CN" dirty="0"/>
                  <a:t>6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6 =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𝐦𝐢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𝐦𝐚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(</a:t>
                </a:r>
                <a:r>
                  <a:rPr lang="zh-CN" altLang="en-US" dirty="0"/>
                  <a:t>每一列最大值的最小值</a:t>
                </a:r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992EA41-9FDE-488B-A77E-FFB6D1BF0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92" y="5257800"/>
                <a:ext cx="7911589" cy="1425775"/>
              </a:xfrm>
              <a:prstGeom prst="rect">
                <a:avLst/>
              </a:prstGeom>
              <a:blipFill>
                <a:blip r:embed="rId3"/>
                <a:stretch>
                  <a:fillRect l="-1618" t="-6009" r="-847" b="-85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8BB58995-5E44-43EE-A33F-A4335E4827F1}"/>
              </a:ext>
            </a:extLst>
          </p:cNvPr>
          <p:cNvSpPr/>
          <p:nvPr/>
        </p:nvSpPr>
        <p:spPr bwMode="auto">
          <a:xfrm>
            <a:off x="2819400" y="2307594"/>
            <a:ext cx="1447800" cy="2721605"/>
          </a:xfrm>
          <a:prstGeom prst="rect">
            <a:avLst/>
          </a:prstGeom>
          <a:solidFill>
            <a:srgbClr val="FFC000">
              <a:alpha val="28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5282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2A04F7-764A-400E-AF5F-98384E6B7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09F5C89-2594-4DEF-A3B2-15B196D848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1"/>
                <a:ext cx="8229600" cy="25908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</a:rPr>
                      <m:t>𝐦𝐚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𝐦𝐢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zh-CN" altLang="en-US" dirty="0"/>
                  <a:t> 与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𝐦𝐢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𝐦𝐚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zh-CN" altLang="en-US" dirty="0"/>
                  <a:t>的关系？</a:t>
                </a:r>
                <a:endParaRPr lang="en-US" altLang="zh-CN" dirty="0"/>
              </a:p>
              <a:p>
                <a:r>
                  <a:rPr lang="zh-CN" altLang="en-US" dirty="0"/>
                  <a:t> </a:t>
                </a: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𝐦𝐚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𝐦𝐢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𝐦𝐢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𝐦𝐚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𝐦𝐚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𝐦𝐢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endParaRPr lang="en-US" altLang="zh-CN" b="1" dirty="0"/>
              </a:p>
              <a:p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𝐦𝐢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𝐦𝐚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09F5C89-2594-4DEF-A3B2-15B196D848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1"/>
                <a:ext cx="8229600" cy="2590800"/>
              </a:xfrm>
              <a:blipFill>
                <a:blip r:embed="rId2"/>
                <a:stretch>
                  <a:fillRect l="-667" t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FA9B2C6-9701-49CB-8EB0-07A09863E3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6751448"/>
                  </p:ext>
                </p:extLst>
              </p:nvPr>
            </p:nvGraphicFramePr>
            <p:xfrm>
              <a:off x="609600" y="3810000"/>
              <a:ext cx="4495800" cy="2667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98600">
                      <a:extLst>
                        <a:ext uri="{9D8B030D-6E8A-4147-A177-3AD203B41FA5}">
                          <a16:colId xmlns:a16="http://schemas.microsoft.com/office/drawing/2014/main" val="3904669472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2503303153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3544862079"/>
                        </a:ext>
                      </a:extLst>
                    </a:gridCol>
                  </a:tblGrid>
                  <a:tr h="8890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4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40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i="1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sz="4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4000" i="1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e>
                                      <m:sub>
                                        <m:r>
                                          <a:rPr lang="en-US" altLang="zh-CN" sz="40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4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4000" i="1">
                                            <a:latin typeface="Cambria Math" panose="02040503050406030204" pitchFamily="18" charset="0"/>
                                          </a:rPr>
                                          <m:t>𝒋</m:t>
                                        </m:r>
                                      </m:e>
                                      <m:sub>
                                        <m:r>
                                          <a:rPr lang="en-US" altLang="zh-CN" sz="40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06647534"/>
                      </a:ext>
                    </a:extLst>
                  </a:tr>
                  <a:tr h="889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sz="4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4000" b="1" i="1" smtClean="0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e>
                                      <m:sub>
                                        <m:r>
                                          <a:rPr lang="en-US" altLang="zh-CN" sz="40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4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4000" b="1" i="1" smtClean="0">
                                            <a:latin typeface="Cambria Math" panose="02040503050406030204" pitchFamily="18" charset="0"/>
                                          </a:rPr>
                                          <m:t>𝒋</m:t>
                                        </m:r>
                                      </m:e>
                                      <m:sub>
                                        <m:r>
                                          <a:rPr lang="en-US" altLang="zh-CN" sz="40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4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sz="4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4000" b="1" i="1" smtClean="0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e>
                                      <m:sub>
                                        <m:r>
                                          <a:rPr lang="en-US" altLang="zh-CN" sz="40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4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4000" b="1" i="1" smtClean="0">
                                            <a:latin typeface="Cambria Math" panose="02040503050406030204" pitchFamily="18" charset="0"/>
                                          </a:rPr>
                                          <m:t>𝒋</m:t>
                                        </m:r>
                                      </m:e>
                                      <m:sub>
                                        <m:r>
                                          <a:rPr lang="en-US" altLang="zh-CN" sz="40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28884906"/>
                      </a:ext>
                    </a:extLst>
                  </a:tr>
                  <a:tr h="8890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40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40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4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7395769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FA9B2C6-9701-49CB-8EB0-07A09863E3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6751448"/>
                  </p:ext>
                </p:extLst>
              </p:nvPr>
            </p:nvGraphicFramePr>
            <p:xfrm>
              <a:off x="609600" y="3810000"/>
              <a:ext cx="4495800" cy="2667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98600">
                      <a:extLst>
                        <a:ext uri="{9D8B030D-6E8A-4147-A177-3AD203B41FA5}">
                          <a16:colId xmlns:a16="http://schemas.microsoft.com/office/drawing/2014/main" val="3904669472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2503303153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3544862079"/>
                        </a:ext>
                      </a:extLst>
                    </a:gridCol>
                  </a:tblGrid>
                  <a:tr h="8890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4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40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813" t="-1370" r="-813" b="-2013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6647534"/>
                      </a:ext>
                    </a:extLst>
                  </a:tr>
                  <a:tr h="889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13" t="-101370" r="-200813" b="-101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4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813" t="-101370" r="-813" b="-1013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884906"/>
                      </a:ext>
                    </a:extLst>
                  </a:tr>
                  <a:tr h="8890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40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40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4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7395769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8988766-4260-4D92-B95C-FC156BF43A8E}"/>
                  </a:ext>
                </a:extLst>
              </p:cNvPr>
              <p:cNvSpPr/>
              <p:nvPr/>
            </p:nvSpPr>
            <p:spPr>
              <a:xfrm>
                <a:off x="5257800" y="4953000"/>
                <a:ext cx="3374835" cy="577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8988766-4260-4D92-B95C-FC156BF43A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4953000"/>
                <a:ext cx="3374835" cy="577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AA9ED91-BC7F-4B15-A827-F7615BCC334A}"/>
              </a:ext>
            </a:extLst>
          </p:cNvPr>
          <p:cNvCxnSpPr>
            <a:cxnSpLocks/>
          </p:cNvCxnSpPr>
          <p:nvPr/>
        </p:nvCxnSpPr>
        <p:spPr bwMode="auto">
          <a:xfrm>
            <a:off x="2057400" y="5181600"/>
            <a:ext cx="17526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276F6D7-550B-4F1C-B1D1-44561690E67D}"/>
              </a:ext>
            </a:extLst>
          </p:cNvPr>
          <p:cNvCxnSpPr>
            <a:cxnSpLocks/>
          </p:cNvCxnSpPr>
          <p:nvPr/>
        </p:nvCxnSpPr>
        <p:spPr bwMode="auto">
          <a:xfrm flipV="1">
            <a:off x="4419600" y="4648200"/>
            <a:ext cx="0" cy="381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234084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6215AAB-1D1F-49BC-AD37-60E42B095C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纯策略下的解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DA6E0DA-35FE-4783-8568-FE88DA529D8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7848600" cy="5181600"/>
          </a:xfrm>
        </p:spPr>
        <p:txBody>
          <a:bodyPr/>
          <a:lstStyle/>
          <a:p>
            <a:pPr eaLnBrk="1" hangingPunct="1"/>
            <a:r>
              <a:rPr lang="zh-CN" altLang="en-US" dirty="0"/>
              <a:t>矩阵对策 </a:t>
            </a:r>
            <a:r>
              <a:rPr lang="en-US" altLang="zh-CN" dirty="0"/>
              <a:t>G = { S</a:t>
            </a:r>
            <a:r>
              <a:rPr lang="en-US" altLang="zh-CN" baseline="-25000" dirty="0"/>
              <a:t>1</a:t>
            </a:r>
            <a:r>
              <a:rPr lang="en-US" altLang="zh-CN" dirty="0"/>
              <a:t>, S</a:t>
            </a:r>
            <a:r>
              <a:rPr lang="en-US" altLang="zh-CN" baseline="-25000" dirty="0"/>
              <a:t>2</a:t>
            </a:r>
            <a:r>
              <a:rPr lang="en-US" altLang="zh-CN" dirty="0"/>
              <a:t>; A }, </a:t>
            </a:r>
            <a:r>
              <a:rPr lang="zh-CN" altLang="en-US" dirty="0"/>
              <a:t>若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 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/>
          </a:p>
          <a:p>
            <a:pPr eaLnBrk="1" hangingPunct="1"/>
            <a:endParaRPr lang="zh-CN" altLang="en-US" dirty="0"/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DB235FB4-B860-48FF-AD72-FBDE9AB731D4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990600" y="1905000"/>
          <a:ext cx="7239000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1" name="公式" r:id="rId3" imgW="2032000" imgH="292100" progId="Equation.3">
                  <p:embed/>
                </p:oleObj>
              </mc:Choice>
              <mc:Fallback>
                <p:oleObj name="公式" r:id="rId3" imgW="2032000" imgH="292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905000"/>
                        <a:ext cx="7239000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B5BD2704-E314-48E2-908E-FE37BF302D78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170363"/>
            <a:ext cx="6248400" cy="782637"/>
            <a:chOff x="672" y="2627"/>
            <a:chExt cx="3936" cy="493"/>
          </a:xfrm>
        </p:grpSpPr>
        <p:graphicFrame>
          <p:nvGraphicFramePr>
            <p:cNvPr id="10250" name="Object 6">
              <a:extLst>
                <a:ext uri="{FF2B5EF4-FFF2-40B4-BE49-F238E27FC236}">
                  <a16:creationId xmlns:a16="http://schemas.microsoft.com/office/drawing/2014/main" id="{813BB368-2A56-4B30-BC6A-9E3BED06D4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4" y="2627"/>
            <a:ext cx="1104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22" name="公式" r:id="rId5" imgW="596641" imgH="266584" progId="Equation.3">
                    <p:embed/>
                  </p:oleObj>
                </mc:Choice>
                <mc:Fallback>
                  <p:oleObj name="公式" r:id="rId5" imgW="596641" imgH="266584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627"/>
                          <a:ext cx="1104" cy="4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1" name="Text Box 12">
              <a:extLst>
                <a:ext uri="{FF2B5EF4-FFF2-40B4-BE49-F238E27FC236}">
                  <a16:creationId xmlns:a16="http://schemas.microsoft.com/office/drawing/2014/main" id="{813953C2-DE64-4C26-A25C-48A3F2279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659"/>
              <a:ext cx="39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/>
                <a:t>称局势                    为 </a:t>
              </a:r>
              <a:r>
                <a:rPr lang="en-US" altLang="zh-CN"/>
                <a:t>G </a:t>
              </a:r>
              <a:r>
                <a:rPr lang="zh-CN" altLang="en-US"/>
                <a:t>的解</a:t>
              </a:r>
              <a:endParaRPr lang="en-US" altLang="zh-CN"/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86DEAB03-AE4B-4F37-A54E-26B7DDBBE503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124200"/>
            <a:ext cx="5638800" cy="835025"/>
            <a:chOff x="672" y="1968"/>
            <a:chExt cx="3552" cy="526"/>
          </a:xfrm>
        </p:grpSpPr>
        <p:graphicFrame>
          <p:nvGraphicFramePr>
            <p:cNvPr id="10248" name="Object 11">
              <a:extLst>
                <a:ext uri="{FF2B5EF4-FFF2-40B4-BE49-F238E27FC236}">
                  <a16:creationId xmlns:a16="http://schemas.microsoft.com/office/drawing/2014/main" id="{787C33B7-15A4-4E29-B5D5-E3B9D8B5B3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4" y="1968"/>
            <a:ext cx="1152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23" name="公式" r:id="rId7" imgW="583693" imgH="266469" progId="Equation.3">
                    <p:embed/>
                  </p:oleObj>
                </mc:Choice>
                <mc:Fallback>
                  <p:oleObj name="公式" r:id="rId7" imgW="583693" imgH="266469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968"/>
                          <a:ext cx="1152" cy="5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9" name="Text Box 13">
              <a:extLst>
                <a:ext uri="{FF2B5EF4-FFF2-40B4-BE49-F238E27FC236}">
                  <a16:creationId xmlns:a16="http://schemas.microsoft.com/office/drawing/2014/main" id="{9861034B-A407-459E-903E-6B90E3BD6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968"/>
              <a:ext cx="355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/>
                <a:t>记                       为对策 </a:t>
              </a:r>
              <a:r>
                <a:rPr lang="en-US" altLang="zh-CN"/>
                <a:t>G </a:t>
              </a:r>
              <a:r>
                <a:rPr lang="zh-CN" altLang="en-US"/>
                <a:t>的值</a:t>
              </a:r>
              <a:endParaRPr lang="en-US" altLang="zh-CN"/>
            </a:p>
          </p:txBody>
        </p:sp>
      </p:grpSp>
      <p:sp>
        <p:nvSpPr>
          <p:cNvPr id="2063" name="Text Box 15">
            <a:extLst>
              <a:ext uri="{FF2B5EF4-FFF2-40B4-BE49-F238E27FC236}">
                <a16:creationId xmlns:a16="http://schemas.microsoft.com/office/drawing/2014/main" id="{4948421E-9FBB-4E26-A613-DC3E776E0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181600"/>
            <a:ext cx="7086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l-GR" altLang="zh-CN">
                <a:cs typeface="Times New Roman" panose="02020603050405020304" pitchFamily="18" charset="0"/>
              </a:rPr>
              <a:t>α</a:t>
            </a:r>
            <a:r>
              <a:rPr lang="en-US" altLang="zh-CN" baseline="-25000">
                <a:cs typeface="Times New Roman" panose="02020603050405020304" pitchFamily="18" charset="0"/>
              </a:rPr>
              <a:t>i* </a:t>
            </a:r>
            <a:r>
              <a:rPr lang="zh-CN" altLang="en-US">
                <a:latin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baseline="-25000">
                <a:cs typeface="Times New Roman" panose="02020603050405020304" pitchFamily="18" charset="0"/>
              </a:rPr>
              <a:t> </a:t>
            </a:r>
            <a:r>
              <a:rPr lang="el-GR" altLang="zh-CN">
                <a:latin typeface="宋体" panose="02010600030101010101" pitchFamily="2" charset="-122"/>
                <a:cs typeface="Times New Roman" panose="02020603050405020304" pitchFamily="18" charset="0"/>
              </a:rPr>
              <a:t>β</a:t>
            </a:r>
            <a:r>
              <a:rPr lang="en-US" altLang="zh-CN" baseline="-25000">
                <a:latin typeface="宋体" panose="02010600030101010101" pitchFamily="2" charset="-122"/>
                <a:cs typeface="Times New Roman" panose="02020603050405020304" pitchFamily="18" charset="0"/>
              </a:rPr>
              <a:t>j* </a:t>
            </a:r>
            <a:r>
              <a:rPr lang="zh-CN" altLang="en-US">
                <a:latin typeface="宋体" panose="02010600030101010101" pitchFamily="2" charset="-122"/>
                <a:cs typeface="Times New Roman" panose="02020603050405020304" pitchFamily="18" charset="0"/>
              </a:rPr>
              <a:t>分别是</a:t>
            </a:r>
            <a:r>
              <a:rPr lang="en-US" altLang="zh-CN">
                <a:latin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>
                <a:latin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latin typeface="宋体" panose="02010600030101010101" pitchFamily="2" charset="-122"/>
                <a:cs typeface="Times New Roman" panose="02020603050405020304" pitchFamily="18" charset="0"/>
              </a:rPr>
              <a:t>II</a:t>
            </a:r>
            <a:r>
              <a:rPr lang="zh-CN" altLang="en-US">
                <a:latin typeface="宋体" panose="02010600030101010101" pitchFamily="2" charset="-122"/>
                <a:cs typeface="Times New Roman" panose="02020603050405020304" pitchFamily="18" charset="0"/>
              </a:rPr>
              <a:t>的最优纯策略</a:t>
            </a:r>
            <a:endParaRPr lang="zh-CN" altLang="el-GR"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A4695D2-CCFB-46B9-B53A-21925819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纯策略下的解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内容占位符 3">
                <a:extLst>
                  <a:ext uri="{FF2B5EF4-FFF2-40B4-BE49-F238E27FC236}">
                    <a16:creationId xmlns:a16="http://schemas.microsoft.com/office/drawing/2014/main" id="{823F4C79-1185-4CA8-BAB9-A423DB11768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85625489"/>
                  </p:ext>
                </p:extLst>
              </p:nvPr>
            </p:nvGraphicFramePr>
            <p:xfrm>
              <a:off x="457200" y="1077686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4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4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4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内容占位符 3">
                <a:extLst>
                  <a:ext uri="{FF2B5EF4-FFF2-40B4-BE49-F238E27FC236}">
                    <a16:creationId xmlns:a16="http://schemas.microsoft.com/office/drawing/2014/main" id="{823F4C79-1185-4CA8-BAB9-A423DB11768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85625489"/>
                  </p:ext>
                </p:extLst>
              </p:nvPr>
            </p:nvGraphicFramePr>
            <p:xfrm>
              <a:off x="457200" y="1077686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90" t="-613" r="-201780" b="-30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296" t="-613" r="-101183" b="-30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87" t="-613" r="-1484" b="-304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2" t="-100613" r="-300888" b="-20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4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2" t="-201852" r="-300888" b="-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4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2" t="-300000" r="-300888" b="-49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4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椭圆 9">
            <a:extLst>
              <a:ext uri="{FF2B5EF4-FFF2-40B4-BE49-F238E27FC236}">
                <a16:creationId xmlns:a16="http://schemas.microsoft.com/office/drawing/2014/main" id="{32960019-00A5-4498-8EC5-B1757FB2399D}"/>
              </a:ext>
            </a:extLst>
          </p:cNvPr>
          <p:cNvSpPr/>
          <p:nvPr/>
        </p:nvSpPr>
        <p:spPr bwMode="auto">
          <a:xfrm>
            <a:off x="7108371" y="2144486"/>
            <a:ext cx="10668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91902DD-01F9-48BC-9B73-A27203ACB4B5}"/>
                  </a:ext>
                </a:extLst>
              </p:cNvPr>
              <p:cNvSpPr txBox="1"/>
              <p:nvPr/>
            </p:nvSpPr>
            <p:spPr>
              <a:xfrm>
                <a:off x="483870" y="5181600"/>
                <a:ext cx="6734536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I</a:t>
                </a:r>
                <a:r>
                  <a:rPr lang="zh-CN" altLang="en-US" dirty="0"/>
                  <a:t>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dirty="0"/>
                  <a:t>. </a:t>
                </a:r>
              </a:p>
              <a:p>
                <a:r>
                  <a:rPr lang="en-US" altLang="zh-CN" dirty="0"/>
                  <a:t>I</a:t>
                </a:r>
                <a:r>
                  <a:rPr lang="zh-CN" altLang="en-US" dirty="0"/>
                  <a:t>调整策略收益降低，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调整策略损失增大</a:t>
                </a:r>
                <a:endParaRPr lang="en-US" altLang="zh-CN" dirty="0"/>
              </a:p>
              <a:p>
                <a:r>
                  <a:rPr lang="zh-CN" altLang="en-US" dirty="0"/>
                  <a:t>达到平衡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91902DD-01F9-48BC-9B73-A27203ACB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70" y="5181600"/>
                <a:ext cx="6734536" cy="1384995"/>
              </a:xfrm>
              <a:prstGeom prst="rect">
                <a:avLst/>
              </a:prstGeom>
              <a:blipFill>
                <a:blip r:embed="rId3"/>
                <a:stretch>
                  <a:fillRect l="-1810" t="-5727" r="-1176" b="-10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360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1">
            <a:extLst>
              <a:ext uri="{FF2B5EF4-FFF2-40B4-BE49-F238E27FC236}">
                <a16:creationId xmlns:a16="http://schemas.microsoft.com/office/drawing/2014/main" id="{EC83102E-D8E7-48A0-9562-7F6FF9A9AB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6486B77-A843-4BFC-81FE-70B3CFD128B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7620000" cy="4987925"/>
          </a:xfrm>
        </p:spPr>
        <p:txBody>
          <a:bodyPr/>
          <a:lstStyle/>
          <a:p>
            <a:r>
              <a:rPr lang="en-US" altLang="zh-CN" dirty="0"/>
              <a:t>G </a:t>
            </a:r>
            <a:r>
              <a:rPr lang="zh-CN" altLang="en-US" dirty="0"/>
              <a:t>有解 当且仅当 存在局势                                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   使</a:t>
            </a:r>
          </a:p>
        </p:txBody>
      </p:sp>
      <p:graphicFrame>
        <p:nvGraphicFramePr>
          <p:cNvPr id="11268" name="Object 9">
            <a:extLst>
              <a:ext uri="{FF2B5EF4-FFF2-40B4-BE49-F238E27FC236}">
                <a16:creationId xmlns:a16="http://schemas.microsoft.com/office/drawing/2014/main" id="{7DFDFAA6-F6DA-4FA4-B958-E8073CD50D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1143000"/>
          <a:ext cx="1752600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8" name="公式" r:id="rId3" imgW="596641" imgH="266584" progId="Equation.3">
                  <p:embed/>
                </p:oleObj>
              </mc:Choice>
              <mc:Fallback>
                <p:oleObj name="公式" r:id="rId3" imgW="596641" imgH="26658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143000"/>
                        <a:ext cx="1752600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01" name="Picture 9">
            <a:extLst>
              <a:ext uri="{FF2B5EF4-FFF2-40B4-BE49-F238E27FC236}">
                <a16:creationId xmlns:a16="http://schemas.microsoft.com/office/drawing/2014/main" id="{51B8E5B1-67F9-4132-A77E-11D71CCB3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00400"/>
            <a:ext cx="4953000" cy="311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70" name="Object 10">
            <a:extLst>
              <a:ext uri="{FF2B5EF4-FFF2-40B4-BE49-F238E27FC236}">
                <a16:creationId xmlns:a16="http://schemas.microsoft.com/office/drawing/2014/main" id="{B83805FC-27F7-4E19-A23E-A132AF1A9CC9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600200" y="1828800"/>
          <a:ext cx="63246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9" name="公式" r:id="rId6" imgW="2032000" imgH="266700" progId="Equation.3">
                  <p:embed/>
                </p:oleObj>
              </mc:Choice>
              <mc:Fallback>
                <p:oleObj name="公式" r:id="rId6" imgW="2032000" imgH="266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828800"/>
                        <a:ext cx="6324600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5" name="Text Box 13">
            <a:extLst>
              <a:ext uri="{FF2B5EF4-FFF2-40B4-BE49-F238E27FC236}">
                <a16:creationId xmlns:a16="http://schemas.microsoft.com/office/drawing/2014/main" id="{E3945307-E060-4BBD-A93F-2E050D1AD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572000"/>
            <a:ext cx="2362200" cy="547688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 i="1"/>
              <a:t>a</a:t>
            </a:r>
            <a:r>
              <a:rPr lang="en-US" altLang="zh-CN" sz="2800" i="1" baseline="-25000"/>
              <a:t>i</a:t>
            </a:r>
            <a:r>
              <a:rPr lang="en-US" altLang="zh-CN" sz="2800" baseline="-25000"/>
              <a:t>*</a:t>
            </a:r>
            <a:r>
              <a:rPr lang="en-US" altLang="zh-CN" sz="2800" i="1" baseline="-25000"/>
              <a:t>j</a:t>
            </a:r>
            <a:r>
              <a:rPr lang="en-US" altLang="zh-CN" sz="2800" baseline="-25000"/>
              <a:t>*</a:t>
            </a:r>
            <a:r>
              <a:rPr lang="zh-CN" altLang="en-US" sz="2800"/>
              <a:t>是鞍点！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F0F7C21-E7A2-4081-AA7A-B712EDB13A42}"/>
                  </a:ext>
                </a:extLst>
              </p:cNvPr>
              <p:cNvSpPr txBox="1"/>
              <p:nvPr/>
            </p:nvSpPr>
            <p:spPr>
              <a:xfrm>
                <a:off x="3886200" y="2718127"/>
                <a:ext cx="49436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F0F7C21-E7A2-4081-AA7A-B712EDB13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2718127"/>
                <a:ext cx="494366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BE56958-CB02-426F-A347-C36CC7DD7734}"/>
              </a:ext>
            </a:extLst>
          </p:cNvPr>
          <p:cNvCxnSpPr/>
          <p:nvPr/>
        </p:nvCxnSpPr>
        <p:spPr bwMode="auto">
          <a:xfrm>
            <a:off x="838200" y="3886200"/>
            <a:ext cx="1295400" cy="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032E6FD-9DE0-4367-8947-0385BA05A5DB}"/>
              </a:ext>
            </a:extLst>
          </p:cNvPr>
          <p:cNvCxnSpPr>
            <a:cxnSpLocks/>
          </p:cNvCxnSpPr>
          <p:nvPr/>
        </p:nvCxnSpPr>
        <p:spPr bwMode="auto">
          <a:xfrm flipH="1">
            <a:off x="228600" y="3543301"/>
            <a:ext cx="457200" cy="19724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F468576-4BBD-4EC1-8ADA-67EAE9577542}"/>
              </a:ext>
            </a:extLst>
          </p:cNvPr>
          <p:cNvCxnSpPr>
            <a:cxnSpLocks/>
          </p:cNvCxnSpPr>
          <p:nvPr/>
        </p:nvCxnSpPr>
        <p:spPr bwMode="auto">
          <a:xfrm>
            <a:off x="685800" y="3543300"/>
            <a:ext cx="609600" cy="93662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14D38F6-BF94-443C-A567-62083BF769E3}"/>
              </a:ext>
            </a:extLst>
          </p:cNvPr>
          <p:cNvSpPr txBox="1"/>
          <p:nvPr/>
        </p:nvSpPr>
        <p:spPr>
          <a:xfrm>
            <a:off x="78295" y="358689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2C6FDFC-1B69-4AFA-8979-27E9C96EA00C}"/>
              </a:ext>
            </a:extLst>
          </p:cNvPr>
          <p:cNvSpPr txBox="1"/>
          <p:nvPr/>
        </p:nvSpPr>
        <p:spPr>
          <a:xfrm>
            <a:off x="1204104" y="312420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9476B3A-B120-45E1-84BC-B815A8977F1C}"/>
              </a:ext>
            </a:extLst>
          </p:cNvPr>
          <p:cNvSpPr/>
          <p:nvPr/>
        </p:nvSpPr>
        <p:spPr bwMode="auto">
          <a:xfrm>
            <a:off x="3388707" y="4343400"/>
            <a:ext cx="228600" cy="228600"/>
          </a:xfrm>
          <a:prstGeom prst="ellipse">
            <a:avLst/>
          </a:prstGeom>
          <a:solidFill>
            <a:srgbClr val="6C04A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BDF46972-81C4-44C0-A76C-225B712F77B0}"/>
                  </a:ext>
                </a:extLst>
              </p:cNvPr>
              <p:cNvSpPr/>
              <p:nvPr/>
            </p:nvSpPr>
            <p:spPr>
              <a:xfrm>
                <a:off x="3167387" y="3772602"/>
                <a:ext cx="141064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BDF46972-81C4-44C0-A76C-225B712F77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387" y="3772602"/>
                <a:ext cx="141064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593AB9F-F251-42B3-9DEC-2575C9A2CE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多鞍点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5784C85-22F0-480C-BD05-65B8EEFEABB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153400" cy="4987925"/>
          </a:xfrm>
        </p:spPr>
        <p:txBody>
          <a:bodyPr/>
          <a:lstStyle/>
          <a:p>
            <a:pPr eaLnBrk="1" hangingPunct="1"/>
            <a:r>
              <a:rPr lang="zh-CN" altLang="en-US"/>
              <a:t>设一矩阵对策如下，求它的解</a:t>
            </a:r>
          </a:p>
        </p:txBody>
      </p:sp>
      <p:graphicFrame>
        <p:nvGraphicFramePr>
          <p:cNvPr id="12292" name="Object 4">
            <a:extLst>
              <a:ext uri="{FF2B5EF4-FFF2-40B4-BE49-F238E27FC236}">
                <a16:creationId xmlns:a16="http://schemas.microsoft.com/office/drawing/2014/main" id="{778CD2EC-ABF9-4FB5-A892-CEF2DBF312CB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752600" y="1981200"/>
          <a:ext cx="3987800" cy="293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7" name="公式" r:id="rId3" imgW="1244600" imgH="914400" progId="Equation.3">
                  <p:embed/>
                </p:oleObj>
              </mc:Choice>
              <mc:Fallback>
                <p:oleObj name="公式" r:id="rId3" imgW="124460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981200"/>
                        <a:ext cx="3987800" cy="293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Text Box 6">
            <a:extLst>
              <a:ext uri="{FF2B5EF4-FFF2-40B4-BE49-F238E27FC236}">
                <a16:creationId xmlns:a16="http://schemas.microsoft.com/office/drawing/2014/main" id="{AC76084C-91FC-41C8-BF7F-C1D05D57E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410200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zh-CN" altLang="zh-CN" sz="2800"/>
          </a:p>
        </p:txBody>
      </p:sp>
      <p:sp>
        <p:nvSpPr>
          <p:cNvPr id="3078" name="Text Box 10">
            <a:extLst>
              <a:ext uri="{FF2B5EF4-FFF2-40B4-BE49-F238E27FC236}">
                <a16:creationId xmlns:a16="http://schemas.microsoft.com/office/drawing/2014/main" id="{41008115-2271-420C-B62A-7FFFCB831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729288"/>
            <a:ext cx="769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cs typeface="Times New Roman" panose="02020603050405020304" pitchFamily="18" charset="0"/>
              </a:rPr>
              <a:t>(</a:t>
            </a:r>
            <a:r>
              <a:rPr lang="el-GR" altLang="zh-CN" sz="2800" i="1">
                <a:cs typeface="Times New Roman" panose="02020603050405020304" pitchFamily="18" charset="0"/>
              </a:rPr>
              <a:t>α</a:t>
            </a:r>
            <a:r>
              <a:rPr lang="en-US" altLang="zh-CN" sz="2800" baseline="-25000">
                <a:cs typeface="Times New Roman" panose="02020603050405020304" pitchFamily="18" charset="0"/>
              </a:rPr>
              <a:t>1</a:t>
            </a:r>
            <a:r>
              <a:rPr lang="en-US" altLang="zh-CN" sz="2800">
                <a:cs typeface="Times New Roman" panose="02020603050405020304" pitchFamily="18" charset="0"/>
              </a:rPr>
              <a:t>,</a:t>
            </a:r>
            <a:r>
              <a:rPr lang="el-GR" altLang="zh-CN" sz="2800" i="1">
                <a:latin typeface="宋体" panose="02010600030101010101" pitchFamily="2" charset="-122"/>
                <a:cs typeface="Times New Roman" panose="02020603050405020304" pitchFamily="18" charset="0"/>
              </a:rPr>
              <a:t>β</a:t>
            </a:r>
            <a:r>
              <a:rPr lang="en-US" altLang="zh-CN" sz="2800" baseline="-2500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latin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l-GR" altLang="zh-CN" sz="2800" i="1"/>
              <a:t>α</a:t>
            </a:r>
            <a:r>
              <a:rPr lang="en-US" altLang="zh-CN" sz="2800" baseline="-25000">
                <a:cs typeface="Times New Roman" panose="02020603050405020304" pitchFamily="18" charset="0"/>
              </a:rPr>
              <a:t>1</a:t>
            </a:r>
            <a:r>
              <a:rPr lang="en-US" altLang="zh-CN" sz="2800"/>
              <a:t>,</a:t>
            </a:r>
            <a:r>
              <a:rPr lang="el-GR" altLang="zh-CN" sz="2800" i="1"/>
              <a:t>β</a:t>
            </a:r>
            <a:r>
              <a:rPr lang="en-US" altLang="zh-CN" sz="2800" baseline="-25000">
                <a:cs typeface="Times New Roman" panose="02020603050405020304" pitchFamily="18" charset="0"/>
              </a:rPr>
              <a:t>4</a:t>
            </a:r>
            <a:r>
              <a:rPr lang="en-US" altLang="zh-CN" sz="2800"/>
              <a:t>) , (</a:t>
            </a:r>
            <a:r>
              <a:rPr lang="el-GR" altLang="zh-CN" sz="2800" i="1"/>
              <a:t>α</a:t>
            </a:r>
            <a:r>
              <a:rPr lang="en-US" altLang="zh-CN" sz="2800" baseline="-25000">
                <a:cs typeface="Times New Roman" panose="02020603050405020304" pitchFamily="18" charset="0"/>
              </a:rPr>
              <a:t>3</a:t>
            </a:r>
            <a:r>
              <a:rPr lang="en-US" altLang="zh-CN" sz="2800"/>
              <a:t>,</a:t>
            </a:r>
            <a:r>
              <a:rPr lang="el-GR" altLang="zh-CN" sz="2800" i="1"/>
              <a:t>β</a:t>
            </a:r>
            <a:r>
              <a:rPr lang="en-US" altLang="zh-CN" sz="2800" baseline="-25000">
                <a:cs typeface="Times New Roman" panose="02020603050405020304" pitchFamily="18" charset="0"/>
              </a:rPr>
              <a:t>2</a:t>
            </a:r>
            <a:r>
              <a:rPr lang="en-US" altLang="zh-CN" sz="2800"/>
              <a:t>), (</a:t>
            </a:r>
            <a:r>
              <a:rPr lang="el-GR" altLang="zh-CN" sz="2800" i="1"/>
              <a:t>α</a:t>
            </a:r>
            <a:r>
              <a:rPr lang="en-US" altLang="zh-CN" sz="2800" baseline="-25000">
                <a:cs typeface="Times New Roman" panose="02020603050405020304" pitchFamily="18" charset="0"/>
              </a:rPr>
              <a:t>3</a:t>
            </a:r>
            <a:r>
              <a:rPr lang="en-US" altLang="zh-CN" sz="2800"/>
              <a:t>,</a:t>
            </a:r>
            <a:r>
              <a:rPr lang="el-GR" altLang="zh-CN" sz="2800" i="1"/>
              <a:t>β</a:t>
            </a:r>
            <a:r>
              <a:rPr lang="en-US" altLang="zh-CN" sz="2800" baseline="-25000">
                <a:cs typeface="Times New Roman" panose="02020603050405020304" pitchFamily="18" charset="0"/>
              </a:rPr>
              <a:t>4</a:t>
            </a:r>
            <a:r>
              <a:rPr lang="en-US" altLang="zh-CN" sz="2800"/>
              <a:t>) </a:t>
            </a:r>
            <a:r>
              <a:rPr lang="zh-CN" altLang="en-US" sz="2800"/>
              <a:t>均为鞍点</a:t>
            </a:r>
            <a:endParaRPr lang="zh-CN" altLang="el-GR" sz="2800"/>
          </a:p>
        </p:txBody>
      </p:sp>
      <p:graphicFrame>
        <p:nvGraphicFramePr>
          <p:cNvPr id="3080" name="Object 8">
            <a:extLst>
              <a:ext uri="{FF2B5EF4-FFF2-40B4-BE49-F238E27FC236}">
                <a16:creationId xmlns:a16="http://schemas.microsoft.com/office/drawing/2014/main" id="{38A2422B-F1AD-48DB-96BC-D2CD3A5237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4875" y="1981200"/>
          <a:ext cx="644525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8" name="公式" r:id="rId5" imgW="203112" imgH="888614" progId="Equation.3">
                  <p:embed/>
                </p:oleObj>
              </mc:Choice>
              <mc:Fallback>
                <p:oleObj name="公式" r:id="rId5" imgW="203112" imgH="88861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75" y="1981200"/>
                        <a:ext cx="644525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1" name="Object 9">
            <a:extLst>
              <a:ext uri="{FF2B5EF4-FFF2-40B4-BE49-F238E27FC236}">
                <a16:creationId xmlns:a16="http://schemas.microsoft.com/office/drawing/2014/main" id="{E51A8675-1E8F-4711-877E-15D310194D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4959350"/>
          <a:ext cx="26670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9" name="公式" r:id="rId7" imgW="761669" imgH="215806" progId="Equation.3">
                  <p:embed/>
                </p:oleObj>
              </mc:Choice>
              <mc:Fallback>
                <p:oleObj name="公式" r:id="rId7" imgW="761669" imgH="21580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959350"/>
                        <a:ext cx="26670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Oval 10">
            <a:extLst>
              <a:ext uri="{FF2B5EF4-FFF2-40B4-BE49-F238E27FC236}">
                <a16:creationId xmlns:a16="http://schemas.microsoft.com/office/drawing/2014/main" id="{7B745CD0-DE48-4228-88DA-15B814AFB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981200"/>
            <a:ext cx="533400" cy="533400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3083" name="Oval 11">
            <a:extLst>
              <a:ext uri="{FF2B5EF4-FFF2-40B4-BE49-F238E27FC236}">
                <a16:creationId xmlns:a16="http://schemas.microsoft.com/office/drawing/2014/main" id="{5F067C09-7336-4EDF-ACB4-6B0D8A90A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429000"/>
            <a:ext cx="533400" cy="533400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3084" name="Oval 12">
            <a:extLst>
              <a:ext uri="{FF2B5EF4-FFF2-40B4-BE49-F238E27FC236}">
                <a16:creationId xmlns:a16="http://schemas.microsoft.com/office/drawing/2014/main" id="{A69D36F4-124D-4C5D-94D1-4673B738B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029200"/>
            <a:ext cx="533400" cy="533400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3085" name="Oval 13">
            <a:extLst>
              <a:ext uri="{FF2B5EF4-FFF2-40B4-BE49-F238E27FC236}">
                <a16:creationId xmlns:a16="http://schemas.microsoft.com/office/drawing/2014/main" id="{55642DEB-9986-4561-87D7-AEDDAF861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029200"/>
            <a:ext cx="533400" cy="533400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/>
      <p:bldP spid="3082" grpId="0" animBg="1"/>
      <p:bldP spid="3083" grpId="0" animBg="1"/>
      <p:bldP spid="3084" grpId="0" animBg="1"/>
      <p:bldP spid="308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50BFFA6-0972-4DFF-916B-B6F140F224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无鞍点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内容占位符 3">
                <a:extLst>
                  <a:ext uri="{FF2B5EF4-FFF2-40B4-BE49-F238E27FC236}">
                    <a16:creationId xmlns:a16="http://schemas.microsoft.com/office/drawing/2014/main" id="{DF2D72AF-2B79-430D-850E-74AA50A65B5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72888986"/>
                  </p:ext>
                </p:extLst>
              </p:nvPr>
            </p:nvGraphicFramePr>
            <p:xfrm>
              <a:off x="304800" y="1066800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内容占位符 3">
                <a:extLst>
                  <a:ext uri="{FF2B5EF4-FFF2-40B4-BE49-F238E27FC236}">
                    <a16:creationId xmlns:a16="http://schemas.microsoft.com/office/drawing/2014/main" id="{DF2D72AF-2B79-430D-850E-74AA50A65B5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72888986"/>
                  </p:ext>
                </p:extLst>
              </p:nvPr>
            </p:nvGraphicFramePr>
            <p:xfrm>
              <a:off x="304800" y="1066800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90" t="-1227" r="-201780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296" t="-1227" r="-101183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87" t="-1227" r="-1484" b="-303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2" t="-101852" r="-300888" b="-2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2" t="-200613" r="-300888" b="-10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2" t="-302469" r="-300888" b="-4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椭圆 15">
            <a:extLst>
              <a:ext uri="{FF2B5EF4-FFF2-40B4-BE49-F238E27FC236}">
                <a16:creationId xmlns:a16="http://schemas.microsoft.com/office/drawing/2014/main" id="{B34C91B7-7817-4D44-AC36-1A2944592843}"/>
              </a:ext>
            </a:extLst>
          </p:cNvPr>
          <p:cNvSpPr/>
          <p:nvPr/>
        </p:nvSpPr>
        <p:spPr bwMode="auto">
          <a:xfrm>
            <a:off x="2914996" y="213360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B557D67-963E-4186-894E-70BBB1632E08}"/>
              </a:ext>
            </a:extLst>
          </p:cNvPr>
          <p:cNvSpPr/>
          <p:nvPr/>
        </p:nvSpPr>
        <p:spPr bwMode="auto">
          <a:xfrm>
            <a:off x="7010400" y="213360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87EB50EB-5920-4961-9BB7-538C6683E555}"/>
              </a:ext>
            </a:extLst>
          </p:cNvPr>
          <p:cNvSpPr/>
          <p:nvPr/>
        </p:nvSpPr>
        <p:spPr bwMode="auto">
          <a:xfrm>
            <a:off x="7010400" y="304800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D45A9691-C0EF-4F22-A8BA-9629987FBEC5}"/>
              </a:ext>
            </a:extLst>
          </p:cNvPr>
          <p:cNvSpPr/>
          <p:nvPr/>
        </p:nvSpPr>
        <p:spPr bwMode="auto">
          <a:xfrm>
            <a:off x="2911532" y="3147060"/>
            <a:ext cx="914400" cy="838200"/>
          </a:xfrm>
          <a:prstGeom prst="ellipse">
            <a:avLst/>
          </a:prstGeom>
          <a:noFill/>
          <a:ln w="952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695F20-9E85-43F7-BB31-8E61B160F1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混合策略对策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0ECD42B3-866F-4755-BE91-85A766C847B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/>
            <a:r>
              <a:rPr lang="zh-CN" altLang="en-US" sz="2800"/>
              <a:t>无鞍点对策：局中人考虑以某种概率选择策略</a:t>
            </a:r>
          </a:p>
          <a:p>
            <a:pPr eaLnBrk="1" hangingPunct="1"/>
            <a:r>
              <a:rPr lang="zh-CN" altLang="en-US" sz="2800"/>
              <a:t>混合策略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z="2400"/>
          </a:p>
        </p:txBody>
      </p:sp>
      <p:graphicFrame>
        <p:nvGraphicFramePr>
          <p:cNvPr id="5122" name="Object 4">
            <a:extLst>
              <a:ext uri="{FF2B5EF4-FFF2-40B4-BE49-F238E27FC236}">
                <a16:creationId xmlns:a16="http://schemas.microsoft.com/office/drawing/2014/main" id="{FD5EB420-4768-49FD-8579-DC88D5386710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066800" y="2209800"/>
          <a:ext cx="5562600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0" name="公式" r:id="rId3" imgW="2209800" imgH="431800" progId="Equation.3">
                  <p:embed/>
                </p:oleObj>
              </mc:Choice>
              <mc:Fallback>
                <p:oleObj name="公式" r:id="rId3" imgW="22098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209800"/>
                        <a:ext cx="5562600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Text Box 6">
            <a:extLst>
              <a:ext uri="{FF2B5EF4-FFF2-40B4-BE49-F238E27FC236}">
                <a16:creationId xmlns:a16="http://schemas.microsoft.com/office/drawing/2014/main" id="{6A7A408D-7426-4522-9868-EB29C7487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429000"/>
            <a:ext cx="71628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/>
              <a:t>称为局中人 </a:t>
            </a:r>
            <a:r>
              <a:rPr lang="en-US" altLang="zh-CN" sz="2800"/>
              <a:t>I </a:t>
            </a:r>
            <a:r>
              <a:rPr lang="zh-CN" altLang="en-US" sz="2800"/>
              <a:t>的混合策略集合，即 </a:t>
            </a:r>
            <a:r>
              <a:rPr lang="en-US" altLang="zh-CN" sz="2800"/>
              <a:t>I </a:t>
            </a:r>
            <a:r>
              <a:rPr lang="zh-CN" altLang="en-US" sz="2800"/>
              <a:t>选择</a:t>
            </a:r>
            <a:r>
              <a:rPr lang="el-GR" altLang="zh-CN" sz="2800" i="1">
                <a:cs typeface="Times New Roman" panose="02020603050405020304" pitchFamily="18" charset="0"/>
              </a:rPr>
              <a:t>α</a:t>
            </a:r>
            <a:r>
              <a:rPr lang="en-US" altLang="zh-CN" sz="2800" i="1" baseline="-25000">
                <a:cs typeface="Times New Roman" panose="02020603050405020304" pitchFamily="18" charset="0"/>
              </a:rPr>
              <a:t>i</a:t>
            </a:r>
            <a:r>
              <a:rPr lang="en-US" altLang="zh-CN" sz="2800" baseline="-25000">
                <a:cs typeface="Times New Roman" panose="02020603050405020304" pitchFamily="18" charset="0"/>
              </a:rPr>
              <a:t> </a:t>
            </a:r>
            <a:r>
              <a:rPr lang="zh-CN" altLang="en-US" sz="2800">
                <a:cs typeface="Times New Roman" panose="02020603050405020304" pitchFamily="18" charset="0"/>
              </a:rPr>
              <a:t>的概率为 </a:t>
            </a:r>
            <a:r>
              <a:rPr lang="en-US" altLang="zh-CN" sz="2800" i="1"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>
                <a:cs typeface="Times New Roman" panose="02020603050405020304" pitchFamily="18" charset="0"/>
              </a:rPr>
              <a:t>i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cs typeface="Times New Roman" panose="02020603050405020304" pitchFamily="18" charset="0"/>
              </a:rPr>
              <a:t>同理，可定义局中人 </a:t>
            </a:r>
            <a:r>
              <a:rPr lang="en-US" altLang="zh-CN" sz="2800">
                <a:cs typeface="Times New Roman" panose="02020603050405020304" pitchFamily="18" charset="0"/>
              </a:rPr>
              <a:t>II </a:t>
            </a:r>
            <a:r>
              <a:rPr lang="zh-CN" altLang="en-US" sz="2800">
                <a:cs typeface="Times New Roman" panose="02020603050405020304" pitchFamily="18" charset="0"/>
              </a:rPr>
              <a:t>的混合策略集合 </a:t>
            </a:r>
            <a:r>
              <a:rPr lang="en-US" altLang="zh-CN" sz="2800" i="1">
                <a:cs typeface="Times New Roman" panose="02020603050405020304" pitchFamily="18" charset="0"/>
              </a:rPr>
              <a:t>S</a:t>
            </a:r>
            <a:r>
              <a:rPr lang="en-US" altLang="zh-CN" sz="2800" baseline="-25000">
                <a:cs typeface="Times New Roman" panose="02020603050405020304" pitchFamily="18" charset="0"/>
              </a:rPr>
              <a:t>2</a:t>
            </a:r>
            <a:r>
              <a:rPr lang="en-US" altLang="zh-CN" sz="2800" baseline="30000">
                <a:cs typeface="Times New Roman" panose="02020603050405020304" pitchFamily="18" charset="0"/>
              </a:rPr>
              <a:t>*</a:t>
            </a:r>
            <a:endParaRPr lang="el-GR" altLang="zh-CN" sz="2800" baseline="30000">
              <a:cs typeface="Times New Roman" panose="02020603050405020304" pitchFamily="18" charset="0"/>
            </a:endParaRPr>
          </a:p>
        </p:txBody>
      </p:sp>
      <p:sp>
        <p:nvSpPr>
          <p:cNvPr id="5127" name="Text Box 7">
            <a:extLst>
              <a:ext uri="{FF2B5EF4-FFF2-40B4-BE49-F238E27FC236}">
                <a16:creationId xmlns:a16="http://schemas.microsoft.com/office/drawing/2014/main" id="{30392F88-F212-4257-8513-59EA3C764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334000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/>
              <a:t>                            </a:t>
            </a:r>
            <a:r>
              <a:rPr lang="zh-CN" altLang="en-US" sz="2800" dirty="0"/>
              <a:t>称</a:t>
            </a:r>
            <a:r>
              <a:rPr lang="en-US" altLang="zh-CN" sz="2800" dirty="0"/>
              <a:t>( X, Y )</a:t>
            </a:r>
            <a:r>
              <a:rPr lang="zh-CN" altLang="en-US" sz="2800" dirty="0"/>
              <a:t>为一个混合局势</a:t>
            </a:r>
          </a:p>
        </p:txBody>
      </p:sp>
      <p:graphicFrame>
        <p:nvGraphicFramePr>
          <p:cNvPr id="5123" name="Object 8">
            <a:extLst>
              <a:ext uri="{FF2B5EF4-FFF2-40B4-BE49-F238E27FC236}">
                <a16:creationId xmlns:a16="http://schemas.microsoft.com/office/drawing/2014/main" id="{986589BF-6725-4568-903F-79A163883464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1143000" y="5334000"/>
          <a:ext cx="23622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1" name="公式" r:id="rId5" imgW="914400" imgH="228600" progId="Equation.3">
                  <p:embed/>
                </p:oleObj>
              </mc:Choice>
              <mc:Fallback>
                <p:oleObj name="公式" r:id="rId5" imgW="9144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334000"/>
                        <a:ext cx="23622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/>
      <p:bldP spid="51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7D93921-1F6F-4AC9-89E8-4B57F3DF3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混合策略对策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9" name="Rectangle 3">
                <a:extLst>
                  <a:ext uri="{FF2B5EF4-FFF2-40B4-BE49-F238E27FC236}">
                    <a16:creationId xmlns:a16="http://schemas.microsoft.com/office/drawing/2014/main" id="{2CCE9524-9BEA-493B-8C67-8A2E08FF4242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43000"/>
                <a:ext cx="8001000" cy="4987925"/>
              </a:xfrm>
            </p:spPr>
            <p:txBody>
              <a:bodyPr/>
              <a:lstStyle/>
              <a:p>
                <a:pPr eaLnBrk="1" hangingPunct="1"/>
                <a:r>
                  <a:rPr lang="zh-CN" altLang="en-US" dirty="0"/>
                  <a:t>给定局势（</a:t>
                </a:r>
                <a:r>
                  <a:rPr lang="en-US" altLang="zh-CN" dirty="0"/>
                  <a:t>X,Y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局中人 </a:t>
                </a:r>
                <a:r>
                  <a:rPr lang="en-US" altLang="zh-CN" dirty="0"/>
                  <a:t>I </a:t>
                </a:r>
                <a:r>
                  <a:rPr lang="zh-CN" altLang="en-US" dirty="0"/>
                  <a:t>的收益期望</a:t>
                </a:r>
              </a:p>
              <a:p>
                <a:pPr lvl="1" eaLnBrk="1" hangingPunct="1"/>
                <a:r>
                  <a:rPr lang="en-US" altLang="zh-CN" dirty="0"/>
                  <a:t>I</a:t>
                </a:r>
                <a:r>
                  <a:rPr lang="zh-CN" altLang="en-US" dirty="0"/>
                  <a:t>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dirty="0"/>
                  <a:t>,II</a:t>
                </a:r>
                <a:r>
                  <a:rPr lang="zh-CN" altLang="en-US" dirty="0"/>
                  <a:t>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dirty="0"/>
                  <a:t>的概率是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/>
                  <a:t>，所以总的收益期望是</a:t>
                </a:r>
              </a:p>
              <a:p>
                <a:pPr eaLnBrk="1" hangingPunct="1"/>
                <a:endParaRPr lang="zh-CN" altLang="en-US" dirty="0"/>
              </a:p>
              <a:p>
                <a:pPr eaLnBrk="1" hangingPunct="1"/>
                <a:endParaRPr lang="zh-CN" altLang="en-US" dirty="0"/>
              </a:p>
              <a:p>
                <a:pPr eaLnBrk="1" hangingPunct="1"/>
                <a:r>
                  <a:rPr lang="zh-CN" altLang="en-US" dirty="0"/>
                  <a:t>记                              ，为对策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的混合扩充</a:t>
                </a:r>
              </a:p>
              <a:p>
                <a:pPr eaLnBrk="1" hangingPunct="1"/>
                <a:endParaRPr lang="zh-CN" altLang="en-US" dirty="0"/>
              </a:p>
              <a:p>
                <a:pPr lvl="1" eaLnBrk="1" hangingPunct="1"/>
                <a:r>
                  <a:rPr lang="zh-CN" altLang="en-US" dirty="0"/>
                  <a:t>纯策略是混合策略的特例</a:t>
                </a:r>
              </a:p>
              <a:p>
                <a:pPr eaLnBrk="1" hangingPunct="1"/>
                <a:endParaRPr lang="zh-CN" altLang="en-US" dirty="0"/>
              </a:p>
              <a:p>
                <a:pPr eaLnBrk="1" hangingPunct="1"/>
                <a:endParaRPr lang="zh-CN" altLang="en-US" sz="2800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6149" name="Rectangle 3">
                <a:extLst>
                  <a:ext uri="{FF2B5EF4-FFF2-40B4-BE49-F238E27FC236}">
                    <a16:creationId xmlns:a16="http://schemas.microsoft.com/office/drawing/2014/main" id="{2CCE9524-9BEA-493B-8C67-8A2E08FF42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001000" cy="4987925"/>
              </a:xfrm>
              <a:blipFill>
                <a:blip r:embed="rId2"/>
                <a:stretch>
                  <a:fillRect l="-685" t="-2078" r="-1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Object 10">
                <a:extLst>
                  <a:ext uri="{FF2B5EF4-FFF2-40B4-BE49-F238E27FC236}">
                    <a16:creationId xmlns:a16="http://schemas.microsoft.com/office/drawing/2014/main" id="{E11CCA79-AAAA-4A72-A9AD-9B707C51579C}"/>
                  </a:ext>
                </a:extLst>
              </p:cNvPr>
              <p:cNvSpPr txBox="1">
                <a:spLocks noGrp="1"/>
              </p:cNvSpPr>
              <p:nvPr>
                <p:ph sz="quarter" idx="2"/>
              </p:nvPr>
            </p:nvSpPr>
            <p:spPr bwMode="auto">
              <a:xfrm>
                <a:off x="1600200" y="2590800"/>
                <a:ext cx="5010150" cy="88265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62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𝐀𝐘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46" name="Object 10">
                <a:extLst>
                  <a:ext uri="{FF2B5EF4-FFF2-40B4-BE49-F238E27FC236}">
                    <a16:creationId xmlns:a16="http://schemas.microsoft.com/office/drawing/2014/main" id="{E11CCA79-AAAA-4A72-A9AD-9B707C515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 bwMode="auto">
              <a:xfrm>
                <a:off x="1600200" y="2590800"/>
                <a:ext cx="5010150" cy="8826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Object 12">
                <a:extLst>
                  <a:ext uri="{FF2B5EF4-FFF2-40B4-BE49-F238E27FC236}">
                    <a16:creationId xmlns:a16="http://schemas.microsoft.com/office/drawing/2014/main" id="{1855A66E-EA9C-4522-94BF-C986ED76DE45}"/>
                  </a:ext>
                </a:extLst>
              </p:cNvPr>
              <p:cNvSpPr txBox="1">
                <a:spLocks noGrp="1"/>
              </p:cNvSpPr>
              <p:nvPr>
                <p:ph sz="quarter" idx="3"/>
              </p:nvPr>
            </p:nvSpPr>
            <p:spPr bwMode="auto">
              <a:xfrm>
                <a:off x="1371600" y="3886200"/>
                <a:ext cx="2971800" cy="677863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47" name="Object 12">
                <a:extLst>
                  <a:ext uri="{FF2B5EF4-FFF2-40B4-BE49-F238E27FC236}">
                    <a16:creationId xmlns:a16="http://schemas.microsoft.com/office/drawing/2014/main" id="{1855A66E-EA9C-4522-94BF-C986ED76D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 bwMode="auto">
              <a:xfrm>
                <a:off x="1371600" y="3886200"/>
                <a:ext cx="2971800" cy="6778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7D93921-1F6F-4AC9-89E8-4B57F3DF3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混合策略对策举例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内容占位符 3">
                <a:extLst>
                  <a:ext uri="{FF2B5EF4-FFF2-40B4-BE49-F238E27FC236}">
                    <a16:creationId xmlns:a16="http://schemas.microsoft.com/office/drawing/2014/main" id="{55EA09ED-3B4C-4246-A7B6-CFE0A474E98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22233904"/>
                  </p:ext>
                </p:extLst>
              </p:nvPr>
            </p:nvGraphicFramePr>
            <p:xfrm>
              <a:off x="762000" y="1354686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内容占位符 3">
                <a:extLst>
                  <a:ext uri="{FF2B5EF4-FFF2-40B4-BE49-F238E27FC236}">
                    <a16:creationId xmlns:a16="http://schemas.microsoft.com/office/drawing/2014/main" id="{55EA09ED-3B4C-4246-A7B6-CFE0A474E98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22233904"/>
                  </p:ext>
                </p:extLst>
              </p:nvPr>
            </p:nvGraphicFramePr>
            <p:xfrm>
              <a:off x="762000" y="1354686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90" t="-613" r="-201780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296" t="-613" r="-101183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87" t="-613" r="-1484" b="-303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2" t="-100613" r="-300888" b="-2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2" t="-201852" r="-300888" b="-104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2" t="-300000" r="-300888" b="-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B64C9549-7D79-4717-9C8C-34C413CE0501}"/>
              </a:ext>
            </a:extLst>
          </p:cNvPr>
          <p:cNvSpPr txBox="1"/>
          <p:nvPr/>
        </p:nvSpPr>
        <p:spPr>
          <a:xfrm>
            <a:off x="3581400" y="805190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1/2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15A3AB-32D7-437A-983D-35CCA82CB2A0}"/>
              </a:ext>
            </a:extLst>
          </p:cNvPr>
          <p:cNvSpPr txBox="1"/>
          <p:nvPr/>
        </p:nvSpPr>
        <p:spPr>
          <a:xfrm>
            <a:off x="5638800" y="805190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1/2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85C914-E20D-4199-B12B-A2ECE94D63B3}"/>
              </a:ext>
            </a:extLst>
          </p:cNvPr>
          <p:cNvSpPr txBox="1"/>
          <p:nvPr/>
        </p:nvSpPr>
        <p:spPr>
          <a:xfrm>
            <a:off x="118875" y="2594343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1/3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5706778-8465-4EE1-8FE9-F157BA9791C6}"/>
              </a:ext>
            </a:extLst>
          </p:cNvPr>
          <p:cNvSpPr txBox="1"/>
          <p:nvPr/>
        </p:nvSpPr>
        <p:spPr>
          <a:xfrm>
            <a:off x="118875" y="3629942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2/3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E60D34F-7924-4D93-B8AC-14686AFA9E5A}"/>
                  </a:ext>
                </a:extLst>
              </p:cNvPr>
              <p:cNvSpPr/>
              <p:nvPr/>
            </p:nvSpPr>
            <p:spPr>
              <a:xfrm>
                <a:off x="381000" y="5619746"/>
                <a:ext cx="8327857" cy="7418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𝐘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US" altLang="zh-CN" dirty="0"/>
                  <a:t>+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m:rPr>
                        <m:nor/>
                      </m:rPr>
                      <a:rPr lang="en-US" altLang="zh-CN" dirty="0"/>
                      <m:t>+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0000"/>
                        </a:solidFill>
                      </a:rPr>
                      <m:t> 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en-US" altLang="zh-CN" dirty="0"/>
                  <a:t> +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E60D34F-7924-4D93-B8AC-14686AFA9E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619746"/>
                <a:ext cx="8327857" cy="741806"/>
              </a:xfrm>
              <a:prstGeom prst="rect">
                <a:avLst/>
              </a:prstGeom>
              <a:blipFill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3809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76E82BA-D717-4D49-A3C6-1E6BE5346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混合策略对策的解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875FE5C-4533-40A3-B46A-A1676D0605E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CN" altLang="en-US"/>
              <a:t>对混合策略对策</a:t>
            </a:r>
            <a:r>
              <a:rPr lang="zh-CN" altLang="en-US" sz="2800"/>
              <a:t> </a:t>
            </a:r>
          </a:p>
        </p:txBody>
      </p:sp>
      <p:graphicFrame>
        <p:nvGraphicFramePr>
          <p:cNvPr id="16388" name="Object 12">
            <a:extLst>
              <a:ext uri="{FF2B5EF4-FFF2-40B4-BE49-F238E27FC236}">
                <a16:creationId xmlns:a16="http://schemas.microsoft.com/office/drawing/2014/main" id="{70AB43E7-39D4-4805-B682-4BC9FE42A220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962400" y="1185863"/>
          <a:ext cx="25908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name="Microsoft 公式 3.0 中文版" r:id="rId4" imgW="1002865" imgH="228501" progId="Equation.3">
                  <p:embed/>
                </p:oleObj>
              </mc:Choice>
              <mc:Fallback>
                <p:oleObj name="Microsoft 公式 3.0 中文版" r:id="rId4" imgW="1002865" imgH="22850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185863"/>
                        <a:ext cx="25908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389" name="Object 6">
                <a:extLst>
                  <a:ext uri="{FF2B5EF4-FFF2-40B4-BE49-F238E27FC236}">
                    <a16:creationId xmlns:a16="http://schemas.microsoft.com/office/drawing/2014/main" id="{CA74722D-81D4-40DA-B601-43E10C0D8F31}"/>
                  </a:ext>
                </a:extLst>
              </p:cNvPr>
              <p:cNvSpPr txBox="1">
                <a:spLocks noGrp="1"/>
              </p:cNvSpPr>
              <p:nvPr>
                <p:ph sz="quarter" idx="3"/>
              </p:nvPr>
            </p:nvSpPr>
            <p:spPr bwMode="auto">
              <a:xfrm>
                <a:off x="952500" y="2159000"/>
                <a:ext cx="7312025" cy="881063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389" name="Object 6">
                <a:extLst>
                  <a:ext uri="{FF2B5EF4-FFF2-40B4-BE49-F238E27FC236}">
                    <a16:creationId xmlns:a16="http://schemas.microsoft.com/office/drawing/2014/main" id="{CA74722D-81D4-40DA-B601-43E10C0D8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 bwMode="auto">
              <a:xfrm>
                <a:off x="952500" y="2159000"/>
                <a:ext cx="7312025" cy="8810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0" name="Text Box 8">
            <a:extLst>
              <a:ext uri="{FF2B5EF4-FFF2-40B4-BE49-F238E27FC236}">
                <a16:creationId xmlns:a16="http://schemas.microsoft.com/office/drawing/2014/main" id="{C87FD1AD-BB4A-4B78-9FE7-298205658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0"/>
            <a:ext cx="777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/>
              <a:t>称 </a:t>
            </a:r>
            <a:r>
              <a:rPr lang="en-US" altLang="zh-CN" sz="2800"/>
              <a:t>(X*,Y*) </a:t>
            </a:r>
            <a:r>
              <a:rPr lang="zh-CN" altLang="en-US" sz="2800"/>
              <a:t>为 </a:t>
            </a:r>
            <a:r>
              <a:rPr lang="en-US" altLang="zh-CN" sz="2800"/>
              <a:t>G* </a:t>
            </a:r>
            <a:r>
              <a:rPr lang="zh-CN" altLang="en-US" sz="2800"/>
              <a:t>在混合策略意义下的解</a:t>
            </a:r>
          </a:p>
        </p:txBody>
      </p:sp>
      <p:sp>
        <p:nvSpPr>
          <p:cNvPr id="16391" name="Text Box 9">
            <a:extLst>
              <a:ext uri="{FF2B5EF4-FFF2-40B4-BE49-F238E27FC236}">
                <a16:creationId xmlns:a16="http://schemas.microsoft.com/office/drawing/2014/main" id="{F5E6F08C-5643-4342-8F15-6510703E3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64820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/>
              <a:t>值 </a:t>
            </a:r>
            <a:r>
              <a:rPr lang="en-US" altLang="zh-CN" sz="2800"/>
              <a:t>V</a:t>
            </a:r>
            <a:r>
              <a:rPr lang="en-US" altLang="zh-CN" sz="2800" baseline="-25000"/>
              <a:t>G </a:t>
            </a:r>
            <a:r>
              <a:rPr lang="zh-CN" altLang="en-US" sz="2800"/>
              <a:t>为对策 </a:t>
            </a:r>
            <a:r>
              <a:rPr lang="en-US" altLang="zh-CN" sz="2800"/>
              <a:t>G* </a:t>
            </a:r>
            <a:r>
              <a:rPr lang="zh-CN" altLang="en-US" sz="2800"/>
              <a:t>的值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6F6A717-5064-4CF7-A45F-F853CA4243E8}"/>
                  </a:ext>
                </a:extLst>
              </p:cNvPr>
              <p:cNvSpPr/>
              <p:nvPr/>
            </p:nvSpPr>
            <p:spPr>
              <a:xfrm>
                <a:off x="512657" y="3040063"/>
                <a:ext cx="3481274" cy="56400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zh-CN" altLang="en-US" dirty="0"/>
                  <a:t>类比于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𝐦𝐚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𝐦𝐢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6F6A717-5064-4CF7-A45F-F853CA4243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57" y="3040063"/>
                <a:ext cx="3481274" cy="564001"/>
              </a:xfrm>
              <a:prstGeom prst="rect">
                <a:avLst/>
              </a:prstGeom>
              <a:blipFill>
                <a:blip r:embed="rId7"/>
                <a:stretch>
                  <a:fillRect l="-3503" t="-15217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5182DC7-D525-405F-8F8A-F75BC09A06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混合策略对策的解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F01CDBF-0E59-49DE-95F5-EA52BB5462E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若</a:t>
            </a:r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 sz="280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2" name="Object 8">
                <a:extLst>
                  <a:ext uri="{FF2B5EF4-FFF2-40B4-BE49-F238E27FC236}">
                    <a16:creationId xmlns:a16="http://schemas.microsoft.com/office/drawing/2014/main" id="{37591099-8542-44CA-861E-8C90F551D9A8}"/>
                  </a:ext>
                </a:extLst>
              </p:cNvPr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1066800" y="1905000"/>
                <a:ext cx="6019800" cy="6604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𝐘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𝐘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412" name="Object 8">
                <a:extLst>
                  <a:ext uri="{FF2B5EF4-FFF2-40B4-BE49-F238E27FC236}">
                    <a16:creationId xmlns:a16="http://schemas.microsoft.com/office/drawing/2014/main" id="{37591099-8542-44CA-861E-8C90F551D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1066800" y="1905000"/>
                <a:ext cx="6019800" cy="660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3" name="Text Box 10">
            <a:extLst>
              <a:ext uri="{FF2B5EF4-FFF2-40B4-BE49-F238E27FC236}">
                <a16:creationId xmlns:a16="http://schemas.microsoft.com/office/drawing/2014/main" id="{CC57BDBD-B346-44A6-9C7E-5D2F9FB77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505200"/>
            <a:ext cx="632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/>
              <a:t>则</a:t>
            </a:r>
            <a:r>
              <a:rPr lang="en-US" altLang="zh-CN" sz="2800" dirty="0"/>
              <a:t>(X*,Y*)</a:t>
            </a:r>
            <a:r>
              <a:rPr lang="zh-CN" altLang="en-US" sz="2800" dirty="0"/>
              <a:t>为</a:t>
            </a:r>
            <a:r>
              <a:rPr lang="en-US" altLang="zh-CN" sz="2800" dirty="0"/>
              <a:t>G</a:t>
            </a:r>
            <a:r>
              <a:rPr lang="zh-CN" altLang="en-US" sz="2800" dirty="0"/>
              <a:t>在混合策略意义下的解。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E5368EF-E2D9-4D2A-929B-4E81303BCEBE}"/>
                  </a:ext>
                </a:extLst>
              </p:cNvPr>
              <p:cNvSpPr txBox="1"/>
              <p:nvPr/>
            </p:nvSpPr>
            <p:spPr>
              <a:xfrm>
                <a:off x="1143000" y="4481533"/>
                <a:ext cx="49782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目标就是找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𝐘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，两组向量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E5368EF-E2D9-4D2A-929B-4E81303BC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481533"/>
                <a:ext cx="4978286" cy="523220"/>
              </a:xfrm>
              <a:prstGeom prst="rect">
                <a:avLst/>
              </a:prstGeom>
              <a:blipFill>
                <a:blip r:embed="rId4"/>
                <a:stretch>
                  <a:fillRect l="-2574" t="-15116" r="-1961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5182DC7-D525-405F-8F8A-F75BC09A06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混合策略对策的解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2" name="Object 8">
                <a:extLst>
                  <a:ext uri="{FF2B5EF4-FFF2-40B4-BE49-F238E27FC236}">
                    <a16:creationId xmlns:a16="http://schemas.microsoft.com/office/drawing/2014/main" id="{37591099-8542-44CA-861E-8C90F551D9A8}"/>
                  </a:ext>
                </a:extLst>
              </p:cNvPr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457200" y="1155738"/>
                <a:ext cx="8001000" cy="6604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𝐘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𝐘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𝐘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𝐘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412" name="Object 8">
                <a:extLst>
                  <a:ext uri="{FF2B5EF4-FFF2-40B4-BE49-F238E27FC236}">
                    <a16:creationId xmlns:a16="http://schemas.microsoft.com/office/drawing/2014/main" id="{37591099-8542-44CA-861E-8C90F551D9A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457200" y="1155738"/>
                <a:ext cx="8001000" cy="660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F24EB6C-64B8-4132-BDBF-8B21740F141D}"/>
                  </a:ext>
                </a:extLst>
              </p:cNvPr>
              <p:cNvSpPr/>
              <p:nvPr/>
            </p:nvSpPr>
            <p:spPr>
              <a:xfrm>
                <a:off x="152400" y="2070118"/>
                <a:ext cx="8794523" cy="5770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即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取纯策略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取混合策略时的收益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F24EB6C-64B8-4132-BDBF-8B21740F14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2070118"/>
                <a:ext cx="8794523" cy="577017"/>
              </a:xfrm>
              <a:prstGeom prst="rect">
                <a:avLst/>
              </a:prstGeom>
              <a:blipFill>
                <a:blip r:embed="rId4"/>
                <a:stretch>
                  <a:fillRect t="-14894" r="-624" b="-21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AA57F7E-7095-4C16-82F6-9733B783D508}"/>
                  </a:ext>
                </a:extLst>
              </p:cNvPr>
              <p:cNvSpPr/>
              <p:nvPr/>
            </p:nvSpPr>
            <p:spPr>
              <a:xfrm>
                <a:off x="381000" y="3022272"/>
                <a:ext cx="7909729" cy="7298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𝐘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𝐘</m:t>
                          </m:r>
                        </m:e>
                      </m:d>
                      <m:r>
                        <a:rPr lang="en-US" altLang="zh-CN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AA57F7E-7095-4C16-82F6-9733B783D5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022272"/>
                <a:ext cx="7909729" cy="7298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567EC2F-4855-484E-9D13-D423D554529E}"/>
                  </a:ext>
                </a:extLst>
              </p:cNvPr>
              <p:cNvSpPr/>
              <p:nvPr/>
            </p:nvSpPr>
            <p:spPr>
              <a:xfrm>
                <a:off x="152400" y="4191000"/>
                <a:ext cx="3555076" cy="7276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567EC2F-4855-484E-9D13-D423D55452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191000"/>
                <a:ext cx="3555076" cy="7276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27B36AE-D087-46E2-A7A9-E72E98BAA648}"/>
                  </a:ext>
                </a:extLst>
              </p:cNvPr>
              <p:cNvSpPr txBox="1"/>
              <p:nvPr/>
            </p:nvSpPr>
            <p:spPr>
              <a:xfrm>
                <a:off x="2159926" y="4682779"/>
                <a:ext cx="3276600" cy="1972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𝐦𝐢𝐧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∀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nary>
                    </m:oMath>
                  </m:oMathPara>
                </a14:m>
                <a:endParaRPr lang="en-US" altLang="zh-CN" sz="2000" dirty="0">
                  <a:solidFill>
                    <a:srgbClr val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27B36AE-D087-46E2-A7A9-E72E98BAA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926" y="4682779"/>
                <a:ext cx="3276600" cy="19724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40E8791-CF32-4AD5-9D78-F7699BFF8280}"/>
                  </a:ext>
                </a:extLst>
              </p:cNvPr>
              <p:cNvSpPr txBox="1"/>
              <p:nvPr/>
            </p:nvSpPr>
            <p:spPr>
              <a:xfrm>
                <a:off x="4800600" y="5105564"/>
                <a:ext cx="3973332" cy="6537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【</a:t>
                </a:r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lim>
                    </m:limLow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E(</a:t>
                </a:r>
                <a:r>
                  <a:rPr lang="en-US" altLang="zh-CN" dirty="0" err="1"/>
                  <a:t>i,Y</a:t>
                </a:r>
                <a:r>
                  <a:rPr lang="en-US" altLang="zh-CN" dirty="0"/>
                  <a:t>)】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40E8791-CF32-4AD5-9D78-F7699BFF8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5105564"/>
                <a:ext cx="3973332" cy="653705"/>
              </a:xfrm>
              <a:prstGeom prst="rect">
                <a:avLst/>
              </a:prstGeom>
              <a:blipFill>
                <a:blip r:embed="rId8"/>
                <a:stretch>
                  <a:fillRect l="-3226" t="-13084" r="-2151" b="-65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744497E3-C7F6-4471-BDE5-2660A14CF20F}"/>
              </a:ext>
            </a:extLst>
          </p:cNvPr>
          <p:cNvSpPr txBox="1"/>
          <p:nvPr/>
        </p:nvSpPr>
        <p:spPr>
          <a:xfrm>
            <a:off x="4716278" y="5920444"/>
            <a:ext cx="42306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我们要调整</a:t>
            </a:r>
            <a:r>
              <a:rPr lang="en-US" altLang="zh-CN" dirty="0"/>
              <a:t>Y</a:t>
            </a:r>
            <a:r>
              <a:rPr lang="zh-CN" altLang="en-US" dirty="0"/>
              <a:t>，使得</a:t>
            </a:r>
            <a:r>
              <a:rPr lang="en-US" altLang="zh-CN" dirty="0"/>
              <a:t>v</a:t>
            </a:r>
            <a:r>
              <a:rPr lang="zh-CN" altLang="en-US" dirty="0"/>
              <a:t>最小</a:t>
            </a:r>
          </a:p>
        </p:txBody>
      </p:sp>
    </p:spTree>
    <p:extLst>
      <p:ext uri="{BB962C8B-B14F-4D97-AF65-F5344CB8AC3E}">
        <p14:creationId xmlns:p14="http://schemas.microsoft.com/office/powerpoint/2010/main" val="252748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7" grpId="0"/>
      <p:bldP spid="2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5182DC7-D525-405F-8F8A-F75BC09A06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混合策略对策的解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27B36AE-D087-46E2-A7A9-E72E98BAA648}"/>
                  </a:ext>
                </a:extLst>
              </p:cNvPr>
              <p:cNvSpPr txBox="1"/>
              <p:nvPr/>
            </p:nvSpPr>
            <p:spPr>
              <a:xfrm>
                <a:off x="275705" y="1015262"/>
                <a:ext cx="3581400" cy="2309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𝐦𝐢𝐧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∀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nary>
                    </m:oMath>
                  </m:oMathPara>
                </a14:m>
                <a:endParaRPr lang="en-US" altLang="zh-CN" sz="2000" dirty="0">
                  <a:solidFill>
                    <a:srgbClr val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27B36AE-D087-46E2-A7A9-E72E98BAA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05" y="1015262"/>
                <a:ext cx="3581400" cy="2309350"/>
              </a:xfrm>
              <a:prstGeom prst="rect">
                <a:avLst/>
              </a:prstGeom>
              <a:blipFill>
                <a:blip r:embed="rId3"/>
                <a:stretch>
                  <a:fillRect b="-13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FA3CDC0-07CE-4A82-906B-D269066D4A00}"/>
                  </a:ext>
                </a:extLst>
              </p:cNvPr>
              <p:cNvSpPr txBox="1"/>
              <p:nvPr/>
            </p:nvSpPr>
            <p:spPr>
              <a:xfrm>
                <a:off x="3661161" y="1376362"/>
                <a:ext cx="1558953" cy="4794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800" dirty="0"/>
                  <a:t>我们令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>
                        <m: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8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num>
                      <m:den>
                        <m: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den>
                    </m:f>
                  </m:oMath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FA3CDC0-07CE-4A82-906B-D269066D4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161" y="1376362"/>
                <a:ext cx="1558953" cy="479490"/>
              </a:xfrm>
              <a:prstGeom prst="rect">
                <a:avLst/>
              </a:prstGeom>
              <a:blipFill>
                <a:blip r:embed="rId4"/>
                <a:stretch>
                  <a:fillRect l="-3529" t="-1282"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6AA8A47-0E0C-4E38-B6C4-9F26C1D46B67}"/>
                  </a:ext>
                </a:extLst>
              </p:cNvPr>
              <p:cNvSpPr txBox="1"/>
              <p:nvPr/>
            </p:nvSpPr>
            <p:spPr>
              <a:xfrm>
                <a:off x="4724400" y="762000"/>
                <a:ext cx="3581400" cy="1972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𝐦𝐢𝐧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∀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nary>
                    </m:oMath>
                  </m:oMathPara>
                </a14:m>
                <a:endParaRPr lang="en-US" altLang="zh-CN" sz="2000" dirty="0">
                  <a:solidFill>
                    <a:srgbClr val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den>
                      </m:f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6AA8A47-0E0C-4E38-B6C4-9F26C1D46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762000"/>
                <a:ext cx="3581400" cy="1972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箭头: 右 9">
            <a:extLst>
              <a:ext uri="{FF2B5EF4-FFF2-40B4-BE49-F238E27FC236}">
                <a16:creationId xmlns:a16="http://schemas.microsoft.com/office/drawing/2014/main" id="{8854694D-EF1E-4DEA-8761-EABBAAC9A2DE}"/>
              </a:ext>
            </a:extLst>
          </p:cNvPr>
          <p:cNvSpPr/>
          <p:nvPr/>
        </p:nvSpPr>
        <p:spPr bwMode="auto">
          <a:xfrm>
            <a:off x="3628504" y="1759159"/>
            <a:ext cx="1781695" cy="381000"/>
          </a:xfrm>
          <a:prstGeom prst="rightArrow">
            <a:avLst/>
          </a:prstGeom>
          <a:solidFill>
            <a:srgbClr val="6699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50B8DCA0-9A14-4B28-A4D8-31F7B46403B1}"/>
              </a:ext>
            </a:extLst>
          </p:cNvPr>
          <p:cNvSpPr/>
          <p:nvPr/>
        </p:nvSpPr>
        <p:spPr bwMode="auto">
          <a:xfrm rot="5400000">
            <a:off x="6324600" y="2959888"/>
            <a:ext cx="381000" cy="381000"/>
          </a:xfrm>
          <a:prstGeom prst="rightArrow">
            <a:avLst/>
          </a:prstGeom>
          <a:solidFill>
            <a:srgbClr val="6699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668B98E-9B54-479A-B253-E16307B5F4D8}"/>
                  </a:ext>
                </a:extLst>
              </p:cNvPr>
              <p:cNvSpPr txBox="1"/>
              <p:nvPr/>
            </p:nvSpPr>
            <p:spPr>
              <a:xfrm>
                <a:off x="4914900" y="3452304"/>
                <a:ext cx="3581400" cy="1902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𝐦𝐢𝐧</m:t>
                      </m:r>
                      <m:f>
                        <m:f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∀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nary>
                    </m:oMath>
                  </m:oMathPara>
                </a14:m>
                <a:endParaRPr lang="en-US" altLang="zh-CN" sz="2000" dirty="0">
                  <a:solidFill>
                    <a:srgbClr val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668B98E-9B54-479A-B253-E16307B5F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900" y="3452304"/>
                <a:ext cx="3581400" cy="1902572"/>
              </a:xfrm>
              <a:prstGeom prst="rect">
                <a:avLst/>
              </a:prstGeom>
              <a:blipFill>
                <a:blip r:embed="rId6"/>
                <a:stretch>
                  <a:fillRect b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箭头: 右 16">
            <a:extLst>
              <a:ext uri="{FF2B5EF4-FFF2-40B4-BE49-F238E27FC236}">
                <a16:creationId xmlns:a16="http://schemas.microsoft.com/office/drawing/2014/main" id="{871DCC97-CC82-47B5-9B0D-937DCEADE433}"/>
              </a:ext>
            </a:extLst>
          </p:cNvPr>
          <p:cNvSpPr/>
          <p:nvPr/>
        </p:nvSpPr>
        <p:spPr bwMode="auto">
          <a:xfrm rot="10800000">
            <a:off x="3628503" y="4425266"/>
            <a:ext cx="1781695" cy="381000"/>
          </a:xfrm>
          <a:prstGeom prst="rightArrow">
            <a:avLst/>
          </a:prstGeom>
          <a:solidFill>
            <a:srgbClr val="6699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B71F398-FBFA-4819-90D0-334CBDD20E45}"/>
                  </a:ext>
                </a:extLst>
              </p:cNvPr>
              <p:cNvSpPr txBox="1"/>
              <p:nvPr/>
            </p:nvSpPr>
            <p:spPr>
              <a:xfrm>
                <a:off x="1100050" y="3439835"/>
                <a:ext cx="2328950" cy="20015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𝐦𝐚𝐱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∀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nary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B71F398-FBFA-4819-90D0-334CBDD20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050" y="3439835"/>
                <a:ext cx="2328950" cy="2001574"/>
              </a:xfrm>
              <a:prstGeom prst="rect">
                <a:avLst/>
              </a:prstGeom>
              <a:blipFill>
                <a:blip r:embed="rId7"/>
                <a:stretch>
                  <a:fillRect b="-90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E9579AC-4ACD-4243-B116-1E6DFD5FA974}"/>
                  </a:ext>
                </a:extLst>
              </p:cNvPr>
              <p:cNvSpPr txBox="1"/>
              <p:nvPr/>
            </p:nvSpPr>
            <p:spPr>
              <a:xfrm>
                <a:off x="3661161" y="2114944"/>
                <a:ext cx="12843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800" dirty="0"/>
                  <a:t>假设 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E9579AC-4ACD-4243-B116-1E6DFD5FA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161" y="2114944"/>
                <a:ext cx="1284326" cy="369332"/>
              </a:xfrm>
              <a:prstGeom prst="rect">
                <a:avLst/>
              </a:prstGeom>
              <a:blipFill>
                <a:blip r:embed="rId8"/>
                <a:stretch>
                  <a:fillRect l="-4286" t="-1311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B59A3CC-D598-4E03-882D-E715E4ACC0F8}"/>
                  </a:ext>
                </a:extLst>
              </p:cNvPr>
              <p:cNvSpPr/>
              <p:nvPr/>
            </p:nvSpPr>
            <p:spPr>
              <a:xfrm>
                <a:off x="1365240" y="5556632"/>
                <a:ext cx="1798569" cy="10542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B59A3CC-D598-4E03-882D-E715E4ACC0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240" y="5556632"/>
                <a:ext cx="1798569" cy="10542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8303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3F1AB-29A4-4B63-B4EE-35DF0F9C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43791DB2-A37C-41DB-B348-2CD5FAC095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求解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对策的解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43791DB2-A37C-41DB-B348-2CD5FAC095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8D6D67F-75A0-48D1-90A0-9AB4B2D60188}"/>
                  </a:ext>
                </a:extLst>
              </p:cNvPr>
              <p:cNvSpPr txBox="1"/>
              <p:nvPr/>
            </p:nvSpPr>
            <p:spPr>
              <a:xfrm>
                <a:off x="6477000" y="1219200"/>
                <a:ext cx="2343807" cy="2001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𝐦𝐚𝐱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∀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nary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8D6D67F-75A0-48D1-90A0-9AB4B2D60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1219200"/>
                <a:ext cx="2343807" cy="2001574"/>
              </a:xfrm>
              <a:prstGeom prst="rect">
                <a:avLst/>
              </a:prstGeom>
              <a:blipFill>
                <a:blip r:embed="rId3"/>
                <a:stretch>
                  <a:fillRect b="-1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715289EE-2A3D-40BF-AB81-80482686B814}"/>
              </a:ext>
            </a:extLst>
          </p:cNvPr>
          <p:cNvSpPr txBox="1"/>
          <p:nvPr/>
        </p:nvSpPr>
        <p:spPr>
          <a:xfrm>
            <a:off x="762000" y="2219987"/>
            <a:ext cx="3430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（在纯策略下无解）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C464834-1568-4DDF-BE15-2E6F3B500C0D}"/>
                  </a:ext>
                </a:extLst>
              </p:cNvPr>
              <p:cNvSpPr txBox="1"/>
              <p:nvPr/>
            </p:nvSpPr>
            <p:spPr>
              <a:xfrm>
                <a:off x="6492766" y="4038600"/>
                <a:ext cx="2343807" cy="2001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𝐦𝐢𝐧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∀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nary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C464834-1568-4DDF-BE15-2E6F3B500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766" y="4038600"/>
                <a:ext cx="2343807" cy="20015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5DED0CF-966F-4FFC-9194-FFB17FBF7ACB}"/>
                  </a:ext>
                </a:extLst>
              </p:cNvPr>
              <p:cNvSpPr txBox="1"/>
              <p:nvPr/>
            </p:nvSpPr>
            <p:spPr>
              <a:xfrm>
                <a:off x="1372768" y="3012572"/>
                <a:ext cx="2774414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𝟓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𝟑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5DED0CF-966F-4FFC-9194-FFB17FBF7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68" y="3012572"/>
                <a:ext cx="2774414" cy="13849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箭头: 下 9">
            <a:extLst>
              <a:ext uri="{FF2B5EF4-FFF2-40B4-BE49-F238E27FC236}">
                <a16:creationId xmlns:a16="http://schemas.microsoft.com/office/drawing/2014/main" id="{8856672F-4C4D-4DFD-B5D7-F30DC2E62500}"/>
              </a:ext>
            </a:extLst>
          </p:cNvPr>
          <p:cNvSpPr/>
          <p:nvPr/>
        </p:nvSpPr>
        <p:spPr bwMode="auto">
          <a:xfrm>
            <a:off x="2381686" y="4466392"/>
            <a:ext cx="570627" cy="304800"/>
          </a:xfrm>
          <a:prstGeom prst="downArrow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B287D4A-99CE-40C6-A794-711AD06C4754}"/>
                  </a:ext>
                </a:extLst>
              </p:cNvPr>
              <p:cNvSpPr txBox="1"/>
              <p:nvPr/>
            </p:nvSpPr>
            <p:spPr>
              <a:xfrm>
                <a:off x="350883" y="4827906"/>
                <a:ext cx="6279732" cy="12470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𝟏𝟕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𝟏𝟕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𝟏𝟕</m:t>
                              </m:r>
                            </m:den>
                          </m:f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𝟏𝟕</m:t>
                              </m:r>
                            </m:den>
                          </m:f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𝟏𝟕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B287D4A-99CE-40C6-A794-711AD06C4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83" y="4827906"/>
                <a:ext cx="6279732" cy="12470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290B336-0273-4710-9E05-8D2B796B427C}"/>
                  </a:ext>
                </a:extLst>
              </p:cNvPr>
              <p:cNvSpPr/>
              <p:nvPr/>
            </p:nvSpPr>
            <p:spPr>
              <a:xfrm>
                <a:off x="451945" y="5748857"/>
                <a:ext cx="2605457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290B336-0273-4710-9E05-8D2B796B42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45" y="5748857"/>
                <a:ext cx="2605457" cy="9017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1893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3AF80-028E-4B37-B3F6-2BBE2A57E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对局中人</a:t>
            </a:r>
            <a:r>
              <a:rPr lang="en-US" altLang="zh-CN" dirty="0"/>
              <a:t>I</a:t>
            </a:r>
            <a:r>
              <a:rPr lang="zh-CN" altLang="en-US" dirty="0"/>
              <a:t>的混合策略的求解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A67AFAD-DB2D-4F44-A170-F317DBCC97F0}"/>
                  </a:ext>
                </a:extLst>
              </p:cNvPr>
              <p:cNvSpPr txBox="1"/>
              <p:nvPr/>
            </p:nvSpPr>
            <p:spPr>
              <a:xfrm>
                <a:off x="381000" y="1916868"/>
                <a:ext cx="3791607" cy="3020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i="1">
                          <a:latin typeface="Cambria Math" panose="02040503050406030204" pitchFamily="18" charset="0"/>
                        </a:rPr>
                        <m:t>min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3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32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∀</m:t>
                          </m:r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nary>
                    </m:oMath>
                  </m:oMathPara>
                </a14:m>
                <a:endParaRPr lang="en-US" altLang="zh-CN" sz="3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A67AFAD-DB2D-4F44-A170-F317DBCC9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916868"/>
                <a:ext cx="3791607" cy="30208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2778240-88AD-49E2-9FF3-AB1B22D0EE26}"/>
                  </a:ext>
                </a:extLst>
              </p:cNvPr>
              <p:cNvSpPr txBox="1"/>
              <p:nvPr/>
            </p:nvSpPr>
            <p:spPr>
              <a:xfrm>
                <a:off x="5943600" y="1853838"/>
                <a:ext cx="2343807" cy="3146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0" smtClean="0">
                          <a:latin typeface="Cambria Math" panose="02040503050406030204" pitchFamily="18" charset="0"/>
                        </a:rPr>
                        <m:t>𝐦𝐚𝐱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3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32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∀</m:t>
                          </m:r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nary>
                    </m:oMath>
                  </m:oMathPara>
                </a14:m>
                <a:endParaRPr lang="en-US" altLang="zh-CN" sz="3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2778240-88AD-49E2-9FF3-AB1B22D0E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1853838"/>
                <a:ext cx="2343807" cy="3146952"/>
              </a:xfrm>
              <a:prstGeom prst="rect">
                <a:avLst/>
              </a:prstGeom>
              <a:blipFill>
                <a:blip r:embed="rId3"/>
                <a:stretch>
                  <a:fillRect r="-278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箭头: 左右 5">
            <a:extLst>
              <a:ext uri="{FF2B5EF4-FFF2-40B4-BE49-F238E27FC236}">
                <a16:creationId xmlns:a16="http://schemas.microsoft.com/office/drawing/2014/main" id="{8C263CF6-B611-4D24-A43C-D59AD93B0E96}"/>
              </a:ext>
            </a:extLst>
          </p:cNvPr>
          <p:cNvSpPr/>
          <p:nvPr/>
        </p:nvSpPr>
        <p:spPr bwMode="auto">
          <a:xfrm>
            <a:off x="4302129" y="3352800"/>
            <a:ext cx="1338532" cy="609600"/>
          </a:xfrm>
          <a:prstGeom prst="leftRightArrow">
            <a:avLst/>
          </a:prstGeom>
          <a:solidFill>
            <a:srgbClr val="0000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932EC3-6CBF-4F2C-A2F6-D012100FB029}"/>
              </a:ext>
            </a:extLst>
          </p:cNvPr>
          <p:cNvSpPr txBox="1"/>
          <p:nvPr/>
        </p:nvSpPr>
        <p:spPr>
          <a:xfrm>
            <a:off x="3797035" y="2792364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互为对偶问题</a:t>
            </a:r>
          </a:p>
        </p:txBody>
      </p:sp>
    </p:spTree>
    <p:extLst>
      <p:ext uri="{BB962C8B-B14F-4D97-AF65-F5344CB8AC3E}">
        <p14:creationId xmlns:p14="http://schemas.microsoft.com/office/powerpoint/2010/main" val="23856516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3F1AB-29A4-4B63-B4EE-35DF0F9C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43791DB2-A37C-41DB-B348-2CD5FAC095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求解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对策的解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43791DB2-A37C-41DB-B348-2CD5FAC095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715289EE-2A3D-40BF-AB81-80482686B814}"/>
              </a:ext>
            </a:extLst>
          </p:cNvPr>
          <p:cNvSpPr txBox="1"/>
          <p:nvPr/>
        </p:nvSpPr>
        <p:spPr>
          <a:xfrm>
            <a:off x="762000" y="2219987"/>
            <a:ext cx="3430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（在纯策略下无解）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C464834-1568-4DDF-BE15-2E6F3B500C0D}"/>
                  </a:ext>
                </a:extLst>
              </p:cNvPr>
              <p:cNvSpPr txBox="1"/>
              <p:nvPr/>
            </p:nvSpPr>
            <p:spPr>
              <a:xfrm>
                <a:off x="6492766" y="1410493"/>
                <a:ext cx="2343807" cy="2001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𝐦𝐢𝐧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∀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nary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C464834-1568-4DDF-BE15-2E6F3B500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766" y="1410493"/>
                <a:ext cx="2343807" cy="20015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5DED0CF-966F-4FFC-9194-FFB17FBF7ACB}"/>
                  </a:ext>
                </a:extLst>
              </p:cNvPr>
              <p:cNvSpPr txBox="1"/>
              <p:nvPr/>
            </p:nvSpPr>
            <p:spPr>
              <a:xfrm>
                <a:off x="1372768" y="3012572"/>
                <a:ext cx="2758384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𝟒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𝟑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5DED0CF-966F-4FFC-9194-FFB17FBF7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68" y="3012572"/>
                <a:ext cx="2758384" cy="13849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箭头: 下 9">
            <a:extLst>
              <a:ext uri="{FF2B5EF4-FFF2-40B4-BE49-F238E27FC236}">
                <a16:creationId xmlns:a16="http://schemas.microsoft.com/office/drawing/2014/main" id="{8856672F-4C4D-4DFD-B5D7-F30DC2E62500}"/>
              </a:ext>
            </a:extLst>
          </p:cNvPr>
          <p:cNvSpPr/>
          <p:nvPr/>
        </p:nvSpPr>
        <p:spPr bwMode="auto">
          <a:xfrm>
            <a:off x="2381686" y="4466392"/>
            <a:ext cx="570627" cy="304800"/>
          </a:xfrm>
          <a:prstGeom prst="downArrow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B287D4A-99CE-40C6-A794-711AD06C4754}"/>
                  </a:ext>
                </a:extLst>
              </p:cNvPr>
              <p:cNvSpPr txBox="1"/>
              <p:nvPr/>
            </p:nvSpPr>
            <p:spPr>
              <a:xfrm>
                <a:off x="350883" y="4827906"/>
                <a:ext cx="6335837" cy="12470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𝟏𝟕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𝟏𝟕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𝟏𝟕</m:t>
                              </m:r>
                            </m:den>
                          </m:f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𝟏𝟕</m:t>
                              </m:r>
                            </m:den>
                          </m:f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𝟏𝟕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B287D4A-99CE-40C6-A794-711AD06C4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83" y="4827906"/>
                <a:ext cx="6335837" cy="12470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290B336-0273-4710-9E05-8D2B796B427C}"/>
                  </a:ext>
                </a:extLst>
              </p:cNvPr>
              <p:cNvSpPr/>
              <p:nvPr/>
            </p:nvSpPr>
            <p:spPr>
              <a:xfrm>
                <a:off x="451945" y="5748857"/>
                <a:ext cx="2605457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290B336-0273-4710-9E05-8D2B796B42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45" y="5748857"/>
                <a:ext cx="2605457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675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58F06896-01B1-41F5-BDFC-3BC0F41535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BEB015-AD58-47F8-AB9F-59C3F7199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077200" cy="4987925"/>
          </a:xfrm>
        </p:spPr>
        <p:txBody>
          <a:bodyPr/>
          <a:lstStyle/>
          <a:p>
            <a:r>
              <a:rPr lang="en-US" altLang="zh-CN"/>
              <a:t>G</a:t>
            </a:r>
            <a:r>
              <a:rPr lang="en-US" altLang="zh-CN" baseline="-25000"/>
              <a:t>1</a:t>
            </a:r>
            <a:r>
              <a:rPr lang="en-US" altLang="zh-CN"/>
              <a:t>=(S</a:t>
            </a:r>
            <a:r>
              <a:rPr lang="en-US" altLang="zh-CN" baseline="-25000"/>
              <a:t>1</a:t>
            </a:r>
            <a:r>
              <a:rPr lang="en-US" altLang="zh-CN"/>
              <a:t>,S</a:t>
            </a:r>
            <a:r>
              <a:rPr lang="en-US" altLang="zh-CN" baseline="-25000"/>
              <a:t>2</a:t>
            </a:r>
            <a:r>
              <a:rPr lang="en-US" altLang="zh-CN"/>
              <a:t>;A</a:t>
            </a:r>
            <a:r>
              <a:rPr lang="en-US" altLang="zh-CN" baseline="-25000"/>
              <a:t>1</a:t>
            </a:r>
            <a:r>
              <a:rPr lang="en-US" altLang="zh-CN"/>
              <a:t>), G</a:t>
            </a:r>
            <a:r>
              <a:rPr lang="en-US" altLang="zh-CN" baseline="-25000"/>
              <a:t>2</a:t>
            </a:r>
            <a:r>
              <a:rPr lang="en-US" altLang="zh-CN"/>
              <a:t>=(S</a:t>
            </a:r>
            <a:r>
              <a:rPr lang="en-US" altLang="zh-CN" baseline="-25000"/>
              <a:t>1</a:t>
            </a:r>
            <a:r>
              <a:rPr lang="en-US" altLang="zh-CN"/>
              <a:t>,S</a:t>
            </a:r>
            <a:r>
              <a:rPr lang="en-US" altLang="zh-CN" baseline="-25000"/>
              <a:t>2</a:t>
            </a:r>
            <a:r>
              <a:rPr lang="en-US" altLang="zh-CN"/>
              <a:t>;A</a:t>
            </a:r>
            <a:r>
              <a:rPr lang="en-US" altLang="zh-CN" baseline="-25000"/>
              <a:t>2</a:t>
            </a:r>
            <a:r>
              <a:rPr lang="en-US" altLang="zh-CN"/>
              <a:t>),  A</a:t>
            </a:r>
            <a:r>
              <a:rPr lang="en-US" altLang="zh-CN" baseline="-25000"/>
              <a:t>1</a:t>
            </a:r>
            <a:r>
              <a:rPr lang="en-US" altLang="zh-CN"/>
              <a:t>=(a</a:t>
            </a:r>
            <a:r>
              <a:rPr lang="en-US" altLang="zh-CN" baseline="-25000"/>
              <a:t>ij</a:t>
            </a:r>
            <a:r>
              <a:rPr lang="en-US" altLang="zh-CN"/>
              <a:t>), A</a:t>
            </a:r>
            <a:r>
              <a:rPr lang="en-US" altLang="zh-CN" baseline="-25000"/>
              <a:t>2</a:t>
            </a:r>
            <a:r>
              <a:rPr lang="en-US" altLang="zh-CN"/>
              <a:t>=(a</a:t>
            </a:r>
            <a:r>
              <a:rPr lang="en-US" altLang="zh-CN" baseline="-25000"/>
              <a:t>ij</a:t>
            </a:r>
            <a:r>
              <a:rPr lang="en-US" altLang="zh-CN"/>
              <a:t>+L), </a:t>
            </a:r>
            <a:r>
              <a:rPr lang="zh-CN" altLang="en-US"/>
              <a:t>则</a:t>
            </a:r>
            <a:endParaRPr lang="en-US" altLang="zh-CN"/>
          </a:p>
          <a:p>
            <a:pPr lvl="1"/>
            <a:r>
              <a:rPr lang="en-US" altLang="zh-CN"/>
              <a:t>G</a:t>
            </a:r>
            <a:r>
              <a:rPr lang="en-US" altLang="zh-CN" sz="3200" baseline="-25000"/>
              <a:t>1</a:t>
            </a:r>
            <a:r>
              <a:rPr lang="en-US" altLang="zh-CN"/>
              <a:t>,G</a:t>
            </a:r>
            <a:r>
              <a:rPr lang="en-US" altLang="zh-CN" sz="3200" baseline="-25000"/>
              <a:t>2</a:t>
            </a:r>
            <a:r>
              <a:rPr lang="zh-CN" altLang="en-US"/>
              <a:t>同解</a:t>
            </a:r>
            <a:endParaRPr lang="en-US" altLang="zh-CN"/>
          </a:p>
          <a:p>
            <a:pPr lvl="1"/>
            <a:r>
              <a:rPr lang="en-US" altLang="zh-CN"/>
              <a:t>V</a:t>
            </a:r>
            <a:r>
              <a:rPr lang="en-US" altLang="zh-CN" sz="3200" baseline="-25000"/>
              <a:t>G2</a:t>
            </a:r>
            <a:r>
              <a:rPr lang="en-US" altLang="zh-CN"/>
              <a:t>=V</a:t>
            </a:r>
            <a:r>
              <a:rPr lang="en-US" altLang="zh-CN" sz="3200" baseline="-25000"/>
              <a:t>G1</a:t>
            </a:r>
            <a:r>
              <a:rPr lang="en-US" altLang="zh-CN"/>
              <a:t>+L</a:t>
            </a:r>
          </a:p>
          <a:p>
            <a:pPr lvl="1"/>
            <a:endParaRPr lang="en-US" altLang="zh-CN"/>
          </a:p>
          <a:p>
            <a:r>
              <a:rPr lang="en-US" altLang="zh-CN"/>
              <a:t>G</a:t>
            </a:r>
            <a:r>
              <a:rPr lang="en-US" altLang="zh-CN" baseline="-25000"/>
              <a:t>1</a:t>
            </a:r>
            <a:r>
              <a:rPr lang="en-US" altLang="zh-CN"/>
              <a:t>=(S</a:t>
            </a:r>
            <a:r>
              <a:rPr lang="en-US" altLang="zh-CN" baseline="-25000"/>
              <a:t>1</a:t>
            </a:r>
            <a:r>
              <a:rPr lang="en-US" altLang="zh-CN"/>
              <a:t>,S</a:t>
            </a:r>
            <a:r>
              <a:rPr lang="en-US" altLang="zh-CN" baseline="-25000"/>
              <a:t>2</a:t>
            </a:r>
            <a:r>
              <a:rPr lang="en-US" altLang="zh-CN"/>
              <a:t>;A</a:t>
            </a:r>
            <a:r>
              <a:rPr lang="en-US" altLang="zh-CN" baseline="-25000"/>
              <a:t>1</a:t>
            </a:r>
            <a:r>
              <a:rPr lang="en-US" altLang="zh-CN"/>
              <a:t>), G</a:t>
            </a:r>
            <a:r>
              <a:rPr lang="en-US" altLang="zh-CN" baseline="-25000"/>
              <a:t>2</a:t>
            </a:r>
            <a:r>
              <a:rPr lang="en-US" altLang="zh-CN"/>
              <a:t>=(S</a:t>
            </a:r>
            <a:r>
              <a:rPr lang="en-US" altLang="zh-CN" baseline="-25000"/>
              <a:t>1</a:t>
            </a:r>
            <a:r>
              <a:rPr lang="en-US" altLang="zh-CN"/>
              <a:t>,S</a:t>
            </a:r>
            <a:r>
              <a:rPr lang="en-US" altLang="zh-CN" baseline="-25000"/>
              <a:t>2</a:t>
            </a:r>
            <a:r>
              <a:rPr lang="en-US" altLang="zh-CN"/>
              <a:t>;A</a:t>
            </a:r>
            <a:r>
              <a:rPr lang="en-US" altLang="zh-CN" baseline="-25000"/>
              <a:t>2</a:t>
            </a:r>
            <a:r>
              <a:rPr lang="en-US" altLang="zh-CN"/>
              <a:t>),  A</a:t>
            </a:r>
            <a:r>
              <a:rPr lang="en-US" altLang="zh-CN" baseline="-25000"/>
              <a:t>1</a:t>
            </a:r>
            <a:r>
              <a:rPr lang="en-US" altLang="zh-CN"/>
              <a:t>=(a</a:t>
            </a:r>
            <a:r>
              <a:rPr lang="en-US" altLang="zh-CN" baseline="-25000"/>
              <a:t>ij</a:t>
            </a:r>
            <a:r>
              <a:rPr lang="en-US" altLang="zh-CN"/>
              <a:t>), A</a:t>
            </a:r>
            <a:r>
              <a:rPr lang="en-US" altLang="zh-CN" baseline="-25000"/>
              <a:t>2</a:t>
            </a:r>
            <a:r>
              <a:rPr lang="en-US" altLang="zh-CN"/>
              <a:t>=(</a:t>
            </a:r>
            <a:r>
              <a:rPr lang="en-US" altLang="zh-CN" i="1"/>
              <a:t>k</a:t>
            </a:r>
            <a:r>
              <a:rPr lang="en-US" altLang="zh-CN"/>
              <a:t>a</a:t>
            </a:r>
            <a:r>
              <a:rPr lang="en-US" altLang="zh-CN" baseline="-25000"/>
              <a:t>ij</a:t>
            </a:r>
            <a:r>
              <a:rPr lang="en-US" altLang="zh-CN"/>
              <a:t>),  </a:t>
            </a:r>
            <a:r>
              <a:rPr lang="en-US" altLang="zh-CN" i="1"/>
              <a:t>k</a:t>
            </a:r>
            <a:r>
              <a:rPr lang="en-US" altLang="zh-CN"/>
              <a:t>&gt;0, </a:t>
            </a:r>
            <a:r>
              <a:rPr lang="zh-CN" altLang="en-US"/>
              <a:t>则</a:t>
            </a:r>
            <a:endParaRPr lang="en-US" altLang="zh-CN"/>
          </a:p>
          <a:p>
            <a:pPr lvl="1"/>
            <a:r>
              <a:rPr lang="en-US" altLang="zh-CN"/>
              <a:t>G</a:t>
            </a:r>
            <a:r>
              <a:rPr lang="en-US" altLang="zh-CN" sz="3200" baseline="-25000"/>
              <a:t>1</a:t>
            </a:r>
            <a:r>
              <a:rPr lang="en-US" altLang="zh-CN"/>
              <a:t>,G</a:t>
            </a:r>
            <a:r>
              <a:rPr lang="en-US" altLang="zh-CN" sz="3200" baseline="-25000"/>
              <a:t>2</a:t>
            </a:r>
            <a:r>
              <a:rPr lang="zh-CN" altLang="en-US"/>
              <a:t>同解</a:t>
            </a:r>
            <a:endParaRPr lang="en-US" altLang="zh-CN"/>
          </a:p>
          <a:p>
            <a:pPr lvl="1"/>
            <a:r>
              <a:rPr lang="en-US" altLang="zh-CN"/>
              <a:t>V</a:t>
            </a:r>
            <a:r>
              <a:rPr lang="en-US" altLang="zh-CN" sz="3200" baseline="-25000"/>
              <a:t>G2</a:t>
            </a:r>
            <a:r>
              <a:rPr lang="en-US" altLang="zh-CN"/>
              <a:t>=</a:t>
            </a:r>
            <a:r>
              <a:rPr lang="en-US" altLang="zh-CN" i="1"/>
              <a:t>k</a:t>
            </a:r>
            <a:r>
              <a:rPr lang="en-US" altLang="zh-CN"/>
              <a:t>V</a:t>
            </a:r>
            <a:r>
              <a:rPr lang="en-US" altLang="zh-CN" sz="3200" baseline="-25000"/>
              <a:t>G1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E03EC3E-AEDC-4184-BBA1-B6581A0A2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优超</a:t>
            </a:r>
          </a:p>
        </p:txBody>
      </p:sp>
      <p:graphicFrame>
        <p:nvGraphicFramePr>
          <p:cNvPr id="13314" name="Object 4">
            <a:extLst>
              <a:ext uri="{FF2B5EF4-FFF2-40B4-BE49-F238E27FC236}">
                <a16:creationId xmlns:a16="http://schemas.microsoft.com/office/drawing/2014/main" id="{80915BAC-1B48-4F86-B97C-4EFABC71C346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07382129"/>
              </p:ext>
            </p:extLst>
          </p:nvPr>
        </p:nvGraphicFramePr>
        <p:xfrm>
          <a:off x="838200" y="4457700"/>
          <a:ext cx="72390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" name="公式" r:id="rId3" imgW="2298700" imgH="508000" progId="Equation.3">
                  <p:embed/>
                </p:oleObj>
              </mc:Choice>
              <mc:Fallback>
                <p:oleObj name="公式" r:id="rId3" imgW="2298700" imgH="508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457700"/>
                        <a:ext cx="72390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6">
            <a:extLst>
              <a:ext uri="{FF2B5EF4-FFF2-40B4-BE49-F238E27FC236}">
                <a16:creationId xmlns:a16="http://schemas.microsoft.com/office/drawing/2014/main" id="{8D9D269E-ED75-42CD-8B29-75137E56133F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685800" y="1600200"/>
          <a:ext cx="723265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8" name="公式" r:id="rId5" imgW="2349500" imgH="482600" progId="Equation.3">
                  <p:embed/>
                </p:oleObj>
              </mc:Choice>
              <mc:Fallback>
                <p:oleObj name="公式" r:id="rId5" imgW="23495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600200"/>
                        <a:ext cx="7232650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内容占位符 3">
                <a:extLst>
                  <a:ext uri="{FF2B5EF4-FFF2-40B4-BE49-F238E27FC236}">
                    <a16:creationId xmlns:a16="http://schemas.microsoft.com/office/drawing/2014/main" id="{8EBD39FA-5F3F-4544-BEF1-16AA000166B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62641431"/>
                  </p:ext>
                </p:extLst>
              </p:nvPr>
            </p:nvGraphicFramePr>
            <p:xfrm>
              <a:off x="762000" y="1354686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内容占位符 3">
                <a:extLst>
                  <a:ext uri="{FF2B5EF4-FFF2-40B4-BE49-F238E27FC236}">
                    <a16:creationId xmlns:a16="http://schemas.microsoft.com/office/drawing/2014/main" id="{8EBD39FA-5F3F-4544-BEF1-16AA000166B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62641431"/>
                  </p:ext>
                </p:extLst>
              </p:nvPr>
            </p:nvGraphicFramePr>
            <p:xfrm>
              <a:off x="762000" y="1354686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890" t="-613" r="-201780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0296" t="-613" r="-101183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01187" t="-613" r="-1484" b="-303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92" t="-100613" r="-300888" b="-2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92" t="-201852" r="-300888" b="-104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92" t="-300000" r="-300888" b="-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E03EC3E-AEDC-4184-BBA1-B6581A0A2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优超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5" name="Object 6">
                <a:extLst>
                  <a:ext uri="{FF2B5EF4-FFF2-40B4-BE49-F238E27FC236}">
                    <a16:creationId xmlns:a16="http://schemas.microsoft.com/office/drawing/2014/main" id="{8D9D269E-ED75-42CD-8B29-75137E56133F}"/>
                  </a:ext>
                </a:extLst>
              </p:cNvPr>
              <p:cNvSpPr txBox="1">
                <a:spLocks noGrp="1"/>
              </p:cNvSpPr>
              <p:nvPr>
                <p:ph sz="half" idx="1"/>
              </p:nvPr>
            </p:nvSpPr>
            <p:spPr bwMode="auto">
              <a:xfrm>
                <a:off x="685800" y="914400"/>
                <a:ext cx="7232650" cy="14859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925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中第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行有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=1⋯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称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优超于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。记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≻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>
                  <a:buNone/>
                </a:pPr>
                <a:r>
                  <a:rPr lang="zh-CN" altLang="en-US" dirty="0"/>
                  <a:t>也就是说无论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选取什么策略，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都比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要好</a:t>
                </a:r>
              </a:p>
            </p:txBody>
          </p:sp>
        </mc:Choice>
        <mc:Fallback xmlns="">
          <p:sp>
            <p:nvSpPr>
              <p:cNvPr id="13315" name="Object 6">
                <a:extLst>
                  <a:ext uri="{FF2B5EF4-FFF2-40B4-BE49-F238E27FC236}">
                    <a16:creationId xmlns:a16="http://schemas.microsoft.com/office/drawing/2014/main" id="{8D9D269E-ED75-42CD-8B29-75137E561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 bwMode="auto">
              <a:xfrm>
                <a:off x="685800" y="914400"/>
                <a:ext cx="7232650" cy="1485900"/>
              </a:xfrm>
              <a:prstGeom prst="rect">
                <a:avLst/>
              </a:prstGeom>
              <a:blipFill>
                <a:blip r:embed="rId2"/>
                <a:stretch>
                  <a:fillRect l="-1518" b="-7787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内容占位符 3">
                <a:extLst>
                  <a:ext uri="{FF2B5EF4-FFF2-40B4-BE49-F238E27FC236}">
                    <a16:creationId xmlns:a16="http://schemas.microsoft.com/office/drawing/2014/main" id="{8EBD39FA-5F3F-4544-BEF1-16AA000166B1}"/>
                  </a:ext>
                </a:extLst>
              </p:cNvPr>
              <p:cNvGraphicFramePr>
                <a:graphicFrameLocks/>
              </p:cNvGraphicFramePr>
              <p:nvPr>
                <p:extLst/>
              </p:nvPr>
            </p:nvGraphicFramePr>
            <p:xfrm>
              <a:off x="488731" y="2476501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内容占位符 3">
                <a:extLst>
                  <a:ext uri="{FF2B5EF4-FFF2-40B4-BE49-F238E27FC236}">
                    <a16:creationId xmlns:a16="http://schemas.microsoft.com/office/drawing/2014/main" id="{8EBD39FA-5F3F-4544-BEF1-16AA000166B1}"/>
                  </a:ext>
                </a:extLst>
              </p:cNvPr>
              <p:cNvGraphicFramePr>
                <a:graphicFrameLocks/>
              </p:cNvGraphicFramePr>
              <p:nvPr>
                <p:extLst/>
              </p:nvPr>
            </p:nvGraphicFramePr>
            <p:xfrm>
              <a:off x="488731" y="2476501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296" t="-613" r="-200888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890" t="-613" r="-101484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613" r="-1183" b="-303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6" t="-100613" r="-300888" b="-2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6" t="-201852" r="-300888" b="-104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6" t="-300000" r="-300888" b="-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60E0572-5488-48E0-851F-C5366F99149C}"/>
                  </a:ext>
                </a:extLst>
              </p:cNvPr>
              <p:cNvSpPr/>
              <p:nvPr/>
            </p:nvSpPr>
            <p:spPr>
              <a:xfrm rot="5400000">
                <a:off x="1130051" y="5172463"/>
                <a:ext cx="689611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40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≻</m:t>
                      </m:r>
                    </m:oMath>
                  </m:oMathPara>
                </a14:m>
                <a:endParaRPr lang="zh-CN" altLang="en-US" sz="4000" b="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60E0572-5488-48E0-851F-C5366F991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30051" y="5172463"/>
                <a:ext cx="68961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0203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E03EC3E-AEDC-4184-BBA1-B6581A0A2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优超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5" name="Object 6">
                <a:extLst>
                  <a:ext uri="{FF2B5EF4-FFF2-40B4-BE49-F238E27FC236}">
                    <a16:creationId xmlns:a16="http://schemas.microsoft.com/office/drawing/2014/main" id="{8D9D269E-ED75-42CD-8B29-75137E56133F}"/>
                  </a:ext>
                </a:extLst>
              </p:cNvPr>
              <p:cNvSpPr txBox="1">
                <a:spLocks noGrp="1"/>
              </p:cNvSpPr>
              <p:nvPr>
                <p:ph sz="half" idx="1"/>
              </p:nvPr>
            </p:nvSpPr>
            <p:spPr bwMode="auto">
              <a:xfrm>
                <a:off x="685800" y="914400"/>
                <a:ext cx="7848600" cy="14859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中第</m:t>
                      </m:r>
                      <m:r>
                        <m:rPr>
                          <m:sty m:val="p"/>
                        </m:rP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列有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𝒊𝒌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=1⋯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称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优超于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。记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≻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>
                  <a:buNone/>
                </a:pPr>
                <a:r>
                  <a:rPr lang="zh-CN" altLang="en-US" dirty="0"/>
                  <a:t>也就是说无论</a:t>
                </a:r>
                <a:r>
                  <a:rPr lang="en-US" altLang="zh-CN" dirty="0"/>
                  <a:t>I</a:t>
                </a:r>
                <a:r>
                  <a:rPr lang="zh-CN" altLang="en-US" dirty="0"/>
                  <a:t>选取什么策略，对</a:t>
                </a:r>
                <a:r>
                  <a:rPr lang="en-US" altLang="zh-CN" dirty="0"/>
                  <a:t>II</a:t>
                </a:r>
                <a:r>
                  <a:rPr lang="zh-CN" altLang="en-US" dirty="0"/>
                  <a:t>而言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dirty="0"/>
                  <a:t>都比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要好</a:t>
                </a:r>
              </a:p>
            </p:txBody>
          </p:sp>
        </mc:Choice>
        <mc:Fallback xmlns="">
          <p:sp>
            <p:nvSpPr>
              <p:cNvPr id="13315" name="Object 6">
                <a:extLst>
                  <a:ext uri="{FF2B5EF4-FFF2-40B4-BE49-F238E27FC236}">
                    <a16:creationId xmlns:a16="http://schemas.microsoft.com/office/drawing/2014/main" id="{8D9D269E-ED75-42CD-8B29-75137E56133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 bwMode="auto">
              <a:xfrm>
                <a:off x="685800" y="914400"/>
                <a:ext cx="7848600" cy="1485900"/>
              </a:xfrm>
              <a:prstGeom prst="rect">
                <a:avLst/>
              </a:prstGeom>
              <a:blipFill>
                <a:blip r:embed="rId2"/>
                <a:stretch>
                  <a:fillRect l="-1243" b="-1230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内容占位符 3">
                <a:extLst>
                  <a:ext uri="{FF2B5EF4-FFF2-40B4-BE49-F238E27FC236}">
                    <a16:creationId xmlns:a16="http://schemas.microsoft.com/office/drawing/2014/main" id="{8EBD39FA-5F3F-4544-BEF1-16AA000166B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2799229"/>
                  </p:ext>
                </p:extLst>
              </p:nvPr>
            </p:nvGraphicFramePr>
            <p:xfrm>
              <a:off x="488731" y="2476501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内容占位符 3">
                <a:extLst>
                  <a:ext uri="{FF2B5EF4-FFF2-40B4-BE49-F238E27FC236}">
                    <a16:creationId xmlns:a16="http://schemas.microsoft.com/office/drawing/2014/main" id="{8EBD39FA-5F3F-4544-BEF1-16AA000166B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2799229"/>
                  </p:ext>
                </p:extLst>
              </p:nvPr>
            </p:nvGraphicFramePr>
            <p:xfrm>
              <a:off x="488731" y="2476501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296" t="-613" r="-200888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890" t="-613" r="-101484" b="-3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613" r="-1183" b="-303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6" t="-100613" r="-300888" b="-203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6" t="-201852" r="-300888" b="-104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6" t="-300000" r="-300888" b="-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60E0572-5488-48E0-851F-C5366F99149C}"/>
                  </a:ext>
                </a:extLst>
              </p:cNvPr>
              <p:cNvSpPr/>
              <p:nvPr/>
            </p:nvSpPr>
            <p:spPr>
              <a:xfrm>
                <a:off x="4227194" y="2590800"/>
                <a:ext cx="689611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4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≻</m:t>
                      </m:r>
                    </m:oMath>
                  </m:oMathPara>
                </a14:m>
                <a:endParaRPr lang="zh-CN" altLang="en-US" sz="4000" b="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60E0572-5488-48E0-851F-C5366F991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194" y="2590800"/>
                <a:ext cx="68961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229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1A0056A-CB71-4532-8EB4-1CC74276A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优超原理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E8A321B0-4E98-478F-A757-8031F274868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001000" cy="4987925"/>
          </a:xfrm>
        </p:spPr>
        <p:txBody>
          <a:bodyPr/>
          <a:lstStyle/>
          <a:p>
            <a:pPr eaLnBrk="1" hangingPunct="1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</a:pPr>
            <a:r>
              <a:rPr lang="zh-CN" altLang="en-US" dirty="0"/>
              <a:t>若</a:t>
            </a:r>
            <a:r>
              <a:rPr lang="en-US" altLang="zh-CN" dirty="0"/>
              <a:t>G =( S</a:t>
            </a:r>
            <a:r>
              <a:rPr lang="en-US" altLang="zh-CN" baseline="-25000" dirty="0"/>
              <a:t>1</a:t>
            </a:r>
            <a:r>
              <a:rPr lang="en-US" altLang="zh-CN" dirty="0"/>
              <a:t>, S</a:t>
            </a:r>
            <a:r>
              <a:rPr lang="en-US" altLang="zh-CN" baseline="-25000" dirty="0"/>
              <a:t>2</a:t>
            </a:r>
            <a:r>
              <a:rPr lang="en-US" altLang="zh-CN" dirty="0"/>
              <a:t>, A) </a:t>
            </a:r>
            <a:r>
              <a:rPr lang="zh-CN" altLang="en-US" dirty="0"/>
              <a:t>中，                  构造新</a:t>
            </a:r>
            <a:r>
              <a:rPr lang="en-US" altLang="zh-CN" dirty="0"/>
              <a:t>G’=(S’</a:t>
            </a:r>
            <a:r>
              <a:rPr lang="en-US" altLang="zh-CN" baseline="-25000" dirty="0"/>
              <a:t>1</a:t>
            </a:r>
            <a:r>
              <a:rPr lang="en-US" altLang="zh-CN" dirty="0"/>
              <a:t>, S</a:t>
            </a:r>
            <a:r>
              <a:rPr lang="en-US" altLang="zh-CN" baseline="-25000" dirty="0"/>
              <a:t>2</a:t>
            </a:r>
            <a:r>
              <a:rPr lang="en-US" altLang="zh-CN" dirty="0"/>
              <a:t>, A’)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其中 </a:t>
            </a:r>
            <a:r>
              <a:rPr lang="en-US" altLang="zh-CN" dirty="0"/>
              <a:t>S’</a:t>
            </a:r>
            <a:r>
              <a:rPr lang="en-US" altLang="zh-CN" baseline="-25000" dirty="0"/>
              <a:t>1</a:t>
            </a:r>
            <a:r>
              <a:rPr lang="zh-CN" altLang="en-US" dirty="0"/>
              <a:t>是 </a:t>
            </a:r>
            <a:r>
              <a:rPr lang="en-US" altLang="zh-CN" dirty="0"/>
              <a:t>S</a:t>
            </a:r>
            <a:r>
              <a:rPr lang="en-US" altLang="zh-CN" baseline="-25000" dirty="0"/>
              <a:t>1</a:t>
            </a:r>
            <a:r>
              <a:rPr lang="zh-CN" altLang="en-US" dirty="0"/>
              <a:t>去掉      </a:t>
            </a:r>
            <a:r>
              <a:rPr lang="en-US" altLang="zh-CN" dirty="0"/>
              <a:t>, A’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中去掉 </a:t>
            </a:r>
            <a:r>
              <a:rPr lang="en-US" altLang="zh-CN" i="1" dirty="0"/>
              <a:t>k</a:t>
            </a:r>
            <a:r>
              <a:rPr lang="zh-CN" altLang="en-US" dirty="0"/>
              <a:t>行，则</a:t>
            </a:r>
          </a:p>
          <a:p>
            <a:pPr lvl="1" eaLnBrk="1" hangingPunct="1"/>
            <a:r>
              <a:rPr lang="en-US" altLang="zh-CN" dirty="0"/>
              <a:t>V</a:t>
            </a:r>
            <a:r>
              <a:rPr lang="en-US" altLang="zh-CN" baseline="-25000" dirty="0"/>
              <a:t>G</a:t>
            </a:r>
            <a:r>
              <a:rPr lang="en-US" altLang="zh-CN" dirty="0"/>
              <a:t>=V</a:t>
            </a:r>
            <a:r>
              <a:rPr lang="en-US" altLang="zh-CN" baseline="-25000" dirty="0"/>
              <a:t>G’</a:t>
            </a:r>
          </a:p>
          <a:p>
            <a:pPr lvl="1" eaLnBrk="1" hangingPunct="1"/>
            <a:r>
              <a:rPr lang="en-US" altLang="zh-CN" dirty="0"/>
              <a:t>Y*’=Y*</a:t>
            </a:r>
          </a:p>
          <a:p>
            <a:pPr lvl="1" eaLnBrk="1" hangingPunct="1"/>
            <a:r>
              <a:rPr lang="en-US" altLang="zh-CN" dirty="0"/>
              <a:t>X*’=(x</a:t>
            </a:r>
            <a:r>
              <a:rPr lang="en-US" altLang="zh-CN" baseline="-25000" dirty="0"/>
              <a:t>1</a:t>
            </a:r>
            <a:r>
              <a:rPr lang="en-US" altLang="zh-CN" dirty="0"/>
              <a:t>*,…,x</a:t>
            </a:r>
            <a:r>
              <a:rPr lang="en-US" altLang="zh-CN" i="1" baseline="-25000" dirty="0"/>
              <a:t>k</a:t>
            </a:r>
            <a:r>
              <a:rPr lang="en-US" altLang="zh-CN" baseline="-25000" dirty="0"/>
              <a:t>-1</a:t>
            </a:r>
            <a:r>
              <a:rPr lang="en-US" altLang="zh-CN" dirty="0"/>
              <a:t>*,x</a:t>
            </a:r>
            <a:r>
              <a:rPr lang="en-US" altLang="zh-CN" i="1" baseline="-25000" dirty="0"/>
              <a:t>k</a:t>
            </a:r>
            <a:r>
              <a:rPr lang="en-US" altLang="zh-CN" baseline="-25000" dirty="0"/>
              <a:t>+1</a:t>
            </a:r>
            <a:r>
              <a:rPr lang="en-US" altLang="zh-CN" dirty="0"/>
              <a:t>*,…</a:t>
            </a:r>
            <a:r>
              <a:rPr lang="en-US" altLang="zh-CN" dirty="0" err="1"/>
              <a:t>x</a:t>
            </a:r>
            <a:r>
              <a:rPr lang="en-US" altLang="zh-CN" i="1" baseline="-25000" dirty="0" err="1"/>
              <a:t>m</a:t>
            </a:r>
            <a:r>
              <a:rPr lang="en-US" altLang="zh-CN" dirty="0"/>
              <a:t>*),</a:t>
            </a:r>
            <a:r>
              <a:rPr lang="zh-CN" altLang="en-US" dirty="0"/>
              <a:t>则 </a:t>
            </a:r>
            <a:br>
              <a:rPr lang="zh-CN" altLang="en-US" dirty="0"/>
            </a:br>
            <a:r>
              <a:rPr lang="en-US" altLang="zh-CN" dirty="0"/>
              <a:t>X*=(x</a:t>
            </a:r>
            <a:r>
              <a:rPr lang="en-US" altLang="zh-CN" baseline="-25000" dirty="0"/>
              <a:t>1</a:t>
            </a:r>
            <a:r>
              <a:rPr lang="en-US" altLang="zh-CN" dirty="0"/>
              <a:t>*,…,x</a:t>
            </a:r>
            <a:r>
              <a:rPr lang="en-US" altLang="zh-CN" i="1" baseline="-25000" dirty="0"/>
              <a:t>k</a:t>
            </a:r>
            <a:r>
              <a:rPr lang="en-US" altLang="zh-CN" baseline="-25000" dirty="0"/>
              <a:t>-1</a:t>
            </a:r>
            <a:r>
              <a:rPr lang="en-US" altLang="zh-CN" dirty="0"/>
              <a:t>*,0, x</a:t>
            </a:r>
            <a:r>
              <a:rPr lang="en-US" altLang="zh-CN" i="1" baseline="-25000" dirty="0"/>
              <a:t>k</a:t>
            </a:r>
            <a:r>
              <a:rPr lang="en-US" altLang="zh-CN" baseline="-25000" dirty="0"/>
              <a:t>+1</a:t>
            </a:r>
            <a:r>
              <a:rPr lang="en-US" altLang="zh-CN" dirty="0"/>
              <a:t>*,…</a:t>
            </a:r>
            <a:r>
              <a:rPr lang="en-US" altLang="zh-CN" dirty="0" err="1"/>
              <a:t>x</a:t>
            </a:r>
            <a:r>
              <a:rPr lang="en-US" altLang="zh-CN" i="1" baseline="-25000" dirty="0" err="1"/>
              <a:t>m</a:t>
            </a:r>
            <a:r>
              <a:rPr lang="en-US" altLang="zh-CN" dirty="0"/>
              <a:t>*)</a:t>
            </a:r>
          </a:p>
        </p:txBody>
      </p:sp>
      <p:graphicFrame>
        <p:nvGraphicFramePr>
          <p:cNvPr id="20484" name="Object 4">
            <a:extLst>
              <a:ext uri="{FF2B5EF4-FFF2-40B4-BE49-F238E27FC236}">
                <a16:creationId xmlns:a16="http://schemas.microsoft.com/office/drawing/2014/main" id="{2FDF3B42-6778-4081-AF34-6FE5B02B10A0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648200" y="1143000"/>
          <a:ext cx="142875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0" name="公式" r:id="rId3" imgW="495085" imgH="228501" progId="Equation.3">
                  <p:embed/>
                </p:oleObj>
              </mc:Choice>
              <mc:Fallback>
                <p:oleObj name="公式" r:id="rId3" imgW="495085" imgH="2285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143000"/>
                        <a:ext cx="1428750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6">
            <a:extLst>
              <a:ext uri="{FF2B5EF4-FFF2-40B4-BE49-F238E27FC236}">
                <a16:creationId xmlns:a16="http://schemas.microsoft.com/office/drawing/2014/main" id="{B633179F-462E-4BCB-932F-6D9061F39DD9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962400" y="2514600"/>
          <a:ext cx="5238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1" name="公式" r:id="rId5" imgW="190500" imgH="228600" progId="Equation.3">
                  <p:embed/>
                </p:oleObj>
              </mc:Choice>
              <mc:Fallback>
                <p:oleObj name="公式" r:id="rId5" imgW="1905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514600"/>
                        <a:ext cx="5238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1A0056A-CB71-4532-8EB4-1CC74276A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优超原理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内容占位符 3">
                <a:extLst>
                  <a:ext uri="{FF2B5EF4-FFF2-40B4-BE49-F238E27FC236}">
                    <a16:creationId xmlns:a16="http://schemas.microsoft.com/office/drawing/2014/main" id="{916D749B-D94A-4048-8CB5-78A0ECA988F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22274165"/>
                  </p:ext>
                </p:extLst>
              </p:nvPr>
            </p:nvGraphicFramePr>
            <p:xfrm>
              <a:off x="457200" y="1406526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3600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内容占位符 3">
                <a:extLst>
                  <a:ext uri="{FF2B5EF4-FFF2-40B4-BE49-F238E27FC236}">
                    <a16:creationId xmlns:a16="http://schemas.microsoft.com/office/drawing/2014/main" id="{916D749B-D94A-4048-8CB5-78A0ECA988F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22274165"/>
                  </p:ext>
                </p:extLst>
              </p:nvPr>
            </p:nvGraphicFramePr>
            <p:xfrm>
              <a:off x="457200" y="1406526"/>
              <a:ext cx="8229600" cy="3962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110233336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41142093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237440373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3380614130"/>
                        </a:ext>
                      </a:extLst>
                    </a:gridCol>
                  </a:tblGrid>
                  <a:tr h="990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90" t="-613" r="-201780" b="-30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296" t="-613" r="-101183" b="-30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87" t="-613" r="-1484" b="-304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189907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2" t="-100613" r="-300888" b="-204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6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9685785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2" t="-201852" r="-300888" b="-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5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7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2213518"/>
                      </a:ext>
                    </a:extLst>
                  </a:tr>
                  <a:tr h="990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2" t="-300000" r="-300888" b="-49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3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8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600" dirty="0"/>
                            <a:t>2</a:t>
                          </a:r>
                          <a:endParaRPr lang="zh-CN" altLang="en-US" sz="3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3799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B735814-F0D9-4D2D-A146-A3B27CB95E45}"/>
                  </a:ext>
                </a:extLst>
              </p:cNvPr>
              <p:cNvSpPr/>
              <p:nvPr/>
            </p:nvSpPr>
            <p:spPr>
              <a:xfrm rot="5400000">
                <a:off x="1098520" y="4102488"/>
                <a:ext cx="689611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40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≻</m:t>
                      </m:r>
                    </m:oMath>
                  </m:oMathPara>
                </a14:m>
                <a:endParaRPr lang="zh-CN" altLang="en-US" sz="4000" b="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B735814-F0D9-4D2D-A146-A3B27CB95E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098520" y="4102488"/>
                <a:ext cx="689611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AC26B722-2183-4341-9CAB-782FCCD704A4}"/>
              </a:ext>
            </a:extLst>
          </p:cNvPr>
          <p:cNvSpPr/>
          <p:nvPr/>
        </p:nvSpPr>
        <p:spPr bwMode="auto">
          <a:xfrm>
            <a:off x="1035269" y="4645025"/>
            <a:ext cx="7162800" cy="533400"/>
          </a:xfrm>
          <a:prstGeom prst="rect">
            <a:avLst/>
          </a:prstGeom>
          <a:solidFill>
            <a:schemeClr val="tx1">
              <a:lumMod val="75000"/>
              <a:lumOff val="25000"/>
              <a:alpha val="88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A2A340-DEA9-4FD2-85A0-7524AA4DD2D0}"/>
              </a:ext>
            </a:extLst>
          </p:cNvPr>
          <p:cNvSpPr/>
          <p:nvPr/>
        </p:nvSpPr>
        <p:spPr bwMode="auto">
          <a:xfrm rot="5400000">
            <a:off x="4714821" y="3121026"/>
            <a:ext cx="1771758" cy="533400"/>
          </a:xfrm>
          <a:prstGeom prst="rect">
            <a:avLst/>
          </a:prstGeom>
          <a:solidFill>
            <a:schemeClr val="tx1">
              <a:lumMod val="75000"/>
              <a:lumOff val="25000"/>
              <a:alpha val="88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190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</p:bldLst>
  </p:timing>
</p:sld>
</file>

<file path=ppt/theme/theme1.xml><?xml version="1.0" encoding="utf-8"?>
<a:theme xmlns:a="http://schemas.openxmlformats.org/drawingml/2006/main" name="绪论">
  <a:themeElements>
    <a:clrScheme name="绪论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绪论">
      <a:majorFont>
        <a:latin typeface="Garamond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绪论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绪论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绪论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绪论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绪论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绪论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绪论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绪论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绪论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/>
  <Words>1691</Words>
  <Application>Microsoft Office PowerPoint</Application>
  <PresentationFormat>全屏显示(4:3)</PresentationFormat>
  <Paragraphs>408</Paragraphs>
  <Slides>33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等线</vt:lpstr>
      <vt:lpstr>宋体</vt:lpstr>
      <vt:lpstr>Cambria Math</vt:lpstr>
      <vt:lpstr>Garamond</vt:lpstr>
      <vt:lpstr>Times New Roman</vt:lpstr>
      <vt:lpstr>Wingdings</vt:lpstr>
      <vt:lpstr>绪论</vt:lpstr>
      <vt:lpstr>公式</vt:lpstr>
      <vt:lpstr>Microsoft 公式 3.0 中文版</vt:lpstr>
      <vt:lpstr>第八章</vt:lpstr>
      <vt:lpstr>研究对象</vt:lpstr>
      <vt:lpstr>对策论</vt:lpstr>
      <vt:lpstr>对策行为</vt:lpstr>
      <vt:lpstr>对策分类</vt:lpstr>
      <vt:lpstr>矩阵对策</vt:lpstr>
      <vt:lpstr>矩阵对策举例</vt:lpstr>
      <vt:lpstr>矩阵对策举例</vt:lpstr>
      <vt:lpstr>矩阵对策举例</vt:lpstr>
      <vt:lpstr>矩阵对策举例</vt:lpstr>
      <vt:lpstr>矩阵对策举例</vt:lpstr>
      <vt:lpstr>PowerPoint 演示文稿</vt:lpstr>
      <vt:lpstr>纯策略下的解</vt:lpstr>
      <vt:lpstr>纯策略下的解</vt:lpstr>
      <vt:lpstr>PowerPoint 演示文稿</vt:lpstr>
      <vt:lpstr>多鞍点</vt:lpstr>
      <vt:lpstr>无鞍点</vt:lpstr>
      <vt:lpstr>混合策略对策</vt:lpstr>
      <vt:lpstr>混合策略对策</vt:lpstr>
      <vt:lpstr>混合策略对策举例</vt:lpstr>
      <vt:lpstr>混合策略对策的解</vt:lpstr>
      <vt:lpstr>混合策略对策的解</vt:lpstr>
      <vt:lpstr>混合策略对策的解</vt:lpstr>
      <vt:lpstr>混合策略对策的解</vt:lpstr>
      <vt:lpstr>例子</vt:lpstr>
      <vt:lpstr>对局中人I的混合策略的求解</vt:lpstr>
      <vt:lpstr>例子</vt:lpstr>
      <vt:lpstr>PowerPoint 演示文稿</vt:lpstr>
      <vt:lpstr>优超</vt:lpstr>
      <vt:lpstr>优超</vt:lpstr>
      <vt:lpstr>优超</vt:lpstr>
      <vt:lpstr>优超原理</vt:lpstr>
      <vt:lpstr>优超原理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Presentation</dc:title>
  <cp:revision>268</cp:revision>
</cp:coreProperties>
</file>

<file path=docProps/custom.xml><?xml version="1.0" encoding="utf-8"?>
<Properties xmlns="http://schemas.openxmlformats.org/officeDocument/2006/custom-properties"/>
</file>