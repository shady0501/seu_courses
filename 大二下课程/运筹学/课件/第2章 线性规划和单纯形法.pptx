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6"/>
  </p:notesMasterIdLst>
  <p:sldIdLst>
    <p:sldId id="256" r:id="rId2"/>
    <p:sldId id="257" r:id="rId3"/>
    <p:sldId id="258" r:id="rId4"/>
    <p:sldId id="259" r:id="rId5"/>
    <p:sldId id="260" r:id="rId6"/>
    <p:sldId id="363" r:id="rId7"/>
    <p:sldId id="364" r:id="rId8"/>
    <p:sldId id="365" r:id="rId9"/>
    <p:sldId id="366" r:id="rId10"/>
    <p:sldId id="367" r:id="rId11"/>
    <p:sldId id="368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369" r:id="rId38"/>
    <p:sldId id="371" r:id="rId39"/>
    <p:sldId id="370" r:id="rId40"/>
    <p:sldId id="372" r:id="rId41"/>
    <p:sldId id="373" r:id="rId42"/>
    <p:sldId id="374" r:id="rId43"/>
    <p:sldId id="375" r:id="rId44"/>
    <p:sldId id="376" r:id="rId45"/>
    <p:sldId id="298" r:id="rId46"/>
    <p:sldId id="299" r:id="rId47"/>
    <p:sldId id="300" r:id="rId48"/>
    <p:sldId id="301" r:id="rId49"/>
    <p:sldId id="302" r:id="rId50"/>
    <p:sldId id="303" r:id="rId51"/>
    <p:sldId id="377" r:id="rId52"/>
    <p:sldId id="378" r:id="rId53"/>
    <p:sldId id="305" r:id="rId54"/>
    <p:sldId id="306" r:id="rId55"/>
    <p:sldId id="307" r:id="rId56"/>
    <p:sldId id="279" r:id="rId57"/>
    <p:sldId id="280" r:id="rId58"/>
    <p:sldId id="281" r:id="rId59"/>
    <p:sldId id="282" r:id="rId60"/>
    <p:sldId id="283" r:id="rId61"/>
    <p:sldId id="284" r:id="rId62"/>
    <p:sldId id="285" r:id="rId63"/>
    <p:sldId id="286" r:id="rId64"/>
    <p:sldId id="287" r:id="rId65"/>
    <p:sldId id="288" r:id="rId66"/>
    <p:sldId id="289" r:id="rId67"/>
    <p:sldId id="308" r:id="rId68"/>
    <p:sldId id="309" r:id="rId69"/>
    <p:sldId id="310" r:id="rId70"/>
    <p:sldId id="311" r:id="rId71"/>
    <p:sldId id="379" r:id="rId72"/>
    <p:sldId id="312" r:id="rId73"/>
    <p:sldId id="313" r:id="rId74"/>
    <p:sldId id="314" r:id="rId75"/>
    <p:sldId id="315" r:id="rId76"/>
    <p:sldId id="316" r:id="rId77"/>
    <p:sldId id="317" r:id="rId78"/>
    <p:sldId id="380" r:id="rId79"/>
    <p:sldId id="381" r:id="rId80"/>
    <p:sldId id="382" r:id="rId81"/>
    <p:sldId id="392" r:id="rId82"/>
    <p:sldId id="383" r:id="rId83"/>
    <p:sldId id="384" r:id="rId84"/>
    <p:sldId id="393" r:id="rId85"/>
    <p:sldId id="385" r:id="rId86"/>
    <p:sldId id="386" r:id="rId87"/>
    <p:sldId id="387" r:id="rId88"/>
    <p:sldId id="388" r:id="rId89"/>
    <p:sldId id="389" r:id="rId90"/>
    <p:sldId id="390" r:id="rId91"/>
    <p:sldId id="391" r:id="rId92"/>
    <p:sldId id="321" r:id="rId93"/>
    <p:sldId id="322" r:id="rId94"/>
    <p:sldId id="323" r:id="rId95"/>
    <p:sldId id="324" r:id="rId96"/>
    <p:sldId id="325" r:id="rId97"/>
    <p:sldId id="326" r:id="rId98"/>
    <p:sldId id="327" r:id="rId99"/>
    <p:sldId id="328" r:id="rId100"/>
    <p:sldId id="329" r:id="rId101"/>
    <p:sldId id="330" r:id="rId102"/>
    <p:sldId id="331" r:id="rId103"/>
    <p:sldId id="332" r:id="rId104"/>
    <p:sldId id="333" r:id="rId10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16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E8E5B-2654-4B37-891B-11418318A549}" type="datetimeFigureOut">
              <a:rPr lang="zh-CN" altLang="en-US" smtClean="0"/>
              <a:t>2024/3/4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8DC05-266E-4C83-991A-4098929A85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438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7D0F73-7A15-42D9-A4E1-0FA99778F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233F971-2E26-4C0F-AB26-2E053F28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6F33F-DA20-4B2A-BDB1-CFF5BA75AD8B}" type="datetimeFigureOut">
              <a:rPr lang="zh-CN" altLang="en-US" smtClean="0"/>
              <a:t>2024/3/4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CFF7E5-F2D5-4A19-9159-3A7A95B14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9BDB58-F958-41B7-B4F7-1DF17454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DBE92-69D2-409B-A777-12FCC360D8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671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D92B20E-5ECD-4135-91EA-795BCE0AA0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ACBFC6-F25C-40CD-9CF3-DEC1BB7952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3298FE3-68C1-43C8-AFDF-69628D65C7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8A391C-D245-4D07-BDA2-29D8DF1F25D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4472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DA789ED-CB48-426B-B59C-DFC4B561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1D746E-D544-4AF6-B74C-B6053B557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07A82-DCB7-4D5A-A44A-63EB988900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B296F33F-DA20-4B2A-BDB1-CFF5BA75AD8B}" type="datetimeFigureOut">
              <a:rPr lang="zh-CN" altLang="en-US" smtClean="0"/>
              <a:pPr/>
              <a:t>2024/3/4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C0CC9D-F9C0-420C-ACC5-83C6534548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004BC7-E56F-4E90-9FB4-5FCA9DF53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fld id="{77CDBE92-69D2-409B-A777-12FCC360D85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25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1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2.png"/><Relationship Id="rId4" Type="http://schemas.openxmlformats.org/officeDocument/2006/relationships/image" Target="../media/image31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png"/><Relationship Id="rId4" Type="http://schemas.openxmlformats.org/officeDocument/2006/relationships/image" Target="../media/image55.png"/><Relationship Id="rId9" Type="http://schemas.openxmlformats.org/officeDocument/2006/relationships/image" Target="../media/image60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89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1.png"/><Relationship Id="rId7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6.png"/><Relationship Id="rId7" Type="http://schemas.openxmlformats.org/officeDocument/2006/relationships/image" Target="../media/image670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84.png"/><Relationship Id="rId7" Type="http://schemas.openxmlformats.org/officeDocument/2006/relationships/image" Target="../media/image670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11" Type="http://schemas.openxmlformats.org/officeDocument/2006/relationships/image" Target="../media/image92.png"/><Relationship Id="rId10" Type="http://schemas.openxmlformats.org/officeDocument/2006/relationships/image" Target="../media/image870.png"/><Relationship Id="rId4" Type="http://schemas.openxmlformats.org/officeDocument/2006/relationships/image" Target="../media/image85.png"/><Relationship Id="rId9" Type="http://schemas.openxmlformats.org/officeDocument/2006/relationships/image" Target="../media/image86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840.png"/><Relationship Id="rId7" Type="http://schemas.openxmlformats.org/officeDocument/2006/relationships/image" Target="../media/image85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921.png"/><Relationship Id="rId7" Type="http://schemas.openxmlformats.org/officeDocument/2006/relationships/image" Target="../media/image90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0.png"/><Relationship Id="rId11" Type="http://schemas.openxmlformats.org/officeDocument/2006/relationships/image" Target="../media/image94.png"/><Relationship Id="rId5" Type="http://schemas.openxmlformats.org/officeDocument/2006/relationships/image" Target="../media/image880.png"/><Relationship Id="rId10" Type="http://schemas.openxmlformats.org/officeDocument/2006/relationships/image" Target="../media/image931.png"/><Relationship Id="rId4" Type="http://schemas.openxmlformats.org/officeDocument/2006/relationships/image" Target="../media/image68.png"/><Relationship Id="rId9" Type="http://schemas.openxmlformats.org/officeDocument/2006/relationships/image" Target="../media/image860.png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0.png"/><Relationship Id="rId3" Type="http://schemas.openxmlformats.org/officeDocument/2006/relationships/image" Target="../media/image95.png"/><Relationship Id="rId7" Type="http://schemas.openxmlformats.org/officeDocument/2006/relationships/image" Target="../media/image850.png"/><Relationship Id="rId2" Type="http://schemas.openxmlformats.org/officeDocument/2006/relationships/image" Target="../media/image8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0.png"/><Relationship Id="rId10" Type="http://schemas.openxmlformats.org/officeDocument/2006/relationships/image" Target="../media/image97.png"/><Relationship Id="rId4" Type="http://schemas.openxmlformats.org/officeDocument/2006/relationships/image" Target="../media/image68.png"/><Relationship Id="rId9" Type="http://schemas.openxmlformats.org/officeDocument/2006/relationships/image" Target="../media/image96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0.png"/><Relationship Id="rId3" Type="http://schemas.openxmlformats.org/officeDocument/2006/relationships/image" Target="../media/image75.png"/><Relationship Id="rId7" Type="http://schemas.openxmlformats.org/officeDocument/2006/relationships/image" Target="../media/image960.png"/><Relationship Id="rId2" Type="http://schemas.openxmlformats.org/officeDocument/2006/relationships/image" Target="../media/image9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0.png"/><Relationship Id="rId5" Type="http://schemas.openxmlformats.org/officeDocument/2006/relationships/image" Target="../media/image920.png"/><Relationship Id="rId4" Type="http://schemas.openxmlformats.org/officeDocument/2006/relationships/image" Target="../media/image68.png"/><Relationship Id="rId9" Type="http://schemas.openxmlformats.org/officeDocument/2006/relationships/image" Target="../media/image87.png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12136DB-F784-4011-8644-D8A5AB663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br>
              <a:rPr lang="en-US" altLang="zh-CN" b="0"/>
            </a:br>
            <a:r>
              <a:rPr lang="zh-CN" altLang="en-US" sz="6000"/>
              <a:t>运 筹 学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5584771-74EE-4C68-9B03-D50605C458F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109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5DA5C19-7C03-489A-8FC9-68CA15A3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第二章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E7CDFD-5345-482D-A590-15F00036E2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986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BF3FEB8-28BE-4F1F-A4C3-DE7E906D3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线性规划问题的提出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A6DAFF-B5EF-4E7F-B632-E73D34AAC3F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596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121B8E1-A3A3-42BE-AFC8-D33EEE9C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本章学习要求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11339A-F570-4F97-862E-12EAB6ABAB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70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DB5F272-B8D2-4083-AD9A-916B48B17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第二章之第一节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A730A80-8F83-453D-9A8B-3763EF7C84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289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C123F8-5BEF-4072-A846-4A2F2CF34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基础知识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D130C9-72F8-4C17-9EE8-B62AB5DE7BC4}"/>
                  </a:ext>
                </a:extLst>
              </p:cNvPr>
              <p:cNvSpPr txBox="1"/>
              <p:nvPr/>
            </p:nvSpPr>
            <p:spPr>
              <a:xfrm>
                <a:off x="628650" y="1450109"/>
                <a:ext cx="8182841" cy="4524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优化问题：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给定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,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求一个函数</a:t>
                </a:r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sz="24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最大值或最小值。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附加条件：</a:t>
                </a:r>
                <a:r>
                  <a:rPr lang="en-US" altLang="zh-CN" sz="24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满足一系列约束条件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</m:oMath>
                </a14:m>
                <a:r>
                  <a:rPr lang="en-US" altLang="zh-CN" sz="24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  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  …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</m:t>
                    </m:r>
                  </m:oMath>
                </a14:m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无约束条件怎么求解？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都是等号约束条件怎么求解？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存在不等号约束怎么求解？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zh-CN" altLang="en-US" sz="2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5D130C9-72F8-4C17-9EE8-B62AB5DE7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450109"/>
                <a:ext cx="8182841" cy="4524315"/>
              </a:xfrm>
              <a:prstGeom prst="rect">
                <a:avLst/>
              </a:prstGeom>
              <a:blipFill>
                <a:blip r:embed="rId2"/>
                <a:stretch>
                  <a:fillRect l="-1118" t="-10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0068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A4F102-0C92-4E72-A547-532A20807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基础知识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BA94952-6D42-4AAE-95DF-0E719CA35F98}"/>
                  </a:ext>
                </a:extLst>
              </p:cNvPr>
              <p:cNvSpPr/>
              <p:nvPr/>
            </p:nvSpPr>
            <p:spPr>
              <a:xfrm>
                <a:off x="628650" y="1798682"/>
                <a:ext cx="7886700" cy="40920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本课程内容：存在等号、不等号等各类约束，但是</a:t>
                </a:r>
                <a:r>
                  <a:rPr lang="en-US" altLang="zh-CN" sz="32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𝑓</m:t>
                    </m:r>
                    <m:r>
                      <a:rPr lang="en-US" altLang="zh-CN" sz="320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，</a:t>
                </a:r>
                <a:r>
                  <a:rPr lang="en-US" altLang="zh-CN" sz="32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i</m:t>
                        </m:r>
                      </m:sub>
                    </m:sSub>
                    <m:d>
                      <m:d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𝑥</m:t>
                            </m:r>
                          </m:e>
                        </m:acc>
                      </m:e>
                    </m:d>
                  </m:oMath>
                </a14:m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全部为线性函数：</a:t>
                </a:r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一般形式是：</a:t>
                </a:r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min(max) </a:t>
                </a:r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𝑧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𝑐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 ⋅</m:t>
                    </m:r>
                    <m:acc>
                      <m:accPr>
                        <m:chr m:val="⃗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3200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s.t.</a:t>
                </a:r>
                <a:r>
                  <a:rPr lang="en-US" altLang="zh-CN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≥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b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r>
                              <a:rPr lang="en-US" altLang="zh-CN" sz="3200" i="1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𝑖</m:t>
                        </m:r>
                      </m:sub>
                    </m:sSub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 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𝑖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∈</m:t>
                    </m:r>
                    <m:sSub>
                      <m:sSubPr>
                        <m:ctrlP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i="1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BA94952-6D42-4AAE-95DF-0E719CA35F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98682"/>
                <a:ext cx="7886700" cy="4092018"/>
              </a:xfrm>
              <a:prstGeom prst="rect">
                <a:avLst/>
              </a:prstGeom>
              <a:blipFill>
                <a:blip r:embed="rId2"/>
                <a:stretch>
                  <a:fillRect l="-1777" t="-1937" r="-16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8430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E0F7A31A-CDE4-4AD0-A783-EC1446A21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基础知识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线性代数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DC74C7-C793-49C2-9471-05B96679F2AA}"/>
                  </a:ext>
                </a:extLst>
              </p:cNvPr>
              <p:cNvSpPr/>
              <p:nvPr/>
            </p:nvSpPr>
            <p:spPr>
              <a:xfrm>
                <a:off x="628650" y="1798682"/>
                <a:ext cx="7886700" cy="46581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向量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CN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(</a:t>
                </a: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默认为列向量（瘦长型）</a:t>
                </a:r>
                <a:r>
                  <a:rPr lang="en-US" altLang="zh-CN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3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altLang="zh-CN" sz="3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…</m:t>
                              </m:r>
                            </m:e>
                            <m:e>
                              <m:r>
                                <a:rPr lang="en-US" altLang="zh-CN" sz="3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…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𝑚</m:t>
                                  </m:r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32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…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𝑚𝑛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zh-CN" altLang="en-US" sz="32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</m:oMath>
                </a14:m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列向量表达：</a:t>
                </a:r>
                <a:r>
                  <a:rPr lang="en-US" altLang="zh-CN" sz="32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en-US" altLang="zh-CN" sz="3200" b="0" i="0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zh-CN" sz="3200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acc>
                          <m:accPr>
                            <m:chr m:val="⃗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2</m:t>
                                </m:r>
                              </m:sub>
                            </m:sSub>
                          </m:e>
                        </m:acc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 …,</m:t>
                        </m:r>
                        <m:acc>
                          <m:accPr>
                            <m:chr m:val="⃗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n-US" altLang="zh-CN" sz="3200" b="0" i="1" dirty="0" smtClean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endParaRPr lang="en-US" altLang="zh-CN" sz="3200" b="0" dirty="0"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zh-CN" altLang="en-US" sz="32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的</m:t>
                    </m:r>
                    <m:r>
                      <a:rPr lang="zh-CN" altLang="en-US" sz="320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行</m:t>
                    </m:r>
                  </m:oMath>
                </a14:m>
                <a:r>
                  <a:rPr lang="zh-CN" altLang="en-US" sz="32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向量表达：</a:t>
                </a:r>
                <a:r>
                  <a:rPr lang="en-US" altLang="zh-CN" sz="3200" dirty="0"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en-US" altLang="zh-CN" sz="3200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sSup>
                                <m:sSupPr>
                                  <m:ctrlP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sz="3200" b="0" i="1" dirty="0" smtClean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2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altLang="zh-CN" sz="32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  <m:mr>
                            <m:e>
                              <m:r>
                                <a:rPr lang="en-US" altLang="zh-CN" sz="320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p>
                                <m:sSupPr>
                                  <m:ctrlPr>
                                    <a:rPr lang="en-US" altLang="zh-CN" sz="32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sz="3200" i="1" dirty="0">
                                          <a:latin typeface="Cambria Math" panose="02040503050406030204" pitchFamily="18" charset="0"/>
                                          <a:ea typeface="宋体" panose="02010600030101010101" pitchFamily="2" charset="-122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32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3200" i="1" dirty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32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  <m:sup>
                                  <m:r>
                                    <a:rPr lang="en-US" altLang="zh-CN" sz="32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mr>
                        </m:m>
                      </m:e>
                    </m:d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3200" i="1" dirty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32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1</m:t>
                                </m:r>
                              </m:sub>
                            </m:sSub>
                          </m:e>
                        </m:acc>
                      </m:e>
                      <m:sup>
                        <m:r>
                          <a:rPr lang="en-US" altLang="zh-CN" sz="32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=(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11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12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,…,</m:t>
                    </m:r>
                    <m:sSub>
                      <m:sSubPr>
                        <m:ctrlP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bPr>
                      <m:e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1</m:t>
                        </m:r>
                        <m:r>
                          <a:rPr lang="en-US" altLang="zh-CN" sz="32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𝑛</m:t>
                        </m:r>
                      </m:sub>
                    </m:sSub>
                    <m:r>
                      <a:rPr lang="en-US" altLang="zh-CN" sz="32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)</m:t>
                    </m:r>
                  </m:oMath>
                </a14:m>
                <a:endParaRPr lang="en-US" altLang="zh-CN" sz="32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38DC74C7-C793-49C2-9471-05B96679F2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798682"/>
                <a:ext cx="7886700" cy="4658198"/>
              </a:xfrm>
              <a:prstGeom prst="rect">
                <a:avLst/>
              </a:prstGeom>
              <a:blipFill>
                <a:blip r:embed="rId2"/>
                <a:stretch>
                  <a:fillRect l="-1777" t="-20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5177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C8013F0-BCC8-4323-AE1D-B43A9588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写出矩阵的列向量或行向量表达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21A07A7-C68E-4AF2-93B8-D5F4C5229468}"/>
                  </a:ext>
                </a:extLst>
              </p:cNvPr>
              <p:cNvSpPr/>
              <p:nvPr/>
            </p:nvSpPr>
            <p:spPr>
              <a:xfrm>
                <a:off x="628650" y="1362854"/>
                <a:ext cx="7979641" cy="42019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dirty="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8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dirty="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14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dirty="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r>
                        <a:rPr lang="en-US" altLang="zh-CN" sz="24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 …,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sz="2400" b="0" i="0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=?</m:t>
                      </m:r>
                    </m:oMath>
                  </m:oMathPara>
                </a14:m>
                <a:endParaRPr lang="en-US" altLang="zh-CN" sz="2400" b="0" dirty="0">
                  <a:ea typeface="宋体" panose="02010600030101010101" pitchFamily="2" charset="-122"/>
                </a:endParaRPr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r>
                        <a:rPr lang="en-US" altLang="zh-CN" sz="24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r>
                        <a:rPr lang="en-US" altLang="zh-CN" sz="2400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,</m:t>
                      </m:r>
                      <m:sSup>
                        <m:s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acc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𝑇</m:t>
                          </m:r>
                        </m:sup>
                      </m:sSup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=?</m:t>
                      </m:r>
                    </m:oMath>
                  </m:oMathPara>
                </a14:m>
                <a:endParaRPr lang="en-US" altLang="zh-CN" sz="2400" dirty="0">
                  <a:ea typeface="宋体" panose="02010600030101010101" pitchFamily="2" charset="-122"/>
                </a:endParaRPr>
              </a:p>
              <a:p>
                <a:endParaRPr lang="en-US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21A07A7-C68E-4AF2-93B8-D5F4C5229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62854"/>
                <a:ext cx="7979641" cy="4201920"/>
              </a:xfrm>
              <a:prstGeom prst="rect">
                <a:avLst/>
              </a:prstGeom>
              <a:blipFill>
                <a:blip r:embed="rId2"/>
                <a:stretch>
                  <a:fillRect l="-11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0370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9D5277FF-03CA-454A-A797-B8DABB453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基础知识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线性代数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5B31FA2-C510-4B52-933A-A46129F5A5F1}"/>
                  </a:ext>
                </a:extLst>
              </p:cNvPr>
              <p:cNvSpPr/>
              <p:nvPr/>
            </p:nvSpPr>
            <p:spPr>
              <a:xfrm>
                <a:off x="628650" y="1547582"/>
                <a:ext cx="7979641" cy="3217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矩阵向量化表达下矩阵乘法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:</a:t>
                </a:r>
              </a:p>
              <a:p>
                <a:endParaRPr lang="en-US" altLang="zh-CN" sz="2400" dirty="0">
                  <a:ea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 …,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…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en-US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25B31FA2-C510-4B52-933A-A46129F5A5F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547582"/>
                <a:ext cx="7979641" cy="3217804"/>
              </a:xfrm>
              <a:prstGeom prst="rect">
                <a:avLst/>
              </a:prstGeom>
              <a:blipFill>
                <a:blip r:embed="rId2"/>
                <a:stretch>
                  <a:fillRect l="-1146" t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0293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2C8013F0-BCC8-4323-AE1D-B43A95884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练习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写出矩阵乘法的列向量或行向量表达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21A07A7-C68E-4AF2-93B8-D5F4C5229468}"/>
                  </a:ext>
                </a:extLst>
              </p:cNvPr>
              <p:cNvSpPr/>
              <p:nvPr/>
            </p:nvSpPr>
            <p:spPr>
              <a:xfrm>
                <a:off x="628650" y="1362854"/>
                <a:ext cx="8118186" cy="42019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𝐴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mPr>
                          <m:m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6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11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2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7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12</m:t>
                                    </m:r>
                                  </m:e>
                                </m:mr>
                              </m:m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2400" i="1" dirty="0" smtClean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mPr>
                                <m:m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dirty="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3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8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13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dirty="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4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9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14</m:t>
                                          </m:r>
                                        </m:e>
                                      </m:mr>
                                    </m:m>
                                  </m:e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altLang="zh-CN" sz="2400" i="1" dirty="0" smtClean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5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宋体" panose="02010600030101010101" pitchFamily="2" charset="-122"/>
                                            </a:rPr>
                                            <m:t>15</m:t>
                                          </m:r>
                                        </m:e>
                                      </m:mr>
                                    </m:m>
                                  </m:e>
                                </m:mr>
                              </m:m>
                            </m:e>
                          </m:mr>
                        </m:m>
                      </m:e>
                    </m:d>
                  </m:oMath>
                </a14:m>
                <a:r>
                  <a:rPr lang="zh-CN" altLang="en-US" sz="2400" dirty="0"/>
                  <a:t>，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向量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</m:e>
                    </m:acc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宋体" panose="02010600030101010101" pitchFamily="2" charset="-122"/>
                              </a:rPr>
                              <m:t>1 0 2 0 3</m:t>
                            </m:r>
                          </m:e>
                        </m:d>
                      </m:e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mP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400" i="1" dirty="0">
                                            <a:latin typeface="Cambria Math" panose="02040503050406030204" pitchFamily="18" charset="0"/>
                                            <a:ea typeface="宋体" panose="02010600030101010101" pitchFamily="2" charset="-122"/>
                                          </a:rPr>
                                        </m:ctrlPr>
                                      </m:acc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𝑎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i="1" dirty="0">
                                                <a:latin typeface="Cambria Math" panose="02040503050406030204" pitchFamily="18" charset="0"/>
                                                <a:ea typeface="宋体" panose="02010600030101010101" pitchFamily="2" charset="-122"/>
                                              </a:rPr>
                                              <m:t>𝑚</m:t>
                                            </m:r>
                                          </m:sub>
                                        </m:sSub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𝑇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  <a:ea typeface="宋体" panose="02010600030101010101" pitchFamily="2" charset="-122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mr>
                          </m:m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=?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𝐴</m:t>
                      </m:r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 …,</m:t>
                          </m:r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acc>
                        <m:accPr>
                          <m:chr m:val="⃗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𝑥</m:t>
                          </m:r>
                        </m:e>
                      </m:acc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+…+</m:t>
                          </m:r>
                          <m:sSub>
                            <m:sSub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acc>
                            <m:accPr>
                              <m:chr m:val="⃗"/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altLang="zh-CN" sz="2400" i="1" dirty="0">
                                      <a:latin typeface="Cambria Math" panose="02040503050406030204" pitchFamily="18" charset="0"/>
                                      <a:ea typeface="宋体" panose="02010600030101010101" pitchFamily="2" charset="-122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=?</m:t>
                      </m:r>
                    </m:oMath>
                  </m:oMathPara>
                </a14:m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21A07A7-C68E-4AF2-93B8-D5F4C52294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362854"/>
                <a:ext cx="8118186" cy="4201920"/>
              </a:xfrm>
              <a:prstGeom prst="rect">
                <a:avLst/>
              </a:prstGeom>
              <a:blipFill>
                <a:blip r:embed="rId2"/>
                <a:stretch>
                  <a:fillRect l="-11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8881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B141C42-FC3A-47B6-B994-F15D16B35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线性规划的模型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0C9E41-AF8B-417F-8DD5-4ED31F46E53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6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3BDAEB1-6CA7-4751-A0C1-EAFD65047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引例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DC7C10-F5EC-487B-811F-06F0F07F4F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50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12738FF-6F7A-4F52-AB99-251C35A0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28AF7C-F751-474F-A32C-BC1C1056F5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621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7AB8DDE-6712-43BD-899B-698722C4A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线性规划问题的三要素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FBEC592-D70B-4F25-8FF5-CF75112D9E2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077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5C4A567-7C05-46C3-B044-64298D463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9655AB-2DD5-48C5-8B8D-6E44FF04429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941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58D3DD6-4F97-4DFB-9423-1F8B3724F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线性规划数学模型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D7E6D7-34E9-4336-AB85-F44BB303F6A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68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362D79F-CA20-477A-B42B-199C888B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线性规划模型隐含的假设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E5FE2B-35A0-4853-AC2E-D6C1579EC29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3617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AAFDDD4-220D-4767-8169-618CE3EE1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两个复杂点的案例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7E374EA-5541-400B-BC8E-07663D5D345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6983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503A8D6-DF65-48B2-BC11-91927E235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/>
              <a:t>两个复杂点的案例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674CF2-0557-4CB0-9226-379532B1EE6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5963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C4DC25A-11FF-49CD-BE83-9D2A5663F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olidFill>
                  <a:srgbClr val="006600"/>
                </a:solidFill>
              </a:rPr>
              <a:t>线性规划问题的求解方法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894C4F-1733-4200-8A2D-21EFEC33597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408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E8AE786-5518-4059-8473-052285A9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图解法</a:t>
            </a:r>
            <a:r>
              <a:rPr lang="en-US" altLang="zh-CN"/>
              <a:t>11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A5C4CE2-63E4-4B7C-9EFF-9DB8599564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377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4EB7886-7A85-4736-A0C9-E7A031A0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6FF41BA-554A-4BDA-80C9-B1B3C84FCC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264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E1F859C-BC60-42CF-8EAE-2448B88E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098296-4144-4B5E-B387-6F241CCE4F9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5050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D6B7F3A-9A94-4EC5-8549-CACD8A0F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486687E-60CA-44E8-ABD7-C1844A471AC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561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A2A30AF-C66D-464E-9ED5-4DDB7BB52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9D94565-8C1E-41A8-B020-8B5DF40585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9E246A93-2131-4572-BBA0-9F04EB075B02}"/>
              </a:ext>
            </a:extLst>
          </p:cNvPr>
          <p:cNvSpPr txBox="1"/>
          <p:nvPr/>
        </p:nvSpPr>
        <p:spPr>
          <a:xfrm>
            <a:off x="5006109" y="1674674"/>
            <a:ext cx="4027055" cy="175432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由图解法得到的启示：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约束条件围成的区域为</a:t>
            </a:r>
            <a:r>
              <a:rPr lang="zh-CN" altLang="en-US" b="1" dirty="0"/>
              <a:t>凸多边形</a:t>
            </a:r>
            <a:endParaRPr lang="en-US" altLang="zh-CN" b="1" dirty="0"/>
          </a:p>
          <a:p>
            <a:pPr marL="342900" indent="-342900">
              <a:buAutoNum type="arabicPeriod"/>
            </a:pPr>
            <a:r>
              <a:rPr lang="zh-CN" altLang="en-US" dirty="0"/>
              <a:t>最优解在凸多边形的某个</a:t>
            </a:r>
            <a:r>
              <a:rPr lang="zh-CN" altLang="en-US" b="1" dirty="0"/>
              <a:t>顶点</a:t>
            </a:r>
            <a:r>
              <a:rPr lang="zh-CN" altLang="en-US" dirty="0"/>
              <a:t>取到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顶点是怎么计算出来的？令两个不等式取等号</a:t>
            </a:r>
            <a:endParaRPr lang="en-US" altLang="zh-CN" dirty="0"/>
          </a:p>
          <a:p>
            <a:r>
              <a:rPr lang="zh-CN" altLang="en-US" dirty="0"/>
              <a:t>（稍后会证明）</a:t>
            </a:r>
          </a:p>
        </p:txBody>
      </p:sp>
    </p:spTree>
    <p:extLst>
      <p:ext uri="{BB962C8B-B14F-4D97-AF65-F5344CB8AC3E}">
        <p14:creationId xmlns:p14="http://schemas.microsoft.com/office/powerpoint/2010/main" val="29195255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6647B700-2703-4EF3-8E13-388EF76BF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9BA23F-09D3-49B0-B420-F47166F121E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7120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48DC57D-060B-423A-A5D8-05B5BA4F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C0BB268-4969-4F51-96C1-7B41EB03D9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430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2AAD957-B98F-43BC-8552-3C27FADA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图解法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76AABD-F6BA-43A0-BA2E-7784F4A3A45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257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818789B-E118-43B1-A9CF-63B544358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线性规划数学模型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BDB287-F0FD-4756-8BDF-EC62881CFC7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6913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5747319-A0AA-4CFD-A13B-CB366426E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线性规划数学模型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52B2A9-2B19-48CC-8E00-7765EE361FE7}"/>
              </a:ext>
            </a:extLst>
          </p:cNvPr>
          <p:cNvPicPr/>
          <p:nvPr/>
        </p:nvPicPr>
        <p:blipFill rotWithShape="1">
          <a:blip r:embed="rId2"/>
          <a:srcRect b="33199"/>
          <a:stretch/>
        </p:blipFill>
        <p:spPr>
          <a:xfrm>
            <a:off x="0" y="0"/>
            <a:ext cx="9144000" cy="4581236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FF44752-2B1E-4B73-937C-C1DA6D326655}"/>
              </a:ext>
            </a:extLst>
          </p:cNvPr>
          <p:cNvSpPr/>
          <p:nvPr/>
        </p:nvSpPr>
        <p:spPr>
          <a:xfrm>
            <a:off x="6123709" y="3953164"/>
            <a:ext cx="3020291" cy="4987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52B09ED-19D0-43D0-9400-EB823A2D022B}"/>
                  </a:ext>
                </a:extLst>
              </p:cNvPr>
              <p:cNvSpPr txBox="1"/>
              <p:nvPr/>
            </p:nvSpPr>
            <p:spPr>
              <a:xfrm>
                <a:off x="869209" y="5163128"/>
                <a:ext cx="3541354" cy="12616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400" b="1" i="0" smtClean="0"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e>
                          </m:d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func>
                    </m:oMath>
                  </m:oMathPara>
                </a14:m>
                <a:endParaRPr lang="en-US" altLang="zh-CN" sz="2400" b="1" dirty="0"/>
              </a:p>
              <a:p>
                <a:r>
                  <a:rPr lang="en-US" altLang="zh-CN" sz="2400" b="1" dirty="0" err="1"/>
                  <a:t>s.t.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⃗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altLang="zh-CN" sz="2400" b="1" i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400" b="1" dirty="0"/>
              </a:p>
              <a:p>
                <a:r>
                  <a:rPr lang="en-US" altLang="zh-CN" sz="2400" b="1" dirty="0"/>
                  <a:t>A </a:t>
                </a:r>
                <a:r>
                  <a:rPr lang="zh-CN" altLang="en-US" sz="2400" b="1" dirty="0"/>
                  <a:t>为</a:t>
                </a:r>
                <a:r>
                  <a:rPr lang="en-US" altLang="zh-CN" sz="2400" b="1" dirty="0"/>
                  <a:t>m x n </a:t>
                </a:r>
                <a:r>
                  <a:rPr lang="zh-CN" altLang="en-US" sz="2400" b="1" dirty="0"/>
                  <a:t>矩阵（</a:t>
                </a:r>
                <a:r>
                  <a:rPr lang="en-US" altLang="zh-CN" sz="2400" b="1" dirty="0"/>
                  <a:t>m&lt;n</a:t>
                </a:r>
                <a:r>
                  <a:rPr lang="zh-CN" altLang="en-US" sz="2400" b="1" dirty="0"/>
                  <a:t>）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B52B09ED-19D0-43D0-9400-EB823A2D02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209" y="5163128"/>
                <a:ext cx="3541354" cy="1261692"/>
              </a:xfrm>
              <a:prstGeom prst="rect">
                <a:avLst/>
              </a:prstGeom>
              <a:blipFill>
                <a:blip r:embed="rId3"/>
                <a:stretch>
                  <a:fillRect l="-2754" r="-1549" b="-106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5282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F4E3755A-63DD-4A81-A46C-26056D797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线性规划标准型数学模型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E142516-23DA-4F85-9FFB-FF17DF9D2E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775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197DF34B-363A-4B6A-AA9C-D457B197A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线性规划标准型特点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CCE22D-09F2-4910-A5EC-13C2AB526DC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569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94E8A3F-01C5-496B-A88D-880F92A3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如何变换为标准型？</a:t>
            </a:r>
            <a:r>
              <a:rPr lang="en-US" altLang="zh-CN"/>
              <a:t>(1)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AB756DE-D62B-4519-84D7-691BBDC405F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3207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0FE897D-60F6-4962-AB3C-C37937D55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如何变换为标准型？</a:t>
            </a:r>
            <a:r>
              <a:rPr lang="en-US" altLang="zh-CN"/>
              <a:t>(2)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A224D86-E1C7-4545-A4A4-B348554D4756}"/>
              </a:ext>
            </a:extLst>
          </p:cNvPr>
          <p:cNvPicPr/>
          <p:nvPr/>
        </p:nvPicPr>
        <p:blipFill rotWithShape="1">
          <a:blip r:embed="rId2"/>
          <a:srcRect b="31717"/>
          <a:stretch/>
        </p:blipFill>
        <p:spPr>
          <a:xfrm>
            <a:off x="0" y="0"/>
            <a:ext cx="9144000" cy="4682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892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B7D87AC-FB13-4885-BAA0-21F886E1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如何变换为标准型？</a:t>
            </a:r>
            <a:r>
              <a:rPr lang="en-US" altLang="zh-CN"/>
              <a:t>(3)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9FB827-104D-403F-BCD9-9F9343188FD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28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4DFC38-FB46-402B-A031-407543C48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概念：基可行解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327CBCB5-0961-4080-8B6C-D941738274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49" y="1421743"/>
                <a:ext cx="8145895" cy="4240147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6858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3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基解：共有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个决策变量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所有等式约束满足（假设有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个）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n-m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个不等式取等号（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n-m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个方程）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这样一共有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个方程，可以求解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个未知数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（要求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个方程系数线性独立）</a:t>
                </a: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例如对于右侧标准型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等式全部满足（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个方程）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n-m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个不等式取等号（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n-m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个方程）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这样一共有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个方程，可以求解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个未知数</a:t>
                </a:r>
                <a:endParaRPr lang="en-US" altLang="zh-CN" sz="24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（要求</a:t>
                </a:r>
                <a:r>
                  <a:rPr lang="en-US" altLang="zh-CN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sz="240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个方程系数线性独立）</a:t>
                </a:r>
              </a:p>
            </p:txBody>
          </p:sp>
        </mc:Choice>
        <mc:Fallback xmlns="">
          <p:sp>
            <p:nvSpPr>
              <p:cNvPr id="3" name="标题 1">
                <a:extLst>
                  <a:ext uri="{FF2B5EF4-FFF2-40B4-BE49-F238E27FC236}">
                    <a16:creationId xmlns:a16="http://schemas.microsoft.com/office/drawing/2014/main" id="{327CBCB5-0961-4080-8B6C-D941738274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421743"/>
                <a:ext cx="8145895" cy="4240147"/>
              </a:xfrm>
              <a:prstGeom prst="rect">
                <a:avLst/>
              </a:prstGeom>
              <a:blipFill>
                <a:blip r:embed="rId2"/>
                <a:stretch>
                  <a:fillRect l="-2021" t="-1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C68E6BF-4AE8-4802-88B8-E6095C76A638}"/>
                  </a:ext>
                </a:extLst>
              </p:cNvPr>
              <p:cNvSpPr txBox="1"/>
              <p:nvPr/>
            </p:nvSpPr>
            <p:spPr>
              <a:xfrm>
                <a:off x="5718299" y="3708323"/>
                <a:ext cx="2980303" cy="106695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sz="2000" b="1" i="0" smtClean="0"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d>
                            <m:d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e>
                          </m:d>
                          <m:r>
                            <a:rPr lang="en-US" altLang="zh-CN" sz="20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000" b="1" i="1" smtClean="0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func>
                    </m:oMath>
                  </m:oMathPara>
                </a14:m>
                <a:endParaRPr lang="en-US" altLang="zh-CN" sz="2000" b="1" dirty="0"/>
              </a:p>
              <a:p>
                <a:r>
                  <a:rPr lang="en-US" altLang="zh-CN" sz="2000" b="1" dirty="0" err="1"/>
                  <a:t>s.t.</a:t>
                </a:r>
                <a:r>
                  <a:rPr lang="en-US" altLang="zh-CN" sz="20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⃗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altLang="zh-CN" sz="2000" b="1" i="0" smtClean="0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altLang="zh-CN" sz="20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sz="2000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sz="2000" b="1" dirty="0"/>
              </a:p>
              <a:p>
                <a:r>
                  <a:rPr lang="en-US" altLang="zh-CN" sz="2000" b="1" dirty="0"/>
                  <a:t>A </a:t>
                </a:r>
                <a:r>
                  <a:rPr lang="zh-CN" altLang="en-US" sz="2000" b="1" dirty="0"/>
                  <a:t>为</a:t>
                </a:r>
                <a:r>
                  <a:rPr lang="en-US" altLang="zh-CN" sz="2000" b="1" dirty="0"/>
                  <a:t>m x n </a:t>
                </a:r>
                <a:r>
                  <a:rPr lang="zh-CN" altLang="en-US" sz="2000" b="1" dirty="0"/>
                  <a:t>矩阵（</a:t>
                </a:r>
                <a:r>
                  <a:rPr lang="en-US" altLang="zh-CN" sz="2000" b="1" dirty="0"/>
                  <a:t>m&lt;n</a:t>
                </a:r>
                <a:r>
                  <a:rPr lang="zh-CN" altLang="en-US" sz="2000" b="1" dirty="0"/>
                  <a:t>）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C68E6BF-4AE8-4802-88B8-E6095C76A6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299" y="3708323"/>
                <a:ext cx="2980303" cy="1066959"/>
              </a:xfrm>
              <a:prstGeom prst="rect">
                <a:avLst/>
              </a:prstGeom>
              <a:blipFill>
                <a:blip r:embed="rId3"/>
                <a:stretch>
                  <a:fillRect l="-2045" r="-1636" b="-9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1">
            <a:extLst>
              <a:ext uri="{FF2B5EF4-FFF2-40B4-BE49-F238E27FC236}">
                <a16:creationId xmlns:a16="http://schemas.microsoft.com/office/drawing/2014/main" id="{453DD18B-4736-4D11-866E-3B6B200D1B82}"/>
              </a:ext>
            </a:extLst>
          </p:cNvPr>
          <p:cNvSpPr txBox="1">
            <a:spLocks/>
          </p:cNvSpPr>
          <p:nvPr/>
        </p:nvSpPr>
        <p:spPr>
          <a:xfrm>
            <a:off x="628649" y="5525083"/>
            <a:ext cx="8145895" cy="11871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可行解：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解满足不等号约束条件</a:t>
            </a:r>
          </a:p>
        </p:txBody>
      </p:sp>
    </p:spTree>
    <p:extLst>
      <p:ext uri="{BB962C8B-B14F-4D97-AF65-F5344CB8AC3E}">
        <p14:creationId xmlns:p14="http://schemas.microsoft.com/office/powerpoint/2010/main" val="27803021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40271D-7D47-4F71-9DF0-004B0CE6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C6E67D-153D-490B-BB95-E894F9C62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2133600"/>
            <a:ext cx="6248400" cy="37338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436C8B1C-BD7C-466C-BDC8-7DA29A0DA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2895600"/>
            <a:ext cx="2514600" cy="2362200"/>
          </a:xfrm>
          <a:prstGeom prst="ellipse">
            <a:avLst/>
          </a:prstGeom>
          <a:solidFill>
            <a:schemeClr val="accent1">
              <a:alpha val="67842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4CBE2C2F-89B6-48C0-942D-4B46F35A2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895600"/>
            <a:ext cx="2514600" cy="2362200"/>
          </a:xfrm>
          <a:prstGeom prst="ellipse">
            <a:avLst/>
          </a:prstGeom>
          <a:solidFill>
            <a:srgbClr val="99CC00">
              <a:alpha val="5294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DBD53B8A-EEA3-4233-B559-5F888F6483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209800"/>
            <a:ext cx="2133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非可行解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BD3FFBDA-C994-4850-9CFF-18B4FA1FB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3429000"/>
            <a:ext cx="7620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可行解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CC5E41F-A13D-4405-B96C-5D649D460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5800" y="3200400"/>
            <a:ext cx="762000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基可行解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8620C4AF-6FA7-42BD-9839-6B833D8F6D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3505200"/>
            <a:ext cx="762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基解</a:t>
            </a:r>
          </a:p>
        </p:txBody>
      </p:sp>
    </p:spTree>
    <p:extLst>
      <p:ext uri="{BB962C8B-B14F-4D97-AF65-F5344CB8AC3E}">
        <p14:creationId xmlns:p14="http://schemas.microsoft.com/office/powerpoint/2010/main" val="149629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FD9CF-A53E-4AB7-A22F-82BDD548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32BEC25-98EF-4643-895D-EACE98E11D09}"/>
                  </a:ext>
                </a:extLst>
              </p:cNvPr>
              <p:cNvSpPr txBox="1"/>
              <p:nvPr/>
            </p:nvSpPr>
            <p:spPr bwMode="auto">
              <a:xfrm>
                <a:off x="628650" y="1462088"/>
                <a:ext cx="3048000" cy="2774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≤360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≤200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≤300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32BEC25-98EF-4643-895D-EACE98E11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650" y="1462088"/>
                <a:ext cx="3048000" cy="2774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429AF987-7621-458A-AF0A-7B608A3C88D6}"/>
              </a:ext>
            </a:extLst>
          </p:cNvPr>
          <p:cNvSpPr/>
          <p:nvPr/>
        </p:nvSpPr>
        <p:spPr>
          <a:xfrm>
            <a:off x="4525243" y="1255163"/>
            <a:ext cx="43693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基解：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所有等式约束满足（假设有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n-m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个不等式取等号（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n-m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这样一共有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个方程，可以求解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个未知数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（要求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个方程系数线性独立）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84EBDC-D148-4E9D-A0F4-41102A611B69}"/>
                  </a:ext>
                </a:extLst>
              </p:cNvPr>
              <p:cNvSpPr txBox="1"/>
              <p:nvPr/>
            </p:nvSpPr>
            <p:spPr>
              <a:xfrm>
                <a:off x="4525243" y="720870"/>
                <a:ext cx="20365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84EBDC-D148-4E9D-A0F4-41102A611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243" y="720870"/>
                <a:ext cx="20365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9AC79034-0547-4595-B9E4-473567CA9CD7}"/>
              </a:ext>
            </a:extLst>
          </p:cNvPr>
          <p:cNvSpPr txBox="1">
            <a:spLocks/>
          </p:cNvSpPr>
          <p:nvPr/>
        </p:nvSpPr>
        <p:spPr>
          <a:xfrm>
            <a:off x="4525243" y="2732491"/>
            <a:ext cx="2798042" cy="774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可行解：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解满足不等号约束条件</a:t>
            </a:r>
          </a:p>
        </p:txBody>
      </p:sp>
      <p:pic>
        <p:nvPicPr>
          <p:cNvPr id="7" name="Picture 1" descr="C:\Users\john\AppData\Roaming\Tencent\Users\22892665\QQ\WinTemp\RichOle\%)K%{0X7J_K29ZZMTNHR]}N.jpg">
            <a:extLst>
              <a:ext uri="{FF2B5EF4-FFF2-40B4-BE49-F238E27FC236}">
                <a16:creationId xmlns:a16="http://schemas.microsoft.com/office/drawing/2014/main" id="{582CA68B-151B-4625-AE7B-AA4BA1E24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88" y="3622528"/>
            <a:ext cx="5162552" cy="2907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F71FF5-E013-4BC7-94A0-6DD9FD227D73}"/>
                  </a:ext>
                </a:extLst>
              </p:cNvPr>
              <p:cNvSpPr txBox="1"/>
              <p:nvPr/>
            </p:nvSpPr>
            <p:spPr>
              <a:xfrm>
                <a:off x="628650" y="4664364"/>
                <a:ext cx="174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F71FF5-E013-4BC7-94A0-6DD9FD227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664364"/>
                <a:ext cx="17424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32E4B4-71AF-410F-82F6-26F6E296424F}"/>
                  </a:ext>
                </a:extLst>
              </p:cNvPr>
              <p:cNvSpPr txBox="1"/>
              <p:nvPr/>
            </p:nvSpPr>
            <p:spPr>
              <a:xfrm>
                <a:off x="628650" y="5333132"/>
                <a:ext cx="1870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=90?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32E4B4-71AF-410F-82F6-26F6E296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333132"/>
                <a:ext cx="187070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椭圆 11">
            <a:extLst>
              <a:ext uri="{FF2B5EF4-FFF2-40B4-BE49-F238E27FC236}">
                <a16:creationId xmlns:a16="http://schemas.microsoft.com/office/drawing/2014/main" id="{796B5D3B-9C02-4F3B-96DA-C384983B0EC0}"/>
              </a:ext>
            </a:extLst>
          </p:cNvPr>
          <p:cNvSpPr/>
          <p:nvPr/>
        </p:nvSpPr>
        <p:spPr>
          <a:xfrm>
            <a:off x="5846618" y="6123542"/>
            <a:ext cx="157018" cy="1848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5200B2BB-BFFA-45A9-A306-201F72DBEFE2}"/>
              </a:ext>
            </a:extLst>
          </p:cNvPr>
          <p:cNvSpPr/>
          <p:nvPr/>
        </p:nvSpPr>
        <p:spPr>
          <a:xfrm>
            <a:off x="5846618" y="4099256"/>
            <a:ext cx="157018" cy="1848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9545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FD9CF-A53E-4AB7-A22F-82BDD5482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32BEC25-98EF-4643-895D-EACE98E11D09}"/>
                  </a:ext>
                </a:extLst>
              </p:cNvPr>
              <p:cNvSpPr txBox="1"/>
              <p:nvPr/>
            </p:nvSpPr>
            <p:spPr bwMode="auto">
              <a:xfrm>
                <a:off x="628649" y="1462088"/>
                <a:ext cx="3517325" cy="2774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Object 3">
                <a:extLst>
                  <a:ext uri="{FF2B5EF4-FFF2-40B4-BE49-F238E27FC236}">
                    <a16:creationId xmlns:a16="http://schemas.microsoft.com/office/drawing/2014/main" id="{732BEC25-98EF-4643-895D-EACE98E11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649" y="1462088"/>
                <a:ext cx="3517325" cy="2774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>
            <a:extLst>
              <a:ext uri="{FF2B5EF4-FFF2-40B4-BE49-F238E27FC236}">
                <a16:creationId xmlns:a16="http://schemas.microsoft.com/office/drawing/2014/main" id="{429AF987-7621-458A-AF0A-7B608A3C88D6}"/>
              </a:ext>
            </a:extLst>
          </p:cNvPr>
          <p:cNvSpPr/>
          <p:nvPr/>
        </p:nvSpPr>
        <p:spPr>
          <a:xfrm>
            <a:off x="4525243" y="1255163"/>
            <a:ext cx="43693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基解：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所有等式约束满足（假设有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n-m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个不等式取等号（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n-m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这样一共有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个方程，可以求解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个未知数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（要求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个方程系数线性独立）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84EBDC-D148-4E9D-A0F4-41102A611B69}"/>
                  </a:ext>
                </a:extLst>
              </p:cNvPr>
              <p:cNvSpPr txBox="1"/>
              <p:nvPr/>
            </p:nvSpPr>
            <p:spPr>
              <a:xfrm>
                <a:off x="4525243" y="720870"/>
                <a:ext cx="20365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FC84EBDC-D148-4E9D-A0F4-41102A611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243" y="720870"/>
                <a:ext cx="20365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标题 1">
            <a:extLst>
              <a:ext uri="{FF2B5EF4-FFF2-40B4-BE49-F238E27FC236}">
                <a16:creationId xmlns:a16="http://schemas.microsoft.com/office/drawing/2014/main" id="{9AC79034-0547-4595-B9E4-473567CA9CD7}"/>
              </a:ext>
            </a:extLst>
          </p:cNvPr>
          <p:cNvSpPr txBox="1">
            <a:spLocks/>
          </p:cNvSpPr>
          <p:nvPr/>
        </p:nvSpPr>
        <p:spPr>
          <a:xfrm>
            <a:off x="4525243" y="2732491"/>
            <a:ext cx="2798042" cy="774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可行解：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解满足不等号约束条件</a:t>
            </a:r>
          </a:p>
        </p:txBody>
      </p:sp>
      <p:pic>
        <p:nvPicPr>
          <p:cNvPr id="7" name="Picture 1" descr="C:\Users\john\AppData\Roaming\Tencent\Users\22892665\QQ\WinTemp\RichOle\%)K%{0X7J_K29ZZMTNHR]}N.jpg">
            <a:extLst>
              <a:ext uri="{FF2B5EF4-FFF2-40B4-BE49-F238E27FC236}">
                <a16:creationId xmlns:a16="http://schemas.microsoft.com/office/drawing/2014/main" id="{582CA68B-151B-4625-AE7B-AA4BA1E24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988" y="3622528"/>
            <a:ext cx="5162552" cy="2907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F71FF5-E013-4BC7-94A0-6DD9FD227D73}"/>
                  </a:ext>
                </a:extLst>
              </p:cNvPr>
              <p:cNvSpPr txBox="1"/>
              <p:nvPr/>
            </p:nvSpPr>
            <p:spPr>
              <a:xfrm>
                <a:off x="628650" y="4664364"/>
                <a:ext cx="174246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</m:t>
                      </m:r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8EF71FF5-E013-4BC7-94A0-6DD9FD227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664364"/>
                <a:ext cx="174246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32E4B4-71AF-410F-82F6-26F6E296424F}"/>
                  </a:ext>
                </a:extLst>
              </p:cNvPr>
              <p:cNvSpPr txBox="1"/>
              <p:nvPr/>
            </p:nvSpPr>
            <p:spPr>
              <a:xfrm>
                <a:off x="628650" y="5333132"/>
                <a:ext cx="17424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=0,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=0?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32E4B4-71AF-410F-82F6-26F6E2964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5333132"/>
                <a:ext cx="17424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45B430B5-E5E9-4FB5-834C-E7F6688DCC98}"/>
              </a:ext>
            </a:extLst>
          </p:cNvPr>
          <p:cNvSpPr txBox="1"/>
          <p:nvPr/>
        </p:nvSpPr>
        <p:spPr>
          <a:xfrm>
            <a:off x="277659" y="6123542"/>
            <a:ext cx="3416320" cy="3693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观察：基可行解和顶点的关系？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F4A5C2E-BC79-489C-B255-0AAC877E415E}"/>
              </a:ext>
            </a:extLst>
          </p:cNvPr>
          <p:cNvSpPr/>
          <p:nvPr/>
        </p:nvSpPr>
        <p:spPr>
          <a:xfrm>
            <a:off x="5846618" y="6123542"/>
            <a:ext cx="157018" cy="1848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70CB9879-B274-4526-B703-194F147622E1}"/>
              </a:ext>
            </a:extLst>
          </p:cNvPr>
          <p:cNvSpPr/>
          <p:nvPr/>
        </p:nvSpPr>
        <p:spPr>
          <a:xfrm>
            <a:off x="5846618" y="4099256"/>
            <a:ext cx="157018" cy="18489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1073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B6194ADA-3718-41EB-95B7-B979E149B58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28650" y="365125"/>
                <a:ext cx="7886700" cy="6118801"/>
              </a:xfrm>
            </p:spPr>
            <p:txBody>
              <a:bodyPr>
                <a:normAutofit fontScale="90000"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定理：基可行解一定是顶点，反之亦然</a:t>
                </a:r>
                <a:b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证明略（参考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Introduction to linear optimization P51-52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b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b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定理：若可行域有界，则问题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3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sz="3600" b="1">
                            <a:latin typeface="Cambria Math" panose="02040503050406030204" pitchFamily="18" charset="0"/>
                          </a:rPr>
                          <m:t>𝐦𝐚𝐱</m:t>
                        </m:r>
                      </m:fName>
                      <m:e>
                        <m:sSup>
                          <m:sSupPr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600" b="1" i="1">
                                    <a:latin typeface="Cambria Math" panose="02040503050406030204" pitchFamily="18" charset="0"/>
                                  </a:rPr>
                                  <m:t>𝒄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acc>
                          <m:accPr>
                            <m:chr m:val="⃗"/>
                            <m:ctrlP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e>
                    </m:func>
                  </m:oMath>
                </a14:m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的最优解一定包括某顶点</a:t>
                </a:r>
                <a:b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证明略（参考运筹学（第四版）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P26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定理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3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b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b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结论：最优解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某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个</m:t>
                    </m:r>
                  </m:oMath>
                </a14:m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顶点，顶点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基可行解</a:t>
                </a:r>
                <a:b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</a:b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最优解</a:t>
                </a:r>
                <a14:m>
                  <m:oMath xmlns:m="http://schemas.openxmlformats.org/officeDocument/2006/math">
                    <m:r>
                      <a:rPr lang="zh-CN" altLang="en-US" b="1" i="1">
                        <a:latin typeface="Cambria Math" panose="02040503050406030204" pitchFamily="18" charset="0"/>
                      </a:rPr>
                      <m:t>⊃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某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个</m:t>
                    </m:r>
                    <m:r>
                      <m:rPr>
                        <m:nor/>
                      </m:rPr>
                      <a:rPr lang="zh-CN" altLang="en-US" b="1" dirty="0">
                        <a:latin typeface="宋体" panose="02010600030101010101" pitchFamily="2" charset="-122"/>
                        <a:ea typeface="宋体" panose="02010600030101010101" pitchFamily="2" charset="-122"/>
                      </a:rPr>
                      <m:t>基可行解</m:t>
                    </m:r>
                  </m:oMath>
                </a14:m>
                <a:endParaRPr lang="zh-CN" altLang="en-US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4" name="标题 3">
                <a:extLst>
                  <a:ext uri="{FF2B5EF4-FFF2-40B4-BE49-F238E27FC236}">
                    <a16:creationId xmlns:a16="http://schemas.microsoft.com/office/drawing/2014/main" id="{B6194ADA-3718-41EB-95B7-B979E149B5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28650" y="365125"/>
                <a:ext cx="7886700" cy="6118801"/>
              </a:xfrm>
              <a:blipFill>
                <a:blip r:embed="rId2"/>
                <a:stretch>
                  <a:fillRect l="-1777" r="-9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64753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A17820-CEC1-4972-8763-B60BC6094826}"/>
                  </a:ext>
                </a:extLst>
              </p:cNvPr>
              <p:cNvSpPr txBox="1"/>
              <p:nvPr/>
            </p:nvSpPr>
            <p:spPr>
              <a:xfrm>
                <a:off x="443345" y="858982"/>
                <a:ext cx="8469746" cy="48572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算法：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342900" indent="-342900">
                  <a:buAutoNum type="arabicPeriod"/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将线性规划问题转化为标准型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𝐦𝐚𝐱</m:t>
                          </m:r>
                        </m:fName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1" i="1">
                                      <a:latin typeface="Cambria Math" panose="02040503050406030204" pitchFamily="18" charset="0"/>
                                    </a:rPr>
                                    <m:t>𝒄</m:t>
                                  </m:r>
                                </m:e>
                              </m:acc>
                            </m:e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acc>
                            <m:accPr>
                              <m:chr m:val="⃗"/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</m:e>
                      </m:func>
                    </m:oMath>
                  </m:oMathPara>
                </a14:m>
                <a:endPara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b="1" dirty="0" err="1">
                    <a:latin typeface="宋体" panose="02010600030101010101" pitchFamily="2" charset="-122"/>
                    <a:ea typeface="宋体" panose="02010600030101010101" pitchFamily="2" charset="-122"/>
                  </a:rPr>
                  <a:t>s.t.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𝑨</m:t>
                    </m:r>
                    <m:acc>
                      <m:accPr>
                        <m:chr m:val="⃗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</m:acc>
                    <m:r>
                      <a:rPr lang="en-US" altLang="zh-CN" b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⃗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altLang="zh-CN" b="1" i="1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A 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为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m x n 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矩阵（</a:t>
                </a:r>
                <a:r>
                  <a:rPr lang="en-US" altLang="zh-CN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m&lt;n</a:t>
                </a:r>
                <a:r>
                  <a:rPr lang="zh-CN" altLang="en-US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）</a:t>
                </a:r>
                <a:endPara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b="1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2.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枚举某个基解：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所有等式约束满足（假设有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m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个）</a:t>
                </a: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令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n-m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个不等式取等号（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n-m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个方程）</a:t>
                </a: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这样一共有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个方程，可以求解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个未知数</a:t>
                </a:r>
              </a:p>
              <a:p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（要求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n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个方程系数线性独立）</a:t>
                </a:r>
                <a:r>
                  <a:rPr lang="zh-CN" altLang="en-US" dirty="0">
                    <a:highlight>
                      <a:srgbClr val="FFFF00"/>
                    </a:highlight>
                    <a:latin typeface="宋体" panose="02010600030101010101" pitchFamily="2" charset="-122"/>
                    <a:ea typeface="宋体" panose="02010600030101010101" pitchFamily="2" charset="-122"/>
                  </a:rPr>
                  <a:t>思考：有多少种组合？</a:t>
                </a: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3.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判断基解是否为基可行解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4.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如果是基可行解，计算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5. 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遍历所有基可行解，找到最大的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zh-CN" altLang="en-US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A17820-CEC1-4972-8763-B60BC6094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5" y="858982"/>
                <a:ext cx="8469746" cy="4857292"/>
              </a:xfrm>
              <a:prstGeom prst="rect">
                <a:avLst/>
              </a:prstGeom>
              <a:blipFill>
                <a:blip r:embed="rId2"/>
                <a:stretch>
                  <a:fillRect l="-648" t="-753" b="-7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20998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9E16D6E1-7A6F-4932-99F9-052DC7EF9425}"/>
              </a:ext>
            </a:extLst>
          </p:cNvPr>
          <p:cNvSpPr txBox="1">
            <a:spLocks/>
          </p:cNvSpPr>
          <p:nvPr/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7BCDC5EC-4CA6-49E6-96C9-4DD07F092508}"/>
                  </a:ext>
                </a:extLst>
              </p:cNvPr>
              <p:cNvSpPr txBox="1"/>
              <p:nvPr/>
            </p:nvSpPr>
            <p:spPr bwMode="auto">
              <a:xfrm>
                <a:off x="628649" y="1462088"/>
                <a:ext cx="3517325" cy="2774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  <m:r>
                        <a:rPr lang="zh-CN" altLang="en-US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=7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+12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360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+5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200</m:t>
                              </m:r>
                            </m:e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300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Object 3">
                <a:extLst>
                  <a:ext uri="{FF2B5EF4-FFF2-40B4-BE49-F238E27FC236}">
                    <a16:creationId xmlns:a16="http://schemas.microsoft.com/office/drawing/2014/main" id="{7BCDC5EC-4CA6-49E6-96C9-4DD07F0925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649" y="1462088"/>
                <a:ext cx="3517325" cy="2774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BA278870-32A1-43AA-B993-BB44F87C19BC}"/>
              </a:ext>
            </a:extLst>
          </p:cNvPr>
          <p:cNvSpPr/>
          <p:nvPr/>
        </p:nvSpPr>
        <p:spPr>
          <a:xfrm>
            <a:off x="4525243" y="1255163"/>
            <a:ext cx="436937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基解：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所有等式约束满足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令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个不等式取等号（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这样一共有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个方程，可以求解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个未知数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（要求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个方程系数线性独立）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25A060-C1E8-462F-B2F3-4213B33C8059}"/>
                  </a:ext>
                </a:extLst>
              </p:cNvPr>
              <p:cNvSpPr txBox="1"/>
              <p:nvPr/>
            </p:nvSpPr>
            <p:spPr>
              <a:xfrm>
                <a:off x="4525243" y="720870"/>
                <a:ext cx="20365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A625A060-C1E8-462F-B2F3-4213B33C8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243" y="720870"/>
                <a:ext cx="20365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标题 1">
            <a:extLst>
              <a:ext uri="{FF2B5EF4-FFF2-40B4-BE49-F238E27FC236}">
                <a16:creationId xmlns:a16="http://schemas.microsoft.com/office/drawing/2014/main" id="{114A0D8D-8FF2-4611-BBB5-2FBCF0FF2F8D}"/>
              </a:ext>
            </a:extLst>
          </p:cNvPr>
          <p:cNvSpPr txBox="1">
            <a:spLocks/>
          </p:cNvSpPr>
          <p:nvPr/>
        </p:nvSpPr>
        <p:spPr>
          <a:xfrm>
            <a:off x="4525243" y="2732491"/>
            <a:ext cx="2798042" cy="774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可行解：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解满足不等号约束条件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BCC7F6-DA03-462D-9EBD-202498173BBA}"/>
                  </a:ext>
                </a:extLst>
              </p:cNvPr>
              <p:cNvSpPr txBox="1"/>
              <p:nvPr/>
            </p:nvSpPr>
            <p:spPr>
              <a:xfrm>
                <a:off x="868218" y="3836236"/>
                <a:ext cx="6764224" cy="17636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一共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个不等式，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令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个不等式取等号，共有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C</m:t>
                        </m:r>
                      </m:e>
                      <m:sub>
                        <m:r>
                          <a:rPr lang="en-US" altLang="zh-CN" b="0" i="0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=10</m:t>
                    </m:r>
                  </m:oMath>
                </a14:m>
                <a:r>
                  <a:rPr lang="zh-CN" altLang="en-US" dirty="0"/>
                  <a:t>种选择方法。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，可行解，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dirty="0"/>
                  <a:t>=0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，此</m:t>
                    </m:r>
                  </m:oMath>
                </a14:m>
                <a:r>
                  <a:rPr lang="zh-CN" altLang="en-US" dirty="0"/>
                  <a:t>情况下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/>
                  <a:t>，非可行解；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………………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zh-CN" altLang="en-US" dirty="0"/>
                  <a:t>，可行解，</a:t>
                </a:r>
                <a14:m>
                  <m:oMath xmlns:m="http://schemas.openxmlformats.org/officeDocument/2006/math">
                    <m:r>
                      <a:rPr lang="zh-CN" altLang="en-US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dirty="0"/>
                  <a:t>=428</a:t>
                </a:r>
                <a:r>
                  <a:rPr lang="zh-CN" altLang="en-US" dirty="0"/>
                  <a:t>；最优解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41BCC7F6-DA03-462D-9EBD-202498173B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218" y="3836236"/>
                <a:ext cx="6764224" cy="1763688"/>
              </a:xfrm>
              <a:prstGeom prst="rect">
                <a:avLst/>
              </a:prstGeom>
              <a:blipFill>
                <a:blip r:embed="rId4"/>
                <a:stretch>
                  <a:fillRect l="-721" t="-2414" r="-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F4994CF-1DB6-4ED0-909E-A5A9D34C0A54}"/>
              </a:ext>
            </a:extLst>
          </p:cNvPr>
          <p:cNvCxnSpPr>
            <a:cxnSpLocks/>
          </p:cNvCxnSpPr>
          <p:nvPr/>
        </p:nvCxnSpPr>
        <p:spPr>
          <a:xfrm flipH="1">
            <a:off x="7703127" y="1462088"/>
            <a:ext cx="452583" cy="42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8CC7372E-7B71-49A7-A99F-F408993FD4C7}"/>
              </a:ext>
            </a:extLst>
          </p:cNvPr>
          <p:cNvSpPr txBox="1"/>
          <p:nvPr/>
        </p:nvSpPr>
        <p:spPr>
          <a:xfrm>
            <a:off x="7406068" y="1140598"/>
            <a:ext cx="18678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称之为</a:t>
            </a:r>
            <a:r>
              <a:rPr lang="zh-CN" altLang="en-US" b="1" dirty="0"/>
              <a:t>非基变量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2BB46D9-FA5A-4D05-8AE7-892F9F1A367A}"/>
              </a:ext>
            </a:extLst>
          </p:cNvPr>
          <p:cNvCxnSpPr>
            <a:cxnSpLocks/>
          </p:cNvCxnSpPr>
          <p:nvPr/>
        </p:nvCxnSpPr>
        <p:spPr>
          <a:xfrm flipH="1" flipV="1">
            <a:off x="7632443" y="2529454"/>
            <a:ext cx="451268" cy="4099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C2BACAB7-DF5A-46CF-B9C2-8D515F5F2EA5}"/>
              </a:ext>
            </a:extLst>
          </p:cNvPr>
          <p:cNvSpPr txBox="1"/>
          <p:nvPr/>
        </p:nvSpPr>
        <p:spPr>
          <a:xfrm>
            <a:off x="7406068" y="2895490"/>
            <a:ext cx="1608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剩余三个变量称为</a:t>
            </a:r>
            <a:r>
              <a:rPr lang="zh-CN" altLang="en-US" b="1" dirty="0"/>
              <a:t>基变量</a:t>
            </a:r>
          </a:p>
        </p:txBody>
      </p:sp>
    </p:spTree>
    <p:extLst>
      <p:ext uri="{BB962C8B-B14F-4D97-AF65-F5344CB8AC3E}">
        <p14:creationId xmlns:p14="http://schemas.microsoft.com/office/powerpoint/2010/main" val="26777663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CB2FED2C-2261-420B-8846-20224743BC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2900" y="304800"/>
            <a:ext cx="8229600" cy="1139825"/>
          </a:xfrm>
        </p:spPr>
        <p:txBody>
          <a:bodyPr/>
          <a:lstStyle/>
          <a:p>
            <a:pPr eaLnBrk="1" hangingPunct="1"/>
            <a:r>
              <a:rPr lang="en-US" altLang="zh-CN" dirty="0"/>
              <a:t>LP</a:t>
            </a:r>
            <a:r>
              <a:rPr lang="zh-CN" altLang="en-US" dirty="0"/>
              <a:t>问题解的矩阵表达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F3B2EE1-773B-4B90-AE4D-39F8CBD77D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2900" y="1717675"/>
            <a:ext cx="8229600" cy="498792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3300"/>
                </a:solidFill>
              </a:rPr>
              <a:t>基矩阵</a:t>
            </a:r>
            <a:r>
              <a:rPr lang="en-US" altLang="zh-CN" dirty="0">
                <a:solidFill>
                  <a:srgbClr val="FF3300"/>
                </a:solidFill>
              </a:rPr>
              <a:t>B</a:t>
            </a:r>
            <a:r>
              <a:rPr lang="zh-CN" altLang="en-US" dirty="0"/>
              <a:t>：为系数阵</a:t>
            </a:r>
            <a:r>
              <a:rPr lang="en-US" altLang="zh-CN" dirty="0">
                <a:latin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</a:rPr>
              <a:t>中的</a:t>
            </a:r>
            <a:r>
              <a:rPr lang="en-US" altLang="zh-CN" i="1" dirty="0">
                <a:latin typeface="Times New Roman" panose="02020603050405020304" pitchFamily="18" charset="0"/>
              </a:rPr>
              <a:t>m</a:t>
            </a:r>
            <a:r>
              <a:rPr lang="zh-CN" altLang="en-US" dirty="0">
                <a:latin typeface="Times New Roman" panose="02020603050405020304" pitchFamily="18" charset="0"/>
              </a:rPr>
              <a:t>阶可逆子阵，记为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；其余部分称为非基矩阵，记为</a:t>
            </a:r>
            <a:r>
              <a:rPr lang="en-US" altLang="zh-CN" dirty="0">
                <a:latin typeface="Times New Roman" panose="02020603050405020304" pitchFamily="18" charset="0"/>
              </a:rPr>
              <a:t>N</a:t>
            </a:r>
            <a:r>
              <a:rPr lang="zh-CN" altLang="en-US" dirty="0">
                <a:latin typeface="Times New Roman" panose="02020603050405020304" pitchFamily="18" charset="0"/>
              </a:rPr>
              <a:t>：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altLang="zh-CN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 ( B, N )</a:t>
            </a:r>
            <a:endParaRPr lang="en-US" altLang="zh-CN" dirty="0">
              <a:solidFill>
                <a:srgbClr val="FF3300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基向量</a:t>
            </a:r>
            <a:r>
              <a:rPr lang="zh-CN" altLang="en-US" dirty="0">
                <a:latin typeface="Times New Roman" panose="02020603050405020304" pitchFamily="18" charset="0"/>
              </a:rPr>
              <a:t>：基</a:t>
            </a:r>
            <a:r>
              <a:rPr lang="en-US" altLang="zh-CN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中的每列</a:t>
            </a:r>
            <a:r>
              <a:rPr lang="en-US" altLang="zh-CN" dirty="0" err="1">
                <a:latin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；其余称非基向量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dirty="0">
                <a:solidFill>
                  <a:srgbClr val="FF3300"/>
                </a:solidFill>
                <a:latin typeface="Times New Roman" panose="02020603050405020304" pitchFamily="18" charset="0"/>
              </a:rPr>
              <a:t>基变量</a:t>
            </a:r>
            <a:r>
              <a:rPr lang="zh-CN" altLang="en-US" dirty="0">
                <a:latin typeface="Times New Roman" panose="02020603050405020304" pitchFamily="18" charset="0"/>
              </a:rPr>
              <a:t>：与基向量 </a:t>
            </a:r>
            <a:r>
              <a:rPr lang="en-US" altLang="zh-CN" dirty="0" err="1">
                <a:latin typeface="Times New Roman" panose="02020603050405020304" pitchFamily="18" charset="0"/>
              </a:rPr>
              <a:t>P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j</a:t>
            </a:r>
            <a:r>
              <a:rPr lang="en-US" altLang="zh-CN" baseline="-25000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对应的决策变量 </a:t>
            </a:r>
            <a:r>
              <a:rPr lang="en-US" altLang="zh-CN" dirty="0" err="1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 err="1">
                <a:latin typeface="Times New Roman" panose="02020603050405020304" pitchFamily="18" charset="0"/>
              </a:rPr>
              <a:t>j</a:t>
            </a:r>
            <a:r>
              <a:rPr lang="zh-CN" altLang="en-US" dirty="0">
                <a:latin typeface="Times New Roman" panose="02020603050405020304" pitchFamily="18" charset="0"/>
              </a:rPr>
              <a:t>，记其组成的向量为 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B</a:t>
            </a:r>
            <a:r>
              <a:rPr lang="zh-CN" altLang="en-US" dirty="0">
                <a:latin typeface="Times New Roman" panose="02020603050405020304" pitchFamily="18" charset="0"/>
              </a:rPr>
              <a:t>；与非基向量对应变量称为非基变量，记其组成的向量为 </a:t>
            </a:r>
            <a:r>
              <a:rPr lang="en-US" altLang="zh-CN" dirty="0">
                <a:latin typeface="Times New Roman" panose="02020603050405020304" pitchFamily="18" charset="0"/>
              </a:rPr>
              <a:t>X</a:t>
            </a:r>
            <a:r>
              <a:rPr lang="en-US" altLang="zh-CN" baseline="-25000" dirty="0">
                <a:latin typeface="Times New Roman" panose="02020603050405020304" pitchFamily="18" charset="0"/>
              </a:rPr>
              <a:t>N</a:t>
            </a:r>
            <a:endParaRPr lang="zh-CN" altLang="en-US" baseline="-25000" dirty="0">
              <a:latin typeface="Times New Roman" panose="02020603050405020304" pitchFamily="18" charset="0"/>
            </a:endParaRPr>
          </a:p>
        </p:txBody>
      </p:sp>
      <p:sp>
        <p:nvSpPr>
          <p:cNvPr id="32772" name="矩形 3">
            <a:extLst>
              <a:ext uri="{FF2B5EF4-FFF2-40B4-BE49-F238E27FC236}">
                <a16:creationId xmlns:a16="http://schemas.microsoft.com/office/drawing/2014/main" id="{34BFA651-1EC4-4775-BCB7-01E3569F3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0538" y="5486400"/>
            <a:ext cx="28194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 ( X</a:t>
            </a:r>
            <a:r>
              <a:rPr lang="en-US" altLang="zh-CN" sz="3200" b="1" baseline="-25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X</a:t>
            </a:r>
            <a:r>
              <a:rPr lang="en-US" altLang="zh-CN" sz="3200" b="1" baseline="-25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32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3200" b="1" baseline="3000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3200" b="1">
              <a:solidFill>
                <a:srgbClr val="FF3300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0735E48-A2E1-4432-A42A-91769E88FC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500" y="41275"/>
            <a:ext cx="3048000" cy="16764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   </a:t>
            </a:r>
            <a:r>
              <a:rPr lang="en-US" altLang="zh-CN" sz="3200" b="1" kern="0" dirty="0">
                <a:latin typeface="Times New Roman" pitchFamily="18" charset="0"/>
                <a:ea typeface="+mn-ea"/>
              </a:rPr>
              <a:t>max</a:t>
            </a:r>
            <a:r>
              <a:rPr lang="en-US" altLang="zh-CN" sz="3200" b="1" kern="0" dirty="0">
                <a:latin typeface="+mn-lt"/>
                <a:ea typeface="+mn-ea"/>
              </a:rPr>
              <a:t>   </a:t>
            </a:r>
            <a:r>
              <a:rPr lang="en-US" altLang="zh-CN" sz="3200" kern="0" dirty="0">
                <a:latin typeface="Times New Roman" pitchFamily="18" charset="0"/>
                <a:ea typeface="+mn-ea"/>
              </a:rPr>
              <a:t>z</a:t>
            </a:r>
            <a:r>
              <a:rPr lang="en-US" altLang="zh-CN" sz="3200" b="1" kern="0" dirty="0">
                <a:latin typeface="Times New Roman" pitchFamily="18" charset="0"/>
                <a:ea typeface="+mn-ea"/>
              </a:rPr>
              <a:t>=C</a:t>
            </a:r>
            <a:r>
              <a:rPr lang="en-US" altLang="zh-CN" sz="3200" b="1" i="1" kern="0" baseline="30000" dirty="0">
                <a:latin typeface="Times New Roman" pitchFamily="18" charset="0"/>
                <a:ea typeface="+mn-ea"/>
              </a:rPr>
              <a:t>T</a:t>
            </a:r>
            <a:r>
              <a:rPr lang="en-US" altLang="zh-CN" sz="3200" b="1" kern="0" dirty="0">
                <a:latin typeface="Times New Roman" pitchFamily="18" charset="0"/>
                <a:ea typeface="+mn-ea"/>
              </a:rPr>
              <a:t>X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defRPr/>
            </a:pPr>
            <a:r>
              <a:rPr lang="en-US" altLang="zh-CN" sz="3200" b="1" kern="0" dirty="0">
                <a:latin typeface="Times New Roman" pitchFamily="18" charset="0"/>
                <a:ea typeface="+mn-ea"/>
              </a:rPr>
              <a:t>             AX = b</a:t>
            </a:r>
          </a:p>
          <a:p>
            <a:pPr marL="342900" indent="-342900" eaLnBrk="1" hangingPunct="1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  <a:defRPr/>
            </a:pPr>
            <a:r>
              <a:rPr lang="en-US" altLang="zh-CN" sz="3200" b="1" kern="0" dirty="0">
                <a:latin typeface="Times New Roman" pitchFamily="18" charset="0"/>
                <a:ea typeface="+mn-ea"/>
              </a:rPr>
              <a:t>                X</a:t>
            </a:r>
            <a:r>
              <a:rPr lang="en-US" altLang="zh-CN" sz="3200" b="1" kern="0" dirty="0">
                <a:latin typeface="+mn-lt"/>
                <a:ea typeface="+mn-ea"/>
              </a:rPr>
              <a:t>≥ 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2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 bldLvl="2"/>
      <p:bldP spid="3277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578634B-2894-41EA-AC58-06E21C84E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基解与基可行解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122188-DD8D-46CD-A4AE-E7622291245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31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63DBCF7-8079-4026-8EC7-D6F3FD6A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基解与基可行解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9B2D3D-AD41-4794-B75C-3006E07A4FE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657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5F576D5-0DFE-434C-AE7A-47EBBA887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概念之间的联系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30E1A6-11C8-4731-9706-F741ACB4818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3831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7432DF6-8CFB-4FC4-BEB0-4B7AAEA3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62FEB7-27DA-4EC5-AD58-8A2755B2A37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655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CA00584-7B45-4EFA-89D7-9E93BC8D4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8C4844-5FD6-44FB-94D3-8A7475EC83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219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0EA8EAE-0C17-4876-8336-D331F82D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2261A7-B14B-4C01-BF57-0E37DAC02603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228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F014BE-AFA0-4F5A-8DAA-A399B0243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C9215B-9A5C-4BE3-AE1F-98346E7737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0909" y="1825625"/>
                <a:ext cx="3869459" cy="225684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≤12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C9215B-9A5C-4BE3-AE1F-98346E773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0909" y="1825625"/>
                <a:ext cx="3869459" cy="2256848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E61D89A2-B68D-4665-A619-B9F2E1EAD2C4}"/>
              </a:ext>
            </a:extLst>
          </p:cNvPr>
          <p:cNvGrpSpPr/>
          <p:nvPr/>
        </p:nvGrpSpPr>
        <p:grpSpPr>
          <a:xfrm>
            <a:off x="4053609" y="2121189"/>
            <a:ext cx="4954120" cy="2256848"/>
            <a:chOff x="4053609" y="2121189"/>
            <a:chExt cx="4294983" cy="22568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内容占位符 2">
                  <a:extLst>
                    <a:ext uri="{FF2B5EF4-FFF2-40B4-BE49-F238E27FC236}">
                      <a16:creationId xmlns:a16="http://schemas.microsoft.com/office/drawing/2014/main" id="{C167443A-6FE9-4ABF-A78A-7E06EE53D0D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376882" y="2121189"/>
                  <a:ext cx="3971710" cy="225684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32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14:m>
                    <m:oMath xmlns:m="http://schemas.openxmlformats.org/officeDocument/2006/math">
                      <m:func>
                        <m:funcPr>
                          <m:ctrlP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00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sz="200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+0×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000" b="0" i="1" smtClean="0">
                          <a:latin typeface="Cambria Math" panose="02040503050406030204" pitchFamily="18" charset="0"/>
                        </a:rPr>
                        <m:t>+0×</m:t>
                      </m:r>
                      <m:sSub>
                        <m:sSubPr>
                          <m:ctrlP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en-US" altLang="zh-CN" sz="2400" dirty="0"/>
                </a:p>
                <a:p>
                  <a14:m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. 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brk m:alnAt="7"/>
                                  </m:r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2400" i="1" smtClean="0">
                                    <a:latin typeface="Cambria Math" panose="02040503050406030204" pitchFamily="18" charset="0"/>
                                  </a:rPr>
                                  <m:t>≥0</m:t>
                                </m:r>
                              </m:e>
                            </m:mr>
                          </m:m>
                        </m:e>
                      </m:d>
                    </m:oMath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" name="内容占位符 2">
                  <a:extLst>
                    <a:ext uri="{FF2B5EF4-FFF2-40B4-BE49-F238E27FC236}">
                      <a16:creationId xmlns:a16="http://schemas.microsoft.com/office/drawing/2014/main" id="{C167443A-6FE9-4ABF-A78A-7E06EE53D0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6882" y="2121189"/>
                  <a:ext cx="3971710" cy="2256848"/>
                </a:xfrm>
                <a:prstGeom prst="rect">
                  <a:avLst/>
                </a:prstGeom>
                <a:blipFill>
                  <a:blip r:embed="rId3"/>
                  <a:stretch>
                    <a:fillRect l="-1197" t="-24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箭头: 右 4">
              <a:extLst>
                <a:ext uri="{FF2B5EF4-FFF2-40B4-BE49-F238E27FC236}">
                  <a16:creationId xmlns:a16="http://schemas.microsoft.com/office/drawing/2014/main" id="{B49A8004-E72A-4359-8094-CB6CAB005C3D}"/>
                </a:ext>
              </a:extLst>
            </p:cNvPr>
            <p:cNvSpPr/>
            <p:nvPr/>
          </p:nvSpPr>
          <p:spPr>
            <a:xfrm>
              <a:off x="4053609" y="2817091"/>
              <a:ext cx="323273" cy="30480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4AEF8FF8-03E5-4452-9F98-5CC3DBBB7DA9}"/>
              </a:ext>
            </a:extLst>
          </p:cNvPr>
          <p:cNvGrpSpPr/>
          <p:nvPr/>
        </p:nvGrpSpPr>
        <p:grpSpPr>
          <a:xfrm>
            <a:off x="628650" y="4113357"/>
            <a:ext cx="7970405" cy="2275495"/>
            <a:chOff x="628650" y="4113357"/>
            <a:chExt cx="7970405" cy="227549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9263CDB-96C8-4E56-BD07-74637BF2A859}"/>
                    </a:ext>
                  </a:extLst>
                </p:cNvPr>
                <p:cNvSpPr txBox="1"/>
                <p:nvPr/>
              </p:nvSpPr>
              <p:spPr>
                <a:xfrm>
                  <a:off x="628650" y="4113357"/>
                  <a:ext cx="4279633" cy="227549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1,1,0,0</m:t>
                                </m:r>
                              </m:e>
                            </m:d>
                          </m:e>
                          <m:sup/>
                        </m:sSup>
                      </m:oMath>
                    </m:oMathPara>
                  </a14:m>
                  <a:endParaRPr lang="en-US" altLang="zh-CN" sz="3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3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36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3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3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36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3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en-US" altLang="zh-CN" sz="3600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a:rPr lang="en-US" altLang="zh-CN" sz="3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12,9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oMath>
                    </m:oMathPara>
                  </a14:m>
                  <a:endParaRPr lang="zh-CN" altLang="en-US" sz="3600" dirty="0"/>
                </a:p>
              </p:txBody>
            </p:sp>
          </mc:Choice>
          <mc:Fallback xmlns="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29263CDB-96C8-4E56-BD07-74637BF2A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113357"/>
                  <a:ext cx="4279633" cy="227549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5F5EE843-827D-46B0-9F94-8041D45C46DB}"/>
                    </a:ext>
                  </a:extLst>
                </p:cNvPr>
                <p:cNvSpPr/>
                <p:nvPr/>
              </p:nvSpPr>
              <p:spPr>
                <a:xfrm>
                  <a:off x="5149273" y="4738175"/>
                  <a:ext cx="3449782" cy="10258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altLang="zh-CN" sz="28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sz="2800" b="1">
                                <a:latin typeface="Cambria Math" panose="02040503050406030204" pitchFamily="18" charset="0"/>
                              </a:rPr>
                              <m:t>𝐦𝐚𝐱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𝒎𝒊𝒏</m:t>
                                </m:r>
                              </m:e>
                            </m:d>
                            <m:r>
                              <a:rPr lang="en-US" altLang="zh-CN" sz="2800" b="1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  <m:r>
                                  <a:rPr lang="en-US" altLang="zh-CN" sz="28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acc>
                                  <m:accPr>
                                    <m:chr m:val="⃗"/>
                                    <m:ctrlP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800" b="1" i="1">
                                        <a:latin typeface="Cambria Math" panose="02040503050406030204" pitchFamily="18" charset="0"/>
                                      </a:rPr>
                                      <m:t>𝒄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acc>
                              <m:accPr>
                                <m:chr m:val="⃗"/>
                                <m:ctrlP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8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</m:acc>
                          </m:e>
                        </m:func>
                      </m:oMath>
                    </m:oMathPara>
                  </a14:m>
                  <a:endParaRPr lang="en-US" altLang="zh-CN" sz="2800" b="1" dirty="0"/>
                </a:p>
                <a:p>
                  <a:r>
                    <a:rPr lang="en-US" altLang="zh-CN" sz="2800" b="1" dirty="0" err="1"/>
                    <a:t>s.t.</a:t>
                  </a:r>
                  <a:r>
                    <a:rPr lang="en-US" altLang="zh-CN" sz="28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𝑨</m:t>
                      </m:r>
                      <m:acc>
                        <m:accPr>
                          <m:chr m:val="⃗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acc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</m:acc>
                      <m:r>
                        <a:rPr lang="en-US" altLang="zh-CN" sz="2800" b="1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⃗"/>
                          <m:ctrlPr>
                            <a:rPr lang="en-US" altLang="zh-CN" sz="2800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a14:m>
                  <a:endParaRPr lang="en-US" altLang="zh-CN" sz="2800" b="1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5F5EE843-827D-46B0-9F94-8041D45C46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49273" y="4738175"/>
                  <a:ext cx="3449782" cy="1025858"/>
                </a:xfrm>
                <a:prstGeom prst="rect">
                  <a:avLst/>
                </a:prstGeom>
                <a:blipFill>
                  <a:blip r:embed="rId5"/>
                  <a:stretch>
                    <a:fillRect l="-3710" b="-1538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77594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70DE76-CFAC-45AF-BA28-0798578289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76200"/>
                <a:ext cx="7886700" cy="334356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12,9</m:t>
                            </m:r>
                          </m:e>
                        </m:d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0,0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1,1,0,0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0,0</m:t>
                        </m:r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12,9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C70DE76-CFAC-45AF-BA28-0798578289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76200"/>
                <a:ext cx="7886700" cy="3343564"/>
              </a:xfrm>
              <a:blipFill>
                <a:blip r:embed="rId2"/>
                <a:stretch>
                  <a:fillRect l="-1777" t="-43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E757FD31-51BB-4D67-9DF0-C0E6A2C21A28}"/>
              </a:ext>
            </a:extLst>
          </p:cNvPr>
          <p:cNvGrpSpPr/>
          <p:nvPr/>
        </p:nvGrpSpPr>
        <p:grpSpPr>
          <a:xfrm>
            <a:off x="1108373" y="596100"/>
            <a:ext cx="3463627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3D89C8C-1797-4C5A-B50E-7BF7980F04D5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3D89C8C-1797-4C5A-B50E-7BF7980F04D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FECE653B-F86C-4F4A-84E4-F74CB700FAAF}"/>
                </a:ext>
              </a:extLst>
            </p:cNvPr>
            <p:cNvSpPr/>
            <p:nvPr/>
          </p:nvSpPr>
          <p:spPr>
            <a:xfrm>
              <a:off x="3315854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215ADC6-04B4-4825-BD2B-1053238D8FB3}"/>
                    </a:ext>
                  </a:extLst>
                </p:cNvPr>
                <p:cNvSpPr txBox="1"/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7215ADC6-04B4-4825-BD2B-1053238D8F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A6FF9C5-1A55-4F09-B079-CA124AA55FA2}"/>
                </a:ext>
              </a:extLst>
            </p:cNvPr>
            <p:cNvSpPr/>
            <p:nvPr/>
          </p:nvSpPr>
          <p:spPr>
            <a:xfrm>
              <a:off x="2262838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AA702FA-55F6-4B99-969E-846E1DF55668}"/>
                    </a:ext>
                  </a:extLst>
                </p:cNvPr>
                <p:cNvSpPr txBox="1"/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7AA702FA-55F6-4B99-969E-846E1DF55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D8DAEB2C-3FEB-493C-9B57-8D5565A79E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3388456"/>
                <a:ext cx="7886700" cy="334356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D8DAEB2C-3FEB-493C-9B57-8D5565A79E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388456"/>
                <a:ext cx="7886700" cy="3343564"/>
              </a:xfrm>
              <a:prstGeom prst="rect">
                <a:avLst/>
              </a:prstGeom>
              <a:blipFill>
                <a:blip r:embed="rId6"/>
                <a:stretch>
                  <a:fillRect l="-1777" t="-38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组合 10">
            <a:extLst>
              <a:ext uri="{FF2B5EF4-FFF2-40B4-BE49-F238E27FC236}">
                <a16:creationId xmlns:a16="http://schemas.microsoft.com/office/drawing/2014/main" id="{9600E35D-8510-41A2-B2C0-E99A7CFC312A}"/>
              </a:ext>
            </a:extLst>
          </p:cNvPr>
          <p:cNvGrpSpPr/>
          <p:nvPr/>
        </p:nvGrpSpPr>
        <p:grpSpPr>
          <a:xfrm>
            <a:off x="1108373" y="3908356"/>
            <a:ext cx="3463627" cy="1331864"/>
            <a:chOff x="1108373" y="981719"/>
            <a:chExt cx="3463627" cy="13318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EE8643C1-5F5F-4359-890C-46578915689A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EE8643C1-5F5F-4359-890C-4657891568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9E9FC76-E50D-4C37-A37F-31101B5EE36D}"/>
                </a:ext>
              </a:extLst>
            </p:cNvPr>
            <p:cNvSpPr/>
            <p:nvPr/>
          </p:nvSpPr>
          <p:spPr>
            <a:xfrm>
              <a:off x="3315854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2D4BB6D-1FA5-4AE9-B2F6-945715654159}"/>
                    </a:ext>
                  </a:extLst>
                </p:cNvPr>
                <p:cNvSpPr txBox="1"/>
                <p:nvPr/>
              </p:nvSpPr>
              <p:spPr>
                <a:xfrm>
                  <a:off x="2480101" y="1924488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2D4BB6D-1FA5-4AE9-B2F6-9457156541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80101" y="1924488"/>
                  <a:ext cx="41549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502E0F8A-5927-4C5A-B294-DE1F4637FB28}"/>
                </a:ext>
              </a:extLst>
            </p:cNvPr>
            <p:cNvSpPr/>
            <p:nvPr/>
          </p:nvSpPr>
          <p:spPr>
            <a:xfrm>
              <a:off x="2262838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19246F-E070-4352-89C1-07DC7E4ACD85}"/>
                    </a:ext>
                  </a:extLst>
                </p:cNvPr>
                <p:cNvSpPr txBox="1"/>
                <p:nvPr/>
              </p:nvSpPr>
              <p:spPr>
                <a:xfrm>
                  <a:off x="3528360" y="1944251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9719246F-E070-4352-89C1-07DC7E4ACD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944251"/>
                  <a:ext cx="42351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06C139D-03F0-4F12-B455-55685EB8AB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82002" y="635443"/>
                <a:ext cx="3313071" cy="1265170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4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1600" dirty="0"/>
              </a:p>
              <a:p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16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7" name="内容占位符 2">
                <a:extLst>
                  <a:ext uri="{FF2B5EF4-FFF2-40B4-BE49-F238E27FC236}">
                    <a16:creationId xmlns:a16="http://schemas.microsoft.com/office/drawing/2014/main" id="{506C139D-03F0-4F12-B455-55685EB8A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002" y="635443"/>
                <a:ext cx="3313071" cy="1265170"/>
              </a:xfrm>
              <a:prstGeom prst="rect">
                <a:avLst/>
              </a:prstGeom>
              <a:blipFill>
                <a:blip r:embed="rId10"/>
                <a:stretch>
                  <a:fillRect t="-95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6D21A88-630C-49CF-970E-5B07FFC9BD88}"/>
                  </a:ext>
                </a:extLst>
              </p:cNvPr>
              <p:cNvSpPr/>
              <p:nvPr/>
            </p:nvSpPr>
            <p:spPr>
              <a:xfrm>
                <a:off x="554186" y="5428756"/>
                <a:ext cx="7024250" cy="9692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5,2</m:t>
                              </m:r>
                            </m:e>
                          </m:d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0,0</m:t>
                              </m:r>
                            </m:e>
                          </m:d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𝒛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⃗"/>
                            <m:ctrlPr>
                              <a:rPr lang="en-US" altLang="zh-CN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</m:acc>
                      </m:e>
                      <m:sup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b="1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1,1,0,0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5,2,0,0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6D21A88-630C-49CF-970E-5B07FFC9BD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186" y="5428756"/>
                <a:ext cx="7024250" cy="969240"/>
              </a:xfrm>
              <a:prstGeom prst="rect">
                <a:avLst/>
              </a:prstGeom>
              <a:blipFill>
                <a:blip r:embed="rId11"/>
                <a:stretch>
                  <a:fillRect t="-44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F63E6D4-7D96-4F0F-9838-46D8ACF0A52F}"/>
                  </a:ext>
                </a:extLst>
              </p:cNvPr>
              <p:cNvSpPr txBox="1"/>
              <p:nvPr/>
            </p:nvSpPr>
            <p:spPr>
              <a:xfrm>
                <a:off x="4765964" y="4239491"/>
                <a:ext cx="2105128" cy="6127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2F63E6D4-7D96-4F0F-9838-46D8ACF0A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964" y="4239491"/>
                <a:ext cx="2105128" cy="6127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689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62FA02-982A-49D4-A190-BF4976BF2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LP</a:t>
            </a:r>
            <a:r>
              <a:rPr lang="zh-CN" altLang="en-US"/>
              <a:t>问题解的概念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0D0F0A0-FF50-4616-979A-340AE31F71A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53267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EE28263-3084-4ACF-A7E3-B51BB3A9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几个定理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C46A7D5-A859-446E-BD9A-C3349F3218FF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8054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C4A018B-96BC-4223-803E-B0C7E094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0E31FE-822B-4DA5-919A-9627AB2734C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4789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0E7AD30-0CE1-40E9-AE0C-B82900CA7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r>
              <a:rPr lang="en-US" altLang="zh-CN"/>
              <a:t>1(1)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C68CA47-D1AF-4BA8-A7D3-A08862E88B1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8417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CC8C360-1736-4053-84AD-E78C1A97A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r>
              <a:rPr lang="en-US" altLang="zh-CN"/>
              <a:t>1(2)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9320AF-E656-45E9-8211-5EA58201F06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837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FB80989-7A53-4776-B1FF-B9A23D44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图解法中可能的求解结果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0C408A-BA0B-4836-974E-912C8671380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56559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44838B2B-A2EC-4F83-A395-848EF8964E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凸集的定义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9F4B4B-BC85-4402-8061-9704EDE4015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743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E2DCD0AA-904C-4647-B958-93A7783CC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凸函数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DA2E4B5-796F-4EAF-9446-15CCF08477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70971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B798F14-6DE5-4C1C-BA40-485F6DB87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6D98E58-AA7E-4681-A8AF-23152C7608D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1338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09EEA25-352E-4162-8B58-9F8A99C80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EC49DE4-95A2-4086-9335-A48F3F52CFF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89343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60C7611-C867-4100-9FEB-C7FB87C6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389C17-C000-4886-AFDC-D92BB8B90FD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468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BEA8BCE-FCA6-464E-AA94-06078EFD2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4354281-2055-45AC-8C0D-682645009A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261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61988A5-A0BC-4BCF-BD7B-958709C94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极点</a:t>
            </a:r>
            <a:r>
              <a:rPr lang="en-US" altLang="zh-CN"/>
              <a:t>(</a:t>
            </a:r>
            <a:r>
              <a:rPr lang="zh-CN" altLang="en-US"/>
              <a:t>顶点</a:t>
            </a:r>
            <a:r>
              <a:rPr lang="en-US" altLang="zh-CN"/>
              <a:t>)</a:t>
            </a:r>
            <a:r>
              <a:rPr lang="zh-CN" altLang="en-US"/>
              <a:t>的定义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F38B524-9C6D-4C91-AD9C-36A419EE12D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06377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58139B9-0DF7-4D71-B04B-0D7894C1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思考</a:t>
            </a:r>
            <a:r>
              <a:rPr lang="en-US" altLang="zh-CN"/>
              <a:t>2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AF09983-F431-412A-8A19-DE7D01846A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836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37D5B58-220E-435E-B509-782D873D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第二章之第二节</a:t>
            </a: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8015B8-E3FC-46D0-900A-331F9712A6A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130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FFC4AB0-96A7-4DB5-A741-9C6C9855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600"/>
              <a:t>线性规划的单纯形解法创始人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737A7E3-6C6D-4351-8224-1AE10D9204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81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F687F85-D930-4DF4-B6F0-5AA9CB07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单纯形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7250F5-01D7-4583-9A89-B2774120A5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7034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60C1B94-CBF3-4ADB-B522-A3BAEA9F8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000"/>
              <a:t>单纯形法的理论依据和基本思想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645B7D7-3051-416C-8C8E-B5EAD486A73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BDE11ADA-A39D-4805-8BE3-68018498E632}"/>
              </a:ext>
            </a:extLst>
          </p:cNvPr>
          <p:cNvSpPr/>
          <p:nvPr/>
        </p:nvSpPr>
        <p:spPr>
          <a:xfrm>
            <a:off x="471055" y="4322619"/>
            <a:ext cx="8294254" cy="1782618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C74CB2B-85A1-4B92-9D9F-C6ACA132BA2C}"/>
              </a:ext>
            </a:extLst>
          </p:cNvPr>
          <p:cNvSpPr txBox="1"/>
          <p:nvPr/>
        </p:nvSpPr>
        <p:spPr>
          <a:xfrm>
            <a:off x="471055" y="6188364"/>
            <a:ext cx="5955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highlight>
                  <a:srgbClr val="FFFF00"/>
                </a:highlight>
              </a:rPr>
              <a:t>如何确定转移的方向？如何确保转移后的解为基可行解？</a:t>
            </a:r>
          </a:p>
        </p:txBody>
      </p:sp>
    </p:spTree>
    <p:extLst>
      <p:ext uri="{BB962C8B-B14F-4D97-AF65-F5344CB8AC3E}">
        <p14:creationId xmlns:p14="http://schemas.microsoft.com/office/powerpoint/2010/main" val="26064053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F4FF6-5E21-49DD-90A9-91945CDE8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67B332C7-C3A1-4A06-A9F8-AEA42B62CE9A}"/>
              </a:ext>
            </a:extLst>
          </p:cNvPr>
          <p:cNvCxnSpPr>
            <a:cxnSpLocks/>
          </p:cNvCxnSpPr>
          <p:nvPr/>
        </p:nvCxnSpPr>
        <p:spPr>
          <a:xfrm flipV="1">
            <a:off x="1828800" y="1524000"/>
            <a:ext cx="0" cy="46366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2B666F4-ED54-432F-ABC5-9984F2C27127}"/>
              </a:ext>
            </a:extLst>
          </p:cNvPr>
          <p:cNvCxnSpPr/>
          <p:nvPr/>
        </p:nvCxnSpPr>
        <p:spPr>
          <a:xfrm>
            <a:off x="628650" y="5486400"/>
            <a:ext cx="7083714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5640171-9E65-432A-A200-98E309997DF6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1431636" y="2050473"/>
            <a:ext cx="5589456" cy="3842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4E6E4E10-03FE-4FEA-9F28-0CD10340D90F}"/>
              </a:ext>
            </a:extLst>
          </p:cNvPr>
          <p:cNvCxnSpPr>
            <a:cxnSpLocks/>
          </p:cNvCxnSpPr>
          <p:nvPr/>
        </p:nvCxnSpPr>
        <p:spPr>
          <a:xfrm>
            <a:off x="378691" y="2692617"/>
            <a:ext cx="6012873" cy="11497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914A2BC-3EE3-401F-9661-F368FF2E8D8F}"/>
              </a:ext>
            </a:extLst>
          </p:cNvPr>
          <p:cNvCxnSpPr>
            <a:cxnSpLocks/>
          </p:cNvCxnSpPr>
          <p:nvPr/>
        </p:nvCxnSpPr>
        <p:spPr>
          <a:xfrm>
            <a:off x="4045527" y="2050473"/>
            <a:ext cx="1306946" cy="42579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067A73D-3032-4A75-96FC-F56F436D6B38}"/>
              </a:ext>
            </a:extLst>
          </p:cNvPr>
          <p:cNvCxnSpPr>
            <a:cxnSpLocks/>
          </p:cNvCxnSpPr>
          <p:nvPr/>
        </p:nvCxnSpPr>
        <p:spPr>
          <a:xfrm flipH="1">
            <a:off x="3676073" y="2854036"/>
            <a:ext cx="2715492" cy="3814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FDA36A7-EEAF-4DF1-90AB-4BE6F1112EE3}"/>
              </a:ext>
            </a:extLst>
          </p:cNvPr>
          <p:cNvCxnSpPr>
            <a:cxnSpLocks/>
          </p:cNvCxnSpPr>
          <p:nvPr/>
        </p:nvCxnSpPr>
        <p:spPr>
          <a:xfrm flipH="1" flipV="1">
            <a:off x="1076037" y="4484471"/>
            <a:ext cx="4031672" cy="15605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1594E98A-4221-4EFA-907D-7412A327C837}"/>
              </a:ext>
            </a:extLst>
          </p:cNvPr>
          <p:cNvCxnSpPr>
            <a:cxnSpLocks/>
          </p:cNvCxnSpPr>
          <p:nvPr/>
        </p:nvCxnSpPr>
        <p:spPr>
          <a:xfrm flipH="1" flipV="1">
            <a:off x="1384589" y="3583709"/>
            <a:ext cx="1829666" cy="27247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102443B-CFE2-4EA6-A7D0-334C67E807D3}"/>
              </a:ext>
            </a:extLst>
          </p:cNvPr>
          <p:cNvCxnSpPr>
            <a:cxnSpLocks/>
          </p:cNvCxnSpPr>
          <p:nvPr/>
        </p:nvCxnSpPr>
        <p:spPr>
          <a:xfrm flipV="1">
            <a:off x="1139825" y="1902692"/>
            <a:ext cx="1866610" cy="33620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D8B3FBB3-59CB-489F-B0F4-ABAC7F07ABEF}"/>
              </a:ext>
            </a:extLst>
          </p:cNvPr>
          <p:cNvSpPr txBox="1"/>
          <p:nvPr/>
        </p:nvSpPr>
        <p:spPr>
          <a:xfrm>
            <a:off x="2892444" y="160719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0E74F12-B38F-4EEB-A42E-A3F6E0BE1DD5}"/>
              </a:ext>
            </a:extLst>
          </p:cNvPr>
          <p:cNvSpPr txBox="1"/>
          <p:nvPr/>
        </p:nvSpPr>
        <p:spPr>
          <a:xfrm>
            <a:off x="1146954" y="3330483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C501EF4-EF50-407B-80BF-1AFBE1CD06D2}"/>
              </a:ext>
            </a:extLst>
          </p:cNvPr>
          <p:cNvSpPr txBox="1"/>
          <p:nvPr/>
        </p:nvSpPr>
        <p:spPr>
          <a:xfrm>
            <a:off x="825990" y="4295031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2F5324F-96E1-4A06-86C2-C80643A109DC}"/>
              </a:ext>
            </a:extLst>
          </p:cNvPr>
          <p:cNvSpPr/>
          <p:nvPr/>
        </p:nvSpPr>
        <p:spPr>
          <a:xfrm>
            <a:off x="1745673" y="3103418"/>
            <a:ext cx="3186545" cy="2641600"/>
          </a:xfrm>
          <a:custGeom>
            <a:avLst/>
            <a:gdLst>
              <a:gd name="connsiteX0" fmla="*/ 600363 w 3186545"/>
              <a:gd name="connsiteY0" fmla="*/ 0 h 2641600"/>
              <a:gd name="connsiteX1" fmla="*/ 0 w 3186545"/>
              <a:gd name="connsiteY1" fmla="*/ 1062182 h 2641600"/>
              <a:gd name="connsiteX2" fmla="*/ 581891 w 3186545"/>
              <a:gd name="connsiteY2" fmla="*/ 1865746 h 2641600"/>
              <a:gd name="connsiteX3" fmla="*/ 2604654 w 3186545"/>
              <a:gd name="connsiteY3" fmla="*/ 2641600 h 2641600"/>
              <a:gd name="connsiteX4" fmla="*/ 3186545 w 3186545"/>
              <a:gd name="connsiteY4" fmla="*/ 1782618 h 2641600"/>
              <a:gd name="connsiteX5" fmla="*/ 3001818 w 3186545"/>
              <a:gd name="connsiteY5" fmla="*/ 1209964 h 2641600"/>
              <a:gd name="connsiteX6" fmla="*/ 1413163 w 3186545"/>
              <a:gd name="connsiteY6" fmla="*/ 110837 h 2641600"/>
              <a:gd name="connsiteX7" fmla="*/ 600363 w 3186545"/>
              <a:gd name="connsiteY7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86545" h="2641600">
                <a:moveTo>
                  <a:pt x="600363" y="0"/>
                </a:moveTo>
                <a:lnTo>
                  <a:pt x="0" y="1062182"/>
                </a:lnTo>
                <a:lnTo>
                  <a:pt x="581891" y="1865746"/>
                </a:lnTo>
                <a:lnTo>
                  <a:pt x="2604654" y="2641600"/>
                </a:lnTo>
                <a:lnTo>
                  <a:pt x="3186545" y="1782618"/>
                </a:lnTo>
                <a:lnTo>
                  <a:pt x="3001818" y="1209964"/>
                </a:lnTo>
                <a:lnTo>
                  <a:pt x="1413163" y="110837"/>
                </a:lnTo>
                <a:lnTo>
                  <a:pt x="600363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8417D77-74E0-4A61-B955-29FD33189589}"/>
              </a:ext>
            </a:extLst>
          </p:cNvPr>
          <p:cNvSpPr txBox="1"/>
          <p:nvPr/>
        </p:nvSpPr>
        <p:spPr>
          <a:xfrm>
            <a:off x="3739897" y="6428197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D5F1124-1356-4589-8A01-77F33C16C69B}"/>
              </a:ext>
            </a:extLst>
          </p:cNvPr>
          <p:cNvSpPr txBox="1"/>
          <p:nvPr/>
        </p:nvSpPr>
        <p:spPr>
          <a:xfrm>
            <a:off x="5239959" y="621839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5858104-0E62-4464-8471-693F6492A53F}"/>
              </a:ext>
            </a:extLst>
          </p:cNvPr>
          <p:cNvSpPr txBox="1"/>
          <p:nvPr/>
        </p:nvSpPr>
        <p:spPr>
          <a:xfrm>
            <a:off x="7021092" y="570807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185F15CE-C074-4F4C-94DC-AE08CC5981C0}"/>
              </a:ext>
            </a:extLst>
          </p:cNvPr>
          <p:cNvSpPr txBox="1"/>
          <p:nvPr/>
        </p:nvSpPr>
        <p:spPr>
          <a:xfrm>
            <a:off x="6365999" y="3662184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7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4175C04-ACCE-4A5B-8B80-9531AEC40CE7}"/>
                  </a:ext>
                </a:extLst>
              </p:cNvPr>
              <p:cNvSpPr txBox="1"/>
              <p:nvPr/>
            </p:nvSpPr>
            <p:spPr>
              <a:xfrm>
                <a:off x="7736320" y="5301734"/>
                <a:ext cx="4703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A4175C04-ACCE-4A5B-8B80-9531AEC40C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6320" y="5301734"/>
                <a:ext cx="4703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D42C638-0D8C-4703-ABFA-873638DF901A}"/>
                  </a:ext>
                </a:extLst>
              </p:cNvPr>
              <p:cNvSpPr txBox="1"/>
              <p:nvPr/>
            </p:nvSpPr>
            <p:spPr>
              <a:xfrm>
                <a:off x="1602745" y="1231594"/>
                <a:ext cx="4757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7D42C638-0D8C-4703-ABFA-873638DF9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2745" y="1231594"/>
                <a:ext cx="47570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EF44D2D-217E-458B-9DD7-6A79531515D2}"/>
                  </a:ext>
                </a:extLst>
              </p:cNvPr>
              <p:cNvSpPr txBox="1"/>
              <p:nvPr/>
            </p:nvSpPr>
            <p:spPr>
              <a:xfrm>
                <a:off x="4389079" y="944557"/>
                <a:ext cx="4801314" cy="9260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US" altLang="zh-CN" dirty="0"/>
              </a:p>
              <a:p>
                <a:r>
                  <a:rPr lang="zh-CN" altLang="en-US" dirty="0"/>
                  <a:t>可行域一共只有</a:t>
                </a:r>
                <a:r>
                  <a:rPr lang="en-US" altLang="zh-CN" dirty="0"/>
                  <a:t>7</a:t>
                </a:r>
                <a:r>
                  <a:rPr lang="zh-CN" altLang="en-US" dirty="0"/>
                  <a:t>个顶点</a:t>
                </a:r>
                <a:endParaRPr lang="en-US" altLang="zh-CN" dirty="0"/>
              </a:p>
              <a:p>
                <a:r>
                  <a:rPr lang="zh-CN" altLang="en-US" dirty="0"/>
                  <a:t>（将基解限制在可行解可大大减少计算量！）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FEF44D2D-217E-458B-9DD7-6A7953151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9079" y="944557"/>
                <a:ext cx="4801314" cy="926023"/>
              </a:xfrm>
              <a:prstGeom prst="rect">
                <a:avLst/>
              </a:prstGeom>
              <a:blipFill>
                <a:blip r:embed="rId4"/>
                <a:stretch>
                  <a:fillRect l="-1142" r="-381"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椭圆 44">
            <a:extLst>
              <a:ext uri="{FF2B5EF4-FFF2-40B4-BE49-F238E27FC236}">
                <a16:creationId xmlns:a16="http://schemas.microsoft.com/office/drawing/2014/main" id="{4E45A080-3D68-4F6F-8EAA-414A49766F99}"/>
              </a:ext>
            </a:extLst>
          </p:cNvPr>
          <p:cNvSpPr/>
          <p:nvPr/>
        </p:nvSpPr>
        <p:spPr>
          <a:xfrm>
            <a:off x="1602745" y="4031516"/>
            <a:ext cx="226054" cy="2312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CDE29C06-26BA-45A8-BF5C-7B0E87E50185}"/>
              </a:ext>
            </a:extLst>
          </p:cNvPr>
          <p:cNvSpPr/>
          <p:nvPr/>
        </p:nvSpPr>
        <p:spPr>
          <a:xfrm>
            <a:off x="2235319" y="2996641"/>
            <a:ext cx="226054" cy="2312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355EF49D-A372-4502-A1D4-3CF3C7DE0C9C}"/>
              </a:ext>
            </a:extLst>
          </p:cNvPr>
          <p:cNvSpPr/>
          <p:nvPr/>
        </p:nvSpPr>
        <p:spPr>
          <a:xfrm>
            <a:off x="3029764" y="3125950"/>
            <a:ext cx="226054" cy="231282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98243CAB-F4B6-4F0A-8D1F-15EE0E4ABFCB}"/>
              </a:ext>
            </a:extLst>
          </p:cNvPr>
          <p:cNvSpPr/>
          <p:nvPr/>
        </p:nvSpPr>
        <p:spPr>
          <a:xfrm rot="18020388">
            <a:off x="1597506" y="3520953"/>
            <a:ext cx="715700" cy="1191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03167878-AD13-4EDF-80E3-AD7B9EAD777F}"/>
              </a:ext>
            </a:extLst>
          </p:cNvPr>
          <p:cNvSpPr/>
          <p:nvPr/>
        </p:nvSpPr>
        <p:spPr>
          <a:xfrm rot="899337">
            <a:off x="2490837" y="2947246"/>
            <a:ext cx="605874" cy="18513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AF6FA0D-8F7B-43B9-B464-C9F46F812069}"/>
              </a:ext>
            </a:extLst>
          </p:cNvPr>
          <p:cNvSpPr/>
          <p:nvPr/>
        </p:nvSpPr>
        <p:spPr>
          <a:xfrm>
            <a:off x="2425056" y="2699612"/>
            <a:ext cx="175608" cy="15630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25621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07F62385-C5A1-444A-BCD9-32044F228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单纯形法的操作流程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E79D94-E8AE-4705-BCC1-DB9F4AA51B4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0977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B16BAFD2-CAC3-44C3-8B2A-5B9FF4BA2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单纯形法的三个关键问题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BC1139-D58C-49D4-8F5D-59B8285C4A3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33691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449A77D-DC44-45B1-A6DE-C9D88011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初始基可行解的确定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486B4ED-680C-40D1-82BA-D6B7846824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25151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8693E3C-5145-4E4A-AC55-AD887E2FF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初始基可行解的确定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160F3F-AB47-40D4-B2E9-DF9D258FC1A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3486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94C1B133-55B1-4001-B6B6-A055FF304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初始基可行解的确定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57FF29-3C09-4E17-AF36-604472D3E06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9260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DA543A9-44EB-442F-887A-0992A87C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初始基可行解的确定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16219CE-8F3B-4C35-8343-9CF83EC219A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3202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959381-0EEF-46A5-8771-04691DA2B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基解的变换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84F07E-07CF-4DCE-B9A6-3B284B7AD8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9"/>
                <a:ext cx="7886700" cy="498720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000" dirty="0"/>
                  <a:t>核心是分析某个非基变量产生变化后，对基变量的影响，从而影响目标函数！</a:t>
                </a:r>
                <a:endParaRPr lang="en-US" altLang="zh-CN" sz="2000" dirty="0"/>
              </a:p>
              <a:p>
                <a:r>
                  <a:rPr lang="zh-CN" altLang="en-US" sz="2000" dirty="0"/>
                  <a:t>数学表达：</a:t>
                </a:r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𝐵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𝑁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altLang="zh-CN" sz="2000" dirty="0"/>
              </a:p>
              <a:p>
                <a:r>
                  <a:rPr lang="zh-CN" altLang="en-US" sz="2000" dirty="0"/>
                  <a:t>注意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sz="2000" dirty="0"/>
                  <a:t>全部为零</a:t>
                </a:r>
                <a:endParaRPr lang="en-US" altLang="zh-CN" sz="2000" dirty="0"/>
              </a:p>
              <a:p>
                <a:r>
                  <a:rPr lang="zh-CN" altLang="en-US" sz="2000" dirty="0"/>
                  <a:t>下面分析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zh-CN" altLang="en-US" sz="2000" dirty="0"/>
                  <a:t>种某个元素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由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零</m:t>
                    </m:r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变成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正</m:t>
                    </m:r>
                  </m:oMath>
                </a14:m>
                <a:r>
                  <a:rPr lang="zh-CN" altLang="en-US" sz="2000" dirty="0"/>
                  <a:t>数之后对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sz="2000" dirty="0"/>
                  <a:t>的影响</a:t>
                </a:r>
                <a:endParaRPr lang="en-US" altLang="zh-CN" sz="2000" dirty="0"/>
              </a:p>
              <a:p>
                <a:r>
                  <a:rPr lang="zh-CN" altLang="en-US" sz="2000" dirty="0"/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000" i="1" smtClean="0">
                        <a:latin typeface="Cambria Math" panose="02040503050406030204" pitchFamily="18" charset="0"/>
                      </a:rPr>
                      <m:t>对应</m:t>
                    </m:r>
                  </m:oMath>
                </a14:m>
                <a:r>
                  <a:rPr lang="zh-CN" altLang="en-US" sz="2000" dirty="0"/>
                  <a:t>的列向量是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0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000" dirty="0"/>
                  <a:t>则</a:t>
                </a:r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0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   ⇒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/>
                  <a:t>反映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/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sz="2000" dirty="0"/>
                  <a:t>的影响</a:t>
                </a:r>
                <a:endParaRPr lang="en-US" altLang="zh-CN" sz="2000" dirty="0"/>
              </a:p>
              <a:p>
                <a:endParaRPr lang="en-US" altLang="zh-CN" sz="2000" dirty="0"/>
              </a:p>
              <a:p>
                <a:r>
                  <a:rPr lang="zh-CN" altLang="en-US" sz="2000" dirty="0"/>
                  <a:t>（自由度的概念，</a:t>
                </a:r>
                <a:r>
                  <a:rPr lang="en-US" altLang="zh-CN" sz="2000" dirty="0"/>
                  <a:t>n</a:t>
                </a:r>
                <a:r>
                  <a:rPr lang="zh-CN" altLang="en-US" sz="2000" dirty="0"/>
                  <a:t>个变量，</a:t>
                </a:r>
                <a:r>
                  <a:rPr lang="en-US" altLang="zh-CN" sz="2000" dirty="0"/>
                  <a:t>m</a:t>
                </a:r>
                <a:r>
                  <a:rPr lang="zh-CN" altLang="en-US" sz="2000" dirty="0"/>
                  <a:t>个等式约束，</a:t>
                </a:r>
                <a:r>
                  <a:rPr lang="en-US" altLang="zh-CN" sz="2000" dirty="0"/>
                  <a:t>n-m</a:t>
                </a:r>
                <a:r>
                  <a:rPr lang="zh-CN" altLang="en-US" sz="2000" dirty="0"/>
                  <a:t>个自由度（非基变量））</a:t>
                </a: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784F07E-07CF-4DCE-B9A6-3B284B7AD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9"/>
                <a:ext cx="7886700" cy="4987202"/>
              </a:xfrm>
              <a:blipFill>
                <a:blip r:embed="rId2"/>
                <a:stretch>
                  <a:fillRect l="-696" t="-1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18013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F02D48F-6F76-4981-8E81-6B9ADDC3D9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由零变成正</m:t>
                    </m:r>
                  </m:oMath>
                </a14:m>
                <a:r>
                  <a:rPr lang="zh-CN" altLang="en-US" dirty="0"/>
                  <a:t>数对目标函数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的影响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F02D48F-6F76-4981-8E81-6B9ADDC3D9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EA5940-1EC5-405C-96EA-3434CA5E18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298084"/>
              </a:xfrm>
            </p:spPr>
            <p:txBody>
              <a:bodyPr>
                <a:normAutofit fontScale="850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反映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由零变成正</m:t>
                    </m:r>
                  </m:oMath>
                </a14:m>
                <a:r>
                  <a:rPr lang="zh-CN" altLang="en-US" dirty="0"/>
                  <a:t>数对目标函数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的影响</a:t>
                </a:r>
                <a:r>
                  <a:rPr lang="en-US" altLang="zh-CN" dirty="0"/>
                  <a:t>(</a:t>
                </a:r>
                <a:r>
                  <a:rPr lang="zh-CN" altLang="en-US" dirty="0">
                    <a:highlight>
                      <a:srgbClr val="FFFF00"/>
                    </a:highlight>
                  </a:rPr>
                  <a:t>检验数</a:t>
                </a:r>
                <a:r>
                  <a:rPr lang="zh-CN" altLang="en-US" dirty="0"/>
                  <a:t> 或 </a:t>
                </a:r>
                <a:r>
                  <a:rPr lang="zh-CN" altLang="en-US" dirty="0">
                    <a:highlight>
                      <a:srgbClr val="FFFF00"/>
                    </a:highlight>
                  </a:rPr>
                  <a:t>约化价值系数</a:t>
                </a:r>
                <a:r>
                  <a:rPr lang="en-US" altLang="zh-CN" dirty="0"/>
                  <a:t>)</a:t>
                </a:r>
              </a:p>
              <a:p>
                <a:r>
                  <a:rPr lang="zh-CN" altLang="en-US" dirty="0"/>
                  <a:t>思考：如果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由零变成正</m:t>
                    </m:r>
                  </m:oMath>
                </a14:m>
                <a:r>
                  <a:rPr lang="zh-CN" altLang="en-US" dirty="0"/>
                  <a:t>数后，</a:t>
                </a:r>
                <a:r>
                  <a:rPr lang="zh-CN" altLang="en-US" dirty="0">
                    <a:highlight>
                      <a:srgbClr val="FFFF00"/>
                    </a:highlight>
                  </a:rPr>
                  <a:t>目标函数</a:t>
                </a:r>
                <a14:m>
                  <m:oMath xmlns:m="http://schemas.openxmlformats.org/officeDocument/2006/math">
                    <m:r>
                      <a:rPr lang="en-US" altLang="zh-CN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>
                    <a:highlight>
                      <a:srgbClr val="FFFF00"/>
                    </a:highlight>
                  </a:rPr>
                  <a:t>是增大还是减小</a:t>
                </a:r>
                <a:r>
                  <a:rPr lang="zh-CN" altLang="en-US" dirty="0"/>
                  <a:t>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1EA5940-1EC5-405C-96EA-3434CA5E18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298084"/>
              </a:xfrm>
              <a:blipFill>
                <a:blip r:embed="rId3"/>
                <a:stretch>
                  <a:fillRect l="-13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0074123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65BD28-5FBB-4357-ABF0-C7A43886C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206"/>
            <a:ext cx="7886700" cy="1325563"/>
          </a:xfrm>
        </p:spPr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4AF9EE8-2668-40CD-8FED-BD7E5E2EB8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44AF9EE8-2668-40CD-8FED-BD7E5E2EB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  <a:blipFill>
                <a:blip r:embed="rId2"/>
                <a:stretch>
                  <a:fillRect l="-1197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6573B38-6D45-464D-BEB8-5ECF4F7B2D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zh-CN" altLang="en-US" sz="2400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为非基变量，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/>
                  <a:t>为基变量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分析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/>
                  <a:t>对目标函数的影响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sz="2000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i="1" dirty="0"/>
                  <a:t>,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b="0" i="0" dirty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b="0" i="1" dirty="0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0 0</m:t>
                            </m:r>
                          </m:e>
                        </m:d>
                      </m:e>
                      <m:sup/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+1=1</m:t>
                    </m:r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×1=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zh-CN" sz="2000" i="1" dirty="0"/>
              </a:p>
            </p:txBody>
          </p:sp>
        </mc:Choice>
        <mc:Fallback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46573B38-6D45-464D-BEB8-5ECF4F7B2D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  <a:blipFill>
                <a:blip r:embed="rId3"/>
                <a:stretch>
                  <a:fillRect l="-941" t="-3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C2752528-B665-4CCB-8211-6D19D72A6686}"/>
              </a:ext>
            </a:extLst>
          </p:cNvPr>
          <p:cNvGrpSpPr/>
          <p:nvPr/>
        </p:nvGrpSpPr>
        <p:grpSpPr>
          <a:xfrm>
            <a:off x="766627" y="3429000"/>
            <a:ext cx="3285401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3B15657-581D-4A97-9A3E-861F81CD0A43}"/>
                </a:ext>
              </a:extLst>
            </p:cNvPr>
            <p:cNvSpPr/>
            <p:nvPr/>
          </p:nvSpPr>
          <p:spPr>
            <a:xfrm>
              <a:off x="3329651" y="981719"/>
              <a:ext cx="941958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59C7A54-0E37-4C31-A16F-CA2CBEBC12E9}"/>
                    </a:ext>
                  </a:extLst>
                </p:cNvPr>
                <p:cNvSpPr txBox="1"/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59C7A54-0E37-4C31-A16F-CA2CBEBC1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83657F0E-99D2-43DA-B2D3-0C29DB286C86}"/>
                </a:ext>
              </a:extLst>
            </p:cNvPr>
            <p:cNvSpPr/>
            <p:nvPr/>
          </p:nvSpPr>
          <p:spPr>
            <a:xfrm>
              <a:off x="2236267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5C32D3B-FFF2-40D3-A89C-289604229AB8}"/>
                    </a:ext>
                  </a:extLst>
                </p:cNvPr>
                <p:cNvSpPr txBox="1"/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5C32D3B-FFF2-40D3-A89C-289604229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C9FD2FB-E6AB-44A2-8996-61CC031810FE}"/>
                  </a:ext>
                </a:extLst>
              </p:cNvPr>
              <p:cNvSpPr/>
              <p:nvPr/>
            </p:nvSpPr>
            <p:spPr>
              <a:xfrm>
                <a:off x="5370105" y="105945"/>
                <a:ext cx="2295500" cy="42332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3C9FD2FB-E6AB-44A2-8996-61CC031810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0105" y="105945"/>
                <a:ext cx="2295500" cy="423321"/>
              </a:xfrm>
              <a:prstGeom prst="rect">
                <a:avLst/>
              </a:prstGeom>
              <a:blipFill>
                <a:blip r:embed="rId7"/>
                <a:stretch>
                  <a:fillRect t="-20000" r="-7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9B5179C-5CB6-423D-8507-DB02C29D8081}"/>
                  </a:ext>
                </a:extLst>
              </p:cNvPr>
              <p:cNvSpPr/>
              <p:nvPr/>
            </p:nvSpPr>
            <p:spPr>
              <a:xfrm>
                <a:off x="4858903" y="615049"/>
                <a:ext cx="4007379" cy="432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9B5179C-5CB6-423D-8507-DB02C29D80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903" y="615049"/>
                <a:ext cx="4007379" cy="432554"/>
              </a:xfrm>
              <a:prstGeom prst="rect">
                <a:avLst/>
              </a:prstGeom>
              <a:blipFill>
                <a:blip r:embed="rId8"/>
                <a:stretch>
                  <a:fillRect t="-18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B7D3AE0-4837-462F-BF34-2D346128550F}"/>
                  </a:ext>
                </a:extLst>
              </p:cNvPr>
              <p:cNvSpPr txBox="1"/>
              <p:nvPr/>
            </p:nvSpPr>
            <p:spPr>
              <a:xfrm>
                <a:off x="5836678" y="5043542"/>
                <a:ext cx="2947025" cy="6463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增大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可</m:t>
                    </m:r>
                  </m:oMath>
                </a14:m>
                <a:r>
                  <a:rPr lang="zh-CN" altLang="en-US" dirty="0"/>
                  <a:t>导致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dirty="0"/>
                  <a:t>增大！</a:t>
                </a:r>
                <a:endParaRPr lang="en-US" altLang="zh-CN" dirty="0"/>
              </a:p>
              <a:p>
                <a:r>
                  <a:rPr lang="zh-CN" altLang="en-US" dirty="0"/>
                  <a:t>问题：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/>
                  <a:t>的值是否有限制？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B7D3AE0-4837-462F-BF34-2D3461285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678" y="5043542"/>
                <a:ext cx="2947025" cy="646331"/>
              </a:xfrm>
              <a:prstGeom prst="rect">
                <a:avLst/>
              </a:prstGeom>
              <a:blipFill>
                <a:blip r:embed="rId9"/>
                <a:stretch>
                  <a:fillRect l="-1653" t="-4717" r="-124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7749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B08A31-8E4B-424F-B29B-D6BB7DAE8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57AB8DC-FF08-436C-8009-6B8648E7C7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903" y="2006600"/>
                <a:ext cx="8422987" cy="401578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2400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为非基变量，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400" dirty="0"/>
                  <a:t>为基变量</a:t>
                </a:r>
                <a:r>
                  <a:rPr lang="en-US" altLang="zh-CN" sz="2400" dirty="0"/>
                  <a:t>,</a:t>
                </a:r>
                <a:r>
                  <a:rPr lang="zh-CN" altLang="en-US" sz="2400" dirty="0"/>
                  <a:t>分析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sz="2400" dirty="0"/>
                  <a:t>对目标函数的影响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2">
                <a:extLst>
                  <a:ext uri="{FF2B5EF4-FFF2-40B4-BE49-F238E27FC236}">
                    <a16:creationId xmlns:a16="http://schemas.microsoft.com/office/drawing/2014/main" id="{B57AB8DC-FF08-436C-8009-6B8648E7C7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903" y="2006600"/>
                <a:ext cx="8422987" cy="4015782"/>
              </a:xfrm>
              <a:blipFill>
                <a:blip r:embed="rId2"/>
                <a:stretch>
                  <a:fillRect l="-941" t="-25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65CC407E-33A6-402D-BDB4-5200D3CFDFB7}"/>
              </a:ext>
            </a:extLst>
          </p:cNvPr>
          <p:cNvGrpSpPr/>
          <p:nvPr/>
        </p:nvGrpSpPr>
        <p:grpSpPr>
          <a:xfrm>
            <a:off x="766627" y="2699327"/>
            <a:ext cx="3285401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6506AA1-920D-484D-B985-678F023AD778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10A2CF8-C642-49A1-A493-201521829911}"/>
                </a:ext>
              </a:extLst>
            </p:cNvPr>
            <p:cNvSpPr/>
            <p:nvPr/>
          </p:nvSpPr>
          <p:spPr>
            <a:xfrm>
              <a:off x="3329651" y="981719"/>
              <a:ext cx="941958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>
                  <a:extLst>
                    <a:ext uri="{FF2B5EF4-FFF2-40B4-BE49-F238E27FC236}">
                      <a16:creationId xmlns:a16="http://schemas.microsoft.com/office/drawing/2014/main" id="{3AC6880C-41AB-4B17-A9A9-3B623A51370E}"/>
                    </a:ext>
                  </a:extLst>
                </p:cNvPr>
                <p:cNvSpPr txBox="1"/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59C7A54-0E37-4C31-A16F-CA2CBEBC1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BE00E93-9B13-4EBF-8C37-8ED6FBAE9E90}"/>
                </a:ext>
              </a:extLst>
            </p:cNvPr>
            <p:cNvSpPr/>
            <p:nvPr/>
          </p:nvSpPr>
          <p:spPr>
            <a:xfrm>
              <a:off x="2236267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75E6DEF-862E-467F-AFFF-03A390B00B78}"/>
                    </a:ext>
                  </a:extLst>
                </p:cNvPr>
                <p:cNvSpPr txBox="1"/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5C32D3B-FFF2-40D3-A89C-289604229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A8D42B3-A1E4-4EF5-B999-81DE2E662D11}"/>
                  </a:ext>
                </a:extLst>
              </p:cNvPr>
              <p:cNvSpPr/>
              <p:nvPr/>
            </p:nvSpPr>
            <p:spPr>
              <a:xfrm>
                <a:off x="286903" y="4100465"/>
                <a:ext cx="7379846" cy="20437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:r>
                  <a:rPr lang="zh-CN" altLang="en-US" sz="2000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i="1" dirty="0"/>
                  <a:t>,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i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00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000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2000" i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0 0</m:t>
                              </m:r>
                            </m:e>
                          </m:d>
                        </m:e>
                        <m:sup/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+1=1</m:t>
                      </m:r>
                    </m:oMath>
                  </m:oMathPara>
                </a14:m>
                <a:endParaRPr lang="en-US" altLang="zh-CN" sz="2000" i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00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000" i="1">
                          <a:latin typeface="Cambria Math" panose="02040503050406030204" pitchFamily="18" charset="0"/>
                        </a:rPr>
                        <m:t>×1=</m:t>
                      </m:r>
                      <m:sSub>
                        <m:sSubPr>
                          <m:ctrlPr>
                            <a:rPr lang="en-US" altLang="zh-C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4A8D42B3-A1E4-4EF5-B999-81DE2E662D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03" y="4100465"/>
                <a:ext cx="7379846" cy="20437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18A1F4E-A03B-429C-9066-7A0EB16CF869}"/>
                  </a:ext>
                </a:extLst>
              </p:cNvPr>
              <p:cNvSpPr/>
              <p:nvPr/>
            </p:nvSpPr>
            <p:spPr>
              <a:xfrm>
                <a:off x="5371249" y="488839"/>
                <a:ext cx="2295500" cy="42332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A18A1F4E-A03B-429C-9066-7A0EB16CF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1249" y="488839"/>
                <a:ext cx="2295500" cy="423321"/>
              </a:xfrm>
              <a:prstGeom prst="rect">
                <a:avLst/>
              </a:prstGeom>
              <a:blipFill>
                <a:blip r:embed="rId8"/>
                <a:stretch>
                  <a:fillRect t="-20000" r="-7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8DBC18-A45F-49E2-8A0B-C26CC2E2D72C}"/>
                  </a:ext>
                </a:extLst>
              </p:cNvPr>
              <p:cNvSpPr/>
              <p:nvPr/>
            </p:nvSpPr>
            <p:spPr>
              <a:xfrm>
                <a:off x="4860047" y="997943"/>
                <a:ext cx="4007379" cy="43255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F08DBC18-A45F-49E2-8A0B-C26CC2E2D7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47" y="997943"/>
                <a:ext cx="4007379" cy="432554"/>
              </a:xfrm>
              <a:prstGeom prst="rect">
                <a:avLst/>
              </a:prstGeom>
              <a:blipFill>
                <a:blip r:embed="rId9"/>
                <a:stretch>
                  <a:fillRect t="-183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6434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472A7B4-C298-4E76-8182-1945A9BBEA8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dirty="0"/>
                  <a:t>规则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7472A7B4-C298-4E76-8182-1945A9BBEA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6ABE424-67F2-4688-938B-822B254D87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529772"/>
                <a:ext cx="7886700" cy="4963102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sz="2400" dirty="0"/>
                  <a:t>假设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对应</m:t>
                    </m:r>
                  </m:oMath>
                </a14:m>
                <a:r>
                  <a:rPr lang="zh-CN" altLang="en-US" sz="2400" dirty="0"/>
                  <a:t>的列向量是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2400" dirty="0"/>
                  <a:t>则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altLang="zh-CN" sz="2400"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  ⇒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    </m:t>
                    </m:r>
                    <m:r>
                      <m:rPr>
                        <m:sty m:val="p"/>
                      </m:rPr>
                      <a:rPr lang="en-US" altLang="zh-CN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反映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sz="2400" dirty="0"/>
                  <a:t>的影响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 ;  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zh-CN" altLang="en-US" sz="2400" dirty="0"/>
                  <a:t>原本都是非负数（基可行解）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的第</a:t>
                </a:r>
                <a:r>
                  <a:rPr lang="en-US" altLang="zh-CN" sz="2400" dirty="0"/>
                  <a:t>j</a:t>
                </a:r>
                <a:r>
                  <a:rPr lang="zh-CN" altLang="en-US" sz="2400" dirty="0"/>
                  <a:t>个元素：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/>
                  <a:t>如果是负数或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/>
                  <a:t>无论变多大，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sz="2000" dirty="0"/>
                  <a:t>仍为可行解</a:t>
                </a:r>
                <a:endParaRPr lang="en-US" altLang="zh-CN" sz="2000" dirty="0"/>
              </a:p>
              <a:p>
                <a:pPr lvl="1"/>
                <a:r>
                  <a:rPr lang="zh-CN" altLang="en-US" sz="2000" dirty="0"/>
                  <a:t>如果是正数，要求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acc>
                              <m:accPr>
                                <m:chr m:val="⃗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≥0 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000" dirty="0"/>
              </a:p>
              <a:p>
                <a:pPr lvl="1"/>
                <a:r>
                  <a:rPr lang="zh-CN" altLang="en-US" sz="2000" dirty="0"/>
                  <a:t>上式需要对所有的</a:t>
                </a:r>
                <a:r>
                  <a:rPr lang="en-US" altLang="zh-CN" sz="2000" dirty="0"/>
                  <a:t>j</a:t>
                </a:r>
                <a:r>
                  <a:rPr lang="zh-CN" altLang="en-US" sz="2000" dirty="0"/>
                  <a:t>成立，因此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800" b="0" i="0" smtClean="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zh-CN" altLang="en-US" sz="1800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1800" dirty="0"/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6ABE424-67F2-4688-938B-822B254D87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529772"/>
                <a:ext cx="7886700" cy="4963102"/>
              </a:xfrm>
              <a:blipFill>
                <a:blip r:embed="rId3"/>
                <a:stretch>
                  <a:fillRect l="-850" t="-12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51761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B5A1801-7747-4AD6-9BB4-670D97EFD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206"/>
            <a:ext cx="7886700" cy="1325563"/>
          </a:xfrm>
        </p:spPr>
        <p:txBody>
          <a:bodyPr/>
          <a:lstStyle/>
          <a:p>
            <a:r>
              <a:rPr lang="zh-CN" altLang="en-US"/>
              <a:t>例子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BFB9047-22FA-4EA8-B4D6-EEF316B83E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9BFB9047-22FA-4EA8-B4D6-EEF316B83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  <a:blipFill>
                <a:blip r:embed="rId2"/>
                <a:stretch>
                  <a:fillRect l="-1197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2FC4DCC-025C-42F4-B5BB-1D34D359B631}"/>
                  </a:ext>
                </a:extLst>
              </p:cNvPr>
              <p:cNvSpPr/>
              <p:nvPr/>
            </p:nvSpPr>
            <p:spPr>
              <a:xfrm>
                <a:off x="5464379" y="444157"/>
                <a:ext cx="2778004" cy="42883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2FC4DCC-025C-42F4-B5BB-1D34D359B6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379" y="444157"/>
                <a:ext cx="2778004" cy="428835"/>
              </a:xfrm>
              <a:prstGeom prst="rect">
                <a:avLst/>
              </a:prstGeom>
              <a:blipFill>
                <a:blip r:embed="rId3"/>
                <a:stretch>
                  <a:fillRect t="-18571" r="-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F1911BD-20D3-4DD2-A60B-2704A2559B56}"/>
                  </a:ext>
                </a:extLst>
              </p:cNvPr>
              <p:cNvSpPr/>
              <p:nvPr/>
            </p:nvSpPr>
            <p:spPr>
              <a:xfrm>
                <a:off x="4572000" y="1073070"/>
                <a:ext cx="4487319" cy="9449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F1911BD-20D3-4DD2-A60B-2704A2559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73070"/>
                <a:ext cx="4487319" cy="9449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E49E1AB4-4ED9-4AE1-9742-4E2E2BF74F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</p:spPr>
            <p:txBody>
              <a:bodyPr>
                <a:normAutofit fontScale="92500"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r>
                  <a:rPr lang="zh-CN" altLang="en-US" sz="2000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000" i="1" dirty="0"/>
                  <a:t>,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2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&gt;0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func>
                  </m:oMath>
                </a14:m>
                <a:r>
                  <a:rPr lang="en-US" altLang="zh-CN" sz="2000" i="1" dirty="0"/>
                  <a:t>,</a:t>
                </a:r>
                <a:r>
                  <a:rPr lang="zh-CN" altLang="en-US" sz="1900" dirty="0"/>
                  <a:t>对应第</a:t>
                </a:r>
                <a:r>
                  <a:rPr lang="en-US" altLang="zh-CN" sz="1900" dirty="0"/>
                  <a:t>1</a:t>
                </a:r>
                <a:r>
                  <a:rPr lang="zh-CN" altLang="en-US" sz="1900" dirty="0"/>
                  <a:t>个基变量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0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0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altLang="zh-CN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2−</m:t>
                              </m:r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  <m:t>9−</m:t>
                              </m:r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altLang="zh-CN" sz="2000" i="1" dirty="0"/>
              </a:p>
            </p:txBody>
          </p:sp>
        </mc:Choice>
        <mc:Fallback xmlns="">
          <p:sp>
            <p:nvSpPr>
              <p:cNvPr id="18" name="内容占位符 2">
                <a:extLst>
                  <a:ext uri="{FF2B5EF4-FFF2-40B4-BE49-F238E27FC236}">
                    <a16:creationId xmlns:a16="http://schemas.microsoft.com/office/drawing/2014/main" id="{E49E1AB4-4ED9-4AE1-9742-4E2E2BF74F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  <a:blipFill>
                <a:blip r:embed="rId5"/>
                <a:stretch>
                  <a:fillRect l="-1447" t="-34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组合 18">
            <a:extLst>
              <a:ext uri="{FF2B5EF4-FFF2-40B4-BE49-F238E27FC236}">
                <a16:creationId xmlns:a16="http://schemas.microsoft.com/office/drawing/2014/main" id="{7B08D2BE-D060-4FA8-8E42-305F7B8A8D40}"/>
              </a:ext>
            </a:extLst>
          </p:cNvPr>
          <p:cNvGrpSpPr/>
          <p:nvPr/>
        </p:nvGrpSpPr>
        <p:grpSpPr>
          <a:xfrm>
            <a:off x="766627" y="3256173"/>
            <a:ext cx="3285401" cy="1265172"/>
            <a:chOff x="1108373" y="981719"/>
            <a:chExt cx="3463627" cy="1265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B2EE09E3-3FB2-4F63-8F30-54BB2207D29B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B2EE09E3-3FB2-4F63-8F30-54BB2207D2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005E5CC-C5AB-4A0D-9BAA-EE273513D879}"/>
                </a:ext>
              </a:extLst>
            </p:cNvPr>
            <p:cNvSpPr/>
            <p:nvPr/>
          </p:nvSpPr>
          <p:spPr>
            <a:xfrm>
              <a:off x="3315854" y="981719"/>
              <a:ext cx="941958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B36C1EE-BF01-43C7-B902-A9789565F91A}"/>
                    </a:ext>
                  </a:extLst>
                </p:cNvPr>
                <p:cNvSpPr txBox="1"/>
                <p:nvPr/>
              </p:nvSpPr>
              <p:spPr>
                <a:xfrm>
                  <a:off x="3528360" y="1877559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B36C1EE-BF01-43C7-B902-A9789565F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877559"/>
                  <a:ext cx="41549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DB51BAB3-2835-464A-81C4-61463A586FCC}"/>
                </a:ext>
              </a:extLst>
            </p:cNvPr>
            <p:cNvSpPr/>
            <p:nvPr/>
          </p:nvSpPr>
          <p:spPr>
            <a:xfrm>
              <a:off x="2262838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EC3F5236-0D2E-4053-9C15-765DB53202A0}"/>
                    </a:ext>
                  </a:extLst>
                </p:cNvPr>
                <p:cNvSpPr txBox="1"/>
                <p:nvPr/>
              </p:nvSpPr>
              <p:spPr>
                <a:xfrm>
                  <a:off x="2475345" y="1877559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EC3F5236-0D2E-4053-9C15-765DB53202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345" y="1877559"/>
                  <a:ext cx="42351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56236372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956FF4-1420-41F3-B69A-9D34F89BA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41" y="-286486"/>
            <a:ext cx="7886700" cy="1325563"/>
          </a:xfrm>
        </p:spPr>
        <p:txBody>
          <a:bodyPr/>
          <a:lstStyle/>
          <a:p>
            <a:r>
              <a:rPr lang="zh-CN" altLang="en-US" b="1" dirty="0"/>
              <a:t>习题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2874CE2-990F-4DA2-8A55-A64B489DCC01}"/>
                  </a:ext>
                </a:extLst>
              </p:cNvPr>
              <p:cNvSpPr/>
              <p:nvPr/>
            </p:nvSpPr>
            <p:spPr>
              <a:xfrm>
                <a:off x="5464379" y="444157"/>
                <a:ext cx="2778004" cy="42883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2874CE2-990F-4DA2-8A55-A64B489DCC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4379" y="444157"/>
                <a:ext cx="2778004" cy="428835"/>
              </a:xfrm>
              <a:prstGeom prst="rect">
                <a:avLst/>
              </a:prstGeom>
              <a:blipFill>
                <a:blip r:embed="rId2"/>
                <a:stretch>
                  <a:fillRect t="-18571" r="-6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F5194DB-0D39-4CFD-95B7-319242C4066C}"/>
                  </a:ext>
                </a:extLst>
              </p:cNvPr>
              <p:cNvSpPr/>
              <p:nvPr/>
            </p:nvSpPr>
            <p:spPr>
              <a:xfrm>
                <a:off x="4572000" y="1073070"/>
                <a:ext cx="4487319" cy="9449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F5194DB-0D39-4CFD-95B7-319242C406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073070"/>
                <a:ext cx="4487319" cy="9449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51798600-F784-4C57-886E-9D4C11E302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51798600-F784-4C57-886E-9D4C11E302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  <a:blipFill>
                <a:blip r:embed="rId4"/>
                <a:stretch>
                  <a:fillRect l="-1664" t="-3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FCAA2D34-107D-440C-9D3E-AE64753872AC}"/>
              </a:ext>
            </a:extLst>
          </p:cNvPr>
          <p:cNvGrpSpPr/>
          <p:nvPr/>
        </p:nvGrpSpPr>
        <p:grpSpPr>
          <a:xfrm>
            <a:off x="766627" y="3256173"/>
            <a:ext cx="3285401" cy="1265172"/>
            <a:chOff x="1108373" y="981719"/>
            <a:chExt cx="3463627" cy="12651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8C1A8B66-C9FD-42E9-A1F7-97331DA6A21B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B2EE09E3-3FB2-4F63-8F30-54BB2207D2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3C53973E-7067-4201-B78C-A649EF186FA4}"/>
                </a:ext>
              </a:extLst>
            </p:cNvPr>
            <p:cNvSpPr/>
            <p:nvPr/>
          </p:nvSpPr>
          <p:spPr>
            <a:xfrm>
              <a:off x="3315854" y="981719"/>
              <a:ext cx="941958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55166112-7082-481C-84E2-16DFFEED4EC9}"/>
                    </a:ext>
                  </a:extLst>
                </p:cNvPr>
                <p:cNvSpPr txBox="1"/>
                <p:nvPr/>
              </p:nvSpPr>
              <p:spPr>
                <a:xfrm>
                  <a:off x="3528360" y="1877559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7B36C1EE-BF01-43C7-B902-A9789565F9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877559"/>
                  <a:ext cx="41549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5FB5A55-7772-414F-BEAE-A911E2425AEA}"/>
                </a:ext>
              </a:extLst>
            </p:cNvPr>
            <p:cNvSpPr/>
            <p:nvPr/>
          </p:nvSpPr>
          <p:spPr>
            <a:xfrm>
              <a:off x="2262838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12690023-327F-43A0-B5B7-15F6C070859A}"/>
                    </a:ext>
                  </a:extLst>
                </p:cNvPr>
                <p:cNvSpPr txBox="1"/>
                <p:nvPr/>
              </p:nvSpPr>
              <p:spPr>
                <a:xfrm>
                  <a:off x="2475345" y="1877559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EC3F5236-0D2E-4053-9C15-765DB53202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345" y="1877559"/>
                  <a:ext cx="42351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637B7DF2-220E-435C-9867-A93F841B67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74362" y="759251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3" name="内容占位符 2">
                <a:extLst>
                  <a:ext uri="{FF2B5EF4-FFF2-40B4-BE49-F238E27FC236}">
                    <a16:creationId xmlns:a16="http://schemas.microsoft.com/office/drawing/2014/main" id="{637B7DF2-220E-435C-9867-A93F841B6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362" y="759251"/>
                <a:ext cx="4581235" cy="2256848"/>
              </a:xfrm>
              <a:prstGeom prst="rect">
                <a:avLst/>
              </a:prstGeom>
              <a:blipFill>
                <a:blip r:embed="rId9"/>
                <a:stretch>
                  <a:fillRect l="-1198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6CBC403-6D16-4D3C-B538-268F79B2DDA9}"/>
                  </a:ext>
                </a:extLst>
              </p:cNvPr>
              <p:cNvSpPr/>
              <p:nvPr/>
            </p:nvSpPr>
            <p:spPr>
              <a:xfrm>
                <a:off x="4645582" y="3519700"/>
                <a:ext cx="1962460" cy="542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𝑵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altLang="zh-CN" sz="2800" b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6CBC403-6D16-4D3C-B538-268F79B2D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582" y="3519700"/>
                <a:ext cx="1962460" cy="542136"/>
              </a:xfrm>
              <a:prstGeom prst="rect">
                <a:avLst/>
              </a:prstGeom>
              <a:blipFill>
                <a:blip r:embed="rId10"/>
                <a:stretch>
                  <a:fillRect l="-6211" t="-11236" b="-269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3B305B4-E2DC-4879-B931-E10D7F83BB6D}"/>
                  </a:ext>
                </a:extLst>
              </p:cNvPr>
              <p:cNvSpPr/>
              <p:nvPr/>
            </p:nvSpPr>
            <p:spPr>
              <a:xfrm>
                <a:off x="434110" y="4336679"/>
                <a:ext cx="7024255" cy="248285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&gt;0=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=4.5</m:t>
                        </m:r>
                      </m:e>
                    </m:func>
                  </m:oMath>
                </a14:m>
                <a:r>
                  <a:rPr lang="en-US" altLang="zh-CN" i="1" dirty="0"/>
                  <a:t>,</a:t>
                </a:r>
                <a:r>
                  <a:rPr lang="zh-CN" altLang="en-US" dirty="0"/>
                  <a:t>对应第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个基变量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acc>
                        </m:e>
                        <m:sub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2−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9−2</m:t>
                                </m:r>
                                <m:sSub>
                                  <m:sSub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3B305B4-E2DC-4879-B931-E10D7F83BB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110" y="4336679"/>
                <a:ext cx="7024255" cy="2482859"/>
              </a:xfrm>
              <a:prstGeom prst="rect">
                <a:avLst/>
              </a:prstGeom>
              <a:blipFill>
                <a:blip r:embed="rId11"/>
                <a:stretch>
                  <a:fillRect r="-2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0054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B32C36-815F-4436-8AFB-0CC00A526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归纳总结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566BC07-FD24-4906-9B50-1E755B7AB7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959" y="1493116"/>
                <a:ext cx="8644659" cy="5304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b>
                          <m:sSubPr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2400" dirty="0"/>
              </a:p>
              <a:p>
                <a:r>
                  <a:rPr lang="zh-CN" altLang="en-US" sz="2400" dirty="0"/>
                  <a:t>上式对所有的决策变量都成立，写为矩阵形式：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acc>
                      <m:accPr>
                        <m:chr m:val="⃗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lang="en-US" altLang="zh-CN" sz="2400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/>
                  <a:t>中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大于零</a:t>
                </a:r>
                <a:r>
                  <a:rPr lang="zh-CN" altLang="en-US" sz="2400" dirty="0"/>
                  <a:t>的项，意味着对应的非基变量由零变成正数时，目标函数会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增大</a:t>
                </a:r>
                <a:endParaRPr lang="en-US" altLang="zh-CN" sz="2400" dirty="0">
                  <a:highlight>
                    <a:srgbClr val="FFFF00"/>
                  </a:highlight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400" dirty="0"/>
                  <a:t>中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小于零</a:t>
                </a:r>
                <a:r>
                  <a:rPr lang="zh-CN" altLang="en-US" sz="2400" dirty="0"/>
                  <a:t>的项，意味着对应的非基变量由零变成正数时，目标函数会</a:t>
                </a:r>
                <a:r>
                  <a:rPr lang="zh-CN" altLang="en-US" sz="2400" dirty="0">
                    <a:highlight>
                      <a:srgbClr val="FFFF00"/>
                    </a:highlight>
                  </a:rPr>
                  <a:t>减小</a:t>
                </a:r>
                <a:endParaRPr lang="en-US" altLang="zh-CN" sz="2400" dirty="0">
                  <a:highlight>
                    <a:srgbClr val="FFFF00"/>
                  </a:highlight>
                </a:endParaRPr>
              </a:p>
              <a:p>
                <a:r>
                  <a:rPr lang="zh-CN" altLang="en-US" sz="2400" dirty="0"/>
                  <a:t>对于</a:t>
                </a:r>
                <a:r>
                  <a:rPr lang="en-US" altLang="zh-CN" sz="2400" dirty="0"/>
                  <a:t>max</a:t>
                </a:r>
                <a:r>
                  <a:rPr lang="zh-CN" altLang="en-US" sz="2400" dirty="0"/>
                  <a:t>问题，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/>
                  <a:t>将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000" dirty="0"/>
                  <a:t>中大于零的项对应的非基变量变成正数（即换成基变量）</a:t>
                </a:r>
                <a:endParaRPr lang="en-US" altLang="zh-CN" sz="2000" dirty="0"/>
              </a:p>
              <a:p>
                <a:pPr lvl="1"/>
                <a:r>
                  <a:rPr lang="zh-CN" altLang="en-US" sz="2000" dirty="0"/>
                  <a:t>通过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zh-CN" altLang="en-US" sz="2000" dirty="0"/>
                  <a:t>规则寻找换出变量（即某个基变量会变成</a:t>
                </a:r>
                <a:r>
                  <a:rPr lang="en-US" altLang="zh-CN" sz="2000" dirty="0"/>
                  <a:t>0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lvl="1"/>
                <a:r>
                  <a:rPr lang="zh-CN" altLang="en-US" sz="2000" dirty="0"/>
                  <a:t>重复上述计算，直到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000" dirty="0"/>
                  <a:t>中的元素全部为非正数</a:t>
                </a:r>
              </a:p>
              <a:p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4">
                <a:extLst>
                  <a:ext uri="{FF2B5EF4-FFF2-40B4-BE49-F238E27FC236}">
                    <a16:creationId xmlns:a16="http://schemas.microsoft.com/office/drawing/2014/main" id="{D566BC07-FD24-4906-9B50-1E755B7AB7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959" y="1493116"/>
                <a:ext cx="8644659" cy="5304850"/>
              </a:xfrm>
              <a:prstGeom prst="rect">
                <a:avLst/>
              </a:prstGeom>
              <a:blipFill>
                <a:blip r:embed="rId2"/>
                <a:stretch>
                  <a:fillRect l="-917" r="-9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563857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CAAC04B-817B-4FFB-AE71-36AEA7DA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206"/>
            <a:ext cx="7886700" cy="1325563"/>
          </a:xfrm>
        </p:spPr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75AA5B-F1A3-4547-A2B3-A3E7627581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75AA5B-F1A3-4547-A2B3-A3E76275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  <a:blipFill>
                <a:blip r:embed="rId2"/>
                <a:stretch>
                  <a:fillRect l="-1197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100C765C-7919-4AD2-B10D-60D3340CC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8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1 1 0 0</m:t>
                            </m:r>
                          </m:e>
                        </m:d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0 0</m:t>
                            </m:r>
                          </m:e>
                        </m:d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8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800" b="0" i="1" smtClean="0">
                                <a:latin typeface="Cambria Math" panose="02040503050406030204" pitchFamily="18" charset="0"/>
                              </a:rPr>
                              <m:t>1 1 0 0</m:t>
                            </m:r>
                          </m:e>
                        </m:d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20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2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20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&gt;0=</m:t>
                    </m:r>
                    <m:func>
                      <m:func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20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=6</m:t>
                        </m:r>
                      </m:e>
                    </m:func>
                  </m:oMath>
                </a14:m>
                <a:r>
                  <a:rPr lang="en-US" altLang="zh-CN" sz="2000" i="1" dirty="0"/>
                  <a:t>,</a:t>
                </a:r>
                <a:r>
                  <a:rPr lang="zh-CN" altLang="en-US" sz="1900" dirty="0"/>
                  <a:t>对应第</a:t>
                </a:r>
                <a:r>
                  <a:rPr lang="en-US" altLang="zh-CN" sz="1900" dirty="0"/>
                  <a:t>1</a:t>
                </a:r>
                <a:r>
                  <a:rPr lang="zh-CN" altLang="en-US" sz="1900" dirty="0"/>
                  <a:t>个基变量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9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000" dirty="0"/>
                  <a:t>换入，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sz="2000" i="1">
                        <a:latin typeface="Cambria Math" panose="02040503050406030204" pitchFamily="18" charset="0"/>
                      </a:rPr>
                      <m:t>换出</m:t>
                    </m:r>
                  </m:oMath>
                </a14:m>
                <a:endParaRPr lang="en-US" altLang="zh-CN" sz="2000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100C765C-7919-4AD2-B10D-60D3340CC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903" y="2736273"/>
                <a:ext cx="8422987" cy="4015782"/>
              </a:xfrm>
              <a:blipFill>
                <a:blip r:embed="rId3"/>
                <a:stretch>
                  <a:fillRect l="-1664" t="-36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5A30B96D-F67C-4FE0-B4F1-B5850923D6C8}"/>
              </a:ext>
            </a:extLst>
          </p:cNvPr>
          <p:cNvGrpSpPr/>
          <p:nvPr/>
        </p:nvGrpSpPr>
        <p:grpSpPr>
          <a:xfrm>
            <a:off x="766627" y="3256173"/>
            <a:ext cx="3285401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CA7AE1E-4B24-44A6-886D-44C3DF8792D4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848831-E438-4A29-92D2-ADFD5569AC0B}"/>
                </a:ext>
              </a:extLst>
            </p:cNvPr>
            <p:cNvSpPr/>
            <p:nvPr/>
          </p:nvSpPr>
          <p:spPr>
            <a:xfrm>
              <a:off x="3315854" y="981719"/>
              <a:ext cx="941958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B1626D7-9640-43B8-9AEF-6D0757A317E6}"/>
                    </a:ext>
                  </a:extLst>
                </p:cNvPr>
                <p:cNvSpPr txBox="1"/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F59C7A54-0E37-4C31-A16F-CA2CBEBC12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28360" y="1945542"/>
                  <a:ext cx="41549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3FD14F5-F513-4735-A9CB-5A83B40C625F}"/>
                </a:ext>
              </a:extLst>
            </p:cNvPr>
            <p:cNvSpPr/>
            <p:nvPr/>
          </p:nvSpPr>
          <p:spPr>
            <a:xfrm>
              <a:off x="2262838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E943EC5-F51F-42C0-8C46-02E157F8A617}"/>
                    </a:ext>
                  </a:extLst>
                </p:cNvPr>
                <p:cNvSpPr txBox="1"/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5C32D3B-FFF2-40D3-A89C-289604229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5344" y="1945542"/>
                  <a:ext cx="423513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0F0F515-7B91-4053-B476-2405FFBA982B}"/>
                  </a:ext>
                </a:extLst>
              </p:cNvPr>
              <p:cNvSpPr/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0F0F515-7B91-4053-B476-2405FFBA9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blipFill>
                <a:blip r:embed="rId7"/>
                <a:stretch>
                  <a:fillRect t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DB642A-85D6-40B3-8108-EB49EC3E31B3}"/>
                  </a:ext>
                </a:extLst>
              </p:cNvPr>
              <p:cNvSpPr/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DB642A-85D6-40B3-8108-EB49EC3E3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4570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CAAC04B-817B-4FFB-AE71-36AEA7DA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206"/>
            <a:ext cx="7886700" cy="1325563"/>
          </a:xfrm>
        </p:spPr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75AA5B-F1A3-4547-A2B3-A3E7627581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75AA5B-F1A3-4547-A2B3-A3E76275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  <a:blipFill>
                <a:blip r:embed="rId2"/>
                <a:stretch>
                  <a:fillRect l="-1197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100C765C-7919-4AD2-B10D-60D3340CC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6903" y="2736272"/>
                <a:ext cx="8422987" cy="427412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100C765C-7919-4AD2-B10D-60D3340CC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6903" y="2736272"/>
                <a:ext cx="8422987" cy="4274127"/>
              </a:xfrm>
              <a:blipFill>
                <a:blip r:embed="rId3"/>
                <a:stretch>
                  <a:fillRect l="-1664" t="-34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5A30B96D-F67C-4FE0-B4F1-B5850923D6C8}"/>
              </a:ext>
            </a:extLst>
          </p:cNvPr>
          <p:cNvGrpSpPr/>
          <p:nvPr/>
        </p:nvGrpSpPr>
        <p:grpSpPr>
          <a:xfrm>
            <a:off x="766627" y="3256173"/>
            <a:ext cx="3285401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CA7AE1E-4B24-44A6-886D-44C3DF8792D4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6848831-E438-4A29-92D2-ADFD5569AC0B}"/>
                </a:ext>
              </a:extLst>
            </p:cNvPr>
            <p:cNvSpPr/>
            <p:nvPr/>
          </p:nvSpPr>
          <p:spPr>
            <a:xfrm>
              <a:off x="3935684" y="981719"/>
              <a:ext cx="322126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B1626D7-9640-43B8-9AEF-6D0757A317E6}"/>
                    </a:ext>
                  </a:extLst>
                </p:cNvPr>
                <p:cNvSpPr txBox="1"/>
                <p:nvPr/>
              </p:nvSpPr>
              <p:spPr>
                <a:xfrm>
                  <a:off x="3846934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0B1626D7-9640-43B8-9AEF-6D0757A31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46934" y="1945542"/>
                  <a:ext cx="415498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3FD14F5-F513-4735-A9CB-5A83B40C625F}"/>
                </a:ext>
              </a:extLst>
            </p:cNvPr>
            <p:cNvSpPr/>
            <p:nvPr/>
          </p:nvSpPr>
          <p:spPr>
            <a:xfrm>
              <a:off x="2793917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E943EC5-F51F-42C0-8C46-02E157F8A617}"/>
                    </a:ext>
                  </a:extLst>
                </p:cNvPr>
                <p:cNvSpPr txBox="1"/>
                <p:nvPr/>
              </p:nvSpPr>
              <p:spPr>
                <a:xfrm>
                  <a:off x="3006424" y="1945542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E943EC5-F51F-42C0-8C46-02E157F8A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6424" y="1945542"/>
                  <a:ext cx="423514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1261DAB-ADEA-488B-8BDA-54E2BF3A2AB0}"/>
                </a:ext>
              </a:extLst>
            </p:cNvPr>
            <p:cNvSpPr/>
            <p:nvPr/>
          </p:nvSpPr>
          <p:spPr>
            <a:xfrm>
              <a:off x="2223674" y="981719"/>
              <a:ext cx="322126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84A8542-C7FF-488F-AAFC-423ACCA6A205}"/>
                    </a:ext>
                  </a:extLst>
                </p:cNvPr>
                <p:cNvSpPr txBox="1"/>
                <p:nvPr/>
              </p:nvSpPr>
              <p:spPr>
                <a:xfrm>
                  <a:off x="2134924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84A8542-C7FF-488F-AAFC-423ACCA6A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34924" y="1945542"/>
                  <a:ext cx="415498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0F0F515-7B91-4053-B476-2405FFBA982B}"/>
                  </a:ext>
                </a:extLst>
              </p:cNvPr>
              <p:cNvSpPr/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0F0F515-7B91-4053-B476-2405FFBA9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blipFill>
                <a:blip r:embed="rId8"/>
                <a:stretch>
                  <a:fillRect t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DB642A-85D6-40B3-8108-EB49EC3E31B3}"/>
                  </a:ext>
                </a:extLst>
              </p:cNvPr>
              <p:cNvSpPr/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DB642A-85D6-40B3-8108-EB49EC3E3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DD606E2-C625-4022-B92C-BCC7A3C3263F}"/>
                  </a:ext>
                </a:extLst>
              </p:cNvPr>
              <p:cNvSpPr/>
              <p:nvPr/>
            </p:nvSpPr>
            <p:spPr>
              <a:xfrm>
                <a:off x="4674830" y="3153404"/>
                <a:ext cx="1829668" cy="11693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1DD606E2-C625-4022-B92C-BCC7A3C32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830" y="3153404"/>
                <a:ext cx="1829668" cy="116935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8C49040-092F-43CD-8E0F-439A7E6B6F4E}"/>
                  </a:ext>
                </a:extLst>
              </p:cNvPr>
              <p:cNvSpPr/>
              <p:nvPr/>
            </p:nvSpPr>
            <p:spPr>
              <a:xfrm>
                <a:off x="-220939" y="4542860"/>
                <a:ext cx="8736289" cy="22126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1 1 0 0</m:t>
                            </m:r>
                          </m:e>
                        </m:d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1 0</m:t>
                            </m:r>
                          </m:e>
                        </m:d>
                      </m:e>
                      <m:sup/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1 1 0 0</m:t>
                            </m:r>
                          </m:e>
                        </m:d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1 0</m:t>
                            </m:r>
                          </m:e>
                        </m:d>
                      </m:e>
                      <m:sup/>
                    </m:sSup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  <m:e>
                                    <m:r>
                                      <a:rPr lang="en-US" altLang="zh-CN" sz="1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4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4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0  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   −</m:t>
                              </m:r>
                              <m:f>
                                <m:fPr>
                                  <m:ctrlP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1400" i="1">
                                  <a:latin typeface="Cambria Math" panose="02040503050406030204" pitchFamily="18" charset="0"/>
                                </a:rPr>
                                <m:t>   0</m:t>
                              </m:r>
                            </m:e>
                          </m:d>
                        </m:e>
                        <m:sup>
                          <m:r>
                            <a:rPr lang="en-US" altLang="zh-CN" sz="14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&gt;0=</m:t>
                    </m:r>
                    <m:func>
                      <m:func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3/2</m:t>
                                </m:r>
                              </m:den>
                            </m:f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func>
                  </m:oMath>
                </a14:m>
                <a:r>
                  <a:rPr lang="en-US" altLang="zh-CN" i="1" dirty="0"/>
                  <a:t>,</a:t>
                </a:r>
                <a:r>
                  <a:rPr lang="zh-CN" altLang="en-US" dirty="0"/>
                  <a:t>对应第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个基变量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en-US" dirty="0"/>
                  <a:t>换入，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换出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78C49040-092F-43CD-8E0F-439A7E6B6F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0939" y="4542860"/>
                <a:ext cx="8736289" cy="2212657"/>
              </a:xfrm>
              <a:prstGeom prst="rect">
                <a:avLst/>
              </a:prstGeom>
              <a:blipFill>
                <a:blip r:embed="rId11"/>
                <a:stretch>
                  <a:fillRect b="-3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607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6CAAC04B-817B-4FFB-AE71-36AEA7DA3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206"/>
            <a:ext cx="7886700" cy="1325563"/>
          </a:xfrm>
        </p:spPr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75AA5B-F1A3-4547-A2B3-A3E7627581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7D75AA5B-F1A3-4547-A2B3-A3E7627581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  <a:blipFill>
                <a:blip r:embed="rId2"/>
                <a:stretch>
                  <a:fillRect l="-1197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100C765C-7919-4AD2-B10D-60D3340CC7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957" y="2583874"/>
                <a:ext cx="8422987" cy="196965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100C765C-7919-4AD2-B10D-60D3340CC7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957" y="2583874"/>
                <a:ext cx="8422987" cy="1969654"/>
              </a:xfrm>
              <a:blipFill>
                <a:blip r:embed="rId3"/>
                <a:stretch>
                  <a:fillRect l="-1664" t="-74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5A30B96D-F67C-4FE0-B4F1-B5850923D6C8}"/>
              </a:ext>
            </a:extLst>
          </p:cNvPr>
          <p:cNvGrpSpPr/>
          <p:nvPr/>
        </p:nvGrpSpPr>
        <p:grpSpPr>
          <a:xfrm>
            <a:off x="766627" y="3114208"/>
            <a:ext cx="3285401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2CA7AE1E-4B24-44A6-886D-44C3DF8792D4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3FD14F5-F513-4735-A9CB-5A83B40C625F}"/>
                </a:ext>
              </a:extLst>
            </p:cNvPr>
            <p:cNvSpPr/>
            <p:nvPr/>
          </p:nvSpPr>
          <p:spPr>
            <a:xfrm>
              <a:off x="3397637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E943EC5-F51F-42C0-8C46-02E157F8A617}"/>
                    </a:ext>
                  </a:extLst>
                </p:cNvPr>
                <p:cNvSpPr txBox="1"/>
                <p:nvPr/>
              </p:nvSpPr>
              <p:spPr>
                <a:xfrm>
                  <a:off x="3610144" y="1945542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E943EC5-F51F-42C0-8C46-02E157F8A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144" y="1945542"/>
                  <a:ext cx="42351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61261DAB-ADEA-488B-8BDA-54E2BF3A2AB0}"/>
                </a:ext>
              </a:extLst>
            </p:cNvPr>
            <p:cNvSpPr/>
            <p:nvPr/>
          </p:nvSpPr>
          <p:spPr>
            <a:xfrm>
              <a:off x="2223674" y="981719"/>
              <a:ext cx="8401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84A8542-C7FF-488F-AAFC-423ACCA6A205}"/>
                    </a:ext>
                  </a:extLst>
                </p:cNvPr>
                <p:cNvSpPr txBox="1"/>
                <p:nvPr/>
              </p:nvSpPr>
              <p:spPr>
                <a:xfrm>
                  <a:off x="2424688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84A8542-C7FF-488F-AAFC-423ACCA6A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4688" y="1945542"/>
                  <a:ext cx="41549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0F0F515-7B91-4053-B476-2405FFBA982B}"/>
                  </a:ext>
                </a:extLst>
              </p:cNvPr>
              <p:cNvSpPr/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60F0F515-7B91-4053-B476-2405FFBA98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blipFill>
                <a:blip r:embed="rId7"/>
                <a:stretch>
                  <a:fillRect t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DB642A-85D6-40B3-8108-EB49EC3E31B3}"/>
                  </a:ext>
                </a:extLst>
              </p:cNvPr>
              <p:cNvSpPr/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1DB642A-85D6-40B3-8108-EB49EC3E31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614C04D-79FA-4CCA-B81E-C6979EAFADCB}"/>
                  </a:ext>
                </a:extLst>
              </p:cNvPr>
              <p:cNvSpPr/>
              <p:nvPr/>
            </p:nvSpPr>
            <p:spPr>
              <a:xfrm>
                <a:off x="4605978" y="3165274"/>
                <a:ext cx="2041264" cy="11729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E614C04D-79FA-4CCA-B81E-C6979EAFAD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5978" y="3165274"/>
                <a:ext cx="2041264" cy="11729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551A720-F67E-4EF4-B1C7-DFFC1A3C7445}"/>
                  </a:ext>
                </a:extLst>
              </p:cNvPr>
              <p:cNvSpPr/>
              <p:nvPr/>
            </p:nvSpPr>
            <p:spPr>
              <a:xfrm>
                <a:off x="143570" y="4480000"/>
                <a:ext cx="8159921" cy="14154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r>
                      <a:rPr lang="en-US" altLang="zh-CN" sz="1200" i="1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1 1 0 0</m:t>
                            </m:r>
                          </m:e>
                        </m:d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1 1</m:t>
                            </m:r>
                          </m:e>
                        </m:d>
                      </m:e>
                      <m:sup/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1 1 0 0</m:t>
                            </m:r>
                          </m:e>
                        </m:d>
                      </m:e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1 1</m:t>
                            </m:r>
                          </m:e>
                        </m:d>
                      </m:e>
                      <m:sup/>
                    </m:sSup>
                    <m:d>
                      <m:dPr>
                        <m:ctrlPr>
                          <a:rPr lang="en-US" altLang="zh-CN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zh-CN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2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altLang="zh-CN" sz="12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2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12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2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2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altLang="zh-CN" sz="12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0  0−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</a:rPr>
                                <m:t>   −</m:t>
                              </m:r>
                              <m:f>
                                <m:fPr>
                                  <m:ctrlP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altLang="zh-CN" sz="1600" i="1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1600" dirty="0"/>
                  <a:t>中的元素全部为非正数，取得最优解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altLang="zh-CN" sz="1600" i="1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D551A720-F67E-4EF4-B1C7-DFFC1A3C74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70" y="4480000"/>
                <a:ext cx="8159921" cy="1415452"/>
              </a:xfrm>
              <a:prstGeom prst="rect">
                <a:avLst/>
              </a:prstGeom>
              <a:blipFill>
                <a:blip r:embed="rId10"/>
                <a:stretch>
                  <a:fillRect b="-25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8816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C71CA-F902-4311-AC63-29AD090B9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特殊情形 </a:t>
            </a:r>
            <a:r>
              <a:rPr lang="en-US" altLang="zh-CN" dirty="0"/>
              <a:t>I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2CB7D-11B5-4A97-8B25-BE82DE43F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>
                <a:sym typeface="Symbol" panose="05050102010706020507" pitchFamily="18" charset="2"/>
              </a:rPr>
              <a:t>无穷多最优解：</a:t>
            </a:r>
            <a:r>
              <a:rPr lang="zh-CN" altLang="en-US" dirty="0"/>
              <a:t>对于所有非基变量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有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≤0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kumimoji="1" lang="zh-CN" altLang="en-US" dirty="0">
                <a:sym typeface="Symbol" panose="05050102010706020507" pitchFamily="18" charset="2"/>
              </a:rPr>
              <a:t>并且存在非基变量的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en-US" altLang="zh-CN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+</a:t>
            </a:r>
            <a:r>
              <a:rPr lang="en-US" altLang="zh-CN" i="1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=0</a:t>
            </a:r>
          </a:p>
          <a:p>
            <a:pPr lvl="1"/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意味着非基变量由</a:t>
            </a:r>
            <a:r>
              <a:rPr kumimoji="1"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  <a:r>
              <a:rPr kumimoji="1"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变化到正数不影响目标函数的取值</a:t>
            </a:r>
            <a:endParaRPr kumimoji="1" lang="en-US" altLang="zh-CN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969154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4553834-29E9-4FBD-B4AA-F7F95F80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4206"/>
            <a:ext cx="7886700" cy="1325563"/>
          </a:xfrm>
        </p:spPr>
        <p:txBody>
          <a:bodyPr/>
          <a:lstStyle/>
          <a:p>
            <a:r>
              <a:rPr lang="zh-CN" altLang="en-US" dirty="0"/>
              <a:t>例子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52097BE-D71E-4EE1-B784-D9EA0C8F9B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00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=2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00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+0×</m:t>
                    </m:r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. 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12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m:rPr>
                                  <m:brk m:alnAt="7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sz="2400" i="1" smtClean="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5" name="内容占位符 2">
                <a:extLst>
                  <a:ext uri="{FF2B5EF4-FFF2-40B4-BE49-F238E27FC236}">
                    <a16:creationId xmlns:a16="http://schemas.microsoft.com/office/drawing/2014/main" id="{A52097BE-D71E-4EE1-B784-D9EA0C8F9B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864" y="960635"/>
                <a:ext cx="4581235" cy="2256848"/>
              </a:xfrm>
              <a:prstGeom prst="rect">
                <a:avLst/>
              </a:prstGeom>
              <a:blipFill>
                <a:blip r:embed="rId2"/>
                <a:stretch>
                  <a:fillRect l="-1197" t="-24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FDC4E63D-4A3A-4B76-A623-AA3C44F7BD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9957" y="2583873"/>
                <a:ext cx="8422987" cy="4274127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zh-CN" altLang="en-US" dirty="0"/>
                  <a:t>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dirty="0"/>
                  <a:t>为非基变量，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=5,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zh-CN" altLang="en-US" dirty="0"/>
                  <a:t>为基变量</a:t>
                </a:r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:endParaRPr lang="en-US" altLang="zh-CN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2 1 0 0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2 1</m:t>
                            </m:r>
                          </m:e>
                        </m:d>
                      </m:e>
                      <m:sup/>
                    </m:sSup>
                    <m:d>
                      <m:dPr>
                        <m:begChr m:val="["/>
                        <m:endChr m:val="]"/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e>
                                    <m:r>
                                      <a:rPr lang="en-US" altLang="zh-CN" sz="16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6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 1 0 0</m:t>
                            </m:r>
                          </m:e>
                        </m:d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/>
                    </m:sSup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altLang="zh-CN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f>
                                      <m:fPr>
                                        <m:ctrlP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num>
                                      <m:den>
                                        <m:r>
                                          <a:rPr lang="en-US" altLang="zh-CN" sz="1600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lang="en-US" altLang="zh-CN" sz="160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  0−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   0</m:t>
                            </m:r>
                          </m:e>
                        </m:d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CN" sz="2000" i="1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zh-CN" altLang="en-US" sz="2000" dirty="0"/>
                  <a:t>中的元素全部为非正数，取得最优解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altLang="zh-CN" sz="2000" i="1" dirty="0"/>
                  <a:t>.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sz="2000" i="1" dirty="0"/>
                  <a:t>,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zh-CN" altLang="en-US" sz="2000" dirty="0"/>
                  <a:t>为非基变量</a:t>
                </a:r>
                <a:r>
                  <a:rPr lang="en-US" altLang="zh-CN" sz="2000" dirty="0"/>
                  <a:t>,</a:t>
                </a:r>
                <a:r>
                  <a:rPr lang="zh-CN" altLang="en-US" sz="2000" dirty="0"/>
                  <a:t>意味着无穷多解。</a:t>
                </a:r>
                <a:endParaRPr lang="en-US" altLang="zh-CN" sz="2000" i="1" dirty="0"/>
              </a:p>
            </p:txBody>
          </p:sp>
        </mc:Choice>
        <mc:Fallback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FDC4E63D-4A3A-4B76-A623-AA3C44F7BD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957" y="2583873"/>
                <a:ext cx="8422987" cy="4274127"/>
              </a:xfrm>
              <a:blipFill>
                <a:blip r:embed="rId3"/>
                <a:stretch>
                  <a:fillRect l="-1447" t="-428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组合 6">
            <a:extLst>
              <a:ext uri="{FF2B5EF4-FFF2-40B4-BE49-F238E27FC236}">
                <a16:creationId xmlns:a16="http://schemas.microsoft.com/office/drawing/2014/main" id="{4EEFB7A7-279E-452A-8439-243E9FB024F7}"/>
              </a:ext>
            </a:extLst>
          </p:cNvPr>
          <p:cNvGrpSpPr/>
          <p:nvPr/>
        </p:nvGrpSpPr>
        <p:grpSpPr>
          <a:xfrm>
            <a:off x="766627" y="3114208"/>
            <a:ext cx="3285401" cy="1333155"/>
            <a:chOff x="1108373" y="981719"/>
            <a:chExt cx="3463627" cy="13331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C44FDF79-554F-49CF-91DA-9793694F7745}"/>
                    </a:ext>
                  </a:extLst>
                </p:cNvPr>
                <p:cNvSpPr/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3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  <m:e>
                                        <m:r>
                                          <a:rPr lang="en-US" altLang="zh-CN" sz="2800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098B2C9-F219-4DDD-B592-CE64EE73BD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8373" y="1049704"/>
                  <a:ext cx="3463627" cy="82785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22438877-240A-470C-8C5F-85E0E37B0D5E}"/>
                </a:ext>
              </a:extLst>
            </p:cNvPr>
            <p:cNvSpPr/>
            <p:nvPr/>
          </p:nvSpPr>
          <p:spPr>
            <a:xfrm>
              <a:off x="3397637" y="981719"/>
              <a:ext cx="8405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0672CD3-8D4C-4C0F-BC58-D9D434E7C4E1}"/>
                    </a:ext>
                  </a:extLst>
                </p:cNvPr>
                <p:cNvSpPr txBox="1"/>
                <p:nvPr/>
              </p:nvSpPr>
              <p:spPr>
                <a:xfrm>
                  <a:off x="3610144" y="1945542"/>
                  <a:ext cx="42351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dirty="0" smtClean="0">
                            <a:latin typeface="Cambria Math" panose="02040503050406030204" pitchFamily="18" charset="0"/>
                          </a:rPr>
                          <m:t>𝑵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0E943EC5-F51F-42C0-8C46-02E157F8A6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144" y="1945542"/>
                  <a:ext cx="42351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4C230C4A-5994-4309-8695-0AC664BE9ED3}"/>
                </a:ext>
              </a:extLst>
            </p:cNvPr>
            <p:cNvSpPr/>
            <p:nvPr/>
          </p:nvSpPr>
          <p:spPr>
            <a:xfrm>
              <a:off x="2223674" y="981719"/>
              <a:ext cx="840110" cy="96382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333666C4-01A2-42FC-BDFF-10CB0C56B2A4}"/>
                    </a:ext>
                  </a:extLst>
                </p:cNvPr>
                <p:cNvSpPr txBox="1"/>
                <p:nvPr/>
              </p:nvSpPr>
              <p:spPr>
                <a:xfrm>
                  <a:off x="2424688" y="1945542"/>
                  <a:ext cx="41549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084A8542-C7FF-488F-AAFC-423ACCA6A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4688" y="1945542"/>
                  <a:ext cx="415498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D21767-AD23-42E1-A53C-8DBA2E224F15}"/>
                  </a:ext>
                </a:extLst>
              </p:cNvPr>
              <p:cNvSpPr/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</m:acc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3D21767-AD23-42E1-A53C-8DBA2E224F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32" y="105945"/>
                <a:ext cx="2098843" cy="373307"/>
              </a:xfrm>
              <a:prstGeom prst="rect">
                <a:avLst/>
              </a:prstGeom>
              <a:blipFill>
                <a:blip r:embed="rId7"/>
                <a:stretch>
                  <a:fillRect t="-209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01D8630-08FB-4216-9A72-152799550C51}"/>
                  </a:ext>
                </a:extLst>
              </p:cNvPr>
              <p:cNvSpPr/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none">
                <a:spAutoFit/>
              </a:bodyPr>
              <a:lstStyle/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j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acc>
                                        <m:accPr>
                                          <m:chr m:val="⃗"/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CN" i="1">
                                                  <a:latin typeface="Cambria Math" panose="02040503050406030204" pitchFamily="18" charset="0"/>
                                                </a:rPr>
                                                <m:t>𝐴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zh-CN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en-US" altLang="zh-CN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601D8630-08FB-4216-9A72-152799550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6593" y="499154"/>
                <a:ext cx="4487319" cy="9449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A750A3F-1BB5-434E-8EB4-697C2A0A3B16}"/>
                  </a:ext>
                </a:extLst>
              </p:cNvPr>
              <p:cNvSpPr/>
              <p:nvPr/>
            </p:nvSpPr>
            <p:spPr>
              <a:xfrm>
                <a:off x="4364510" y="3106362"/>
                <a:ext cx="2041264" cy="11729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3A750A3F-1BB5-434E-8EB4-697C2A0A3B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4510" y="3106362"/>
                <a:ext cx="2041264" cy="117295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941847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2EC4D-5964-4539-8169-F6DEE7CC9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特殊情形 </a:t>
            </a:r>
            <a:r>
              <a:rPr lang="en-US" altLang="zh-CN" dirty="0"/>
              <a:t>II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6EC9D-9153-49EA-AFAC-8933C1C2FF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4"/>
                <a:ext cx="7886700" cy="4830815"/>
              </a:xfrm>
            </p:spPr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240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a:rPr lang="en-US" altLang="zh-CN" sz="2400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;   </m:t>
                    </m:r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endParaRPr lang="en-US" altLang="zh-C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acc>
                      <m:accPr>
                        <m:chr m:val="⃗"/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lang="zh-CN" altLang="en-US" sz="2400" dirty="0"/>
                  <a:t>原本都是非负数（基可行解）</a:t>
                </a:r>
                <a:endParaRPr lang="en-US" altLang="zh-CN" sz="240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/>
                  <a:t>的第</a:t>
                </a:r>
                <a:r>
                  <a:rPr lang="en-US" altLang="zh-CN" sz="2400" dirty="0"/>
                  <a:t>j</a:t>
                </a:r>
                <a:r>
                  <a:rPr lang="zh-CN" altLang="en-US" sz="2400" dirty="0"/>
                  <a:t>个元素：</a:t>
                </a:r>
                <a:endParaRPr lang="en-US" altLang="zh-CN" sz="2400" dirty="0"/>
              </a:p>
              <a:p>
                <a:pPr lvl="1"/>
                <a:r>
                  <a:rPr lang="zh-CN" altLang="en-US" sz="2000" dirty="0"/>
                  <a:t>如果是负数，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000" dirty="0"/>
                  <a:t>无论变多大，</a:t>
                </a:r>
                <a:r>
                  <a:rPr lang="en-US" altLang="zh-C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sz="2000" dirty="0"/>
                  <a:t>仍为可行解</a:t>
                </a:r>
                <a:endParaRPr lang="en-US" altLang="zh-CN" sz="2000" dirty="0"/>
              </a:p>
              <a:p>
                <a:pPr lvl="1"/>
                <a:r>
                  <a:rPr lang="zh-CN" altLang="en-US" sz="2000" dirty="0"/>
                  <a:t>如果是正数，要求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acc>
                              <m:accPr>
                                <m:chr m:val="⃗"/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sz="20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≥0 ⇒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acc>
                                  <m:accPr>
                                    <m:chr m:val="⃗"/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</m:d>
                          </m:e>
                          <m:sub>
                            <m:r>
                              <a:rPr lang="en-US" altLang="zh-CN" sz="2000" i="1" dirty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d>
                              <m:dPr>
                                <m:ctrlPr>
                                  <a:rPr lang="en-US" altLang="zh-CN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20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2000" i="1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endParaRPr lang="en-US" altLang="zh-CN" sz="2000" dirty="0"/>
              </a:p>
              <a:p>
                <a:pPr lvl="1"/>
                <a:r>
                  <a:rPr lang="zh-CN" altLang="en-US" sz="2000" dirty="0"/>
                  <a:t>上式需要对所有的</a:t>
                </a:r>
                <a:r>
                  <a:rPr lang="en-US" altLang="zh-CN" sz="2000" dirty="0"/>
                  <a:t>j</a:t>
                </a:r>
                <a:r>
                  <a:rPr lang="zh-CN" altLang="en-US" sz="2000" dirty="0"/>
                  <a:t>成立，因此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1800" dirty="0"/>
              </a:p>
              <a:p>
                <a:pPr lvl="1"/>
                <a:r>
                  <a:rPr lang="zh-CN" altLang="en-US" sz="1800" dirty="0"/>
                  <a:t>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US" altLang="zh-CN" sz="1800">
                                <a:latin typeface="Cambria Math" panose="02040503050406030204" pitchFamily="18" charset="0"/>
                              </a:rPr>
                              <m:t>j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acc>
                                      <m:accPr>
                                        <m:chr m:val="⃗"/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𝐵</m:t>
                                        </m:r>
                                      </m:e>
                                      <m:sup>
                                        <m:r>
                                          <a:rPr lang="en-US" altLang="zh-CN" sz="1800" i="1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  <m:sSub>
                                      <m:sSubPr>
                                        <m:ctrlP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⃗"/>
                                            <m:ctrlP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zh-CN" sz="1800" i="1">
                                                <a:latin typeface="Cambria Math" panose="02040503050406030204" pitchFamily="18" charset="0"/>
                                              </a:rPr>
                                              <m:t>𝐴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altLang="zh-CN" sz="1800" i="1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</m:e>
                    </m:func>
                    <m:r>
                      <a:rPr lang="en-US" altLang="zh-CN" sz="1800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1800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800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1800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altLang="zh-CN" sz="1800" dirty="0"/>
              </a:p>
              <a:p>
                <a:r>
                  <a:rPr lang="zh-CN" altLang="en-US" dirty="0"/>
                  <a:t>若换入变量对应的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sSub>
                      <m:sSub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全部为非正数：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/>
                  <a:t>无论变多大，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 dirty="0"/>
                  <a:t>仍为可行解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无界解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76EC9D-9153-49EA-AFAC-8933C1C2FF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4"/>
                <a:ext cx="7886700" cy="4830815"/>
              </a:xfrm>
              <a:blipFill>
                <a:blip r:embed="rId2"/>
                <a:stretch>
                  <a:fillRect l="-15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71482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24DA44C5-C2F4-49DA-BBF5-4D0911B2D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例子：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8298F02-9D8D-4D60-9368-867AB3B8B20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96983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D576745-BADB-4272-9292-F5ABAE875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kumimoji="1" lang="en-US" altLang="zh-CN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kumimoji="1" lang="zh-CN" alt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步：将</a:t>
            </a:r>
            <a:r>
              <a:rPr kumimoji="1" lang="en-US" altLang="zh-CN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LP</a:t>
            </a:r>
            <a:r>
              <a:rPr kumimoji="1" lang="zh-CN" altLang="en-US" sz="4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问题化为标准型</a:t>
            </a:r>
            <a:endParaRPr lang="zh-CN" altLang="en-US" sz="40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D18374-04FC-45AD-8A03-134FCBE5052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6637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F6CAD92-0383-4BC9-98F2-65EC3EF3A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sz="3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kumimoji="1" lang="en-US" altLang="zh-CN" sz="3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kumimoji="1" lang="zh-CN" altLang="en-US" sz="34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步：寻求初始可行基，确定基变量</a:t>
            </a:r>
            <a:endParaRPr lang="zh-CN" altLang="en-US" sz="3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18A9E00-26FB-427A-803A-F2460FA7E99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1940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E4F4753-1425-4812-9BD9-AD6FDB07D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>
              <a:spcBef>
                <a:spcPct val="50000"/>
              </a:spcBef>
              <a:defRPr/>
            </a:pPr>
            <a:r>
              <a:rPr kumimoji="1" lang="zh-CN" altLang="en-US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kumimoji="1" lang="en-US" altLang="zh-CN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kumimoji="1" lang="zh-CN" altLang="en-US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步：写出初始基可行解和相应的目标函数</a:t>
            </a:r>
            <a:endParaRPr kumimoji="1" lang="zh-CN" altLang="en-US" sz="26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80FF437-D611-4E51-BB0A-43D0F226ABFC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24895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4354D7D-2F1B-4C78-B75F-578243FB7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kumimoji="1" lang="zh-CN" altLang="en-US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kumimoji="1" lang="en-US" altLang="zh-CN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kumimoji="1" lang="zh-CN" altLang="en-US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步：分析两个基本表达式，</a:t>
            </a:r>
            <a:br>
              <a:rPr kumimoji="1" lang="en-US" altLang="zh-CN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</a:br>
            <a:r>
              <a:rPr kumimoji="1" lang="zh-CN" altLang="en-US" sz="26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</a:rPr>
              <a:t>看看目标函数是否可以改善？</a:t>
            </a:r>
            <a:endParaRPr kumimoji="1" lang="zh-CN" altLang="en-US" sz="2600" dirty="0"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D0465F3-B266-426F-A34C-7670F4B9D75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37829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3A318D95-84C8-484F-B59F-75127990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3731B8-F07C-4DCB-B21F-D664E7ACFA4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92116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5616B15A-E06A-46CB-BAE0-F7EB5ADE2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452377-FF21-4A00-A612-4BC61321BE7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4013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C07D8B4C-11CB-4CE6-948A-7D32B1717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0CC7069-8D3F-4177-A81E-4918CAFB072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14898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7B2D7B73-4C31-4F3A-9D53-7D36C6FC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283C153-9EB0-4262-A35F-CA0823AFD7D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1084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6211281-2C0B-4489-A59C-1648A2F0B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DF74AF-8739-47A3-B10B-E289E812F04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11208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DC103688-C261-486E-AE12-2F31F1005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E01BB28-07CD-4E72-B92E-F9F8C3F6276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82665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ACB7BA42-0CD8-45B0-A8D2-6B496D335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5B349A8-7A67-4AEE-ADDB-D979CDFF84B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08823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 hidden="1">
            <a:extLst>
              <a:ext uri="{FF2B5EF4-FFF2-40B4-BE49-F238E27FC236}">
                <a16:creationId xmlns:a16="http://schemas.microsoft.com/office/drawing/2014/main" id="{87BFE8D9-4C9C-45B6-A935-2C68FF9E6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/>
              <a:t>例子</a:t>
            </a:r>
            <a:r>
              <a:rPr lang="en-US" altLang="zh-CN" sz="4000"/>
              <a:t>-</a:t>
            </a:r>
            <a:r>
              <a:rPr lang="zh-CN" altLang="en-US" sz="4000"/>
              <a:t>单纯形法的几何意义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9EFACBA-8C06-461F-BC29-690EFA265290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87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2961</Words>
  <Application>Microsoft Office PowerPoint</Application>
  <PresentationFormat>全屏显示(4:3)</PresentationFormat>
  <Paragraphs>417</Paragraphs>
  <Slides>104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104</vt:i4>
      </vt:variant>
    </vt:vector>
  </HeadingPairs>
  <TitlesOfParts>
    <vt:vector size="112" baseType="lpstr">
      <vt:lpstr>等线</vt:lpstr>
      <vt:lpstr>宋体</vt:lpstr>
      <vt:lpstr>Arial</vt:lpstr>
      <vt:lpstr>Cambria Math</vt:lpstr>
      <vt:lpstr>Symbol</vt:lpstr>
      <vt:lpstr>Times New Roman</vt:lpstr>
      <vt:lpstr>Wingdings</vt:lpstr>
      <vt:lpstr>Office 主题​​</vt:lpstr>
      <vt:lpstr> 运 筹 学</vt:lpstr>
      <vt:lpstr>第二章</vt:lpstr>
      <vt:lpstr>线性规划问题的提出</vt:lpstr>
      <vt:lpstr>本章学习要求</vt:lpstr>
      <vt:lpstr>第二章之第一节</vt:lpstr>
      <vt:lpstr>基础知识</vt:lpstr>
      <vt:lpstr>基础知识</vt:lpstr>
      <vt:lpstr>基础知识-线性代数</vt:lpstr>
      <vt:lpstr>练习-写出矩阵的列向量或行向量表达</vt:lpstr>
      <vt:lpstr>基础知识-线性代数</vt:lpstr>
      <vt:lpstr>练习-写出矩阵乘法的列向量或行向量表达</vt:lpstr>
      <vt:lpstr>线性规划的模型</vt:lpstr>
      <vt:lpstr>引例</vt:lpstr>
      <vt:lpstr>PowerPoint 演示文稿</vt:lpstr>
      <vt:lpstr>线性规划问题的三要素</vt:lpstr>
      <vt:lpstr>PowerPoint 演示文稿</vt:lpstr>
      <vt:lpstr>线性规划数学模型</vt:lpstr>
      <vt:lpstr>线性规划模型隐含的假设</vt:lpstr>
      <vt:lpstr>两个复杂点的案例</vt:lpstr>
      <vt:lpstr>两个复杂点的案例</vt:lpstr>
      <vt:lpstr>线性规划问题的求解方法</vt:lpstr>
      <vt:lpstr>图解法11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图解法</vt:lpstr>
      <vt:lpstr>线性规划数学模型</vt:lpstr>
      <vt:lpstr>线性规划数学模型</vt:lpstr>
      <vt:lpstr>线性规划标准型数学模型</vt:lpstr>
      <vt:lpstr>线性规划标准型特点</vt:lpstr>
      <vt:lpstr>如何变换为标准型？(1)</vt:lpstr>
      <vt:lpstr>如何变换为标准型？(2)</vt:lpstr>
      <vt:lpstr>如何变换为标准型？(3)</vt:lpstr>
      <vt:lpstr>概念：基可行解</vt:lpstr>
      <vt:lpstr>PowerPoint 演示文稿</vt:lpstr>
      <vt:lpstr>例子</vt:lpstr>
      <vt:lpstr>例子</vt:lpstr>
      <vt:lpstr>定理：基可行解一定是顶点，反之亦然 证明略（参考Introduction to linear optimization P51-52）  定理：若可行域有界，则问题max⁡〖c ⃗^T x ⃗ 〗的最优解一定包括某顶点 证明略（参考运筹学（第四版）P26定理3）  结论：最优解⊃某个顶点，顶点⇔基可行解 最优解⊃某个"基可行解"</vt:lpstr>
      <vt:lpstr>PowerPoint 演示文稿</vt:lpstr>
      <vt:lpstr>PowerPoint 演示文稿</vt:lpstr>
      <vt:lpstr>LP问题解的矩阵表达</vt:lpstr>
      <vt:lpstr>基解与基可行解</vt:lpstr>
      <vt:lpstr>基解与基可行解</vt:lpstr>
      <vt:lpstr>概念之间的联系</vt:lpstr>
      <vt:lpstr>PowerPoint 演示文稿</vt:lpstr>
      <vt:lpstr>PowerPoint 演示文稿</vt:lpstr>
      <vt:lpstr>PowerPoint 演示文稿</vt:lpstr>
      <vt:lpstr>例子</vt:lpstr>
      <vt:lpstr>PowerPoint 演示文稿</vt:lpstr>
      <vt:lpstr>LP问题解的概念</vt:lpstr>
      <vt:lpstr>几个定理</vt:lpstr>
      <vt:lpstr>结论</vt:lpstr>
      <vt:lpstr>思考1(1)</vt:lpstr>
      <vt:lpstr>思考1(2)</vt:lpstr>
      <vt:lpstr>图解法中可能的求解结果</vt:lpstr>
      <vt:lpstr>凸集的定义</vt:lpstr>
      <vt:lpstr>凸函数</vt:lpstr>
      <vt:lpstr>PowerPoint 演示文稿</vt:lpstr>
      <vt:lpstr>PowerPoint 演示文稿</vt:lpstr>
      <vt:lpstr>PowerPoint 演示文稿</vt:lpstr>
      <vt:lpstr>PowerPoint 演示文稿</vt:lpstr>
      <vt:lpstr>极点(顶点)的定义</vt:lpstr>
      <vt:lpstr>思考2</vt:lpstr>
      <vt:lpstr>第二章之第二节</vt:lpstr>
      <vt:lpstr>线性规划的单纯形解法创始人</vt:lpstr>
      <vt:lpstr>单纯形</vt:lpstr>
      <vt:lpstr>单纯形法的理论依据和基本思想</vt:lpstr>
      <vt:lpstr>例子</vt:lpstr>
      <vt:lpstr>单纯形法的操作流程</vt:lpstr>
      <vt:lpstr>单纯形法的三个关键问题</vt:lpstr>
      <vt:lpstr>初始基可行解的确定</vt:lpstr>
      <vt:lpstr>初始基可行解的确定</vt:lpstr>
      <vt:lpstr>初始基可行解的确定</vt:lpstr>
      <vt:lpstr>初始基可行解的确定</vt:lpstr>
      <vt:lpstr>基解的变换</vt:lpstr>
      <vt:lpstr>x_(N,i) 由零变成正数对目标函数z的影响</vt:lpstr>
      <vt:lpstr>例子</vt:lpstr>
      <vt:lpstr>习题</vt:lpstr>
      <vt:lpstr>θ规则</vt:lpstr>
      <vt:lpstr>例子</vt:lpstr>
      <vt:lpstr>习题</vt:lpstr>
      <vt:lpstr>归纳总结</vt:lpstr>
      <vt:lpstr>例子</vt:lpstr>
      <vt:lpstr>例子</vt:lpstr>
      <vt:lpstr>例子</vt:lpstr>
      <vt:lpstr>特殊情形 I</vt:lpstr>
      <vt:lpstr>例子</vt:lpstr>
      <vt:lpstr>特殊情形 II</vt:lpstr>
      <vt:lpstr>例子：</vt:lpstr>
      <vt:lpstr>第1步：将LP问题化为标准型</vt:lpstr>
      <vt:lpstr>第2步：寻求初始可行基，确定基变量</vt:lpstr>
      <vt:lpstr>第3步：写出初始基可行解和相应的目标函数</vt:lpstr>
      <vt:lpstr>第4步：分析两个基本表达式， 看看目标函数是否可以改善？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例子-单纯形法的几何意义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>
  <dc:title> 运 筹 学</dc:title>
  <cp:revision>76</cp:revision>
</cp:coreProperties>
</file>