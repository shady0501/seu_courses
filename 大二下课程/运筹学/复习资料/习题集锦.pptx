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18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88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41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38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23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86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84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50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32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88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83FACFE-A8FB-4BC8-9FEA-E2D4440A39B6}" type="datetimeFigureOut">
              <a:rPr lang="zh-CN" altLang="en-US" smtClean="0"/>
              <a:t>2024/3/16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966CDD0-317D-44EE-91B2-CDF4104674D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47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BC359-3FC3-471A-8646-4E3839E5F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运筹学习题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2BB3DC-7D56-4137-B2FC-43F9FBA5D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433618" cy="1463040"/>
          </a:xfrm>
        </p:spPr>
        <p:txBody>
          <a:bodyPr/>
          <a:lstStyle/>
          <a:p>
            <a:r>
              <a:rPr lang="zh-CN" altLang="en-US" dirty="0"/>
              <a:t>季续</a:t>
            </a:r>
            <a:endParaRPr lang="en-US" altLang="zh-CN" dirty="0"/>
          </a:p>
          <a:p>
            <a:r>
              <a:rPr lang="zh-CN" altLang="en-US" dirty="0"/>
              <a:t>东南大学影像科学与技术实验室</a:t>
            </a:r>
          </a:p>
        </p:txBody>
      </p:sp>
    </p:spTree>
    <p:extLst>
      <p:ext uri="{BB962C8B-B14F-4D97-AF65-F5344CB8AC3E}">
        <p14:creationId xmlns:p14="http://schemas.microsoft.com/office/powerpoint/2010/main" val="406028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A880B-4752-4D7F-A8D9-1BDE42BA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使用大</a:t>
            </a:r>
            <a:r>
              <a:rPr lang="en-US" altLang="zh-CN" dirty="0"/>
              <a:t>M</a:t>
            </a:r>
            <a:r>
              <a:rPr lang="zh-CN" altLang="en-US" dirty="0"/>
              <a:t>法解以下问题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1138263-AF06-45ED-9278-4E0725F2ACA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23938" y="2286000"/>
                <a:ext cx="9720262" cy="4022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4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4000" i="1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sz="4000" dirty="0"/>
              </a:p>
              <a:p>
                <a14:m>
                  <m:oMath xmlns:m="http://schemas.openxmlformats.org/officeDocument/2006/math"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1138263-AF06-45ED-9278-4E0725F2ACA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938" y="2286000"/>
                <a:ext cx="9720262" cy="4022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9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50491-F4D6-4EA3-9E53-9F95B39F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首先加入人工变量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AC4903-3F3D-485F-BD59-98312788A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buClr>
                    <a:srgbClr val="1CADE4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4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4000" dirty="0">
                    <a:solidFill>
                      <a:prstClr val="black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4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4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altLang="zh-CN" sz="40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1CADE4"/>
                  </a:buClr>
                </a:pPr>
                <a14:m>
                  <m:oMath xmlns:m="http://schemas.openxmlformats.org/officeDocument/2006/math"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4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4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+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+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AC4903-3F3D-485F-BD59-98312788A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39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F7282-8091-43E2-AAA7-3AB3E3F0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47D504A-BE4B-4154-AA9D-3E746F5D3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3151452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1800" b="0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159393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9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4.5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-2M+...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-3M+…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47D504A-BE4B-4154-AA9D-3E746F5D3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3151452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13" t="-752" r="-16994" b="-39774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100000" r="-9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26" t="-100000" r="-8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00000" r="-698980" b="-29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538" t="-200000" r="-602564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538" t="-200000" r="-502564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538" t="-200000" r="-402564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538" t="-200000" r="-302564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959" t="-200000" r="-201020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051" t="-200000" r="-102051" b="-6895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051" t="-100000" r="-2051" b="-294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159393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204580" r="-903077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304580" r="-903077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9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4.5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1" t="-404580" r="-233788" b="-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-2M+...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-3M+…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530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1B2FB-73BD-44B8-8521-C9DA64C5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进一步迭代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C8F17F1-19C9-409E-81B5-06BC3811E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867199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825910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1081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032386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953728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1800" b="0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4227662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7.5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1/2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4.5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-1/2M+3/2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-1/2M+1/2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3/2M+...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C8F17F1-19C9-409E-81B5-06BC3811E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9867199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825910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1081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032386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953728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892" t="-752" r="-16166" b="-39774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100000" r="-9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26" t="-100000" r="-8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8235" t="-100000" r="-1051471" b="-29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7900" t="-200000" r="-408897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8698" t="-200000" r="-579882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1250" t="-200000" r="-512500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3048" t="-200000" r="-204833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6178" t="-200000" r="-250955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051" t="-200000" r="-102051" b="-6895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051" t="-100000" r="-2051" b="-294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4227662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204580" r="-903077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7.5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1/2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304580" r="-903077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4.5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1/2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404580" r="-271863" b="-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-1/2M+3/2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-1/2M+1/2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3/2M+...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046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1B2FB-73BD-44B8-8521-C9DA64C5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进一步迭代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C8F17F1-19C9-409E-81B5-06BC3811E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369144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825910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1081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032386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953728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1800" b="0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812328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2C8F17F1-19C9-409E-81B5-06BC3811E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369144"/>
                  </p:ext>
                </p:extLst>
              </p:nvPr>
            </p:nvGraphicFramePr>
            <p:xfrm>
              <a:off x="176981" y="1966451"/>
              <a:ext cx="11897030" cy="40162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825910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10813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032386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973394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  <a:gridCol w="953728">
                      <a:extLst>
                        <a:ext uri="{9D8B030D-6E8A-4147-A177-3AD203B41FA5}">
                          <a16:colId xmlns:a16="http://schemas.microsoft.com/office/drawing/2014/main" val="69100258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707926419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3359340276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6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892" t="-752" r="-16166" b="-39774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40879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100000" r="-9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26" t="-100000" r="-803077" b="-29477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8235" t="-100000" r="-1051471" b="-294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7900" t="-200000" r="-408897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8698" t="-200000" r="-579882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1250" t="-200000" r="-512500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23048" t="-200000" r="-204833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96178" t="-200000" r="-250955" b="-6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2051" t="-200000" r="-102051" b="-6895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051" t="-100000" r="-2051" b="-294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4087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812328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204580" r="-903077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26" t="-304580" r="-903077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12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404580" r="-271863" b="-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M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5482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A880B-4752-4D7F-A8D9-1BDE42BA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使用对偶单纯形法解以下问题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1138263-AF06-45ED-9278-4E0725F2ACA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23938" y="2286000"/>
                <a:ext cx="9720262" cy="4022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4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4000" i="1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sz="4000" dirty="0"/>
              </a:p>
              <a:p>
                <a14:m>
                  <m:oMath xmlns:m="http://schemas.openxmlformats.org/officeDocument/2006/math"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4000" dirty="0"/>
              </a:p>
              <a:p>
                <a:r>
                  <a:rPr lang="zh-CN" altLang="en-US" sz="4000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4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4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4000" dirty="0"/>
                  <a:t>为基变量</a:t>
                </a:r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1138263-AF06-45ED-9278-4E0725F2ACA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3938" y="2286000"/>
                <a:ext cx="9720262" cy="4022725"/>
              </a:xfrm>
              <a:prstGeom prst="rect">
                <a:avLst/>
              </a:prstGeom>
              <a:blipFill>
                <a:blip r:embed="rId2"/>
                <a:stretch>
                  <a:fillRect l="-2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97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11CA69E7-6AD4-4647-9BE4-EC6622BB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E57036-FD3D-46F8-962F-25508378B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081709"/>
                  </p:ext>
                </p:extLst>
              </p:nvPr>
            </p:nvGraphicFramePr>
            <p:xfrm>
              <a:off x="875071" y="1868128"/>
              <a:ext cx="10707327" cy="481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50142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37187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2408902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8175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1800" b="0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-9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7726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E57036-FD3D-46F8-962F-25508378B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081709"/>
                  </p:ext>
                </p:extLst>
              </p:nvPr>
            </p:nvGraphicFramePr>
            <p:xfrm>
              <a:off x="875071" y="1868128"/>
              <a:ext cx="10707327" cy="481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50142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37187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2408902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128" t="-752" r="-427" b="-4962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8175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100000" r="-80359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100000" r="-70359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90" t="-100000" r="-60000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204580" r="-803590" b="-3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-1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304580" r="-803590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-9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-2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" t="-404580" r="-200683" b="-10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" t="-504580" r="-200683" b="-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772697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469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11CA69E7-6AD4-4647-9BE4-EC6622BB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单纯形表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E57036-FD3D-46F8-962F-25508378B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355822"/>
                  </p:ext>
                </p:extLst>
              </p:nvPr>
            </p:nvGraphicFramePr>
            <p:xfrm>
              <a:off x="875071" y="1868128"/>
              <a:ext cx="10707327" cy="481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50142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37187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2408902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8175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1800" b="0" i="1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772697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33E57036-FD3D-46F8-962F-25508378BC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355822"/>
                  </p:ext>
                </p:extLst>
              </p:nvPr>
            </p:nvGraphicFramePr>
            <p:xfrm>
              <a:off x="875071" y="1868128"/>
              <a:ext cx="10707327" cy="481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9703">
                      <a:extLst>
                        <a:ext uri="{9D8B030D-6E8A-4147-A177-3AD203B41FA5}">
                          <a16:colId xmlns:a16="http://schemas.microsoft.com/office/drawing/2014/main" val="3775034011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1586977620"/>
                        </a:ext>
                      </a:extLst>
                    </a:gridCol>
                    <a:gridCol w="1189703">
                      <a:extLst>
                        <a:ext uri="{9D8B030D-6E8A-4147-A177-3AD203B41FA5}">
                          <a16:colId xmlns:a16="http://schemas.microsoft.com/office/drawing/2014/main" val="2459346512"/>
                        </a:ext>
                      </a:extLst>
                    </a:gridCol>
                    <a:gridCol w="1750142">
                      <a:extLst>
                        <a:ext uri="{9D8B030D-6E8A-4147-A177-3AD203B41FA5}">
                          <a16:colId xmlns:a16="http://schemas.microsoft.com/office/drawing/2014/main" val="1426368105"/>
                        </a:ext>
                      </a:extLst>
                    </a:gridCol>
                    <a:gridCol w="1641987">
                      <a:extLst>
                        <a:ext uri="{9D8B030D-6E8A-4147-A177-3AD203B41FA5}">
                          <a16:colId xmlns:a16="http://schemas.microsoft.com/office/drawing/2014/main" val="1783729747"/>
                        </a:ext>
                      </a:extLst>
                    </a:gridCol>
                    <a:gridCol w="1337187">
                      <a:extLst>
                        <a:ext uri="{9D8B030D-6E8A-4147-A177-3AD203B41FA5}">
                          <a16:colId xmlns:a16="http://schemas.microsoft.com/office/drawing/2014/main" val="3541072806"/>
                        </a:ext>
                      </a:extLst>
                    </a:gridCol>
                    <a:gridCol w="2408902">
                      <a:extLst>
                        <a:ext uri="{9D8B030D-6E8A-4147-A177-3AD203B41FA5}">
                          <a16:colId xmlns:a16="http://schemas.microsoft.com/office/drawing/2014/main" val="1037422741"/>
                        </a:ext>
                      </a:extLst>
                    </a:gridCol>
                  </a:tblGrid>
                  <a:tr h="8078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128" t="-752" r="-427" b="-4962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668008"/>
                      </a:ext>
                    </a:extLst>
                  </a:tr>
                  <a:tr h="8175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100000" r="-80359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100000" r="-70359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90" t="-100000" r="-600000" b="-3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396716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204580" r="-803590" b="-3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12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highlight>
                                <a:srgbClr val="FFFF00"/>
                              </a:highlight>
                            </a:rPr>
                            <a:t>1</a:t>
                          </a:r>
                          <a:endParaRPr lang="zh-CN" altLang="en-US" sz="2000" b="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06259519"/>
                      </a:ext>
                    </a:extLst>
                  </a:tr>
                  <a:tr h="7969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304580" r="-803590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15</a:t>
                          </a:r>
                          <a:endParaRPr lang="zh-CN" altLang="en-US" sz="2000" b="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-1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0698735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" t="-404580" r="-200683" b="-10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2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1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/>
                            <a:t>0</a:t>
                          </a:r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3426617"/>
                      </a:ext>
                    </a:extLst>
                  </a:tr>
                  <a:tr h="796908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1" t="-504580" r="-200683" b="-15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b="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772697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0756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/>
  <Words>287</Words>
  <Application>Microsoft Office PowerPoint</Application>
  <PresentationFormat>宽屏</PresentationFormat>
  <Paragraphs>204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华文仿宋</vt:lpstr>
      <vt:lpstr>Arial</vt:lpstr>
      <vt:lpstr>Cambria Math</vt:lpstr>
      <vt:lpstr>Tw Cen MT</vt:lpstr>
      <vt:lpstr>Tw Cen MT Condensed</vt:lpstr>
      <vt:lpstr>Wingdings 3</vt:lpstr>
      <vt:lpstr>积分</vt:lpstr>
      <vt:lpstr>运筹学习题</vt:lpstr>
      <vt:lpstr>使用大M法解以下问题</vt:lpstr>
      <vt:lpstr>首先加入人工变量</vt:lpstr>
      <vt:lpstr>单纯形表</vt:lpstr>
      <vt:lpstr>进一步迭代</vt:lpstr>
      <vt:lpstr>进一步迭代</vt:lpstr>
      <vt:lpstr>使用对偶单纯形法解以下问题</vt:lpstr>
      <vt:lpstr>单纯形表</vt:lpstr>
      <vt:lpstr>单纯形表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运筹学习题</dc:title>
  <cp:revision>7</cp:revision>
</cp:coreProperties>
</file>