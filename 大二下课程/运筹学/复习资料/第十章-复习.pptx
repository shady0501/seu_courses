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91" r:id="rId23"/>
    <p:sldId id="290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92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FEA-8AAE-456B-9E3A-624710B522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9DBB8A-6BBF-456D-9A1E-48361E55AB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76DA3-C25B-4462-B86A-C5BF81C74E15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FFED68-48F1-49B0-B3CE-16AE98A573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CEC139-0217-4633-9D58-2991CCA7FA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A4D72-0783-4D51-ABF6-85189DB4B8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9077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92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800"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400"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800"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800"/>
            </a:lvl4pPr>
            <a:lvl5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7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03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35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63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13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54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130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50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98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58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CD31760-1B78-4859-B697-4E8CEE870D5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C6AFAF1-F4A9-4AC9-94EE-4EEFF08D782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57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5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92A94-3960-4D3A-A4B6-99621C477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复习与习题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FE7DF2-9868-4873-884B-C368549F1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季续</a:t>
            </a:r>
          </a:p>
        </p:txBody>
      </p:sp>
    </p:spTree>
    <p:extLst>
      <p:ext uri="{BB962C8B-B14F-4D97-AF65-F5344CB8AC3E}">
        <p14:creationId xmlns:p14="http://schemas.microsoft.com/office/powerpoint/2010/main" val="3371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D2475-DA8A-4D46-8DBD-897D021A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单纯形法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02D376-813B-4707-9582-BB7AD2D78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/>
                  <a:t>将线性规划问题化成标准型</a:t>
                </a:r>
                <a:endParaRPr lang="en-US" altLang="zh-CN" sz="2800" dirty="0"/>
              </a:p>
              <a:p>
                <a:r>
                  <a:rPr lang="zh-CN" altLang="en-US" sz="2800" dirty="0"/>
                  <a:t>基变量与非基变量的概念</a:t>
                </a:r>
                <a:endParaRPr lang="en-US" altLang="zh-CN" sz="2800" dirty="0"/>
              </a:p>
              <a:p>
                <a:pPr lvl="1"/>
                <a:r>
                  <a:rPr lang="en-US" altLang="zh-CN" sz="2400" dirty="0"/>
                  <a:t>m</a:t>
                </a:r>
                <a:r>
                  <a:rPr lang="zh-CN" altLang="en-US" sz="2400" dirty="0"/>
                  <a:t>个等式约束，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个变量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400" dirty="0"/>
                  <a:t> m</a:t>
                </a:r>
                <a:r>
                  <a:rPr lang="zh-CN" altLang="en-US" sz="2400" dirty="0"/>
                  <a:t>个基变量，</a:t>
                </a:r>
                <a:r>
                  <a:rPr lang="en-US" altLang="zh-CN" sz="2400" dirty="0"/>
                  <a:t>n-m</a:t>
                </a:r>
                <a:r>
                  <a:rPr lang="zh-CN" altLang="en-US" sz="2400" dirty="0"/>
                  <a:t>个非基变量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所有的非基变量取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，从而计算基变量的值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可行解要求计算出来的基变量的值大于</a:t>
                </a:r>
                <a:r>
                  <a:rPr lang="en-US" altLang="zh-CN" sz="2400" dirty="0"/>
                  <a:t>0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02D376-813B-4707-9582-BB7AD2D78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11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29446-1735-4D7D-8574-FD0A5AC1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单纯形法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E0393A-CBA8-4C53-B815-7572D18A7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zh-CN" altLang="en-US" dirty="0"/>
                  <a:t>检验数：判断是否是最优解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对于</a:t>
                </a:r>
                <a:r>
                  <a:rPr lang="en-US" altLang="zh-CN" dirty="0"/>
                  <a:t>max</a:t>
                </a:r>
                <a:r>
                  <a:rPr lang="zh-CN" altLang="en-US" dirty="0"/>
                  <a:t>问题，最优解对应的检验数是？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如何确定换入变量？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确定换出变量后，如何通过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规则确定换出变量？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无界解和无穷多解分别对应什么情形？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无界解：找不到换入变量；无穷多最优解：非基变量检验数为</a:t>
                </a:r>
                <a:r>
                  <a:rPr lang="en-US" altLang="zh-CN" dirty="0"/>
                  <a:t>0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E0393A-CBA8-4C53-B815-7572D18A7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31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57C92-0693-4607-992E-6652028E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单纯形法</a:t>
            </a:r>
            <a:r>
              <a:rPr lang="en-US" altLang="zh-CN" dirty="0"/>
              <a:t>-</a:t>
            </a:r>
            <a:r>
              <a:rPr lang="zh-CN" altLang="en-US" dirty="0"/>
              <a:t>单纯形表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4556088-7209-49D6-A390-24870B4838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547155"/>
                  </p:ext>
                </p:extLst>
              </p:nvPr>
            </p:nvGraphicFramePr>
            <p:xfrm>
              <a:off x="725564" y="2202872"/>
              <a:ext cx="10740872" cy="372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2609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71049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83038" marR="83038" marT="41519" marB="4151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9082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800" b="1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7008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008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00860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83038" marR="83038" marT="41519" marB="41519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4556088-7209-49D6-A390-24870B4838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547155"/>
                  </p:ext>
                </p:extLst>
              </p:nvPr>
            </p:nvGraphicFramePr>
            <p:xfrm>
              <a:off x="725564" y="2202872"/>
              <a:ext cx="10740872" cy="372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2609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71049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3038" marR="83038" marT="41519" marB="41519" anchor="ctr">
                        <a:blipFill>
                          <a:blip r:embed="rId2"/>
                          <a:stretch>
                            <a:fillRect l="-75255" t="-855" r="-25539" b="-4239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90828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2"/>
                          <a:stretch>
                            <a:fillRect l="-909" t="-79195" r="-703182" b="-232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2"/>
                          <a:stretch>
                            <a:fillRect l="-100452" t="-79195" r="-600000" b="-232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2"/>
                          <a:stretch>
                            <a:fillRect l="-201364" t="-79195" r="-502727" b="-2328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2"/>
                          <a:stretch>
                            <a:fillRect l="-701818" t="-79195" r="-2273" b="-2328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7008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008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00860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3038" marR="83038" marT="41519" marB="41519" anchor="ctr">
                        <a:blipFill>
                          <a:blip r:embed="rId2"/>
                          <a:stretch>
                            <a:fillRect l="-303" t="-432174" r="-167322" b="-17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9523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BA555-5971-487E-96ED-92E34642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r>
              <a:rPr lang="en-US" altLang="zh-CN" dirty="0"/>
              <a:t>: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73B0D8-DC47-4221-80FE-EF3A1ECCB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写出下述问题的初始单纯形表，找出第一步迭代的换入换出变量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=−3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73B0D8-DC47-4221-80FE-EF3A1ECCB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CBBB01F-01FF-4D55-8E61-E8C6C2DECD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939602"/>
                  </p:ext>
                </p:extLst>
              </p:nvPr>
            </p:nvGraphicFramePr>
            <p:xfrm>
              <a:off x="5645726" y="3134166"/>
              <a:ext cx="6027928" cy="30657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491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585319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3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3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3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3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300" b="1" dirty="0"/>
                        </a:p>
                      </a:txBody>
                      <a:tcPr marL="75331" marR="75331" marT="37665" marB="37665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74826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3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3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3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3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3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3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3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3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3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3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p>
                                    <m:r>
                                      <a:rPr lang="en-US" altLang="zh-CN" sz="23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3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300" b="1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3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132729" marR="132729" marT="66364" marB="66364" anchor="ctr"/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577386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577386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577386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3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3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300" b="1" dirty="0"/>
                        </a:p>
                      </a:txBody>
                      <a:tcPr marL="75331" marR="75331" marT="37665" marB="37665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CBBB01F-01FF-4D55-8E61-E8C6C2DECD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939602"/>
                  </p:ext>
                </p:extLst>
              </p:nvPr>
            </p:nvGraphicFramePr>
            <p:xfrm>
              <a:off x="5645726" y="3134166"/>
              <a:ext cx="6027928" cy="30657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491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753491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585319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5331" marR="75331" marT="37665" marB="37665" anchor="ctr">
                        <a:blipFill>
                          <a:blip r:embed="rId3"/>
                          <a:stretch>
                            <a:fillRect l="-75304" t="-1042" r="-26113" b="-4270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7482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32729" marR="132729" marT="66364" marB="66364" anchor="ctr">
                        <a:blipFill>
                          <a:blip r:embed="rId3"/>
                          <a:stretch>
                            <a:fillRect l="-806" t="-78862" r="-701613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32729" marR="132729" marT="66364" marB="66364" anchor="ctr">
                        <a:blipFill>
                          <a:blip r:embed="rId3"/>
                          <a:stretch>
                            <a:fillRect l="-101626" t="-78862" r="-607317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32729" marR="132729" marT="66364" marB="66364" anchor="ctr">
                        <a:blipFill>
                          <a:blip r:embed="rId3"/>
                          <a:stretch>
                            <a:fillRect l="-200000" t="-78862" r="-502419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32729" marR="132729" marT="66364" marB="66364" anchor="ctr">
                        <a:blipFill>
                          <a:blip r:embed="rId3"/>
                          <a:stretch>
                            <a:fillRect l="-698387" t="-78862" r="-4032" b="-2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577386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577386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577386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5331" marR="75331" marT="37665" marB="37665" anchor="ctr">
                        <a:blipFill>
                          <a:blip r:embed="rId3"/>
                          <a:stretch>
                            <a:fillRect l="-270" t="-431579" r="-167925" b="-21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300" b="1" dirty="0"/>
                        </a:p>
                      </a:txBody>
                      <a:tcPr marL="132729" marR="132729" marT="66364" marB="66364"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178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E3D64-C345-4AA1-A615-04ADE221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对偶问题与灵敏度分析</a:t>
            </a:r>
          </a:p>
        </p:txBody>
      </p:sp>
      <p:graphicFrame>
        <p:nvGraphicFramePr>
          <p:cNvPr id="6" name="Object 35">
            <a:extLst>
              <a:ext uri="{FF2B5EF4-FFF2-40B4-BE49-F238E27FC236}">
                <a16:creationId xmlns:a16="http://schemas.microsoft.com/office/drawing/2014/main" id="{08714F65-15EC-40B5-841B-7D04AA2E6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853399"/>
              </p:ext>
            </p:extLst>
          </p:nvPr>
        </p:nvGraphicFramePr>
        <p:xfrm>
          <a:off x="472930" y="1804988"/>
          <a:ext cx="4824413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3" imgW="2387600" imgH="2222500" progId="Equation.DSMT4">
                  <p:embed/>
                </p:oleObj>
              </mc:Choice>
              <mc:Fallback>
                <p:oleObj name="Equation" r:id="rId3" imgW="2387600" imgH="2222500" progId="Equation.DSMT4">
                  <p:embed/>
                  <p:pic>
                    <p:nvPicPr>
                      <p:cNvPr id="38915" name="Object 35">
                        <a:extLst>
                          <a:ext uri="{FF2B5EF4-FFF2-40B4-BE49-F238E27FC236}">
                            <a16:creationId xmlns:a16="http://schemas.microsoft.com/office/drawing/2014/main" id="{512F94D0-6E25-4409-B978-C97A974272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30" y="1804988"/>
                        <a:ext cx="4824413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3">
            <a:extLst>
              <a:ext uri="{FF2B5EF4-FFF2-40B4-BE49-F238E27FC236}">
                <a16:creationId xmlns:a16="http://schemas.microsoft.com/office/drawing/2014/main" id="{E0D98D40-DD7D-4409-841C-9D3B6F3EF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6406" y="2382838"/>
            <a:ext cx="720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Object 36">
            <a:extLst>
              <a:ext uri="{FF2B5EF4-FFF2-40B4-BE49-F238E27FC236}">
                <a16:creationId xmlns:a16="http://schemas.microsoft.com/office/drawing/2014/main" id="{0A8274CF-26A8-4A95-ACB1-5659DF146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788843"/>
              </p:ext>
            </p:extLst>
          </p:nvPr>
        </p:nvGraphicFramePr>
        <p:xfrm>
          <a:off x="5992668" y="1941513"/>
          <a:ext cx="23479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公式" r:id="rId5" imgW="1193800" imgH="431800" progId="Equation.3">
                  <p:embed/>
                </p:oleObj>
              </mc:Choice>
              <mc:Fallback>
                <p:oleObj name="公式" r:id="rId5" imgW="1193800" imgH="431800" progId="Equation.3">
                  <p:embed/>
                  <p:pic>
                    <p:nvPicPr>
                      <p:cNvPr id="12" name="Object 36">
                        <a:extLst>
                          <a:ext uri="{FF2B5EF4-FFF2-40B4-BE49-F238E27FC236}">
                            <a16:creationId xmlns:a16="http://schemas.microsoft.com/office/drawing/2014/main" id="{036CEA63-E3F9-4C57-9B09-617B444A7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668" y="1941513"/>
                        <a:ext cx="23479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7">
            <a:extLst>
              <a:ext uri="{FF2B5EF4-FFF2-40B4-BE49-F238E27FC236}">
                <a16:creationId xmlns:a16="http://schemas.microsoft.com/office/drawing/2014/main" id="{40F08336-0E92-4EF6-93E8-3D84E64B36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231701"/>
              </p:ext>
            </p:extLst>
          </p:nvPr>
        </p:nvGraphicFramePr>
        <p:xfrm>
          <a:off x="6281593" y="3000375"/>
          <a:ext cx="2471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公式" r:id="rId7" imgW="1257300" imgH="228600" progId="Equation.3">
                  <p:embed/>
                </p:oleObj>
              </mc:Choice>
              <mc:Fallback>
                <p:oleObj name="公式" r:id="rId7" imgW="1257300" imgH="228600" progId="Equation.3">
                  <p:embed/>
                  <p:pic>
                    <p:nvPicPr>
                      <p:cNvPr id="13" name="Object 37">
                        <a:extLst>
                          <a:ext uri="{FF2B5EF4-FFF2-40B4-BE49-F238E27FC236}">
                            <a16:creationId xmlns:a16="http://schemas.microsoft.com/office/drawing/2014/main" id="{4124861F-7DC3-4C7E-8CB8-1BB32C86B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593" y="3000375"/>
                        <a:ext cx="24717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6">
            <a:extLst>
              <a:ext uri="{FF2B5EF4-FFF2-40B4-BE49-F238E27FC236}">
                <a16:creationId xmlns:a16="http://schemas.microsoft.com/office/drawing/2014/main" id="{42F89A9A-657F-471E-94DF-3B2777FEF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431" y="3309938"/>
            <a:ext cx="720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727440EE-27AD-4808-9CB4-325FF20EA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6406" y="4173538"/>
            <a:ext cx="720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85D51B2D-3416-4FFE-84CB-28F20B07B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6406" y="5326063"/>
            <a:ext cx="720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8C8333D3-AFDD-41B3-AFBF-FBE47BF47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4968" y="6189663"/>
            <a:ext cx="720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" name="Object 38">
            <a:extLst>
              <a:ext uri="{FF2B5EF4-FFF2-40B4-BE49-F238E27FC236}">
                <a16:creationId xmlns:a16="http://schemas.microsoft.com/office/drawing/2014/main" id="{A622CB8E-304A-4D16-B1C6-8067D1876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744848"/>
              </p:ext>
            </p:extLst>
          </p:nvPr>
        </p:nvGraphicFramePr>
        <p:xfrm>
          <a:off x="6256193" y="3860800"/>
          <a:ext cx="33972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公式" r:id="rId9" imgW="1727200" imgH="228600" progId="Equation.3">
                  <p:embed/>
                </p:oleObj>
              </mc:Choice>
              <mc:Fallback>
                <p:oleObj name="公式" r:id="rId9" imgW="1727200" imgH="228600" progId="Equation.3">
                  <p:embed/>
                  <p:pic>
                    <p:nvPicPr>
                      <p:cNvPr id="18" name="Object 38">
                        <a:extLst>
                          <a:ext uri="{FF2B5EF4-FFF2-40B4-BE49-F238E27FC236}">
                            <a16:creationId xmlns:a16="http://schemas.microsoft.com/office/drawing/2014/main" id="{7946DDCA-1887-48DA-B5F7-FA28ADA0A8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193" y="3860800"/>
                        <a:ext cx="33972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9">
            <a:extLst>
              <a:ext uri="{FF2B5EF4-FFF2-40B4-BE49-F238E27FC236}">
                <a16:creationId xmlns:a16="http://schemas.microsoft.com/office/drawing/2014/main" id="{3EE2E7FC-5C36-4474-9336-DA1DD2E54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3561"/>
              </p:ext>
            </p:extLst>
          </p:nvPr>
        </p:nvGraphicFramePr>
        <p:xfrm>
          <a:off x="6264131" y="4703763"/>
          <a:ext cx="31972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公式" r:id="rId11" imgW="1625600" imgH="431800" progId="Equation.3">
                  <p:embed/>
                </p:oleObj>
              </mc:Choice>
              <mc:Fallback>
                <p:oleObj name="公式" r:id="rId11" imgW="1625600" imgH="431800" progId="Equation.3">
                  <p:embed/>
                  <p:pic>
                    <p:nvPicPr>
                      <p:cNvPr id="19" name="Object 39">
                        <a:extLst>
                          <a:ext uri="{FF2B5EF4-FFF2-40B4-BE49-F238E27FC236}">
                            <a16:creationId xmlns:a16="http://schemas.microsoft.com/office/drawing/2014/main" id="{99A3021B-9306-4274-8FDC-4E8588D446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131" y="4703763"/>
                        <a:ext cx="31972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0">
            <a:extLst>
              <a:ext uri="{FF2B5EF4-FFF2-40B4-BE49-F238E27FC236}">
                <a16:creationId xmlns:a16="http://schemas.microsoft.com/office/drawing/2014/main" id="{5E4E6C15-3E3D-4B55-AB3F-EA5A6C7CA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755637"/>
              </p:ext>
            </p:extLst>
          </p:nvPr>
        </p:nvGraphicFramePr>
        <p:xfrm>
          <a:off x="6235556" y="5613400"/>
          <a:ext cx="36464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公式" r:id="rId13" imgW="1854200" imgH="431800" progId="Equation.3">
                  <p:embed/>
                </p:oleObj>
              </mc:Choice>
              <mc:Fallback>
                <p:oleObj name="公式" r:id="rId13" imgW="1854200" imgH="431800" progId="Equation.3">
                  <p:embed/>
                  <p:pic>
                    <p:nvPicPr>
                      <p:cNvPr id="20" name="Object 40">
                        <a:extLst>
                          <a:ext uri="{FF2B5EF4-FFF2-40B4-BE49-F238E27FC236}">
                            <a16:creationId xmlns:a16="http://schemas.microsoft.com/office/drawing/2014/main" id="{334C103D-3EEF-4ABD-97D1-C09F83815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556" y="5613400"/>
                        <a:ext cx="36464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345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52">
            <a:extLst>
              <a:ext uri="{FF2B5EF4-FFF2-40B4-BE49-F238E27FC236}">
                <a16:creationId xmlns:a16="http://schemas.microsoft.com/office/drawing/2014/main" id="{2437817F-E462-4C82-B33D-650C4016B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4517092"/>
              </p:ext>
            </p:extLst>
          </p:nvPr>
        </p:nvGraphicFramePr>
        <p:xfrm>
          <a:off x="1981200" y="955964"/>
          <a:ext cx="8229600" cy="528161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原问题（或对偶问题）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对偶问题（或原问题）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目标函数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max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目标函数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价值系数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约束条件右端项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限额系数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0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约束条件右端项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限额系数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技术系数矩阵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价值系数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技术系数矩阵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对偶变量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对偶变量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对偶变量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无约束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决策变量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决策变量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≤0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决策变量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无约束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26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E3FBF-0FDC-457F-9E85-34036B84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76768"/>
            <a:ext cx="9720072" cy="1499616"/>
          </a:xfrm>
        </p:spPr>
        <p:txBody>
          <a:bodyPr/>
          <a:lstStyle/>
          <a:p>
            <a:r>
              <a:rPr lang="zh-CN" altLang="en-US" dirty="0"/>
              <a:t>例题：写出该问题的对偶问题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5BD1ABB-6EF1-4E53-BFE0-570051E41660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0" y="2084832"/>
                <a:ext cx="9720262" cy="402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fName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kern="0" dirty="0"/>
              </a:p>
              <a:p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i="1" ker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ker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1" i="1" kern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1" i="1" kern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kern="0" dirty="0"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5BD1ABB-6EF1-4E53-BFE0-570051E416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0" y="2084832"/>
                <a:ext cx="9720262" cy="4022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oup 52">
            <a:extLst>
              <a:ext uri="{FF2B5EF4-FFF2-40B4-BE49-F238E27FC236}">
                <a16:creationId xmlns:a16="http://schemas.microsoft.com/office/drawing/2014/main" id="{2B4A8F8C-EA07-49AB-8176-C2DFCBF6D1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200776"/>
              </p:ext>
            </p:extLst>
          </p:nvPr>
        </p:nvGraphicFramePr>
        <p:xfrm>
          <a:off x="3962400" y="1250803"/>
          <a:ext cx="8229600" cy="528161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原问题（或对偶问题）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对偶问题（或原问题）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目标函数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max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目标函数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价值系数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约束条件右端项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限额系数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0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约束条件右端项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限额系数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技术系数矩阵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价值系数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技术系数矩阵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对偶变量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对偶变量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对偶变量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无约束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决策变量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决策变量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≤0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决策变量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无约束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行约束条件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78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F51D9-45BC-49E7-A1CE-8C971F5D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对偶问题</a:t>
            </a:r>
            <a:r>
              <a:rPr lang="en-US" altLang="zh-CN" dirty="0"/>
              <a:t>-</a:t>
            </a:r>
            <a:r>
              <a:rPr lang="zh-CN" altLang="en-US" dirty="0"/>
              <a:t>互补松弛性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4DE08D-232A-4922-8212-CA1D254FCC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分别为</m:t>
                    </m:r>
                  </m:oMath>
                </a14:m>
                <a:r>
                  <a:rPr lang="zh-CN" altLang="en-US" dirty="0"/>
                  <a:t>原问题和对偶问题的解的充要条件是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𝑨𝒙</m:t>
                                </m:r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p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对于所有不等式约束，如果不能取等号，则对应的对偶问题的变量值必须取</a:t>
                </a:r>
                <a:r>
                  <a:rPr lang="en-US" altLang="zh-CN" dirty="0"/>
                  <a:t>0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4DE08D-232A-4922-8212-CA1D254FC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86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6E23CFB-8841-4E21-A1EE-8BABF1066CE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63172" y="707217"/>
                <a:ext cx="4269945" cy="228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fName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kern="0" dirty="0"/>
              </a:p>
              <a:p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≤6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 ker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 ker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 kern="0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 i="1" ker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altLang="zh-CN" b="0" i="1" ker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≤4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 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kern="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6E23CFB-8841-4E21-A1EE-8BABF1066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3172" y="707217"/>
                <a:ext cx="4269945" cy="2286000"/>
              </a:xfrm>
              <a:prstGeom prst="rect">
                <a:avLst/>
              </a:prstGeom>
              <a:blipFill>
                <a:blip r:embed="rId2"/>
                <a:stretch>
                  <a:fillRect b="-218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106447D-3F63-44FB-9625-C73692C5D43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66236" y="1175183"/>
                <a:ext cx="4269945" cy="300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1" ker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=6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+4</m:t>
                        </m:r>
                        <m:sSub>
                          <m:sSubPr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kern="0" dirty="0"/>
              </a:p>
              <a:p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1" i="1" kern="0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kern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kern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kern="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106447D-3F63-44FB-9625-C73692C5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6236" y="1175183"/>
                <a:ext cx="4269945" cy="3001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C88086A-2243-46A7-BFCC-1F5E2279D413}"/>
                  </a:ext>
                </a:extLst>
              </p:cNvPr>
              <p:cNvSpPr txBox="1"/>
              <p:nvPr/>
            </p:nvSpPr>
            <p:spPr>
              <a:xfrm>
                <a:off x="1463172" y="3915535"/>
                <a:ext cx="64072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/>
                  <a:t>已知原问题在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2800" b="1" dirty="0"/>
                  <a:t>取得最优解</a:t>
                </a:r>
                <a:endParaRPr lang="en-US" altLang="zh-CN" sz="28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C88086A-2243-46A7-BFCC-1F5E2279D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172" y="3915535"/>
                <a:ext cx="6407267" cy="523220"/>
              </a:xfrm>
              <a:prstGeom prst="rect">
                <a:avLst/>
              </a:prstGeom>
              <a:blipFill>
                <a:blip r:embed="rId4"/>
                <a:stretch>
                  <a:fillRect l="-1903" t="-11628" r="-1047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BCACF8-C2EE-4BE2-9AA7-8323389F9E0C}"/>
                  </a:ext>
                </a:extLst>
              </p:cNvPr>
              <p:cNvSpPr/>
              <p:nvPr/>
            </p:nvSpPr>
            <p:spPr>
              <a:xfrm>
                <a:off x="6906491" y="4631497"/>
                <a:ext cx="2912720" cy="1076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𝑨𝒙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eqAr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BCACF8-C2EE-4BE2-9AA7-8323389F9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491" y="4631497"/>
                <a:ext cx="2912720" cy="107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F43E9DB0-4FBA-4579-AA10-29235C980523}"/>
              </a:ext>
            </a:extLst>
          </p:cNvPr>
          <p:cNvGrpSpPr/>
          <p:nvPr/>
        </p:nvGrpSpPr>
        <p:grpSpPr>
          <a:xfrm>
            <a:off x="1191491" y="4627649"/>
            <a:ext cx="5516401" cy="1725534"/>
            <a:chOff x="152400" y="4870104"/>
            <a:chExt cx="5516401" cy="17255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DE3F6C-99E6-435B-9AE5-0887A46615B9}"/>
                    </a:ext>
                  </a:extLst>
                </p:cNvPr>
                <p:cNvSpPr/>
                <p:nvPr/>
              </p:nvSpPr>
              <p:spPr>
                <a:xfrm>
                  <a:off x="152400" y="4870104"/>
                  <a:ext cx="4858959" cy="5309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𝑨𝒙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2800" b="1" i="0" smtClean="0">
                            <a:latin typeface="Cambria Math" panose="02040503050406030204" pitchFamily="18" charset="0"/>
                          </a:rPr>
                          <m:t>𝐭𝐡𝐞𝐧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DE3F6C-99E6-435B-9AE5-0887A46615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0" y="4870104"/>
                  <a:ext cx="4858959" cy="5309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A67133E6-34AB-42EA-98E0-EA7C0AE773F0}"/>
                    </a:ext>
                  </a:extLst>
                </p:cNvPr>
                <p:cNvSpPr/>
                <p:nvPr/>
              </p:nvSpPr>
              <p:spPr>
                <a:xfrm>
                  <a:off x="182401" y="5586066"/>
                  <a:ext cx="5486400" cy="100957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对偶</m:t>
                      </m:r>
                    </m:oMath>
                  </a14:m>
                  <a:r>
                    <a:rPr lang="zh-CN" altLang="en-US" sz="2800" dirty="0"/>
                    <a:t>问题两个不等式要取等号</a:t>
                  </a: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EC4134F3-1805-48CF-8CDD-8206469658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401" y="5586066"/>
                  <a:ext cx="5486400" cy="1009572"/>
                </a:xfrm>
                <a:prstGeom prst="rect">
                  <a:avLst/>
                </a:prstGeom>
                <a:blipFill>
                  <a:blip r:embed="rId7"/>
                  <a:stretch>
                    <a:fillRect l="-2333" t="-6024" r="-1000" b="-138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6BA9BD3-795F-43CB-BCB9-E876AE0F1BF9}"/>
              </a:ext>
            </a:extLst>
          </p:cNvPr>
          <p:cNvSpPr/>
          <p:nvPr/>
        </p:nvSpPr>
        <p:spPr>
          <a:xfrm>
            <a:off x="8258964" y="3384620"/>
            <a:ext cx="3620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对于所有不等式约束，如果不能取等号，则对应的对偶问题的变量值必须取</a:t>
            </a:r>
            <a:r>
              <a:rPr lang="en-US" altLang="zh-CN" dirty="0"/>
              <a:t>0</a:t>
            </a:r>
            <a:r>
              <a:rPr lang="zh-CN" altLang="en-US" dirty="0"/>
              <a:t>，反之亦然</a:t>
            </a:r>
          </a:p>
        </p:txBody>
      </p:sp>
    </p:spTree>
    <p:extLst>
      <p:ext uri="{BB962C8B-B14F-4D97-AF65-F5344CB8AC3E}">
        <p14:creationId xmlns:p14="http://schemas.microsoft.com/office/powerpoint/2010/main" val="159190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A9093-8EDF-4F08-A0E9-B75A5B1B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对偶问题</a:t>
            </a:r>
            <a:r>
              <a:rPr lang="en-US" altLang="zh-CN" dirty="0"/>
              <a:t>-</a:t>
            </a:r>
            <a:r>
              <a:rPr lang="zh-CN" altLang="en-US" dirty="0"/>
              <a:t>对偶单纯形法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651DE0-76B0-482D-AE25-E2592D92432C}"/>
              </a:ext>
            </a:extLst>
          </p:cNvPr>
          <p:cNvSpPr/>
          <p:nvPr/>
        </p:nvSpPr>
        <p:spPr>
          <a:xfrm>
            <a:off x="2673291" y="2286361"/>
            <a:ext cx="45720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DC33664-CD29-451D-A536-6B839CDEA1C3}"/>
                  </a:ext>
                </a:extLst>
              </p:cNvPr>
              <p:cNvSpPr txBox="1"/>
              <p:nvPr/>
            </p:nvSpPr>
            <p:spPr>
              <a:xfrm>
                <a:off x="2673291" y="2286361"/>
                <a:ext cx="1143711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DC33664-CD29-451D-A536-6B839CDEA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291" y="2286361"/>
                <a:ext cx="1143711" cy="5329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4BD460-3BAD-4CC8-92A6-786A807DC2CD}"/>
              </a:ext>
            </a:extLst>
          </p:cNvPr>
          <p:cNvSpPr/>
          <p:nvPr/>
        </p:nvSpPr>
        <p:spPr>
          <a:xfrm>
            <a:off x="1758535" y="2286361"/>
            <a:ext cx="6858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37AB89-20F8-4728-A1E8-24E245697923}"/>
                  </a:ext>
                </a:extLst>
              </p:cNvPr>
              <p:cNvSpPr txBox="1"/>
              <p:nvPr/>
            </p:nvSpPr>
            <p:spPr>
              <a:xfrm>
                <a:off x="1529580" y="2218533"/>
                <a:ext cx="1143711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37AB89-20F8-4728-A1E8-24E245697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580" y="2218533"/>
                <a:ext cx="1143711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DF4005A-8347-4095-A652-E44440B49256}"/>
              </a:ext>
            </a:extLst>
          </p:cNvPr>
          <p:cNvSpPr/>
          <p:nvPr/>
        </p:nvSpPr>
        <p:spPr>
          <a:xfrm>
            <a:off x="2673291" y="5163779"/>
            <a:ext cx="4572000" cy="54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C66684-A024-492B-8776-F0D122323E09}"/>
                  </a:ext>
                </a:extLst>
              </p:cNvPr>
              <p:cNvSpPr txBox="1"/>
              <p:nvPr/>
            </p:nvSpPr>
            <p:spPr>
              <a:xfrm>
                <a:off x="3459874" y="5176479"/>
                <a:ext cx="2998834" cy="546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9C66684-A024-492B-8776-F0D122323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874" y="5176479"/>
                <a:ext cx="2998834" cy="5469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EC3B410-1B36-4403-84E2-164F757BEE7A}"/>
                  </a:ext>
                </a:extLst>
              </p:cNvPr>
              <p:cNvSpPr txBox="1"/>
              <p:nvPr/>
            </p:nvSpPr>
            <p:spPr>
              <a:xfrm>
                <a:off x="2673291" y="5736124"/>
                <a:ext cx="443409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这部分对应最优解条件了</a:t>
                </a:r>
                <a:endParaRPr lang="en-US" altLang="zh-CN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EC3B410-1B36-4403-84E2-164F757BE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291" y="5736124"/>
                <a:ext cx="4434091" cy="954107"/>
              </a:xfrm>
              <a:prstGeom prst="rect">
                <a:avLst/>
              </a:prstGeom>
              <a:blipFill>
                <a:blip r:embed="rId5"/>
                <a:stretch>
                  <a:fillRect l="-2889" t="-7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022401B1-D48C-4DDA-9C85-B21E79F7E52C}"/>
              </a:ext>
            </a:extLst>
          </p:cNvPr>
          <p:cNvSpPr/>
          <p:nvPr/>
        </p:nvSpPr>
        <p:spPr>
          <a:xfrm>
            <a:off x="1758535" y="3209133"/>
            <a:ext cx="685800" cy="53296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782121-963A-46CF-9493-CFF9695C3664}"/>
                  </a:ext>
                </a:extLst>
              </p:cNvPr>
              <p:cNvSpPr txBox="1"/>
              <p:nvPr/>
            </p:nvSpPr>
            <p:spPr>
              <a:xfrm>
                <a:off x="1164885" y="3227830"/>
                <a:ext cx="3044423" cy="658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第</a:t>
                </a:r>
                <a:r>
                  <a:rPr lang="en-US" altLang="zh-CN" b="1" dirty="0"/>
                  <a:t>k</a:t>
                </a:r>
                <a:r>
                  <a:rPr lang="zh-CN" altLang="en-US" b="1" dirty="0"/>
                  <a:t>个元素（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b="1" dirty="0"/>
                  <a:t>）小于零</a:t>
                </a:r>
                <a:endParaRPr lang="en-US" altLang="zh-CN" b="1" dirty="0"/>
              </a:p>
              <a:p>
                <a:r>
                  <a:rPr lang="zh-CN" altLang="en-US" b="1" dirty="0"/>
                  <a:t>需要换出，要找换入变量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782121-963A-46CF-9493-CFF9695C3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885" y="3227830"/>
                <a:ext cx="3044423" cy="658514"/>
              </a:xfrm>
              <a:prstGeom prst="rect">
                <a:avLst/>
              </a:prstGeom>
              <a:blipFill>
                <a:blip r:embed="rId6"/>
                <a:stretch>
                  <a:fillRect l="-1600" t="-3670" b="-13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36479CD-BCDF-46FD-9B01-0284742D2BDF}"/>
                  </a:ext>
                </a:extLst>
              </p:cNvPr>
              <p:cNvSpPr txBox="1"/>
              <p:nvPr/>
            </p:nvSpPr>
            <p:spPr>
              <a:xfrm>
                <a:off x="7646037" y="2126829"/>
                <a:ext cx="386016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目标是将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换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出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后</m:t>
                    </m:r>
                  </m:oMath>
                </a14:m>
                <a:r>
                  <a:rPr lang="en-US" altLang="zh-CN" sz="2800" b="1" dirty="0"/>
                  <a:t>: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800" b="1" dirty="0"/>
              </a:p>
              <a:p>
                <a:pPr marL="514350" indent="-514350">
                  <a:buAutoNum type="arabicPeriod"/>
                </a:pPr>
                <a:r>
                  <a:rPr lang="zh-CN" altLang="en-US" sz="2800" b="1" dirty="0"/>
                  <a:t>仍满足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！</m:t>
                    </m:r>
                  </m:oMath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36479CD-BCDF-46FD-9B01-0284742D2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37" y="2126829"/>
                <a:ext cx="3860164" cy="1384995"/>
              </a:xfrm>
              <a:prstGeom prst="rect">
                <a:avLst/>
              </a:prstGeom>
              <a:blipFill>
                <a:blip r:embed="rId7"/>
                <a:stretch>
                  <a:fillRect l="-3155" t="-5286" b="-1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885F54A-48A5-4BBF-8844-801235BBF419}"/>
                  </a:ext>
                </a:extLst>
              </p:cNvPr>
              <p:cNvSpPr txBox="1"/>
              <p:nvPr/>
            </p:nvSpPr>
            <p:spPr>
              <a:xfrm>
                <a:off x="7646036" y="4174283"/>
                <a:ext cx="4051072" cy="1666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怎么确定换入变量？</a:t>
                </a:r>
                <a:endParaRPr lang="en-US" altLang="zh-CN" sz="2800" b="1" dirty="0"/>
              </a:p>
              <a:p>
                <a:r>
                  <a:rPr lang="zh-CN" altLang="en-US" sz="2800" b="1" dirty="0"/>
                  <a:t>取</a:t>
                </a:r>
                <a14:m>
                  <m:oMath xmlns:m="http://schemas.openxmlformats.org/officeDocument/2006/math">
                    <m:r>
                      <a:rPr lang="en-US" altLang="zh-CN" sz="2800" b="1" i="0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0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 sz="2800" b="1" i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altLang="zh-CN" sz="2800" b="1" dirty="0"/>
              </a:p>
              <a:p>
                <a:endParaRPr lang="en-US" altLang="zh-CN" sz="2800" b="1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885F54A-48A5-4BBF-8844-801235BBF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36" y="4174283"/>
                <a:ext cx="4051072" cy="1666034"/>
              </a:xfrm>
              <a:prstGeom prst="rect">
                <a:avLst/>
              </a:prstGeom>
              <a:blipFill>
                <a:blip r:embed="rId8"/>
                <a:stretch>
                  <a:fillRect l="-3008" t="-4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145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7E0E0-0820-4984-91EC-ED431830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5">
                <a:extLst>
                  <a:ext uri="{FF2B5EF4-FFF2-40B4-BE49-F238E27FC236}">
                    <a16:creationId xmlns:a16="http://schemas.microsoft.com/office/drawing/2014/main" id="{AD27B911-6C86-4622-ABB1-A798CA51DEA3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023938" y="2286000"/>
                <a:ext cx="9720262" cy="40227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为初始基变量，写出初始的单纯形表，通过对偶单纯形法进行第一次迭代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对象 5">
                <a:extLst>
                  <a:ext uri="{FF2B5EF4-FFF2-40B4-BE49-F238E27FC236}">
                    <a16:creationId xmlns:a16="http://schemas.microsoft.com/office/drawing/2014/main" id="{AD27B911-6C86-4622-ABB1-A798CA51DEA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23938" y="2286000"/>
                <a:ext cx="9720262" cy="4022725"/>
              </a:xfrm>
              <a:prstGeom prst="rect">
                <a:avLst/>
              </a:prstGeom>
              <a:blipFill>
                <a:blip r:embed="rId2"/>
                <a:stretch>
                  <a:fillRect l="-502" r="-1066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4F4EF4F-060E-42DF-ABDC-E8852914D3CD}"/>
                  </a:ext>
                </a:extLst>
              </p:cNvPr>
              <p:cNvSpPr txBox="1"/>
              <p:nvPr/>
            </p:nvSpPr>
            <p:spPr>
              <a:xfrm>
                <a:off x="7375872" y="3246028"/>
                <a:ext cx="4051072" cy="1666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怎么确定换入变量？</a:t>
                </a:r>
                <a:endParaRPr lang="en-US" altLang="zh-CN" sz="2800" b="1" dirty="0"/>
              </a:p>
              <a:p>
                <a:r>
                  <a:rPr lang="zh-CN" altLang="en-US" sz="2800" b="1" dirty="0"/>
                  <a:t>取</a:t>
                </a:r>
                <a14:m>
                  <m:oMath xmlns:m="http://schemas.openxmlformats.org/officeDocument/2006/math">
                    <m:r>
                      <a:rPr lang="en-US" altLang="zh-CN" sz="2800" b="1" i="0">
                        <a:latin typeface="Cambria Math" panose="02040503050406030204" pitchFamily="18" charset="0"/>
                      </a:rPr>
                      <m:t>𝐦𝐢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0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altLang="zh-CN" sz="2800" b="1" i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altLang="zh-CN" sz="2800" b="1" dirty="0"/>
              </a:p>
              <a:p>
                <a:endParaRPr lang="en-US" altLang="zh-CN" sz="2800" b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4F4EF4F-060E-42DF-ABDC-E8852914D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872" y="3246028"/>
                <a:ext cx="4051072" cy="1666034"/>
              </a:xfrm>
              <a:prstGeom prst="rect">
                <a:avLst/>
              </a:prstGeom>
              <a:blipFill>
                <a:blip r:embed="rId3"/>
                <a:stretch>
                  <a:fillRect l="-3163" t="-3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086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7395F-0D61-45B5-9F73-AD62CCC5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灵敏度分析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8109ADF-55EA-4619-B572-49E5EB6B3C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7928" y="1849581"/>
                <a:ext cx="9720073" cy="402336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zh-CN" altLang="en-US" dirty="0"/>
                  <a:t>变了，什么没变？用哪种方法？</a:t>
                </a:r>
                <a:endParaRPr lang="en-US" altLang="zh-CN" dirty="0"/>
              </a:p>
              <a:p>
                <a:r>
                  <a:rPr lang="zh-CN" altLang="en-US" dirty="0"/>
                  <a:t>如果价值系数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zh-CN" altLang="en-US" dirty="0"/>
                  <a:t>变了，什么没变？用哪种方法？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8109ADF-55EA-4619-B572-49E5EB6B3C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7928" y="1849581"/>
                <a:ext cx="9720073" cy="4023360"/>
              </a:xfrm>
              <a:blipFill>
                <a:blip r:embed="rId2"/>
                <a:stretch>
                  <a:fillRect l="-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2A72140-B02C-4DC4-8950-3323F8825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5214314"/>
                  </p:ext>
                </p:extLst>
              </p:nvPr>
            </p:nvGraphicFramePr>
            <p:xfrm>
              <a:off x="663218" y="3558936"/>
              <a:ext cx="10740872" cy="30025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2609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486975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83038" marR="83038" marT="41519" marB="4151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6225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  <m:sup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800" b="1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80375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480375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480375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 marL="83038" marR="83038" marT="41519" marB="41519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2A72140-B02C-4DC4-8950-3323F8825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5214314"/>
                  </p:ext>
                </p:extLst>
              </p:nvPr>
            </p:nvGraphicFramePr>
            <p:xfrm>
              <a:off x="663218" y="3558936"/>
              <a:ext cx="10740872" cy="30025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2609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1342609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587832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3038" marR="83038" marT="41519" marB="41519" anchor="ctr">
                        <a:blipFill>
                          <a:blip r:embed="rId3"/>
                          <a:stretch>
                            <a:fillRect l="-75057" t="-1031" r="-25397" b="-41134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65126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3"/>
                          <a:stretch>
                            <a:fillRect l="-455" t="-91589" r="-703182" b="-272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3"/>
                          <a:stretch>
                            <a:fillRect l="-100000" t="-91589" r="-600000" b="-272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3"/>
                          <a:stretch>
                            <a:fillRect l="-200909" t="-91589" r="-502727" b="-272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61113" marR="161113" marT="80556" marB="80556" anchor="ctr">
                        <a:blipFill>
                          <a:blip r:embed="rId3"/>
                          <a:stretch>
                            <a:fillRect l="-701818" t="-91589" r="-1818" b="-272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587832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587832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587832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3038" marR="83038" marT="41519" marB="41519" anchor="ctr">
                        <a:blipFill>
                          <a:blip r:embed="rId3"/>
                          <a:stretch>
                            <a:fillRect l="-151" t="-410309" r="-167322" b="-20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 marL="161113" marR="161113" marT="80556" marB="80556"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8776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FFE6E-34C9-4588-9FDF-0E0F37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运输问题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07FB87-4E50-48CB-9AC3-9576B384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如何确定运输问题的初始基可行解？</a:t>
            </a:r>
            <a:endParaRPr lang="en-US" altLang="zh-CN" dirty="0"/>
          </a:p>
          <a:p>
            <a:r>
              <a:rPr lang="zh-CN" altLang="en-US" dirty="0"/>
              <a:t>如何确定非基变量的检验数？</a:t>
            </a:r>
            <a:endParaRPr lang="en-US" altLang="zh-CN" dirty="0"/>
          </a:p>
          <a:p>
            <a:pPr lvl="1"/>
            <a:r>
              <a:rPr lang="zh-CN" altLang="en-US" dirty="0"/>
              <a:t>闭回路法、位势法</a:t>
            </a:r>
            <a:endParaRPr lang="en-US" altLang="zh-CN" dirty="0"/>
          </a:p>
          <a:p>
            <a:pPr marL="128016" lvl="1" indent="0">
              <a:buNone/>
            </a:pPr>
            <a:r>
              <a:rPr lang="zh-CN" altLang="en-US" dirty="0"/>
              <a:t>如何确定换出变量</a:t>
            </a:r>
            <a:endParaRPr lang="en-US" altLang="zh-CN" dirty="0"/>
          </a:p>
          <a:p>
            <a:pPr lvl="1"/>
            <a:r>
              <a:rPr lang="zh-CN" altLang="en-US" dirty="0"/>
              <a:t>闭回路调整法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33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78E4A-9DB4-4C1E-9A45-053220D1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dirty="0"/>
              <a:t>例题：</a:t>
            </a:r>
          </a:p>
        </p:txBody>
      </p:sp>
      <p:graphicFrame>
        <p:nvGraphicFramePr>
          <p:cNvPr id="11" name="Group 124">
            <a:extLst>
              <a:ext uri="{FF2B5EF4-FFF2-40B4-BE49-F238E27FC236}">
                <a16:creationId xmlns:a16="http://schemas.microsoft.com/office/drawing/2014/main" id="{3F263C02-AAD5-4E39-B841-4646E3E647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4842396"/>
              </p:ext>
            </p:extLst>
          </p:nvPr>
        </p:nvGraphicFramePr>
        <p:xfrm>
          <a:off x="2538845" y="2223654"/>
          <a:ext cx="6781800" cy="3962401"/>
        </p:xfrm>
        <a:graphic>
          <a:graphicData uri="http://schemas.openxmlformats.org/drawingml/2006/table">
            <a:tbl>
              <a:tblPr/>
              <a:tblGrid>
                <a:gridCol w="83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产量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销量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75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78E4A-9DB4-4C1E-9A45-053220D1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C37E92-E721-4B2C-A9FC-A3CF83694253}"/>
              </a:ext>
            </a:extLst>
          </p:cNvPr>
          <p:cNvSpPr txBox="1"/>
          <p:nvPr/>
        </p:nvSpPr>
        <p:spPr>
          <a:xfrm>
            <a:off x="5011763" y="5017367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5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60AC0-8D6A-4B7F-ADF5-9699CDC11F7A}"/>
              </a:ext>
            </a:extLst>
          </p:cNvPr>
          <p:cNvSpPr txBox="1"/>
          <p:nvPr/>
        </p:nvSpPr>
        <p:spPr>
          <a:xfrm>
            <a:off x="3671455" y="4204855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3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768FCC-5ED3-47AD-AA42-0229CFAF1918}"/>
              </a:ext>
            </a:extLst>
          </p:cNvPr>
          <p:cNvSpPr txBox="1"/>
          <p:nvPr/>
        </p:nvSpPr>
        <p:spPr>
          <a:xfrm>
            <a:off x="6186055" y="4204855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5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1558D9-F6B0-4EEF-8CC0-60C46A01F466}"/>
              </a:ext>
            </a:extLst>
          </p:cNvPr>
          <p:cNvSpPr txBox="1"/>
          <p:nvPr/>
        </p:nvSpPr>
        <p:spPr>
          <a:xfrm>
            <a:off x="7450165" y="4204855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4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A6E901-3C14-4B15-8FDB-9716B0EAB659}"/>
              </a:ext>
            </a:extLst>
          </p:cNvPr>
          <p:cNvSpPr txBox="1"/>
          <p:nvPr/>
        </p:nvSpPr>
        <p:spPr>
          <a:xfrm>
            <a:off x="7450165" y="3200980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2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9B20A1-8025-4B63-ADA3-D6A599634CF7}"/>
              </a:ext>
            </a:extLst>
          </p:cNvPr>
          <p:cNvSpPr txBox="1"/>
          <p:nvPr/>
        </p:nvSpPr>
        <p:spPr>
          <a:xfrm>
            <a:off x="5011763" y="3200980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</a:rPr>
              <a:t>1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11" name="Group 124">
            <a:extLst>
              <a:ext uri="{FF2B5EF4-FFF2-40B4-BE49-F238E27FC236}">
                <a16:creationId xmlns:a16="http://schemas.microsoft.com/office/drawing/2014/main" id="{3F263C02-AAD5-4E39-B841-4646E3E647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8550787"/>
              </p:ext>
            </p:extLst>
          </p:nvPr>
        </p:nvGraphicFramePr>
        <p:xfrm>
          <a:off x="2538845" y="2223654"/>
          <a:ext cx="6781800" cy="3962401"/>
        </p:xfrm>
        <a:graphic>
          <a:graphicData uri="http://schemas.openxmlformats.org/drawingml/2006/table">
            <a:tbl>
              <a:tblPr/>
              <a:tblGrid>
                <a:gridCol w="839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11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产量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销量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668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BD79E-57F1-4629-8BDF-49B9403D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目标规划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2313F-7622-4AA8-81A1-7D3E7461B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将目标规划问题转化为线性规划问题</a:t>
            </a:r>
            <a:endParaRPr lang="en-US" altLang="zh-CN" dirty="0"/>
          </a:p>
          <a:p>
            <a:r>
              <a:rPr lang="zh-CN" altLang="en-US" dirty="0"/>
              <a:t>目标规划问题的图解法及单纯形法</a:t>
            </a:r>
          </a:p>
        </p:txBody>
      </p:sp>
    </p:spTree>
    <p:extLst>
      <p:ext uri="{BB962C8B-B14F-4D97-AF65-F5344CB8AC3E}">
        <p14:creationId xmlns:p14="http://schemas.microsoft.com/office/powerpoint/2010/main" val="401888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F7ED0-987E-4AEA-A093-57FDB755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5D8E3-1CDD-45DF-9CE3-BED1AD378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538921"/>
            <a:ext cx="9720073" cy="402336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实际上工厂作决策时</a:t>
            </a:r>
            <a:r>
              <a:rPr lang="en-US" altLang="zh-CN" dirty="0"/>
              <a:t>, </a:t>
            </a:r>
            <a:r>
              <a:rPr lang="zh-CN" altLang="en-US" dirty="0"/>
              <a:t>要考虑市场等一系列其他条件。</a:t>
            </a:r>
          </a:p>
          <a:p>
            <a:pPr>
              <a:lnSpc>
                <a:spcPct val="1250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根据市场信息</a:t>
            </a:r>
            <a:r>
              <a:rPr lang="en-US" altLang="zh-CN" dirty="0"/>
              <a:t>, </a:t>
            </a:r>
            <a:r>
              <a:rPr lang="zh-CN" altLang="en-US" dirty="0"/>
              <a:t>产品</a:t>
            </a:r>
            <a:r>
              <a:rPr lang="en-US" altLang="zh-CN" dirty="0"/>
              <a:t>Ⅰ</a:t>
            </a:r>
            <a:r>
              <a:rPr lang="zh-CN" altLang="en-US" dirty="0"/>
              <a:t>的销售量有下降的趋势</a:t>
            </a:r>
            <a:r>
              <a:rPr lang="en-US" altLang="zh-CN" dirty="0"/>
              <a:t>, </a:t>
            </a:r>
            <a:r>
              <a:rPr lang="zh-CN" altLang="en-US" dirty="0"/>
              <a:t>故考虑产品</a:t>
            </a:r>
            <a:r>
              <a:rPr lang="en-US" altLang="zh-CN" dirty="0"/>
              <a:t>Ⅰ</a:t>
            </a:r>
            <a:r>
              <a:rPr lang="zh-CN" altLang="en-US" dirty="0"/>
              <a:t>的产量不低于产品</a:t>
            </a:r>
            <a:r>
              <a:rPr lang="en-US" altLang="zh-CN" dirty="0"/>
              <a:t>Ⅱ</a:t>
            </a:r>
            <a:r>
              <a:rPr lang="zh-CN" altLang="en-US" dirty="0"/>
              <a:t>。</a:t>
            </a:r>
          </a:p>
          <a:p>
            <a:pPr>
              <a:lnSpc>
                <a:spcPct val="125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应尽可能恰好利用完所有的台时。</a:t>
            </a:r>
          </a:p>
          <a:p>
            <a:pPr>
              <a:lnSpc>
                <a:spcPct val="125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应尽可能达到并超过计划利润指标</a:t>
            </a:r>
            <a:r>
              <a:rPr lang="en-US" altLang="zh-CN" dirty="0"/>
              <a:t>56</a:t>
            </a:r>
            <a:r>
              <a:rPr lang="zh-CN" altLang="en-US" dirty="0"/>
              <a:t>元。</a:t>
            </a:r>
          </a:p>
          <a:p>
            <a:endParaRPr lang="zh-CN" altLang="en-US" dirty="0"/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63682B28-1024-49EA-AC6C-CD74DE5FB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21901"/>
              </p:ext>
            </p:extLst>
          </p:nvPr>
        </p:nvGraphicFramePr>
        <p:xfrm>
          <a:off x="4809836" y="295719"/>
          <a:ext cx="4571999" cy="1789113"/>
        </p:xfrm>
        <a:graphic>
          <a:graphicData uri="http://schemas.openxmlformats.org/drawingml/2006/table">
            <a:tbl>
              <a:tblPr/>
              <a:tblGrid>
                <a:gridCol w="186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16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Ⅰ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Ⅱ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资源限制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29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原材料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/kg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29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设备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台时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39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单件利润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/(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元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件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Bef>
                          <a:spcPct val="15000"/>
                        </a:spcBef>
                        <a:buSzPct val="85000"/>
                        <a:defRPr kumimoji="1" sz="20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kumimoji="1" sz="22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 sz="2000" b="1">
                          <a:solidFill>
                            <a:srgbClr val="00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120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3453F-E416-4ABE-A3CF-BE2C77CB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11429-EF88-4227-9783-0381AA78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  <a:endParaRPr lang="en-US" altLang="zh-CN" dirty="0"/>
          </a:p>
          <a:p>
            <a:r>
              <a:rPr lang="en-US" altLang="zh-CN" dirty="0"/>
              <a:t>0-1</a:t>
            </a:r>
            <a:r>
              <a:rPr lang="zh-CN" altLang="en-US" dirty="0"/>
              <a:t>型整数规划的隐枚举法</a:t>
            </a:r>
            <a:endParaRPr lang="en-US" altLang="zh-CN" dirty="0"/>
          </a:p>
          <a:p>
            <a:r>
              <a:rPr lang="zh-CN" altLang="en-US" dirty="0"/>
              <a:t>指派问题</a:t>
            </a:r>
          </a:p>
        </p:txBody>
      </p:sp>
    </p:spTree>
    <p:extLst>
      <p:ext uri="{BB962C8B-B14F-4D97-AF65-F5344CB8AC3E}">
        <p14:creationId xmlns:p14="http://schemas.microsoft.com/office/powerpoint/2010/main" val="1319329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68265-F3BA-448D-AD0D-7446CC6C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例题：分支定界法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6E3E49A-204F-44DB-8D2E-40B230E75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436720"/>
              </p:ext>
            </p:extLst>
          </p:nvPr>
        </p:nvGraphicFramePr>
        <p:xfrm>
          <a:off x="4283964" y="2961798"/>
          <a:ext cx="3200400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1307532" imgH="1091726" progId="Equation.DSMT4">
                  <p:embed/>
                </p:oleObj>
              </mc:Choice>
              <mc:Fallback>
                <p:oleObj name="Equation" r:id="rId3" imgW="1307532" imgH="1091726" progId="Equation.DSMT4">
                  <p:embed/>
                  <p:pic>
                    <p:nvPicPr>
                      <p:cNvPr id="16388" name="Object 5">
                        <a:extLst>
                          <a:ext uri="{FF2B5EF4-FFF2-40B4-BE49-F238E27FC236}">
                            <a16:creationId xmlns:a16="http://schemas.microsoft.com/office/drawing/2014/main" id="{EE6AA21E-52BA-45F7-BCC1-2AA96A635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4" y="2961798"/>
                        <a:ext cx="3200400" cy="267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947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52804-7E77-4596-B0B5-049A6AAF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例题：指派问题</a:t>
            </a:r>
          </a:p>
        </p:txBody>
      </p:sp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5A0D9E6F-E1E8-44DF-97F0-85BF356A7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536004"/>
              </p:ext>
            </p:extLst>
          </p:nvPr>
        </p:nvGraphicFramePr>
        <p:xfrm>
          <a:off x="1981200" y="2159000"/>
          <a:ext cx="8229600" cy="3905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80191733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55957781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11293467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1148019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462574677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ctr"/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/>
                        <a:t>任务</a:t>
                      </a:r>
                      <a:r>
                        <a:rPr lang="en-US" altLang="zh-CN" sz="3200" b="1" dirty="0"/>
                        <a:t>1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/>
                        <a:t>任务</a:t>
                      </a:r>
                      <a:r>
                        <a:rPr lang="en-US" altLang="zh-CN" sz="3200" b="1" dirty="0"/>
                        <a:t>2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/>
                        <a:t>任务</a:t>
                      </a:r>
                      <a:r>
                        <a:rPr lang="en-US" altLang="zh-CN" sz="3200" b="1" dirty="0"/>
                        <a:t>3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/>
                        <a:t>任务</a:t>
                      </a:r>
                      <a:r>
                        <a:rPr lang="en-US" altLang="zh-CN" sz="3200" b="1" dirty="0"/>
                        <a:t>4</a:t>
                      </a:r>
                      <a:endParaRPr lang="zh-CN" altLang="en-US" sz="3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353977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/>
                        <a:t>人员</a:t>
                      </a:r>
                      <a:r>
                        <a:rPr lang="en-US" altLang="zh-CN" sz="3200" b="1" dirty="0"/>
                        <a:t>1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14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5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8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7</a:t>
                      </a:r>
                      <a:endParaRPr lang="zh-CN" altLang="en-US" sz="3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47132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/>
                        <a:t>人员</a:t>
                      </a:r>
                      <a:r>
                        <a:rPr lang="en-US" altLang="zh-CN" sz="3200" b="1" dirty="0"/>
                        <a:t>2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2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12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6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5</a:t>
                      </a:r>
                      <a:endParaRPr lang="zh-CN" altLang="en-US" sz="3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641065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/>
                        <a:t>人员</a:t>
                      </a:r>
                      <a:r>
                        <a:rPr lang="en-US" altLang="zh-CN" sz="3200" b="1" dirty="0"/>
                        <a:t>3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7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8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3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9</a:t>
                      </a:r>
                      <a:endParaRPr lang="zh-CN" altLang="en-US" sz="3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413388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1" dirty="0"/>
                        <a:t>人员</a:t>
                      </a:r>
                      <a:r>
                        <a:rPr lang="en-US" altLang="zh-CN" sz="3200" b="1" dirty="0"/>
                        <a:t>4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2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4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6</a:t>
                      </a:r>
                      <a:endParaRPr lang="zh-CN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10</a:t>
                      </a:r>
                      <a:endParaRPr lang="zh-CN" altLang="en-US" sz="3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65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38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8E7AE-4C20-4613-9B78-D617E3F2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422564"/>
            <a:ext cx="6464254" cy="58867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/>
              <a:t>第一步：变换系数矩阵，使各行各列都出现</a:t>
            </a:r>
            <a:r>
              <a:rPr lang="en-US" altLang="zh-CN" dirty="0"/>
              <a:t>0</a:t>
            </a:r>
            <a:r>
              <a:rPr lang="zh-CN" altLang="en-US" dirty="0"/>
              <a:t>元素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r>
              <a:rPr lang="zh-CN" altLang="en-US" dirty="0"/>
              <a:t>每行元素减去该行的最小元素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再每列元素减去该列的最小元素</a:t>
            </a:r>
            <a:endParaRPr lang="en-US" altLang="zh-CN" dirty="0"/>
          </a:p>
          <a:p>
            <a:pPr marL="609600" indent="-609600"/>
            <a:r>
              <a:rPr lang="zh-CN" altLang="en-US" dirty="0"/>
              <a:t>第二步：试求最优解（寻找</a:t>
            </a:r>
            <a:r>
              <a:rPr lang="en-US" altLang="zh-CN" i="1" dirty="0"/>
              <a:t>n</a:t>
            </a:r>
            <a:r>
              <a:rPr lang="zh-CN" altLang="en-US" dirty="0"/>
              <a:t>个独立</a:t>
            </a:r>
            <a:r>
              <a:rPr lang="en-US" altLang="zh-CN" dirty="0"/>
              <a:t>0</a:t>
            </a:r>
            <a:r>
              <a:rPr lang="zh-CN" altLang="en-US" dirty="0"/>
              <a:t>元素）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r>
              <a:rPr lang="zh-CN" altLang="en-US" dirty="0"/>
              <a:t>由零元素最少的行（或列）开始，圈出一个零元素，用◎表示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划去同行同列的其他零元素，用</a:t>
            </a:r>
            <a:r>
              <a:rPr kumimoji="1" lang="en-US" altLang="zh-CN" dirty="0"/>
              <a:t>Ø</a:t>
            </a:r>
            <a:r>
              <a:rPr kumimoji="1" lang="zh-CN" altLang="en-US" dirty="0"/>
              <a:t>表示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r>
              <a:rPr kumimoji="1" lang="zh-CN" altLang="en-US" dirty="0"/>
              <a:t>重复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，直至无法再划</a:t>
            </a:r>
          </a:p>
          <a:p>
            <a:pPr marL="877888" lvl="1" indent="-533400"/>
            <a:r>
              <a:rPr kumimoji="1" lang="zh-CN" altLang="en-US" dirty="0"/>
              <a:t>若得到 </a:t>
            </a:r>
            <a:r>
              <a:rPr kumimoji="1" lang="en-US" altLang="zh-CN" i="1" dirty="0"/>
              <a:t>n</a:t>
            </a:r>
            <a:r>
              <a:rPr kumimoji="1" lang="zh-CN" altLang="en-US" dirty="0"/>
              <a:t>个</a:t>
            </a:r>
            <a:r>
              <a:rPr lang="zh-CN" altLang="en-US" dirty="0"/>
              <a:t>◎，则得到了最优解：对应◎位置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ij</a:t>
            </a:r>
            <a:r>
              <a:rPr lang="en-US" altLang="zh-CN" dirty="0"/>
              <a:t>=1, </a:t>
            </a:r>
            <a:r>
              <a:rPr lang="zh-CN" altLang="en-US" dirty="0"/>
              <a:t>其余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ij</a:t>
            </a:r>
            <a:r>
              <a:rPr lang="en-US" altLang="zh-CN" dirty="0"/>
              <a:t>=0</a:t>
            </a:r>
          </a:p>
          <a:p>
            <a:pPr marL="877888" lvl="1" indent="-533400"/>
            <a:r>
              <a:rPr lang="zh-CN" altLang="en-US" dirty="0"/>
              <a:t>若圈出的◎数目不够</a:t>
            </a:r>
            <a:r>
              <a:rPr lang="en-US" altLang="zh-CN" i="1" dirty="0"/>
              <a:t>n</a:t>
            </a:r>
            <a:r>
              <a:rPr lang="zh-CN" altLang="en-US" dirty="0"/>
              <a:t>个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DDB8A49D-86E5-4678-ADE2-FD316CC28F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610602"/>
              </p:ext>
            </p:extLst>
          </p:nvPr>
        </p:nvGraphicFramePr>
        <p:xfrm>
          <a:off x="7377546" y="1584960"/>
          <a:ext cx="4918365" cy="3905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73">
                  <a:extLst>
                    <a:ext uri="{9D8B030D-6E8A-4147-A177-3AD203B41FA5}">
                      <a16:colId xmlns:a16="http://schemas.microsoft.com/office/drawing/2014/main" val="3801917336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1559577811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1112934678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2611480197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3462574677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任务</a:t>
                      </a:r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/>
                        <a:t>任务</a:t>
                      </a:r>
                      <a:r>
                        <a:rPr lang="en-US" altLang="zh-CN" sz="2000" b="1" dirty="0"/>
                        <a:t>2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/>
                        <a:t>任务</a:t>
                      </a:r>
                      <a:r>
                        <a:rPr lang="en-US" altLang="zh-CN" sz="2000" b="1" dirty="0"/>
                        <a:t>3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/>
                        <a:t>任务</a:t>
                      </a:r>
                      <a:r>
                        <a:rPr lang="en-US" altLang="zh-CN" sz="2000" b="1" dirty="0"/>
                        <a:t>4</a:t>
                      </a:r>
                      <a:endParaRPr lang="zh-CN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353977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人员</a:t>
                      </a:r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14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5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8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7</a:t>
                      </a:r>
                      <a:endParaRPr lang="zh-CN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47132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/>
                        <a:t>人员</a:t>
                      </a:r>
                      <a:r>
                        <a:rPr lang="en-US" altLang="zh-CN" sz="2000" b="1" dirty="0"/>
                        <a:t>2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2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12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6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5</a:t>
                      </a:r>
                      <a:endParaRPr lang="zh-CN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641065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/>
                        <a:t>人员</a:t>
                      </a:r>
                      <a:r>
                        <a:rPr lang="en-US" altLang="zh-CN" sz="2000" b="1" dirty="0"/>
                        <a:t>3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7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8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3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9</a:t>
                      </a:r>
                      <a:endParaRPr lang="zh-CN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413388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/>
                        <a:t>人员</a:t>
                      </a:r>
                      <a:r>
                        <a:rPr lang="en-US" altLang="zh-CN" sz="2000" b="1" dirty="0"/>
                        <a:t>4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2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4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6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10</a:t>
                      </a:r>
                      <a:endParaRPr lang="zh-CN" alt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65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56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8E7AE-4C20-4613-9B78-D617E3F2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22564"/>
            <a:ext cx="9720073" cy="5886796"/>
          </a:xfrm>
        </p:spPr>
        <p:txBody>
          <a:bodyPr>
            <a:normAutofit fontScale="85000" lnSpcReduction="20000"/>
          </a:bodyPr>
          <a:lstStyle/>
          <a:p>
            <a:pPr marL="609600" indent="-609600">
              <a:lnSpc>
                <a:spcPct val="90000"/>
              </a:lnSpc>
            </a:pPr>
            <a:r>
              <a:rPr lang="zh-CN" altLang="en-US" dirty="0"/>
              <a:t>第三步：作最少直线覆盖所有零元素</a:t>
            </a:r>
          </a:p>
          <a:p>
            <a:pPr marL="877888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对没有◎的行打√</a:t>
            </a:r>
          </a:p>
          <a:p>
            <a:pPr marL="877888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对打√行上所有含</a:t>
            </a:r>
            <a:r>
              <a:rPr kumimoji="1" lang="en-US" altLang="zh-CN" dirty="0"/>
              <a:t>Ø</a:t>
            </a:r>
            <a:r>
              <a:rPr kumimoji="1" lang="zh-CN" altLang="en-US" dirty="0"/>
              <a:t>元素的列打</a:t>
            </a:r>
            <a:r>
              <a:rPr lang="zh-CN" altLang="en-US" dirty="0"/>
              <a:t>√</a:t>
            </a:r>
          </a:p>
          <a:p>
            <a:pPr marL="877888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再对打√的列含◎元素的行打√</a:t>
            </a:r>
          </a:p>
          <a:p>
            <a:pPr marL="877888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重复</a:t>
            </a:r>
            <a:r>
              <a:rPr lang="en-US" altLang="zh-CN" dirty="0"/>
              <a:t>2,3</a:t>
            </a:r>
            <a:r>
              <a:rPr lang="zh-CN" altLang="en-US" dirty="0"/>
              <a:t>直到得不出新的打√的行、列为止</a:t>
            </a:r>
          </a:p>
          <a:p>
            <a:pPr marL="877888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对没有打√的行画横线，打√的列画纵线，即得到覆盖所有</a:t>
            </a:r>
            <a:r>
              <a:rPr lang="en-US" altLang="zh-CN" dirty="0"/>
              <a:t>0</a:t>
            </a:r>
            <a:r>
              <a:rPr lang="zh-CN" altLang="en-US" dirty="0"/>
              <a:t>元素的最少直线数 </a:t>
            </a:r>
            <a:r>
              <a:rPr lang="en-US" altLang="zh-CN" i="1" dirty="0"/>
              <a:t>l</a:t>
            </a:r>
            <a:endParaRPr lang="en-US" altLang="zh-CN" dirty="0"/>
          </a:p>
          <a:p>
            <a:pPr marL="877888" lvl="1" indent="-533400">
              <a:lnSpc>
                <a:spcPct val="90000"/>
              </a:lnSpc>
            </a:pPr>
            <a:r>
              <a:rPr lang="zh-CN" altLang="en-US" dirty="0"/>
              <a:t>若</a:t>
            </a:r>
            <a:r>
              <a:rPr lang="en-US" altLang="zh-CN" i="1" dirty="0"/>
              <a:t>l=n</a:t>
            </a:r>
            <a:r>
              <a:rPr lang="zh-CN" altLang="en-US" i="1" dirty="0"/>
              <a:t>，</a:t>
            </a:r>
            <a:r>
              <a:rPr lang="zh-CN" altLang="en-US" dirty="0"/>
              <a:t>返回第二步</a:t>
            </a:r>
          </a:p>
          <a:p>
            <a:pPr marL="877888" lvl="1" indent="-533400">
              <a:lnSpc>
                <a:spcPct val="90000"/>
              </a:lnSpc>
            </a:pPr>
            <a:r>
              <a:rPr lang="zh-CN" altLang="en-US" dirty="0"/>
              <a:t>若</a:t>
            </a:r>
            <a:r>
              <a:rPr lang="en-US" altLang="zh-CN" i="1" dirty="0"/>
              <a:t>l&lt;n</a:t>
            </a:r>
            <a:r>
              <a:rPr lang="zh-CN" altLang="en-US" i="1" dirty="0"/>
              <a:t>，</a:t>
            </a:r>
            <a:r>
              <a:rPr lang="zh-CN" altLang="en-US" dirty="0"/>
              <a:t>转第四步</a:t>
            </a:r>
          </a:p>
          <a:p>
            <a:pPr marL="609600" indent="-609600">
              <a:lnSpc>
                <a:spcPct val="130000"/>
              </a:lnSpc>
            </a:pPr>
            <a:r>
              <a:rPr lang="zh-CN" altLang="en-US" dirty="0"/>
              <a:t>第四步：变换矩阵增加</a:t>
            </a:r>
            <a:r>
              <a:rPr lang="en-US" altLang="zh-CN" dirty="0"/>
              <a:t>0</a:t>
            </a:r>
            <a:r>
              <a:rPr lang="zh-CN" altLang="en-US" dirty="0"/>
              <a:t>元素</a:t>
            </a:r>
          </a:p>
          <a:p>
            <a:pPr marL="877888" lvl="1" indent="-533400">
              <a:lnSpc>
                <a:spcPct val="13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在没有被直线覆盖的部分找出最小元素</a:t>
            </a:r>
          </a:p>
          <a:p>
            <a:pPr marL="877888" lvl="1" indent="-533400">
              <a:lnSpc>
                <a:spcPct val="13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在打√ 行各元素都减去这个最小元素</a:t>
            </a:r>
          </a:p>
          <a:p>
            <a:pPr marL="877888" lvl="1" indent="-533400">
              <a:lnSpc>
                <a:spcPct val="13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在打√列各元素都加上这个最小元素（保证原</a:t>
            </a:r>
            <a:r>
              <a:rPr lang="en-US" altLang="zh-CN" dirty="0"/>
              <a:t>0</a:t>
            </a:r>
            <a:r>
              <a:rPr lang="zh-CN" altLang="en-US" dirty="0"/>
              <a:t>元素不变）</a:t>
            </a:r>
            <a:endParaRPr lang="en-US" altLang="zh-CN" dirty="0"/>
          </a:p>
          <a:p>
            <a:pPr marL="877888" lvl="1" indent="-533400">
              <a:lnSpc>
                <a:spcPct val="13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新系数矩阵若得到</a:t>
            </a:r>
            <a:r>
              <a:rPr lang="en-US" altLang="zh-CN" i="1" dirty="0"/>
              <a:t>n</a:t>
            </a:r>
            <a:r>
              <a:rPr lang="zh-CN" altLang="en-US" dirty="0"/>
              <a:t>个独立</a:t>
            </a:r>
            <a:r>
              <a:rPr lang="en-US" altLang="zh-CN" dirty="0"/>
              <a:t>0</a:t>
            </a:r>
            <a:r>
              <a:rPr lang="zh-CN" altLang="en-US" dirty="0"/>
              <a:t>元素，求解完成；否则，回第三步。</a:t>
            </a:r>
          </a:p>
          <a:p>
            <a:pPr marL="877888" lvl="1" indent="-533400">
              <a:buFont typeface="Wingdings" panose="05000000000000000000" pitchFamily="2" charset="2"/>
              <a:buAutoNum type="arabicPeriod"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752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ABB8DE-E14C-4992-AD46-27FFFF35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动态规划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CEC47-8C46-4915-95CE-D1814C65A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状态转移方程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A1119B6-33F9-4053-9F1E-2DA6490837DD}"/>
                  </a:ext>
                </a:extLst>
              </p:cNvPr>
              <p:cNvSpPr txBox="1"/>
              <p:nvPr/>
            </p:nvSpPr>
            <p:spPr>
              <a:xfrm>
                <a:off x="1761914" y="3429000"/>
                <a:ext cx="8668172" cy="190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/>
                  <a:t>假设已知</a:t>
                </a:r>
                <a:endParaRPr lang="en-US" altLang="zh-CN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𝐦𝐚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𝐦𝐢𝐧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b="1" dirty="0"/>
              </a:p>
              <a:p>
                <a:r>
                  <a:rPr lang="zh-CN" altLang="en-US" sz="2800" b="1" dirty="0"/>
                  <a:t>那么</a:t>
                </a:r>
                <a:endParaRPr lang="en-US" altLang="zh-CN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𝐦𝐚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𝐦𝐢𝐧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US" altLang="zh-CN" sz="2800" b="1"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A1119B6-33F9-4053-9F1E-2DA649083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914" y="3429000"/>
                <a:ext cx="8668172" cy="1900392"/>
              </a:xfrm>
              <a:prstGeom prst="rect">
                <a:avLst/>
              </a:prstGeom>
              <a:blipFill>
                <a:blip r:embed="rId2"/>
                <a:stretch>
                  <a:fillRect l="-1406" t="-35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386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77B23-68FA-493F-8004-E4D585CE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求函数最值问题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13">
                <a:extLst>
                  <a:ext uri="{FF2B5EF4-FFF2-40B4-BE49-F238E27FC236}">
                    <a16:creationId xmlns:a16="http://schemas.microsoft.com/office/drawing/2014/main" id="{DD26C76F-4F0C-4D9A-9896-70D6E9D3DDC9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023938" y="2286000"/>
                <a:ext cx="9720262" cy="40227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≥0,</m:t>
                            </m:r>
                            <m:r>
                              <m:rPr>
                                <m:nor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=1,2,3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13">
                <a:extLst>
                  <a:ext uri="{FF2B5EF4-FFF2-40B4-BE49-F238E27FC236}">
                    <a16:creationId xmlns:a16="http://schemas.microsoft.com/office/drawing/2014/main" id="{DD26C76F-4F0C-4D9A-9896-70D6E9D3DDC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23938" y="2286000"/>
                <a:ext cx="9720262" cy="4022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249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C2508-E458-4BA5-AA3C-762D3DE9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一维资源分配问题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59EFA97-A9D1-4AC0-B366-9CA192A4E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631579"/>
              </p:ext>
            </p:extLst>
          </p:nvPr>
        </p:nvGraphicFramePr>
        <p:xfrm>
          <a:off x="1155575" y="2084832"/>
          <a:ext cx="9880850" cy="4389120"/>
        </p:xfrm>
        <a:graphic>
          <a:graphicData uri="http://schemas.openxmlformats.org/drawingml/2006/table">
            <a:tbl>
              <a:tblPr/>
              <a:tblGrid>
                <a:gridCol w="3133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8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 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             </a:t>
                      </a:r>
                      <a:r>
                        <a:rPr kumimoji="0" lang="zh-CN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工厂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设备台数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甲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乙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行楷" panose="02010800040101010101" pitchFamily="2" charset="-122"/>
                          <a:ea typeface="华文行楷" panose="02010800040101010101" pitchFamily="2" charset="-122"/>
                        </a:rPr>
                        <a:t>丙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0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0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0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0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3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5</a:t>
                      </a:r>
                      <a:endParaRPr kumimoji="0" lang="zh-CN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4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2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7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10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6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3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9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11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11</a:t>
                      </a:r>
                      <a:endParaRPr kumimoji="0" lang="zh-CN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4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12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11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12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0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5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13</a:t>
                      </a:r>
                      <a:endParaRPr kumimoji="0" lang="zh-CN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11</a:t>
                      </a:r>
                      <a:endParaRPr kumimoji="0" lang="zh-CN" altLang="zh-CN" sz="3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华文行楷" panose="02010800040101010101" pitchFamily="2" charset="-122"/>
                        </a:rPr>
                        <a:t>12</a:t>
                      </a:r>
                      <a:endParaRPr kumimoji="0" lang="zh-CN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华文行楷" panose="02010800040101010101" pitchFamily="2" charset="-122"/>
                        <a:ea typeface="华文行楷" panose="0201080004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072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419B4-5A78-4626-B1A1-96BFF75F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背包问题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940756-AF93-489A-953B-A951F5A6E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</m:t>
                            </m:r>
                            <m:r>
                              <m:rPr>
                                <m:nor/>
                              </m:rP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且为整数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940756-AF93-489A-953B-A951F5A6E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989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9970E-1883-4314-99E2-A44FDD90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/>
              <a:t>旅行商问题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E8945-88C4-4263-96FF-01842461C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66"/>
                </a:solidFill>
              </a:rPr>
              <a:t>当推销员从</a:t>
            </a:r>
            <a:r>
              <a:rPr lang="en-US" altLang="zh-CN" dirty="0">
                <a:solidFill>
                  <a:srgbClr val="000066"/>
                </a:solidFill>
              </a:rPr>
              <a:t>1</a:t>
            </a:r>
            <a:r>
              <a:rPr lang="zh-CN" altLang="en-US" dirty="0">
                <a:solidFill>
                  <a:srgbClr val="000066"/>
                </a:solidFill>
              </a:rPr>
              <a:t>城出发，经过每个城市一次且仅一次，最后回到</a:t>
            </a:r>
            <a:r>
              <a:rPr lang="en-US" altLang="zh-CN" dirty="0">
                <a:solidFill>
                  <a:srgbClr val="000066"/>
                </a:solidFill>
              </a:rPr>
              <a:t>1</a:t>
            </a:r>
            <a:r>
              <a:rPr lang="zh-CN" altLang="en-US" dirty="0">
                <a:solidFill>
                  <a:srgbClr val="000066"/>
                </a:solidFill>
              </a:rPr>
              <a:t>城，问按怎样的路线走，使总的行程距离最短。（四个城市，其距离矩阵如下表）</a:t>
            </a:r>
            <a:endParaRPr lang="zh-CN" altLang="en-US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2CB88F0-2FCF-425A-95B1-930734988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248117"/>
              </p:ext>
            </p:extLst>
          </p:nvPr>
        </p:nvGraphicFramePr>
        <p:xfrm>
          <a:off x="2340864" y="4529328"/>
          <a:ext cx="7086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Worksheet" r:id="rId3" imgW="6182083" imgH="4020094" progId="Excel.Sheet.8">
                  <p:embed/>
                </p:oleObj>
              </mc:Choice>
              <mc:Fallback>
                <p:oleObj name="Worksheet" r:id="rId3" imgW="6182083" imgH="4020094" progId="Excel.Sheet.8">
                  <p:embed/>
                  <p:pic>
                    <p:nvPicPr>
                      <p:cNvPr id="77828" name="Object 5">
                        <a:extLst>
                          <a:ext uri="{FF2B5EF4-FFF2-40B4-BE49-F238E27FC236}">
                            <a16:creationId xmlns:a16="http://schemas.microsoft.com/office/drawing/2014/main" id="{9AA5FC5F-07C5-487A-A4CF-37C9D4E584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4530" b="76158"/>
                      <a:stretch>
                        <a:fillRect/>
                      </a:stretch>
                    </p:blipFill>
                    <p:spPr bwMode="auto">
                      <a:xfrm>
                        <a:off x="2340864" y="4529328"/>
                        <a:ext cx="70866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9122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E6AF1-300D-4B71-BB0F-122E6F4B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图与网络</a:t>
            </a:r>
            <a:r>
              <a:rPr lang="en-US" altLang="zh-CN" dirty="0"/>
              <a:t>-</a:t>
            </a:r>
            <a:r>
              <a:rPr lang="zh-CN" altLang="en-US" dirty="0"/>
              <a:t>最小支撑树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C045017-B145-4634-9F05-5DD9C49FA7E8}"/>
              </a:ext>
            </a:extLst>
          </p:cNvPr>
          <p:cNvGrpSpPr/>
          <p:nvPr/>
        </p:nvGrpSpPr>
        <p:grpSpPr>
          <a:xfrm>
            <a:off x="609601" y="2084832"/>
            <a:ext cx="5867400" cy="4074100"/>
            <a:chOff x="2993205" y="2084832"/>
            <a:chExt cx="5867400" cy="4074100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F9EDBEC8-C9BF-4A64-BC83-8819F1CF3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0405" y="3288157"/>
              <a:ext cx="12192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2C608F45-7994-4B55-A2A9-986B4356E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9605" y="3211957"/>
              <a:ext cx="1905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CF1892A3-8BB3-4335-901C-D77EA6A55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7005" y="3211957"/>
              <a:ext cx="15240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52A20BCE-EE31-4DFA-9147-4B2DC1B19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0405" y="4659756"/>
              <a:ext cx="1295400" cy="854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83634605-A732-4B48-BB98-C0B57990D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605" y="3288157"/>
              <a:ext cx="152400" cy="220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6E462EC-A509-4424-92E0-4F4EE60EA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0805" y="3211957"/>
              <a:ext cx="228600" cy="236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FB547CF2-3BFC-4232-AFC8-67AF062ABB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5605" y="4431157"/>
              <a:ext cx="12954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C843C2E3-4CE5-43C3-B636-27EB7B242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2005" y="3211957"/>
              <a:ext cx="1752600" cy="236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97F37016-9BFF-4372-8B3C-6F46476DA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205" y="4507357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2F1FA267-60DD-414F-8EF2-85540BA6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405" y="3211957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6373BCD2-2074-4974-B2CE-A03886FAF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805" y="5497957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36F9DF1E-0E25-4BBF-A52E-9D24F15AA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4605" y="3135757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6D870341-5FDB-4B3C-AE3F-0A215A469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3205" y="5497957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C7DB1B48-05EC-4AE1-B521-DC6C89E31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805" y="4354957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DF1D4676-D000-48EA-B9AF-E5F346730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205" y="5574157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2992D65E-352A-4488-88B7-976314C89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205" y="4354957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/>
                <a:t>v</a:t>
              </a:r>
              <a:r>
                <a:rPr lang="en-US" altLang="zh-CN" baseline="-25000"/>
                <a:t>1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C2170866-B177-48B0-8D2E-3AC465C6A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405" y="5574157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 dirty="0"/>
                <a:t>v</a:t>
              </a:r>
              <a:r>
                <a:rPr lang="en-US" altLang="zh-CN" baseline="-25000" dirty="0"/>
                <a:t>2</a:t>
              </a: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F3068B42-EC91-4E20-8B8F-DEB165B67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4212" y="2652007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 dirty="0"/>
                <a:t>v</a:t>
              </a:r>
              <a:r>
                <a:rPr lang="en-US" altLang="zh-CN" baseline="-25000" dirty="0"/>
                <a:t>3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84351EB3-E86E-4B38-944E-AA98FADBF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9405" y="5497957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/>
                <a:t>v</a:t>
              </a:r>
              <a:r>
                <a:rPr lang="en-US" altLang="zh-CN" baseline="-25000"/>
                <a:t>4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C60F0B29-2CCC-4704-B503-C36D3DAD3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8405" y="2602357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 dirty="0"/>
                <a:t>v</a:t>
              </a:r>
              <a:r>
                <a:rPr lang="en-US" altLang="zh-CN" baseline="-25000" dirty="0"/>
                <a:t>5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7DC6CCDC-2852-4770-8BF4-E2C17DFA1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7205" y="4202557"/>
              <a:ext cx="5334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i="1"/>
                <a:t>v</a:t>
              </a:r>
              <a:r>
                <a:rPr lang="en-US" altLang="zh-CN" baseline="-25000"/>
                <a:t>6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BC4F39AD-FEBC-4864-9A7F-7F897C486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005" y="35929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53055362-CD61-4FC5-8220-BECB1B0C8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6619" y="2953194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9</a:t>
              </a: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ADB227AC-A564-4278-AB59-66B9C65DF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5205" y="49645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C54D48B8-D851-4160-83A3-F623B6363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1162" y="40501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6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13A10488-DE9F-4972-92F2-041BA3672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405" y="40501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7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4AA3B538-76DF-4ECA-A259-9AE5C345F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0205" y="51931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5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F01E97DF-E86D-46F8-90A9-900EF6538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205" y="42787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F3DF852D-6B50-45B2-9BA7-05BD34EF9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6605" y="34405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2FC648DB-E90E-4755-B3FB-51BFB5DCE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5205" y="4888357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34" name="Oval 13">
              <a:extLst>
                <a:ext uri="{FF2B5EF4-FFF2-40B4-BE49-F238E27FC236}">
                  <a16:creationId xmlns:a16="http://schemas.microsoft.com/office/drawing/2014/main" id="{55D2CBF3-0511-4D47-B307-8130A8B8B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905" y="2084832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/>
            </a:p>
          </p:txBody>
        </p:sp>
        <p:sp>
          <p:nvSpPr>
            <p:cNvPr id="35" name="Line 4">
              <a:extLst>
                <a:ext uri="{FF2B5EF4-FFF2-40B4-BE49-F238E27FC236}">
                  <a16:creationId xmlns:a16="http://schemas.microsoft.com/office/drawing/2014/main" id="{7C7E72B0-14F6-4BEC-8F8F-51972B8C3A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7152" y="2237231"/>
              <a:ext cx="866720" cy="9863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36" name="Line 4">
              <a:extLst>
                <a:ext uri="{FF2B5EF4-FFF2-40B4-BE49-F238E27FC236}">
                  <a16:creationId xmlns:a16="http://schemas.microsoft.com/office/drawing/2014/main" id="{2A54682E-3AD5-4C4A-8805-3D65346A93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31419" y="2237230"/>
              <a:ext cx="1209952" cy="3276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4000"/>
            </a:p>
          </p:txBody>
        </p:sp>
        <p:sp>
          <p:nvSpPr>
            <p:cNvPr id="37" name="Text Box 26">
              <a:extLst>
                <a:ext uri="{FF2B5EF4-FFF2-40B4-BE49-F238E27FC236}">
                  <a16:creationId xmlns:a16="http://schemas.microsoft.com/office/drawing/2014/main" id="{D6548FDB-1816-467B-925B-715C369BB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226" y="2419794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38" name="Text Box 26">
              <a:extLst>
                <a:ext uri="{FF2B5EF4-FFF2-40B4-BE49-F238E27FC236}">
                  <a16:creationId xmlns:a16="http://schemas.microsoft.com/office/drawing/2014/main" id="{AF8F7ABD-1DC8-4EBF-AF2D-6462BD7134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1808" y="2419794"/>
              <a:ext cx="6096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0099"/>
                  </a:solidFill>
                </a:rPr>
                <a:t>4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D8D618CF-5F02-4562-AFB5-C3929CA30FA1}"/>
              </a:ext>
            </a:extLst>
          </p:cNvPr>
          <p:cNvSpPr/>
          <p:nvPr/>
        </p:nvSpPr>
        <p:spPr>
          <a:xfrm>
            <a:off x="6942891" y="2679063"/>
            <a:ext cx="46121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b="1" dirty="0"/>
              <a:t>把边按权从小到大依次添入图中（不能构成圈）</a:t>
            </a:r>
            <a:endParaRPr lang="en-US" altLang="zh-CN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b="1" dirty="0"/>
              <a:t>在图中找圈，并删除其中最大边。重复直至图中不存在圈</a:t>
            </a:r>
          </a:p>
          <a:p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34264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D563B-3B71-414B-BE79-8EBD9DE8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zh-CN" altLang="en-US" dirty="0"/>
              <a:t> 图与网络</a:t>
            </a:r>
            <a:r>
              <a:rPr lang="en-US" altLang="zh-CN" dirty="0"/>
              <a:t>-</a:t>
            </a:r>
            <a:r>
              <a:rPr lang="zh-CN" altLang="en-US" dirty="0"/>
              <a:t>中国邮递员问题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B0662D3A-84A4-4E50-81F7-B64864CA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649" y="2699284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34C890-3DA2-4636-8CCB-2E73BD318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649" y="2699284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1109D3DD-C95E-498A-9124-156C608E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649" y="2699284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A34CB39F-49EA-4573-A395-E53D498B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649" y="2699284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9C7D922F-9A65-4544-959D-74469FCFE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249" y="4313269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E196A59B-0B3E-4A00-9048-BDF6A5677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249" y="4313269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AF61DD66-8295-4D17-AF7F-C64D78336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249" y="4313269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v</a:t>
            </a:r>
            <a:r>
              <a:rPr lang="en-US" altLang="zh-CN" sz="4400" baseline="-25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9EB9610-D013-40EF-A306-9057A85FB9BB}"/>
              </a:ext>
            </a:extLst>
          </p:cNvPr>
          <p:cNvCxnSpPr>
            <a:stCxn id="4" idx="6"/>
            <a:endCxn id="5" idx="2"/>
          </p:cNvCxnSpPr>
          <p:nvPr/>
        </p:nvCxnSpPr>
        <p:spPr bwMode="auto">
          <a:xfrm>
            <a:off x="3359649" y="3080284"/>
            <a:ext cx="11430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9732D77-589C-4E5F-9170-3F9A7B451270}"/>
              </a:ext>
            </a:extLst>
          </p:cNvPr>
          <p:cNvCxnSpPr/>
          <p:nvPr/>
        </p:nvCxnSpPr>
        <p:spPr bwMode="auto">
          <a:xfrm>
            <a:off x="5264649" y="3080284"/>
            <a:ext cx="11430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5C267CB-BB76-4F97-ADD6-1519836357A0}"/>
              </a:ext>
            </a:extLst>
          </p:cNvPr>
          <p:cNvCxnSpPr/>
          <p:nvPr/>
        </p:nvCxnSpPr>
        <p:spPr bwMode="auto">
          <a:xfrm>
            <a:off x="7169649" y="3080284"/>
            <a:ext cx="11430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F06DEFE-98B2-4DF0-AC70-1C8563FCA3B9}"/>
              </a:ext>
            </a:extLst>
          </p:cNvPr>
          <p:cNvCxnSpPr/>
          <p:nvPr/>
        </p:nvCxnSpPr>
        <p:spPr bwMode="auto">
          <a:xfrm>
            <a:off x="4350249" y="4694269"/>
            <a:ext cx="11430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3D9D055-BF2F-4FD8-838D-588D2A1D1554}"/>
              </a:ext>
            </a:extLst>
          </p:cNvPr>
          <p:cNvCxnSpPr/>
          <p:nvPr/>
        </p:nvCxnSpPr>
        <p:spPr bwMode="auto">
          <a:xfrm>
            <a:off x="6255249" y="4694269"/>
            <a:ext cx="1143000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97FCF9A-E42D-4E18-855F-E9B088F4D465}"/>
              </a:ext>
            </a:extLst>
          </p:cNvPr>
          <p:cNvCxnSpPr>
            <a:cxnSpLocks/>
            <a:stCxn id="4" idx="4"/>
            <a:endCxn id="8" idx="1"/>
          </p:cNvCxnSpPr>
          <p:nvPr/>
        </p:nvCxnSpPr>
        <p:spPr bwMode="auto">
          <a:xfrm>
            <a:off x="2978649" y="3461284"/>
            <a:ext cx="721192" cy="963577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B339E3E-ED95-47E9-A1F3-49A2983EF768}"/>
              </a:ext>
            </a:extLst>
          </p:cNvPr>
          <p:cNvCxnSpPr>
            <a:cxnSpLocks/>
            <a:stCxn id="5" idx="4"/>
            <a:endCxn id="8" idx="7"/>
          </p:cNvCxnSpPr>
          <p:nvPr/>
        </p:nvCxnSpPr>
        <p:spPr bwMode="auto">
          <a:xfrm flipH="1">
            <a:off x="4238657" y="3461284"/>
            <a:ext cx="644992" cy="963577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22ECCCE-6718-4C80-B988-5111EE2D0DFF}"/>
              </a:ext>
            </a:extLst>
          </p:cNvPr>
          <p:cNvCxnSpPr>
            <a:cxnSpLocks/>
            <a:stCxn id="5" idx="4"/>
            <a:endCxn id="9" idx="1"/>
          </p:cNvCxnSpPr>
          <p:nvPr/>
        </p:nvCxnSpPr>
        <p:spPr bwMode="auto">
          <a:xfrm>
            <a:off x="4883649" y="3461284"/>
            <a:ext cx="721192" cy="963577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79B5A11-AA23-4E83-A346-AB51F05F3C98}"/>
              </a:ext>
            </a:extLst>
          </p:cNvPr>
          <p:cNvCxnSpPr>
            <a:cxnSpLocks/>
            <a:stCxn id="6" idx="4"/>
            <a:endCxn id="9" idx="7"/>
          </p:cNvCxnSpPr>
          <p:nvPr/>
        </p:nvCxnSpPr>
        <p:spPr bwMode="auto">
          <a:xfrm flipH="1">
            <a:off x="6143657" y="3461284"/>
            <a:ext cx="644992" cy="963577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9FD30B2-B531-42F3-9467-14B8017C60C4}"/>
              </a:ext>
            </a:extLst>
          </p:cNvPr>
          <p:cNvCxnSpPr>
            <a:cxnSpLocks/>
            <a:stCxn id="6" idx="4"/>
            <a:endCxn id="10" idx="1"/>
          </p:cNvCxnSpPr>
          <p:nvPr/>
        </p:nvCxnSpPr>
        <p:spPr bwMode="auto">
          <a:xfrm>
            <a:off x="6788649" y="3461284"/>
            <a:ext cx="721192" cy="963577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D71BAD7-368A-48EB-B132-EADA10F259F5}"/>
              </a:ext>
            </a:extLst>
          </p:cNvPr>
          <p:cNvCxnSpPr>
            <a:cxnSpLocks/>
          </p:cNvCxnSpPr>
          <p:nvPr/>
        </p:nvCxnSpPr>
        <p:spPr bwMode="auto">
          <a:xfrm flipH="1">
            <a:off x="8031370" y="3461284"/>
            <a:ext cx="644992" cy="963577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71B3D1E-46A1-433D-840D-B8A66010D91A}"/>
              </a:ext>
            </a:extLst>
          </p:cNvPr>
          <p:cNvSpPr txBox="1"/>
          <p:nvPr/>
        </p:nvSpPr>
        <p:spPr>
          <a:xfrm>
            <a:off x="3874455" y="258318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B056F1-61A5-46C1-8AB1-379038CDB65E}"/>
              </a:ext>
            </a:extLst>
          </p:cNvPr>
          <p:cNvSpPr txBox="1"/>
          <p:nvPr/>
        </p:nvSpPr>
        <p:spPr>
          <a:xfrm>
            <a:off x="5714830" y="2583182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7</a:t>
            </a:r>
            <a:endParaRPr lang="zh-CN" altLang="en-US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D2440CF-DA5A-42C8-9A49-BE0DAA88D0C7}"/>
              </a:ext>
            </a:extLst>
          </p:cNvPr>
          <p:cNvSpPr txBox="1"/>
          <p:nvPr/>
        </p:nvSpPr>
        <p:spPr>
          <a:xfrm>
            <a:off x="5240402" y="3625667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</a:t>
            </a:r>
            <a:endParaRPr lang="zh-CN" altLang="en-US" sz="2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0384B0-F2ED-4E6A-88B0-33E4E9CF0167}"/>
              </a:ext>
            </a:extLst>
          </p:cNvPr>
          <p:cNvSpPr txBox="1"/>
          <p:nvPr/>
        </p:nvSpPr>
        <p:spPr>
          <a:xfrm>
            <a:off x="4091948" y="3625667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1203DB-D4F7-44B8-9D46-32ECD8BF07C5}"/>
              </a:ext>
            </a:extLst>
          </p:cNvPr>
          <p:cNvSpPr txBox="1"/>
          <p:nvPr/>
        </p:nvSpPr>
        <p:spPr>
          <a:xfrm>
            <a:off x="2796311" y="3625667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F7729F-67B5-48CF-9AB4-8D2CB6AF8A76}"/>
              </a:ext>
            </a:extLst>
          </p:cNvPr>
          <p:cNvSpPr txBox="1"/>
          <p:nvPr/>
        </p:nvSpPr>
        <p:spPr>
          <a:xfrm>
            <a:off x="4589958" y="4629496"/>
            <a:ext cx="58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</a:t>
            </a:r>
            <a:endParaRPr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E6CBAD-E792-4521-AFEA-D8EA4222B9C5}"/>
              </a:ext>
            </a:extLst>
          </p:cNvPr>
          <p:cNvSpPr txBox="1"/>
          <p:nvPr/>
        </p:nvSpPr>
        <p:spPr>
          <a:xfrm>
            <a:off x="6775748" y="4629496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9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776BA07-161A-4A95-AD45-FB69BB6C5FBF}"/>
              </a:ext>
            </a:extLst>
          </p:cNvPr>
          <p:cNvSpPr txBox="1"/>
          <p:nvPr/>
        </p:nvSpPr>
        <p:spPr>
          <a:xfrm>
            <a:off x="7169649" y="3593213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F0EB89-0C22-46A8-808C-32EC7D45453F}"/>
              </a:ext>
            </a:extLst>
          </p:cNvPr>
          <p:cNvSpPr txBox="1"/>
          <p:nvPr/>
        </p:nvSpPr>
        <p:spPr>
          <a:xfrm>
            <a:off x="6138004" y="3593213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</a:t>
            </a:r>
            <a:endParaRPr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A440249-5D10-4BD6-8159-D7274DA7F339}"/>
              </a:ext>
            </a:extLst>
          </p:cNvPr>
          <p:cNvSpPr txBox="1"/>
          <p:nvPr/>
        </p:nvSpPr>
        <p:spPr>
          <a:xfrm>
            <a:off x="8021458" y="3593213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0031091-F979-485E-908A-BFC75FD70E90}"/>
              </a:ext>
            </a:extLst>
          </p:cNvPr>
          <p:cNvSpPr txBox="1"/>
          <p:nvPr/>
        </p:nvSpPr>
        <p:spPr>
          <a:xfrm>
            <a:off x="7648280" y="2583182"/>
            <a:ext cx="36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56051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8478E-3131-4AE4-88E9-B7794D62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图与网络</a:t>
            </a:r>
            <a:r>
              <a:rPr lang="en-US" altLang="zh-CN" dirty="0"/>
              <a:t>-</a:t>
            </a:r>
            <a:r>
              <a:rPr lang="zh-CN" altLang="en-US" dirty="0"/>
              <a:t>最短路问题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B9AF38-2C55-423E-B963-F9E59FE9D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914" y="1934538"/>
            <a:ext cx="6414499" cy="400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40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C9287-3908-4280-A67C-B79E6A53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zh-CN" altLang="en-US" dirty="0"/>
              <a:t>图与网络</a:t>
            </a:r>
            <a:r>
              <a:rPr lang="en-US" altLang="zh-CN" dirty="0"/>
              <a:t>-</a:t>
            </a:r>
            <a:r>
              <a:rPr lang="zh-CN" altLang="en-US" dirty="0"/>
              <a:t>最大流问题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1988929-D7D7-4D66-A9AB-4CB6D428E39F}"/>
              </a:ext>
            </a:extLst>
          </p:cNvPr>
          <p:cNvGrpSpPr/>
          <p:nvPr/>
        </p:nvGrpSpPr>
        <p:grpSpPr>
          <a:xfrm>
            <a:off x="1738741" y="1797156"/>
            <a:ext cx="7107460" cy="4685838"/>
            <a:chOff x="1738741" y="1797156"/>
            <a:chExt cx="7107460" cy="4685838"/>
          </a:xfrm>
        </p:grpSpPr>
        <p:pic>
          <p:nvPicPr>
            <p:cNvPr id="4098" name="Picture 2" descr="【图】最大流 - Bankarian - 博客园">
              <a:extLst>
                <a:ext uri="{FF2B5EF4-FFF2-40B4-BE49-F238E27FC236}">
                  <a16:creationId xmlns:a16="http://schemas.microsoft.com/office/drawing/2014/main" id="{3369E595-F415-4DA2-8A97-3E1DA9351A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8741" y="1797156"/>
              <a:ext cx="7107460" cy="4685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10E68D-E978-43A9-8B32-89F1FE2B8A15}"/>
                </a:ext>
              </a:extLst>
            </p:cNvPr>
            <p:cNvSpPr/>
            <p:nvPr/>
          </p:nvSpPr>
          <p:spPr>
            <a:xfrm>
              <a:off x="3718982" y="3361266"/>
              <a:ext cx="463551" cy="16709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7460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0C2AF-F9D6-4F4E-B51A-D3E7012D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 </a:t>
            </a:r>
            <a:r>
              <a:rPr lang="zh-CN" altLang="en-US" dirty="0"/>
              <a:t>对策论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5C968-CCDD-4C40-ACF9-388A0D69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二人有限零和对策</a:t>
            </a:r>
            <a:endParaRPr lang="en-US" altLang="zh-CN" dirty="0"/>
          </a:p>
          <a:p>
            <a:r>
              <a:rPr lang="zh-CN" altLang="en-US" dirty="0"/>
              <a:t>矩阵对策的纯策略解以及混合策略解的概念</a:t>
            </a:r>
          </a:p>
        </p:txBody>
      </p:sp>
    </p:spTree>
    <p:extLst>
      <p:ext uri="{BB962C8B-B14F-4D97-AF65-F5344CB8AC3E}">
        <p14:creationId xmlns:p14="http://schemas.microsoft.com/office/powerpoint/2010/main" val="2669722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C1404-AD4E-4EE3-ACF6-0AD98775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优超原理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2DB2D4-FEB6-43AE-A220-3429DB94D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99" y="2421597"/>
            <a:ext cx="6699217" cy="377371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F451FD7-9025-4D09-9318-7899F97CE59F}"/>
              </a:ext>
            </a:extLst>
          </p:cNvPr>
          <p:cNvSpPr txBox="1"/>
          <p:nvPr/>
        </p:nvSpPr>
        <p:spPr>
          <a:xfrm>
            <a:off x="7323484" y="2606531"/>
            <a:ext cx="41835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 dirty="0"/>
              <a:t>某一行的数大于另一行，保留哪一行？</a:t>
            </a:r>
            <a:endParaRPr lang="en-US" altLang="zh-CN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 dirty="0"/>
              <a:t>某一列的数大于另一列，保留哪一列？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249027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97DC4-E2B5-4FAD-B5FC-672BEF93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矩阵混合策略的解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1F7E2FE-0044-48C3-9F85-44D11BF30D68}"/>
                  </a:ext>
                </a:extLst>
              </p:cNvPr>
              <p:cNvSpPr txBox="1"/>
              <p:nvPr/>
            </p:nvSpPr>
            <p:spPr>
              <a:xfrm>
                <a:off x="1447800" y="1999061"/>
                <a:ext cx="3791607" cy="3020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𝒎𝒊𝒏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1F7E2FE-0044-48C3-9F85-44D11BF30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999061"/>
                <a:ext cx="3791607" cy="30208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36214B-B766-4C95-97BF-A9F7BAA3B136}"/>
                  </a:ext>
                </a:extLst>
              </p:cNvPr>
              <p:cNvSpPr txBox="1"/>
              <p:nvPr/>
            </p:nvSpPr>
            <p:spPr>
              <a:xfrm>
                <a:off x="7010400" y="1936031"/>
                <a:ext cx="2343807" cy="3146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altLang="zh-CN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altLang="zh-CN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36214B-B766-4C95-97BF-A9F7BAA3B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1936031"/>
                <a:ext cx="2343807" cy="3146952"/>
              </a:xfrm>
              <a:prstGeom prst="rect">
                <a:avLst/>
              </a:prstGeom>
              <a:blipFill>
                <a:blip r:embed="rId3"/>
                <a:stretch>
                  <a:fillRect r="-27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左右 5">
            <a:extLst>
              <a:ext uri="{FF2B5EF4-FFF2-40B4-BE49-F238E27FC236}">
                <a16:creationId xmlns:a16="http://schemas.microsoft.com/office/drawing/2014/main" id="{21944D92-3C7F-4C4C-BA9D-9C052F01EC79}"/>
              </a:ext>
            </a:extLst>
          </p:cNvPr>
          <p:cNvSpPr/>
          <p:nvPr/>
        </p:nvSpPr>
        <p:spPr bwMode="auto">
          <a:xfrm>
            <a:off x="5368929" y="3434993"/>
            <a:ext cx="1338532" cy="609600"/>
          </a:xfrm>
          <a:prstGeom prst="leftRightArrow">
            <a:avLst/>
          </a:prstGeom>
          <a:solidFill>
            <a:srgbClr val="0000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235FE2-9724-4EEE-BD26-F05BE4E9934A}"/>
              </a:ext>
            </a:extLst>
          </p:cNvPr>
          <p:cNvSpPr txBox="1"/>
          <p:nvPr/>
        </p:nvSpPr>
        <p:spPr>
          <a:xfrm>
            <a:off x="5022532" y="2874557"/>
            <a:ext cx="2031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/>
              <a:t>互为对偶问题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4F6F3E-BB2D-4568-A64D-ADF5518C954B}"/>
                  </a:ext>
                </a:extLst>
              </p:cNvPr>
              <p:cNvSpPr txBox="1"/>
              <p:nvPr/>
            </p:nvSpPr>
            <p:spPr>
              <a:xfrm>
                <a:off x="2276996" y="5267517"/>
                <a:ext cx="2133213" cy="11662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4F6F3E-BB2D-4568-A64D-ADF5518C9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996" y="5267517"/>
                <a:ext cx="2133213" cy="1166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E373814-CE6D-4458-BCCE-607A8DC394BD}"/>
                  </a:ext>
                </a:extLst>
              </p:cNvPr>
              <p:cNvSpPr txBox="1"/>
              <p:nvPr/>
            </p:nvSpPr>
            <p:spPr>
              <a:xfrm>
                <a:off x="7115696" y="5267517"/>
                <a:ext cx="2133213" cy="11662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E373814-CE6D-4458-BCCE-607A8DC39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696" y="5267517"/>
                <a:ext cx="2133213" cy="11662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660991C3-7D3A-410D-89D5-0981EF4B6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461" y="460263"/>
            <a:ext cx="3600091" cy="146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93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EC735-EE7F-4ABC-9B04-39023C7B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7D58A-3621-4BCB-81D1-3A04ACDF4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写出下述矩阵对策对应的线性规划问题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2F5E83-9A26-4C69-BA99-E15182B32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954" y="3100601"/>
            <a:ext cx="3600091" cy="146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62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/>
  <Words>1636</Words>
  <Application>Microsoft Office PowerPoint</Application>
  <PresentationFormat>宽屏</PresentationFormat>
  <Paragraphs>415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等线</vt:lpstr>
      <vt:lpstr>华文仿宋</vt:lpstr>
      <vt:lpstr>华文行楷</vt:lpstr>
      <vt:lpstr>楷体_GB2312</vt:lpstr>
      <vt:lpstr>宋体</vt:lpstr>
      <vt:lpstr>Arial</vt:lpstr>
      <vt:lpstr>Cambria Math</vt:lpstr>
      <vt:lpstr>Times New Roman</vt:lpstr>
      <vt:lpstr>Tw Cen MT</vt:lpstr>
      <vt:lpstr>Tw Cen MT Condensed</vt:lpstr>
      <vt:lpstr>Wingdings</vt:lpstr>
      <vt:lpstr>Wingdings 3</vt:lpstr>
      <vt:lpstr>积分</vt:lpstr>
      <vt:lpstr>Equation</vt:lpstr>
      <vt:lpstr>公式</vt:lpstr>
      <vt:lpstr>Worksheet</vt:lpstr>
      <vt:lpstr>复习与习题</vt:lpstr>
      <vt:lpstr>1. 单纯形法</vt:lpstr>
      <vt:lpstr>1. 单纯形法</vt:lpstr>
      <vt:lpstr>1.单纯形法-单纯形表</vt:lpstr>
      <vt:lpstr>例题:</vt:lpstr>
      <vt:lpstr>2. 对偶问题与灵敏度分析</vt:lpstr>
      <vt:lpstr>PowerPoint 演示文稿</vt:lpstr>
      <vt:lpstr>例题：写出该问题的对偶问题</vt:lpstr>
      <vt:lpstr>2. 对偶问题-互补松弛性</vt:lpstr>
      <vt:lpstr>PowerPoint 演示文稿</vt:lpstr>
      <vt:lpstr>2. 对偶问题-对偶单纯形法</vt:lpstr>
      <vt:lpstr>例题：</vt:lpstr>
      <vt:lpstr>2. 灵敏度分析</vt:lpstr>
      <vt:lpstr>3. 运输问题</vt:lpstr>
      <vt:lpstr>例题：</vt:lpstr>
      <vt:lpstr>例题：</vt:lpstr>
      <vt:lpstr>4.目标规划</vt:lpstr>
      <vt:lpstr>例题：</vt:lpstr>
      <vt:lpstr>5. 整数规划</vt:lpstr>
      <vt:lpstr>例题：分支定界法</vt:lpstr>
      <vt:lpstr>例题：指派问题</vt:lpstr>
      <vt:lpstr>PowerPoint 演示文稿</vt:lpstr>
      <vt:lpstr>PowerPoint 演示文稿</vt:lpstr>
      <vt:lpstr>6. 动态规划</vt:lpstr>
      <vt:lpstr>求函数最值问题</vt:lpstr>
      <vt:lpstr>一维资源分配问题</vt:lpstr>
      <vt:lpstr>背包问题</vt:lpstr>
      <vt:lpstr>旅行商问题</vt:lpstr>
      <vt:lpstr>7. 图与网络-最小支撑树</vt:lpstr>
      <vt:lpstr>7. 图与网络-中国邮递员问题</vt:lpstr>
      <vt:lpstr>7. 图与网络-最短路问题</vt:lpstr>
      <vt:lpstr>7.图与网络-最大流问题</vt:lpstr>
      <vt:lpstr>8. 对策论</vt:lpstr>
      <vt:lpstr>优超原理</vt:lpstr>
      <vt:lpstr>矩阵混合策略的解</vt:lpstr>
      <vt:lpstr>例题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复习与习题</dc:title>
  <cp:revision>20</cp:revision>
</cp:coreProperties>
</file>